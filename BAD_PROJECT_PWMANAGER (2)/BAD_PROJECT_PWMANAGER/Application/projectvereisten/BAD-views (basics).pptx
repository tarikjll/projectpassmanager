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261" r:id="rId5"/>
    <p:sldId id="256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561F"/>
    <a:srgbClr val="4F8291"/>
    <a:srgbClr val="339933"/>
    <a:srgbClr val="008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93649" autoAdjust="0"/>
  </p:normalViewPr>
  <p:slideViewPr>
    <p:cSldViewPr snapToGrid="0">
      <p:cViewPr varScale="1">
        <p:scale>
          <a:sx n="74" d="100"/>
          <a:sy n="74" d="100"/>
        </p:scale>
        <p:origin x="10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Van Buggenhout (u0132146)" userId="77de8a13-220e-4226-a82f-c9f4c6ce0102" providerId="ADAL" clId="{FE8A2003-6204-4F5F-B3DC-4D4150888483}"/>
    <pc:docChg chg="modSld">
      <pc:chgData name="Sam Van Buggenhout (u0132146)" userId="77de8a13-220e-4226-a82f-c9f4c6ce0102" providerId="ADAL" clId="{FE8A2003-6204-4F5F-B3DC-4D4150888483}" dt="2026-02-23T14:31:05.637" v="3" actId="20577"/>
      <pc:docMkLst>
        <pc:docMk/>
      </pc:docMkLst>
      <pc:sldChg chg="modSp mod">
        <pc:chgData name="Sam Van Buggenhout (u0132146)" userId="77de8a13-220e-4226-a82f-c9f4c6ce0102" providerId="ADAL" clId="{FE8A2003-6204-4F5F-B3DC-4D4150888483}" dt="2026-02-23T14:31:05.637" v="3" actId="20577"/>
        <pc:sldMkLst>
          <pc:docMk/>
          <pc:sldMk cId="1410289600" sldId="256"/>
        </pc:sldMkLst>
        <pc:spChg chg="mod">
          <ac:chgData name="Sam Van Buggenhout (u0132146)" userId="77de8a13-220e-4226-a82f-c9f4c6ce0102" providerId="ADAL" clId="{FE8A2003-6204-4F5F-B3DC-4D4150888483}" dt="2026-02-23T14:31:05.637" v="3" actId="20577"/>
          <ac:spMkLst>
            <pc:docMk/>
            <pc:sldMk cId="1410289600" sldId="256"/>
            <ac:spMk id="7" creationId="{38443782-7588-4BA1-A888-94A8DEFEE0F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BF3A7-A7E5-42B6-9154-500A7CB5E3E8}" type="datetimeFigureOut">
              <a:rPr lang="nl-BE" smtClean="0"/>
              <a:t>23/02/2026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FAF20-346D-4074-B74A-C2F29A046F4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1578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AEE442BF-C82A-418E-8E62-533CFEF9E15F}"/>
              </a:ext>
            </a:extLst>
          </p:cNvPr>
          <p:cNvSpPr/>
          <p:nvPr userDrawn="1"/>
        </p:nvSpPr>
        <p:spPr>
          <a:xfrm>
            <a:off x="1" y="6024716"/>
            <a:ext cx="12192000" cy="833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F5AD292-FAF8-44FC-84B3-0842804A02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"/>
            <a:ext cx="12192000" cy="6857827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74236" y="5516542"/>
            <a:ext cx="1300725" cy="4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6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73CF8604-A629-44C9-BC34-FAB18A435DEF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9340FA-55B0-4685-ABAD-FAD25820F9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248" y="1424767"/>
            <a:ext cx="9806754" cy="1447247"/>
          </a:xfrm>
        </p:spPr>
        <p:txBody>
          <a:bodyPr anchor="b"/>
          <a:lstStyle>
            <a:lvl1pPr algn="l">
              <a:defRPr sz="5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AD34407-B861-42C6-BCDB-C4A7F1C446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1248" y="2793963"/>
            <a:ext cx="9144000" cy="544660"/>
          </a:xfrm>
        </p:spPr>
        <p:txBody>
          <a:bodyPr/>
          <a:lstStyle>
            <a:lvl1pPr marL="0" indent="0" algn="l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197536-820C-433C-9FB6-7C7030EE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CCD3E8-9D74-4800-8114-49569A20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Gelijkbenige driehoek 6">
            <a:extLst>
              <a:ext uri="{FF2B5EF4-FFF2-40B4-BE49-F238E27FC236}">
                <a16:creationId xmlns:a16="http://schemas.microsoft.com/office/drawing/2014/main" id="{5EFC5DA7-42AD-4163-B81C-BC60400CFDEF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D3931E4-AE84-4614-95BF-CFF1449B84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33051" y="3999147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3622B796-191D-402D-B39A-CDE2C6DA4F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0603" y="4493298"/>
            <a:ext cx="4662487" cy="1617663"/>
          </a:xfrm>
        </p:spPr>
        <p:txBody>
          <a:bodyPr/>
          <a:lstStyle>
            <a:lvl1pPr marL="0" indent="0">
              <a:buNone/>
              <a:defRPr sz="2200"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2F4CE03C-2446-4EC5-B5DD-A041A68BBF35}"/>
              </a:ext>
            </a:extLst>
          </p:cNvPr>
          <p:cNvSpPr/>
          <p:nvPr userDrawn="1"/>
        </p:nvSpPr>
        <p:spPr>
          <a:xfrm rot="8100000">
            <a:off x="945998" y="4240087"/>
            <a:ext cx="309905" cy="30990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D6C2FF9A-F000-4BFA-9764-458F26D2BEB8}"/>
              </a:ext>
            </a:extLst>
          </p:cNvPr>
          <p:cNvSpPr/>
          <p:nvPr userDrawn="1"/>
        </p:nvSpPr>
        <p:spPr>
          <a:xfrm>
            <a:off x="945193" y="4401743"/>
            <a:ext cx="311510" cy="3115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225852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CCEBE6B7-490D-4A8D-9B9C-C75E430100F2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77031" y="1852225"/>
            <a:ext cx="5365733" cy="3090532"/>
          </a:xfrm>
        </p:spPr>
        <p:txBody>
          <a:bodyPr/>
          <a:lstStyle>
            <a:lvl1pPr marL="0" indent="0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3200" b="1">
                <a:solidFill>
                  <a:schemeClr val="tx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77031" y="6264004"/>
            <a:ext cx="2743200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304FD9A2-98F2-4A5B-A452-66B8C41A893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549883" y="1859599"/>
            <a:ext cx="1345923" cy="3090532"/>
          </a:xfrm>
        </p:spPr>
        <p:txBody>
          <a:bodyPr/>
          <a:lstStyle>
            <a:lvl1pPr marL="0" indent="0" algn="r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1.</a:t>
            </a:r>
          </a:p>
          <a:p>
            <a:pPr lvl="0"/>
            <a:r>
              <a:rPr lang="nl-NL" dirty="0"/>
              <a:t>2.</a:t>
            </a:r>
          </a:p>
          <a:p>
            <a:pPr lvl="0"/>
            <a:r>
              <a:rPr lang="nl-NL" dirty="0"/>
              <a:t>3.</a:t>
            </a:r>
          </a:p>
          <a:p>
            <a:pPr lvl="0"/>
            <a:r>
              <a:rPr lang="nl-NL" dirty="0"/>
              <a:t>4.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8DC82B8D-FA17-4BE4-A52F-A63703B07994}"/>
              </a:ext>
            </a:extLst>
          </p:cNvPr>
          <p:cNvSpPr txBox="1"/>
          <p:nvPr userDrawn="1"/>
        </p:nvSpPr>
        <p:spPr>
          <a:xfrm>
            <a:off x="532389" y="285502"/>
            <a:ext cx="1846251" cy="30777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nl-BE" sz="1400" b="1" dirty="0">
                <a:solidFill>
                  <a:schemeClr val="bg1"/>
                </a:solidFill>
                <a:latin typeface="+mj-lt"/>
              </a:rPr>
              <a:t>INHOUDSTAFEL</a:t>
            </a:r>
          </a:p>
        </p:txBody>
      </p:sp>
      <p:sp>
        <p:nvSpPr>
          <p:cNvPr id="15" name="Gelijkbenige driehoek 14">
            <a:extLst>
              <a:ext uri="{FF2B5EF4-FFF2-40B4-BE49-F238E27FC236}">
                <a16:creationId xmlns:a16="http://schemas.microsoft.com/office/drawing/2014/main" id="{F826CAAD-37E1-417F-AE93-7A7F7F6D5FE8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12610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2736000"/>
            <a:ext cx="9281274" cy="309053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358163" indent="0">
              <a:lnSpc>
                <a:spcPct val="100000"/>
              </a:lnSpc>
              <a:buNone/>
              <a:defRPr/>
            </a:lvl2pPr>
            <a:lvl3pPr marL="720000" indent="0">
              <a:lnSpc>
                <a:spcPct val="100000"/>
              </a:lnSpc>
              <a:buNone/>
              <a:defRPr/>
            </a:lvl3pPr>
            <a:lvl4pPr marL="1080000" indent="0">
              <a:lnSpc>
                <a:spcPct val="100000"/>
              </a:lnSpc>
              <a:buNone/>
              <a:defRPr/>
            </a:lvl4pPr>
            <a:lvl5pPr marL="14400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6181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9291600" cy="3132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buFont typeface="Arial" panose="020B0604020202020204" pitchFamily="34" charset="0"/>
              <a:buChar char="•"/>
              <a:defRPr/>
            </a:lvl3pPr>
            <a:lvl4pPr marL="1080000" indent="-180000">
              <a:buFont typeface="Arial" panose="020B0604020202020204" pitchFamily="34" charset="0"/>
              <a:buChar char="•"/>
              <a:defRPr/>
            </a:lvl4pPr>
            <a:lvl5pPr marL="144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690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5158C-C5F8-4FA4-8D48-8495226D3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CB0CE7-11E3-4438-919C-EA7601B23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0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C456A98-2404-4694-96D5-FDAB6BA76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2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09CE115-B374-4617-BCB4-65CE9967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30D3D96-5DFD-4E22-A20C-C1B8E4E8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8F20995-02CF-40E9-A9E3-07D0889F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D35A45E-59A3-4C31-A9F3-DD73EF3BB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10415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97EFFFE8-8662-44ED-9D46-72EA0C894BB5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13" name="Afbeelding 12" descr="Afbeelding met bijl&#10;&#10;Automatisch gegenereerde beschrijving">
            <a:extLst>
              <a:ext uri="{FF2B5EF4-FFF2-40B4-BE49-F238E27FC236}">
                <a16:creationId xmlns:a16="http://schemas.microsoft.com/office/drawing/2014/main" id="{26190394-04D1-435B-872B-98D9438B95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9842"/>
            <a:ext cx="2485770" cy="49583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AD43DC2-455F-4EDF-A084-FEE83CFC4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4829" y="2226013"/>
            <a:ext cx="7759257" cy="1429415"/>
          </a:xfrm>
        </p:spPr>
        <p:txBody>
          <a:bodyPr anchor="b"/>
          <a:lstStyle>
            <a:lvl1pPr>
              <a:defRPr sz="4400" spc="170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704646-7228-4188-9EAC-6994DE76A2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74829" y="3619988"/>
            <a:ext cx="77592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ONDERTITEL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6946962-0A67-44EB-A18D-73C07F93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16FD36-254F-49C1-A06F-1DBD00D9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849368-50CE-404F-865E-EF0DB7781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Gelijkbenige driehoek 7">
            <a:extLst>
              <a:ext uri="{FF2B5EF4-FFF2-40B4-BE49-F238E27FC236}">
                <a16:creationId xmlns:a16="http://schemas.microsoft.com/office/drawing/2014/main" id="{939230B4-815F-440B-888A-070C90C48BA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A854FE4-B9A5-46C1-BF2D-13E51D44B0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293" y="1353110"/>
            <a:ext cx="1660525" cy="2808287"/>
          </a:xfrm>
        </p:spPr>
        <p:txBody>
          <a:bodyPr anchor="b"/>
          <a:lstStyle>
            <a:lvl1pPr marL="0" indent="0" algn="r">
              <a:buNone/>
              <a:defRPr sz="9000" b="1">
                <a:solidFill>
                  <a:schemeClr val="accent2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1.</a:t>
            </a:r>
            <a:endParaRPr lang="nl-BE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2DBF72E-0CB1-45B4-9813-C3B6894F6D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0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4114800" cy="309053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lnSpc>
                <a:spcPct val="100000"/>
              </a:lnSpc>
              <a:buFont typeface="Arial" panose="020B0604020202020204" pitchFamily="34" charset="0"/>
              <a:buChar char="•"/>
              <a:defRPr/>
            </a:lvl3pPr>
            <a:lvl4pPr marL="108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4pPr>
            <a:lvl5pPr marL="144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2000" y="0"/>
            <a:ext cx="5400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481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E5744A9E-4C9D-4407-95E8-93A822A070AB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999" y="594002"/>
            <a:ext cx="3099759" cy="15180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099759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8000" y="0"/>
            <a:ext cx="6858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83AC5738-621C-4857-A498-30728DB03399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32897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727183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7" name="Gelijkbenige driehoek 16">
            <a:extLst>
              <a:ext uri="{FF2B5EF4-FFF2-40B4-BE49-F238E27FC236}">
                <a16:creationId xmlns:a16="http://schemas.microsoft.com/office/drawing/2014/main" id="{C9E84D4C-76DA-4E4E-9F21-DB0F8DC87F6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7BE966C4-F2D9-4A05-8182-0E3CB210AD5F}"/>
              </a:ext>
            </a:extLst>
          </p:cNvPr>
          <p:cNvSpPr/>
          <p:nvPr userDrawn="1"/>
        </p:nvSpPr>
        <p:spPr>
          <a:xfrm>
            <a:off x="10179781" y="5632057"/>
            <a:ext cx="2012219" cy="1225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F015E38-B67E-4A5F-B168-2C2166D851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29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 met na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73615" y="4537479"/>
            <a:ext cx="1008000" cy="1008000"/>
          </a:xfrm>
        </p:spPr>
        <p:txBody>
          <a:bodyPr anchor="ctr"/>
          <a:lstStyle>
            <a:lvl1pPr marL="0" indent="0" algn="ctr">
              <a:buNone/>
              <a:defRPr sz="2000" baseline="-25000"/>
            </a:lvl1pPr>
          </a:lstStyle>
          <a:p>
            <a:endParaRPr lang="nl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185019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1" name="Tijdelijke aanduiding voor tekst 9">
            <a:extLst>
              <a:ext uri="{FF2B5EF4-FFF2-40B4-BE49-F238E27FC236}">
                <a16:creationId xmlns:a16="http://schemas.microsoft.com/office/drawing/2014/main" id="{65E274DD-5F46-4B35-A5AC-31E6BE89C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55982" y="4574866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A29B528-8ACF-4D4D-B37B-A6AAB88026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5982" y="5041479"/>
            <a:ext cx="1909500" cy="466613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/>
                </a:solidFill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96691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 en inhou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843A7B-9F3B-480D-AD2E-C3AACED19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4671" y="1769806"/>
            <a:ext cx="4036181" cy="1269552"/>
          </a:xfrm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DAC10B-1AED-4A32-B7C4-E04362F3B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44672" y="3047450"/>
            <a:ext cx="4036182" cy="2549854"/>
          </a:xfrm>
        </p:spPr>
        <p:txBody>
          <a:bodyPr/>
          <a:lstStyle>
            <a:lvl1pPr marL="0" indent="0">
              <a:buNone/>
              <a:defRPr/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96001" y="1295400"/>
            <a:ext cx="6401310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9662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1280400" y="1295400"/>
            <a:ext cx="9301567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19133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BCCE59-2411-4F31-B2FA-A0E3C2D3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E3473E5-12B3-4067-8FAB-0C045297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205202-803B-40C0-8FCF-E7381AE4E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488137-6613-43C0-B311-4B1FB099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6" name="Tijdelijke aanduiding voor tekst 7">
            <a:extLst>
              <a:ext uri="{FF2B5EF4-FFF2-40B4-BE49-F238E27FC236}">
                <a16:creationId xmlns:a16="http://schemas.microsoft.com/office/drawing/2014/main" id="{591161BA-2045-41AE-B361-A0AB563B57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93497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7DF97DE-814F-4A02-925B-4FA8DC17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39C6991-A2F7-45F1-A24C-12CAC083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1E0077-B4BD-4C07-BC35-57BD3CDF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5335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A2C12ED-88A7-4813-9ECA-D67FA6D8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612000"/>
            <a:ext cx="10515600" cy="68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05F5B42-3528-42D1-A27E-87182BBD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328" y="2729021"/>
            <a:ext cx="9281274" cy="3090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4F6AD4E-0376-4AAB-8907-1E42C4537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8576" y="6264004"/>
            <a:ext cx="27432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41D534-2D3B-4E3E-93F0-6E17F620A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246" y="6264211"/>
            <a:ext cx="41148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C6B2CE-C5EC-498A-A0F1-8E7B718BB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4291" y="6264211"/>
            <a:ext cx="2880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C54CFD1D-AE9F-4E01-BB96-1FD87EDE6CC2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073" y="6073683"/>
            <a:ext cx="1153603" cy="370307"/>
          </a:xfrm>
          <a:prstGeom prst="rect">
            <a:avLst/>
          </a:prstGeom>
        </p:spPr>
      </p:pic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91F4572B-450D-4A18-A92E-3CDA65745A0D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853335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49" r:id="rId2"/>
    <p:sldLayoutId id="2147483667" r:id="rId3"/>
    <p:sldLayoutId id="2147483650" r:id="rId4"/>
    <p:sldLayoutId id="2147483661" r:id="rId5"/>
    <p:sldLayoutId id="2147483652" r:id="rId6"/>
    <p:sldLayoutId id="2147483651" r:id="rId7"/>
    <p:sldLayoutId id="2147483663" r:id="rId8"/>
    <p:sldLayoutId id="2147483666" r:id="rId9"/>
    <p:sldLayoutId id="2147483664" r:id="rId10"/>
    <p:sldLayoutId id="2147483665" r:id="rId11"/>
    <p:sldLayoutId id="2147483653" r:id="rId12"/>
    <p:sldLayoutId id="2147483669" r:id="rId13"/>
    <p:sldLayoutId id="2147483654" r:id="rId14"/>
    <p:sldLayoutId id="2147483655" r:id="rId15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18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718ED56-9B95-423B-8216-9F178AD2C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247" y="1424767"/>
            <a:ext cx="10287043" cy="1447247"/>
          </a:xfrm>
        </p:spPr>
        <p:txBody>
          <a:bodyPr/>
          <a:lstStyle/>
          <a:p>
            <a:r>
              <a:rPr lang="nl-BE" dirty="0"/>
              <a:t>Business Application Development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124F62E7-84EB-4132-BAC4-04FD56CAD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Views (basics)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8169475-DD59-4D84-BD2E-FA0DFEC69F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0603" y="3988604"/>
            <a:ext cx="6308725" cy="466613"/>
          </a:xfrm>
        </p:spPr>
        <p:txBody>
          <a:bodyPr/>
          <a:lstStyle/>
          <a:p>
            <a:r>
              <a:rPr lang="nl-BE" dirty="0"/>
              <a:t>Sam Van Buggenhout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8443782-7588-4BA1-A888-94A8DEFEE0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0603" y="4486230"/>
            <a:ext cx="4662487" cy="1617663"/>
          </a:xfrm>
        </p:spPr>
        <p:txBody>
          <a:bodyPr/>
          <a:lstStyle/>
          <a:p>
            <a:r>
              <a:rPr lang="nl-BE" dirty="0"/>
              <a:t>Academiejaar 2025-2026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3EA1070-FA06-4A00-A759-4ACED8B0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C613BBA-66FF-4B29-8641-2A8DBF9F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1028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D9A78874-CA76-4C66-8AB0-DB0467756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7031" y="2910347"/>
            <a:ext cx="5365733" cy="2032409"/>
          </a:xfrm>
        </p:spPr>
        <p:txBody>
          <a:bodyPr anchor="ctr"/>
          <a:lstStyle/>
          <a:p>
            <a:endParaRPr lang="nl-BE" dirty="0"/>
          </a:p>
          <a:p>
            <a:r>
              <a:rPr lang="nl-BE" dirty="0"/>
              <a:t>Controllers &amp; Views</a:t>
            </a:r>
          </a:p>
          <a:p>
            <a:r>
              <a:rPr lang="nl-BE" dirty="0"/>
              <a:t>View selectie</a:t>
            </a:r>
          </a:p>
          <a:p>
            <a:r>
              <a:rPr lang="nl-BE" dirty="0"/>
              <a:t>Data doorgeven aan View</a:t>
            </a:r>
          </a:p>
          <a:p>
            <a:r>
              <a:rPr lang="nl-BE" dirty="0" err="1"/>
              <a:t>Razor</a:t>
            </a:r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1EB6E6A-9EE0-4FEF-9807-DEC31A15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59CE2FD-DE76-4295-BF54-E1613FCA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3</a:t>
            </a:fld>
            <a:endParaRPr lang="nl-B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2B188-B10A-4823-A752-3201F1378EC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992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36A95-7997-40A9-945A-BB23AA86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Controllers &amp; 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F0CA6-4BDB-4DB3-B1BC-E5238DBA0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55EF65-FE7A-4857-B977-37CCA2CC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619FA-FCAA-4878-910F-B135CCE5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D259094-BD1B-4E0C-9795-D4F1D4813D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5914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5B2C-E653-401D-8883-C9B490F5E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06557-3EDC-449C-8D25-7AA90C8AC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883734"/>
            <a:ext cx="9334432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Taak van controller: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Inkomende </a:t>
            </a:r>
            <a:r>
              <a:rPr lang="nl-BE" sz="2400" b="1" dirty="0">
                <a:solidFill>
                  <a:schemeClr val="accent6"/>
                </a:solidFill>
              </a:rPr>
              <a:t>HTTP-</a:t>
            </a:r>
            <a:r>
              <a:rPr lang="nl-BE" sz="2400" b="1" dirty="0" err="1">
                <a:solidFill>
                  <a:schemeClr val="accent6"/>
                </a:solidFill>
              </a:rPr>
              <a:t>request</a:t>
            </a:r>
            <a:r>
              <a:rPr lang="nl-BE" sz="2400" b="1" dirty="0">
                <a:solidFill>
                  <a:schemeClr val="accent6"/>
                </a:solidFill>
              </a:rPr>
              <a:t> afhandelen </a:t>
            </a:r>
            <a:r>
              <a:rPr lang="nl-BE" sz="2400" dirty="0"/>
              <a:t>(wijzigingen aanbrengen in model, bv.: gegevens valideren, records ophalen/wegschrijven in databank, records updaten in databank, ...). Kan hiervoor gebruik maken van </a:t>
            </a:r>
            <a:r>
              <a:rPr lang="nl-BE" sz="2400" b="1" dirty="0">
                <a:solidFill>
                  <a:schemeClr val="accent6"/>
                </a:solidFill>
              </a:rPr>
              <a:t>parameter(s)</a:t>
            </a:r>
            <a:r>
              <a:rPr lang="nl-BE" sz="2400" dirty="0"/>
              <a:t> die aan Action-</a:t>
            </a:r>
            <a:r>
              <a:rPr lang="nl-BE" sz="2400" dirty="0" err="1"/>
              <a:t>method</a:t>
            </a:r>
            <a:r>
              <a:rPr lang="nl-BE" sz="2400" dirty="0"/>
              <a:t> wordt meegegeven (bv.: </a:t>
            </a:r>
            <a:r>
              <a:rPr lang="nl-BE" sz="2400" dirty="0" err="1"/>
              <a:t>id</a:t>
            </a:r>
            <a:r>
              <a:rPr lang="nl-BE" sz="2400" dirty="0"/>
              <a:t> van weer te geven entiteit)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Correcte </a:t>
            </a:r>
            <a:r>
              <a:rPr lang="nl-BE" sz="2400" b="1" dirty="0">
                <a:solidFill>
                  <a:schemeClr val="accent6"/>
                </a:solidFill>
              </a:rPr>
              <a:t>View</a:t>
            </a:r>
            <a:r>
              <a:rPr lang="nl-BE" sz="2400" dirty="0"/>
              <a:t> (-template) </a:t>
            </a:r>
            <a:r>
              <a:rPr lang="nl-BE" sz="2400" b="1" dirty="0">
                <a:solidFill>
                  <a:schemeClr val="accent6"/>
                </a:solidFill>
              </a:rPr>
              <a:t>selecteren</a:t>
            </a:r>
            <a:r>
              <a:rPr lang="nl-BE" sz="2400" dirty="0"/>
              <a:t> als response op </a:t>
            </a:r>
            <a:r>
              <a:rPr lang="nl-BE" sz="2400" dirty="0" err="1"/>
              <a:t>request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</a:rPr>
              <a:t>Data meegeven </a:t>
            </a:r>
            <a:r>
              <a:rPr lang="nl-BE" sz="2400" dirty="0"/>
              <a:t>aan View (-template) om response (HTML, JSON, ...) te genereren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dirty="0"/>
          </a:p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F0469-150C-47D7-B1E6-30089BF9A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6CF1FF-63A0-4B12-890C-6AA47B8A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296D6D-7C1A-4FFE-AC00-856635A4C4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32763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5B2C-E653-401D-8883-C9B490F5E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06557-3EDC-449C-8D25-7AA90C8AC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314721"/>
            <a:ext cx="9334432" cy="455772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Views: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In ASP.NET MVC webapplicatie worden views vaak </a:t>
            </a:r>
            <a:r>
              <a:rPr lang="nl-BE" sz="2400" b="1" dirty="0">
                <a:solidFill>
                  <a:schemeClr val="accent6"/>
                </a:solidFill>
              </a:rPr>
              <a:t>dynamisch</a:t>
            </a:r>
            <a:r>
              <a:rPr lang="nl-BE" sz="2400" dirty="0"/>
              <a:t> </a:t>
            </a:r>
            <a:r>
              <a:rPr lang="nl-BE" sz="2400" b="1" dirty="0">
                <a:solidFill>
                  <a:schemeClr val="accent6"/>
                </a:solidFill>
              </a:rPr>
              <a:t>gegenereerd</a:t>
            </a:r>
            <a:r>
              <a:rPr lang="nl-BE" sz="2400" dirty="0"/>
              <a:t> met behulp van </a:t>
            </a:r>
            <a:r>
              <a:rPr lang="nl-BE" sz="2400" b="1" dirty="0" err="1">
                <a:solidFill>
                  <a:schemeClr val="accent6"/>
                </a:solidFill>
              </a:rPr>
              <a:t>Razor</a:t>
            </a:r>
            <a:r>
              <a:rPr lang="nl-BE" sz="2400" dirty="0"/>
              <a:t> (= template engine)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Razor</a:t>
            </a:r>
            <a:r>
              <a:rPr lang="nl-BE" sz="2400" dirty="0"/>
              <a:t>: </a:t>
            </a:r>
            <a:r>
              <a:rPr lang="nl-BE" sz="2400" b="1" dirty="0">
                <a:solidFill>
                  <a:schemeClr val="accent6"/>
                </a:solidFill>
              </a:rPr>
              <a:t>combinatie</a:t>
            </a:r>
            <a:r>
              <a:rPr lang="nl-BE" sz="2400" dirty="0"/>
              <a:t> van statische </a:t>
            </a:r>
            <a:r>
              <a:rPr lang="nl-BE" sz="2400" b="1" dirty="0">
                <a:solidFill>
                  <a:schemeClr val="accent6"/>
                </a:solidFill>
              </a:rPr>
              <a:t>HTML</a:t>
            </a:r>
            <a:r>
              <a:rPr lang="nl-BE" sz="2400" dirty="0"/>
              <a:t> en </a:t>
            </a:r>
            <a:r>
              <a:rPr lang="nl-BE" sz="2400" b="1" dirty="0">
                <a:solidFill>
                  <a:schemeClr val="accent6"/>
                </a:solidFill>
              </a:rPr>
              <a:t>C#-code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Controller geeft data door aan View </a:t>
            </a:r>
            <a:r>
              <a:rPr lang="nl-BE" sz="2400" dirty="0">
                <a:sym typeface="Wingdings" panose="05000000000000000000" pitchFamily="2" charset="2"/>
              </a:rPr>
              <a:t> wordt via </a:t>
            </a:r>
            <a:r>
              <a:rPr lang="nl-BE" sz="2400" dirty="0" err="1">
                <a:sym typeface="Wingdings" panose="05000000000000000000" pitchFamily="2" charset="2"/>
              </a:rPr>
              <a:t>Razor</a:t>
            </a:r>
            <a:r>
              <a:rPr lang="nl-BE" sz="2400" dirty="0">
                <a:sym typeface="Wingdings" panose="05000000000000000000" pitchFamily="2" charset="2"/>
              </a:rPr>
              <a:t>-template weergegeven/gebruikt voor logica in View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Voorbeeld features:</a:t>
            </a:r>
          </a:p>
          <a:p>
            <a:pPr marL="1177200" lvl="2" indent="-457200">
              <a:buFont typeface="Wingdings" panose="05000000000000000000" pitchFamily="2" charset="2"/>
              <a:buChar char="ü"/>
            </a:pPr>
            <a:r>
              <a:rPr lang="nl-BE" sz="2000" dirty="0"/>
              <a:t>HTML-code genereren afhankelijk van conditie (</a:t>
            </a:r>
            <a:r>
              <a:rPr lang="nl-BE" sz="1800" dirty="0" err="1">
                <a:latin typeface="Consolas" panose="020B0609020204030204" pitchFamily="49" charset="0"/>
              </a:rPr>
              <a:t>if-else</a:t>
            </a:r>
            <a:r>
              <a:rPr lang="nl-BE" sz="2000" dirty="0"/>
              <a:t>)</a:t>
            </a:r>
          </a:p>
          <a:p>
            <a:pPr marL="1177200" lvl="2" indent="-457200">
              <a:buFont typeface="Wingdings" panose="05000000000000000000" pitchFamily="2" charset="2"/>
              <a:buChar char="ü"/>
            </a:pPr>
            <a:r>
              <a:rPr lang="nl-BE" sz="1800" dirty="0" err="1">
                <a:latin typeface="Consolas" panose="020B0609020204030204" pitchFamily="49" charset="0"/>
              </a:rPr>
              <a:t>foreach</a:t>
            </a:r>
            <a:r>
              <a:rPr lang="nl-BE" sz="2000" dirty="0"/>
              <a:t> om over items in </a:t>
            </a:r>
            <a:r>
              <a:rPr lang="nl-BE" sz="1800" dirty="0">
                <a:latin typeface="Consolas" panose="020B0609020204030204" pitchFamily="49" charset="0"/>
              </a:rPr>
              <a:t>List&lt;&gt; </a:t>
            </a:r>
            <a:r>
              <a:rPr lang="nl-BE" sz="2000" dirty="0"/>
              <a:t>te itereren en voor elk item nodige </a:t>
            </a:r>
            <a:br>
              <a:rPr lang="nl-BE" sz="2000" dirty="0"/>
            </a:br>
            <a:r>
              <a:rPr lang="nl-BE" sz="2000" dirty="0"/>
              <a:t>HTML-code te genereren</a:t>
            </a:r>
          </a:p>
          <a:p>
            <a:pPr marL="1177200" lvl="2" indent="-457200">
              <a:buFont typeface="Wingdings" panose="05000000000000000000" pitchFamily="2" charset="2"/>
              <a:buChar char="ü"/>
            </a:pPr>
            <a:r>
              <a:rPr lang="nl-BE" sz="2000" dirty="0"/>
              <a:t>Waarden van C#-</a:t>
            </a:r>
            <a:r>
              <a:rPr lang="nl-BE" sz="2000" dirty="0" err="1"/>
              <a:t>property’s</a:t>
            </a:r>
            <a:r>
              <a:rPr lang="nl-BE" sz="2000" dirty="0"/>
              <a:t> opvragen om weer te geven</a:t>
            </a:r>
          </a:p>
          <a:p>
            <a:pPr marL="1177200" lvl="2" indent="-457200">
              <a:buFont typeface="Wingdings" panose="05000000000000000000" pitchFamily="2" charset="2"/>
              <a:buChar char="ü"/>
            </a:pPr>
            <a:r>
              <a:rPr lang="nl-BE" sz="2000" dirty="0"/>
              <a:t>...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dirty="0"/>
          </a:p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F0469-150C-47D7-B1E6-30089BF9A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6CF1FF-63A0-4B12-890C-6AA47B8A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296D6D-7C1A-4FFE-AC00-856635A4C4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46307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29E65-F1DC-4368-ACB3-BCEDCB61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F2170-0934-472D-B94F-21A2B86E6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8F5DB-C7C9-44CE-BE7F-2323D506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F6EA63-FB50-4E0C-A26F-26F79E43FB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DB47F9-C369-478B-A648-F79D49FBE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937" y="1204912"/>
            <a:ext cx="4550953" cy="50006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C6CA79-567E-4968-87B0-DAE8F49AFA7C}"/>
              </a:ext>
            </a:extLst>
          </p:cNvPr>
          <p:cNvSpPr txBox="1"/>
          <p:nvPr/>
        </p:nvSpPr>
        <p:spPr>
          <a:xfrm>
            <a:off x="678291" y="1354605"/>
            <a:ext cx="36576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nl-BE" dirty="0" err="1"/>
              <a:t>Request</a:t>
            </a:r>
            <a:r>
              <a:rPr lang="nl-BE" dirty="0"/>
              <a:t> wordt via routing naar juiste controller en action gestuurd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nl-BE" dirty="0"/>
              <a:t>Action-methode handelt </a:t>
            </a:r>
            <a:r>
              <a:rPr lang="nl-BE" dirty="0" err="1"/>
              <a:t>request</a:t>
            </a:r>
            <a:r>
              <a:rPr lang="nl-BE" dirty="0"/>
              <a:t> af (haalt gegevens op uit DB, schrijft records weg naar DB, ...)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A2307F-846E-4EF5-ABD2-91B466867737}"/>
              </a:ext>
            </a:extLst>
          </p:cNvPr>
          <p:cNvSpPr txBox="1"/>
          <p:nvPr/>
        </p:nvSpPr>
        <p:spPr>
          <a:xfrm>
            <a:off x="6622716" y="4078831"/>
            <a:ext cx="436974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 startAt="3"/>
            </a:pPr>
            <a:r>
              <a:rPr lang="nl-BE" dirty="0"/>
              <a:t>Controller selecteert view (-template) voor genereren van response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 startAt="3"/>
            </a:pPr>
            <a:r>
              <a:rPr lang="nl-BE" dirty="0"/>
              <a:t>Controller geeft nodige data mee aan view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 startAt="3"/>
            </a:pPr>
            <a:r>
              <a:rPr lang="nl-BE" dirty="0" err="1"/>
              <a:t>Razor</a:t>
            </a:r>
            <a:r>
              <a:rPr lang="nl-BE" dirty="0"/>
              <a:t>-engine voert template-code uit. Resultaat (HTML-code) wordt als response teruggestuurd</a:t>
            </a:r>
          </a:p>
        </p:txBody>
      </p:sp>
    </p:spTree>
    <p:extLst>
      <p:ext uri="{BB962C8B-B14F-4D97-AF65-F5344CB8AC3E}">
        <p14:creationId xmlns:p14="http://schemas.microsoft.com/office/powerpoint/2010/main" val="1616330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E4A1A-C946-4B46-898C-9969A6BEB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56DC77-9110-45A0-96A4-D291EF0A5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21C14E-247D-4529-90D2-DE454EA9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107AAA-5ECE-401A-BF1B-ED3E5E651B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FD0F3-B931-46F7-8DEB-89FDE3B32034}"/>
              </a:ext>
            </a:extLst>
          </p:cNvPr>
          <p:cNvSpPr txBox="1"/>
          <p:nvPr/>
        </p:nvSpPr>
        <p:spPr>
          <a:xfrm>
            <a:off x="503260" y="1199719"/>
            <a:ext cx="4437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 err="1"/>
              <a:t>Request</a:t>
            </a:r>
            <a:r>
              <a:rPr lang="nl-BE" b="1" dirty="0"/>
              <a:t>: </a:t>
            </a:r>
            <a:r>
              <a:rPr lang="nl-BE" dirty="0"/>
              <a:t>https://localhost:1234/Todos/List/3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EE16B0-E189-41B4-9EB0-DEE7FD60984C}"/>
              </a:ext>
            </a:extLst>
          </p:cNvPr>
          <p:cNvSpPr txBox="1"/>
          <p:nvPr/>
        </p:nvSpPr>
        <p:spPr>
          <a:xfrm>
            <a:off x="534291" y="2133600"/>
            <a:ext cx="5650200" cy="161582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74561F"/>
                </a:solidFill>
                <a:latin typeface="Consolas" panose="020B0609020204030204" pitchFamily="49" charset="0"/>
              </a:rPr>
              <a:t>List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id)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     //data ophalen in DB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4F8291"/>
                </a:solidFill>
                <a:latin typeface="Consolas" panose="020B0609020204030204" pitchFamily="49" charset="0"/>
              </a:rPr>
              <a:t>List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todos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todoRepository.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GetTodosForUser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//selecteer view (default: zelfde als Action-</a:t>
            </a:r>
            <a:r>
              <a:rPr lang="nl-BE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method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 naam)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//nl.: </a:t>
            </a:r>
            <a:r>
              <a:rPr lang="nl-BE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List.cshtml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//Geef lijst met </a:t>
            </a:r>
            <a:r>
              <a:rPr lang="nl-BE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todo's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 mee aan view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todos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841BFC-FEEF-4512-AE10-D7EBC33E82B1}"/>
              </a:ext>
            </a:extLst>
          </p:cNvPr>
          <p:cNvSpPr txBox="1"/>
          <p:nvPr/>
        </p:nvSpPr>
        <p:spPr>
          <a:xfrm>
            <a:off x="534291" y="4198905"/>
            <a:ext cx="5650200" cy="161582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@model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4F8291"/>
                </a:solidFill>
                <a:latin typeface="Consolas" panose="020B0609020204030204" pitchFamily="49" charset="0"/>
              </a:rPr>
              <a:t>List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TODO's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(var item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Model)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1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item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341836-3F0C-412D-AE4F-E72CC87DB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399" y="3879719"/>
            <a:ext cx="2232853" cy="2072820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8217458F-8691-4C20-8DD6-4078E4517D53}"/>
              </a:ext>
            </a:extLst>
          </p:cNvPr>
          <p:cNvSpPr/>
          <p:nvPr/>
        </p:nvSpPr>
        <p:spPr>
          <a:xfrm>
            <a:off x="6676103" y="4916129"/>
            <a:ext cx="786581" cy="442452"/>
          </a:xfrm>
          <a:prstGeom prst="rightArrow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D37E7C-3E97-4C9F-BA4C-38CB8E774E53}"/>
              </a:ext>
            </a:extLst>
          </p:cNvPr>
          <p:cNvSpPr txBox="1"/>
          <p:nvPr/>
        </p:nvSpPr>
        <p:spPr>
          <a:xfrm>
            <a:off x="503260" y="1767493"/>
            <a:ext cx="3441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 err="1"/>
              <a:t>TodosController.cs</a:t>
            </a:r>
            <a:endParaRPr lang="nl-BE" sz="1600" b="1" u="sn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74F524-3EDC-4E86-8E8C-5631BD85BCD2}"/>
              </a:ext>
            </a:extLst>
          </p:cNvPr>
          <p:cNvSpPr txBox="1"/>
          <p:nvPr/>
        </p:nvSpPr>
        <p:spPr>
          <a:xfrm>
            <a:off x="503259" y="3846575"/>
            <a:ext cx="3441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 err="1"/>
              <a:t>List.cshtml</a:t>
            </a:r>
            <a:endParaRPr lang="nl-BE" sz="1600" b="1" u="sng" dirty="0"/>
          </a:p>
        </p:txBody>
      </p:sp>
    </p:spTree>
    <p:extLst>
      <p:ext uri="{BB962C8B-B14F-4D97-AF65-F5344CB8AC3E}">
        <p14:creationId xmlns:p14="http://schemas.microsoft.com/office/powerpoint/2010/main" val="230506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262D-125A-48AC-9CF4-2333A290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Separation</a:t>
            </a:r>
            <a:r>
              <a:rPr lang="nl-BE" dirty="0"/>
              <a:t> of concerns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44BB3-9A5D-4319-B4EB-23FEABD70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597362"/>
            <a:ext cx="9281274" cy="188487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Voordeel: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 err="1">
                <a:solidFill>
                  <a:schemeClr val="accent6"/>
                </a:solidFill>
              </a:rPr>
              <a:t>Separation</a:t>
            </a:r>
            <a:r>
              <a:rPr lang="nl-BE" sz="2400" b="1" dirty="0">
                <a:solidFill>
                  <a:schemeClr val="accent6"/>
                </a:solidFill>
              </a:rPr>
              <a:t> of concerns: </a:t>
            </a:r>
            <a:r>
              <a:rPr lang="nl-BE" sz="2400" dirty="0"/>
              <a:t>view bepaalt hoe data wordt weergegeven</a:t>
            </a:r>
          </a:p>
          <a:p>
            <a:pPr lvl="2"/>
            <a:r>
              <a:rPr lang="nl-BE" sz="2400" dirty="0">
                <a:sym typeface="Wingdings" panose="05000000000000000000" pitchFamily="2" charset="2"/>
              </a:rPr>
              <a:t> Zelfde data kan op verschillende manieren weergegeven worden</a:t>
            </a:r>
          </a:p>
          <a:p>
            <a:pPr lvl="2"/>
            <a:r>
              <a:rPr lang="nl-BE" sz="2400" dirty="0">
                <a:sym typeface="Wingdings" panose="05000000000000000000" pitchFamily="2" charset="2"/>
              </a:rPr>
              <a:t> Wijziging in view vereist enkel aanpassing van </a:t>
            </a:r>
            <a:r>
              <a:rPr lang="nl-BE" sz="2400" dirty="0" err="1">
                <a:sym typeface="Wingdings" panose="05000000000000000000" pitchFamily="2" charset="2"/>
              </a:rPr>
              <a:t>Razor</a:t>
            </a:r>
            <a:r>
              <a:rPr lang="nl-BE" sz="2400" dirty="0">
                <a:sym typeface="Wingdings" panose="05000000000000000000" pitchFamily="2" charset="2"/>
              </a:rPr>
              <a:t>-template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1E86F-CD44-4DE9-8BC0-05A14306B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84A3B-2A47-4DC1-8E82-EFEB001C3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5C3B18-62C7-411B-84A2-B74F8121B5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11B986-0759-4D8D-9FD8-A9DBCF0F1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382" y="499739"/>
            <a:ext cx="1592522" cy="1592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5B9006-3B66-47D1-BC09-DBB66ABA5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360" y="3803079"/>
            <a:ext cx="2232853" cy="20728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BC3084-B9E9-413F-8B56-DB4289170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104" y="3676395"/>
            <a:ext cx="4333439" cy="219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860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6AA5-5C42-4B84-824A-0CF5D2E9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View selectie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F83D0-4E0D-4A0B-B47A-6D8C7C35C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57183-3797-46D0-A6B7-7E2B42FF6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8E6B3-217C-4C60-B489-B60E6759E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10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1E7C22-028F-4C6E-BDA8-8C8A0D9B7B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16830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E1976-AD7C-49C0-9FF2-9AB560424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selecteert Controller een view?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13065-3304-46C2-B650-B4EA620FC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215140"/>
            <a:ext cx="10638638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Action-</a:t>
            </a:r>
            <a:r>
              <a:rPr lang="nl-BE" sz="2400" dirty="0" err="1"/>
              <a:t>method</a:t>
            </a:r>
            <a:r>
              <a:rPr lang="nl-BE" sz="2400" dirty="0"/>
              <a:t> </a:t>
            </a:r>
            <a:r>
              <a:rPr lang="nl-BE" sz="2400" dirty="0" err="1"/>
              <a:t>returnt</a:t>
            </a:r>
            <a:r>
              <a:rPr lang="nl-BE" sz="2400" dirty="0"/>
              <a:t> </a:t>
            </a:r>
            <a:r>
              <a:rPr lang="nl-BE" sz="2400" dirty="0" err="1"/>
              <a:t>ViewResult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Gebruik maken van </a:t>
            </a:r>
            <a:r>
              <a:rPr lang="nl-BE" sz="1800" dirty="0">
                <a:latin typeface="Consolas" panose="020B0609020204030204" pitchFamily="49" charset="0"/>
              </a:rPr>
              <a:t>View() </a:t>
            </a:r>
            <a:r>
              <a:rPr lang="nl-BE" sz="2000" dirty="0"/>
              <a:t>helper-methode</a:t>
            </a:r>
          </a:p>
          <a:p>
            <a:pPr marL="1062900" lvl="2" indent="-342900">
              <a:buFont typeface="Wingdings" panose="05000000000000000000" pitchFamily="2" charset="2"/>
              <a:buChar char="à"/>
            </a:pPr>
            <a:r>
              <a:rPr lang="nl-BE" sz="2000" dirty="0"/>
              <a:t>Zoekt template, voorziet deze (eventueel) van data en voert de template uit</a:t>
            </a:r>
          </a:p>
          <a:p>
            <a:pPr marL="701063" lvl="1" indent="-342900">
              <a:buFont typeface="Arial" panose="020B0604020202020204" pitchFamily="34" charset="0"/>
              <a:buChar char="•"/>
            </a:pPr>
            <a:r>
              <a:rPr lang="nl-BE" sz="2000" dirty="0"/>
              <a:t>Zoekt standaard in folder Views/{naam controller}</a:t>
            </a:r>
          </a:p>
          <a:p>
            <a:pPr marL="701063" lvl="1" indent="-342900">
              <a:buFont typeface="Arial" panose="020B0604020202020204" pitchFamily="34" charset="0"/>
              <a:buChar char="•"/>
            </a:pPr>
            <a:r>
              <a:rPr lang="nl-BE" sz="2000" dirty="0"/>
              <a:t>Indien geen argument voor View()-methode: standaard view met zelfde naam als Action-</a:t>
            </a:r>
            <a:r>
              <a:rPr lang="nl-BE" sz="2000" dirty="0" err="1"/>
              <a:t>method</a:t>
            </a:r>
            <a:r>
              <a:rPr lang="nl-BE" sz="2000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0C4A64-2255-4EF2-A07C-B3F886C79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F78DCB-67DD-4098-A0FF-DEF157C49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85D235-9A72-48BB-B21C-BEA69B4422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086A21-86DC-47B8-B28B-F3C89C7F674C}"/>
              </a:ext>
            </a:extLst>
          </p:cNvPr>
          <p:cNvSpPr txBox="1"/>
          <p:nvPr/>
        </p:nvSpPr>
        <p:spPr>
          <a:xfrm>
            <a:off x="678290" y="3975277"/>
            <a:ext cx="5650200" cy="120032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HomeController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About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//default: zelfde naam als Action-</a:t>
            </a:r>
            <a:r>
              <a:rPr lang="nl-BE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method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A89DC2-1D08-4382-B434-071F4AD3A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935" y="3387213"/>
            <a:ext cx="3185436" cy="26977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80D69BE-C1FD-4CDE-A2A3-96139AA1053B}"/>
              </a:ext>
            </a:extLst>
          </p:cNvPr>
          <p:cNvSpPr/>
          <p:nvPr/>
        </p:nvSpPr>
        <p:spPr>
          <a:xfrm>
            <a:off x="1917289" y="4014605"/>
            <a:ext cx="360000" cy="216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CA437E-0612-458E-B3EF-39B6E4EB0453}"/>
              </a:ext>
            </a:extLst>
          </p:cNvPr>
          <p:cNvSpPr/>
          <p:nvPr/>
        </p:nvSpPr>
        <p:spPr>
          <a:xfrm>
            <a:off x="7919882" y="4808459"/>
            <a:ext cx="360000" cy="180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4C5598-960F-4759-B59D-EB5C26F7498D}"/>
              </a:ext>
            </a:extLst>
          </p:cNvPr>
          <p:cNvSpPr/>
          <p:nvPr/>
        </p:nvSpPr>
        <p:spPr>
          <a:xfrm>
            <a:off x="2944444" y="4197672"/>
            <a:ext cx="432000" cy="2160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17C513-1E1A-4C63-B778-60A703FAB117}"/>
              </a:ext>
            </a:extLst>
          </p:cNvPr>
          <p:cNvSpPr/>
          <p:nvPr/>
        </p:nvSpPr>
        <p:spPr>
          <a:xfrm>
            <a:off x="7883882" y="5007930"/>
            <a:ext cx="540000" cy="1440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99310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C7338-EFE0-4910-9327-084E93E4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selecteert Controller een view?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926AA-BB28-404B-BE73-F839C79A9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923" y="1532118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Afwijken van conventie: extra argument meegeven aan </a:t>
            </a:r>
            <a:r>
              <a:rPr lang="nl-BE" sz="2400" dirty="0">
                <a:latin typeface="Consolas" panose="020B0609020204030204" pitchFamily="49" charset="0"/>
              </a:rPr>
              <a:t>View()</a:t>
            </a:r>
            <a:r>
              <a:rPr lang="nl-BE" dirty="0"/>
              <a:t>-methode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D2DAA-9524-4046-B6EC-4FACFE85F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45987-0809-4B2F-A2D6-26A82461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036E28-7C18-4F55-A165-97A2BE66AE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23588-0A1C-4718-8833-EE051219A892}"/>
              </a:ext>
            </a:extLst>
          </p:cNvPr>
          <p:cNvSpPr txBox="1"/>
          <p:nvPr/>
        </p:nvSpPr>
        <p:spPr>
          <a:xfrm>
            <a:off x="678290" y="3975277"/>
            <a:ext cx="4493478" cy="120032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HomeController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Index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Welcome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806902-FCC6-49CE-80F0-63983212F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956" y="2507225"/>
            <a:ext cx="3276884" cy="375698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C97F35B-CDCE-434E-8576-545F380822B3}"/>
              </a:ext>
            </a:extLst>
          </p:cNvPr>
          <p:cNvSpPr/>
          <p:nvPr/>
        </p:nvSpPr>
        <p:spPr>
          <a:xfrm>
            <a:off x="1917289" y="4014605"/>
            <a:ext cx="360000" cy="216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1AC4B-F61C-497B-8D4C-81721B3E6A3C}"/>
              </a:ext>
            </a:extLst>
          </p:cNvPr>
          <p:cNvSpPr/>
          <p:nvPr/>
        </p:nvSpPr>
        <p:spPr>
          <a:xfrm>
            <a:off x="8116527" y="4848936"/>
            <a:ext cx="360000" cy="180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41EE17-6F39-4703-8886-EA8B93842FA0}"/>
              </a:ext>
            </a:extLst>
          </p:cNvPr>
          <p:cNvSpPr/>
          <p:nvPr/>
        </p:nvSpPr>
        <p:spPr>
          <a:xfrm>
            <a:off x="2513803" y="4544146"/>
            <a:ext cx="792000" cy="2160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168EB9-7E94-47FF-9127-DA3A3782F106}"/>
              </a:ext>
            </a:extLst>
          </p:cNvPr>
          <p:cNvSpPr/>
          <p:nvPr/>
        </p:nvSpPr>
        <p:spPr>
          <a:xfrm>
            <a:off x="8116527" y="5038768"/>
            <a:ext cx="684000" cy="1440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34187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C7338-EFE0-4910-9327-084E93E4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selecteert Controller een view?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926AA-BB28-404B-BE73-F839C79A9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923" y="1532118"/>
            <a:ext cx="9281274" cy="97510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Ook mogelijk om </a:t>
            </a:r>
            <a:r>
              <a:rPr lang="nl-BE" b="1" dirty="0">
                <a:solidFill>
                  <a:schemeClr val="accent6"/>
                </a:solidFill>
              </a:rPr>
              <a:t>absoluut pad </a:t>
            </a:r>
            <a:r>
              <a:rPr lang="nl-BE" dirty="0"/>
              <a:t>op te geven, beginnend van de root van het project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D2DAA-9524-4046-B6EC-4FACFE85F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45987-0809-4B2F-A2D6-26A82461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036E28-7C18-4F55-A165-97A2BE66AE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23588-0A1C-4718-8833-EE051219A892}"/>
              </a:ext>
            </a:extLst>
          </p:cNvPr>
          <p:cNvSpPr txBox="1"/>
          <p:nvPr/>
        </p:nvSpPr>
        <p:spPr>
          <a:xfrm>
            <a:off x="678290" y="3975277"/>
            <a:ext cx="4493478" cy="10156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HomeController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Index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"Views/Home/</a:t>
            </a:r>
            <a:r>
              <a:rPr lang="nl-BE" sz="12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Welcome.cshtml</a:t>
            </a:r>
            <a:r>
              <a:rPr lang="nl-BE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806902-FCC6-49CE-80F0-63983212F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956" y="2507225"/>
            <a:ext cx="3276884" cy="37569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A71AC4B-F61C-497B-8D4C-81721B3E6A3C}"/>
              </a:ext>
            </a:extLst>
          </p:cNvPr>
          <p:cNvSpPr/>
          <p:nvPr/>
        </p:nvSpPr>
        <p:spPr>
          <a:xfrm>
            <a:off x="8116527" y="4848936"/>
            <a:ext cx="360000" cy="18000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168EB9-7E94-47FF-9127-DA3A3782F106}"/>
              </a:ext>
            </a:extLst>
          </p:cNvPr>
          <p:cNvSpPr/>
          <p:nvPr/>
        </p:nvSpPr>
        <p:spPr>
          <a:xfrm>
            <a:off x="8116527" y="5038768"/>
            <a:ext cx="684000" cy="1440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12097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AECC-2408-4BEF-B3C6-8FA080E3D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selecteert Controller een view?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1F0F8-6855-4E06-A5E4-1B86DD6EE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438142"/>
            <a:ext cx="10153374" cy="225878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Opmerkingen: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Controller kan ook </a:t>
            </a:r>
            <a:r>
              <a:rPr lang="nl-BE" sz="2400" b="1" dirty="0" err="1">
                <a:solidFill>
                  <a:schemeClr val="accent6"/>
                </a:solidFill>
              </a:rPr>
              <a:t>redirects</a:t>
            </a:r>
            <a:r>
              <a:rPr lang="nl-BE" sz="2400" dirty="0"/>
              <a:t> uitvoeren via </a:t>
            </a:r>
            <a:r>
              <a:rPr lang="nl-BE" sz="2000" dirty="0" err="1">
                <a:latin typeface="Consolas" panose="020B0609020204030204" pitchFamily="49" charset="0"/>
              </a:rPr>
              <a:t>RedirectToAction</a:t>
            </a:r>
            <a:r>
              <a:rPr lang="nl-BE" sz="2000" dirty="0">
                <a:latin typeface="Consolas" panose="020B0609020204030204" pitchFamily="49" charset="0"/>
              </a:rPr>
              <a:t>()</a:t>
            </a:r>
            <a:r>
              <a:rPr lang="nl-BE" sz="2400" dirty="0"/>
              <a:t> of </a:t>
            </a:r>
            <a:r>
              <a:rPr lang="nl-BE" sz="2000" dirty="0" err="1">
                <a:latin typeface="Consolas" panose="020B0609020204030204" pitchFamily="49" charset="0"/>
              </a:rPr>
              <a:t>RedirectToRoute</a:t>
            </a:r>
            <a:r>
              <a:rPr lang="nl-BE" sz="2000" dirty="0">
                <a:latin typeface="Consolas" panose="020B0609020204030204" pitchFamily="49" charset="0"/>
              </a:rPr>
              <a:t>()</a:t>
            </a:r>
            <a:r>
              <a:rPr lang="nl-BE" sz="2400" dirty="0"/>
              <a:t> </a:t>
            </a:r>
            <a:r>
              <a:rPr lang="nl-BE" sz="2400" i="1" dirty="0"/>
              <a:t>(zie hoofdstuk Routing)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View kan bepaald worden via logica </a:t>
            </a:r>
            <a:r>
              <a:rPr lang="nl-BE" sz="2400" i="1" dirty="0"/>
              <a:t>(bv.: </a:t>
            </a:r>
            <a:r>
              <a:rPr lang="nl-BE" sz="2000" i="1" dirty="0" err="1">
                <a:latin typeface="Consolas" panose="020B0609020204030204" pitchFamily="49" charset="0"/>
              </a:rPr>
              <a:t>if-else</a:t>
            </a:r>
            <a:r>
              <a:rPr lang="nl-BE" sz="2400" i="1" dirty="0"/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5E669-C0FD-444E-9AC8-C32A3955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74B63-02DB-4789-8965-D307A5EA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345697-5C33-4C08-848C-4DB7CE0FAC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DAC4B-DCF7-479D-A753-77176BEFA622}"/>
              </a:ext>
            </a:extLst>
          </p:cNvPr>
          <p:cNvSpPr txBox="1"/>
          <p:nvPr/>
        </p:nvSpPr>
        <p:spPr>
          <a:xfrm>
            <a:off x="1327219" y="3572154"/>
            <a:ext cx="6037142" cy="161582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74561F"/>
                </a:solidFill>
                <a:latin typeface="Consolas" panose="020B0609020204030204" pitchFamily="49" charset="0"/>
              </a:rPr>
              <a:t>Details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id)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4F8291"/>
                </a:solidFill>
                <a:latin typeface="Consolas" panose="020B0609020204030204" pitchFamily="49" charset="0"/>
              </a:rPr>
              <a:t>Product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productRepository.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FindById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(product ==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    return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NotFound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//Views/Product/</a:t>
            </a:r>
            <a:r>
              <a:rPr lang="en-US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NotFound.cshtml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}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(product); </a:t>
            </a:r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//Views/Product/</a:t>
            </a:r>
            <a:r>
              <a:rPr lang="en-US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Details.cshtml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</p:spTree>
    <p:extLst>
      <p:ext uri="{BB962C8B-B14F-4D97-AF65-F5344CB8AC3E}">
        <p14:creationId xmlns:p14="http://schemas.microsoft.com/office/powerpoint/2010/main" val="573629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5CC2D-FDF8-4EB6-A89D-E4ECFB62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Data doorgeven aan 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4C531-03D5-4736-BBC0-EF3E9B225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FC4CB-19A6-4A12-891E-12CC7C2E0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7E809C-B638-4597-A4FB-052F7D5E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15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3E8F52-46D9-4807-AAA7-B15B816A7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20801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F15A-0C0F-4E4A-B01D-C3EC4B89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Data doorgeven aan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B33C2-EE9D-4D54-A76F-8778EA9CF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163" y="2234839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Een controller kan op verschillende manieren data doorgeven aan View: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 err="1">
                <a:latin typeface="Consolas" panose="020B0609020204030204" pitchFamily="49" charset="0"/>
              </a:rPr>
              <a:t>ViewData</a:t>
            </a:r>
            <a:r>
              <a:rPr lang="nl-BE" sz="2000" b="1" dirty="0">
                <a:latin typeface="Consolas" panose="020B0609020204030204" pitchFamily="49" charset="0"/>
              </a:rPr>
              <a:t>: </a:t>
            </a:r>
            <a:r>
              <a:rPr lang="nl-BE" sz="2400" dirty="0" err="1"/>
              <a:t>dictionary</a:t>
            </a:r>
            <a:r>
              <a:rPr lang="nl-BE" sz="2400" dirty="0"/>
              <a:t> (</a:t>
            </a:r>
            <a:r>
              <a:rPr lang="nl-BE" sz="2400" dirty="0" err="1"/>
              <a:t>key-value</a:t>
            </a:r>
            <a:r>
              <a:rPr lang="nl-BE" sz="2400" dirty="0"/>
              <a:t> paren)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 err="1">
                <a:latin typeface="Consolas" panose="020B0609020204030204" pitchFamily="49" charset="0"/>
              </a:rPr>
              <a:t>ViewBag</a:t>
            </a:r>
            <a:r>
              <a:rPr lang="nl-BE" sz="2000" b="1" dirty="0">
                <a:latin typeface="Consolas" panose="020B0609020204030204" pitchFamily="49" charset="0"/>
              </a:rPr>
              <a:t>:</a:t>
            </a:r>
            <a:r>
              <a:rPr lang="nl-BE" sz="2400" dirty="0"/>
              <a:t> </a:t>
            </a:r>
            <a:r>
              <a:rPr lang="nl-BE" sz="2400" dirty="0" err="1"/>
              <a:t>wrapper</a:t>
            </a:r>
            <a:r>
              <a:rPr lang="nl-BE" sz="2400" dirty="0"/>
              <a:t> rond </a:t>
            </a:r>
            <a:r>
              <a:rPr lang="nl-BE" sz="2000" dirty="0" err="1">
                <a:latin typeface="Consolas" panose="020B0609020204030204" pitchFamily="49" charset="0"/>
              </a:rPr>
              <a:t>ViewData</a:t>
            </a:r>
            <a:r>
              <a:rPr lang="nl-BE" sz="2400" dirty="0"/>
              <a:t>. Maakt gebruik van </a:t>
            </a:r>
            <a:r>
              <a:rPr lang="nl-BE" sz="2400" dirty="0" err="1"/>
              <a:t>dynamic</a:t>
            </a:r>
            <a:r>
              <a:rPr lang="nl-BE" sz="2400" dirty="0"/>
              <a:t> om casting te vermijden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/>
              <a:t>View model: </a:t>
            </a:r>
            <a:r>
              <a:rPr lang="nl-BE" sz="2400" dirty="0"/>
              <a:t>eigen C#-klasse die </a:t>
            </a:r>
            <a:r>
              <a:rPr lang="nl-BE" sz="2400" dirty="0" err="1"/>
              <a:t>property’s</a:t>
            </a:r>
            <a:r>
              <a:rPr lang="nl-BE" sz="2400" dirty="0"/>
              <a:t> bevat voor alle data die aan view moet doorgegeven worden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E5DE7-22F0-40F9-B22D-637F56EA2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86AB2-35B7-47BB-AB6A-8C853D94B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9190B8-A24A-4D31-BD49-E932819EF4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04230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8C9CF-AA6B-4B64-B76B-7D425B075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Data doorgeven aan View: </a:t>
            </a:r>
            <a:r>
              <a:rPr lang="nl-BE" dirty="0" err="1"/>
              <a:t>ViewData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59F37-80F5-457E-9ED3-52EB19C0C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883734"/>
            <a:ext cx="9281274" cy="3090532"/>
          </a:xfrm>
        </p:spPr>
        <p:txBody>
          <a:bodyPr/>
          <a:lstStyle/>
          <a:p>
            <a:r>
              <a:rPr lang="nl-BE" dirty="0"/>
              <a:t>Voorbeeld </a:t>
            </a:r>
            <a:r>
              <a:rPr lang="nl-BE" sz="2400" dirty="0" err="1">
                <a:latin typeface="Consolas" panose="020B0609020204030204" pitchFamily="49" charset="0"/>
              </a:rPr>
              <a:t>ViewData</a:t>
            </a:r>
            <a:r>
              <a:rPr lang="nl-BE" dirty="0"/>
              <a:t>:</a:t>
            </a:r>
          </a:p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1B80A9-EAC1-4681-96DA-B01A20815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40CB9-38B5-48DC-9584-CB1842FA3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A58806-FA28-48DB-A7AC-CD851A995C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0860B-C872-4175-978B-4272E2CC7306}"/>
              </a:ext>
            </a:extLst>
          </p:cNvPr>
          <p:cNvSpPr txBox="1"/>
          <p:nvPr/>
        </p:nvSpPr>
        <p:spPr>
          <a:xfrm>
            <a:off x="475262" y="3059294"/>
            <a:ext cx="4886768" cy="93871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74561F"/>
                </a:solidFill>
                <a:latin typeface="Consolas" panose="020B0609020204030204" pitchFamily="49" charset="0"/>
              </a:rPr>
              <a:t>Index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ViewData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"Message"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"Welcome to my website!"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D1F39F-E3BD-463B-8F7E-664EB4B8B48A}"/>
              </a:ext>
            </a:extLst>
          </p:cNvPr>
          <p:cNvSpPr txBox="1"/>
          <p:nvPr/>
        </p:nvSpPr>
        <p:spPr>
          <a:xfrm>
            <a:off x="475262" y="4598043"/>
            <a:ext cx="4886768" cy="43088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Home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a-DK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da-DK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da-DK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da-DK" sz="1100" dirty="0">
                <a:solidFill>
                  <a:srgbClr val="000000"/>
                </a:solidFill>
                <a:latin typeface="Consolas" panose="020B0609020204030204" pitchFamily="49" charset="0"/>
              </a:rPr>
              <a:t>Message: </a:t>
            </a:r>
            <a:r>
              <a:rPr lang="da-DK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da-DK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ViewData[</a:t>
            </a:r>
            <a:r>
              <a:rPr lang="da-DK" sz="1100" b="1" dirty="0">
                <a:solidFill>
                  <a:srgbClr val="A31515"/>
                </a:solidFill>
                <a:latin typeface="Consolas" panose="020B0609020204030204" pitchFamily="49" charset="0"/>
              </a:rPr>
              <a:t>"Message"</a:t>
            </a:r>
            <a:r>
              <a:rPr lang="da-DK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da-DK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da-DK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da-DK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97C16-5017-43F4-8521-68CC2B471B29}"/>
              </a:ext>
            </a:extLst>
          </p:cNvPr>
          <p:cNvSpPr txBox="1"/>
          <p:nvPr/>
        </p:nvSpPr>
        <p:spPr>
          <a:xfrm>
            <a:off x="410178" y="2666076"/>
            <a:ext cx="2271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 err="1"/>
              <a:t>HomeController.cs</a:t>
            </a:r>
            <a:endParaRPr lang="nl-BE" sz="16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89A866-1F12-48FB-8235-585716C8062A}"/>
              </a:ext>
            </a:extLst>
          </p:cNvPr>
          <p:cNvSpPr txBox="1"/>
          <p:nvPr/>
        </p:nvSpPr>
        <p:spPr>
          <a:xfrm>
            <a:off x="442829" y="4204825"/>
            <a:ext cx="2428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Views/Home/</a:t>
            </a:r>
            <a:r>
              <a:rPr lang="nl-BE" sz="1600" b="1" u="sng" dirty="0" err="1"/>
              <a:t>Index.cshtml</a:t>
            </a:r>
            <a:endParaRPr lang="nl-BE" sz="1600" b="1" u="sn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D63681-42B2-4326-B61E-C41AC149F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096" y="3528653"/>
            <a:ext cx="2560542" cy="1074513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F293E1-860E-42BD-8C46-27BC3D04C967}"/>
              </a:ext>
            </a:extLst>
          </p:cNvPr>
          <p:cNvSpPr/>
          <p:nvPr/>
        </p:nvSpPr>
        <p:spPr>
          <a:xfrm>
            <a:off x="6213987" y="3998013"/>
            <a:ext cx="698090" cy="465832"/>
          </a:xfrm>
          <a:prstGeom prst="rightArrow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9897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8C9CF-AA6B-4B64-B76B-7D425B075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Data doorgeven aan View: </a:t>
            </a:r>
            <a:r>
              <a:rPr lang="nl-BE" dirty="0" err="1"/>
              <a:t>ViewBag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59F37-80F5-457E-9ED3-52EB19C0C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480179"/>
            <a:ext cx="9281274" cy="3090532"/>
          </a:xfrm>
        </p:spPr>
        <p:txBody>
          <a:bodyPr/>
          <a:lstStyle/>
          <a:p>
            <a:r>
              <a:rPr lang="nl-BE" dirty="0"/>
              <a:t>Voorbeeld </a:t>
            </a:r>
            <a:r>
              <a:rPr lang="nl-BE" sz="2400" dirty="0" err="1">
                <a:latin typeface="Consolas" panose="020B0609020204030204" pitchFamily="49" charset="0"/>
              </a:rPr>
              <a:t>ViewBag</a:t>
            </a:r>
            <a:r>
              <a:rPr lang="nl-BE" dirty="0"/>
              <a:t>:</a:t>
            </a:r>
          </a:p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1B80A9-EAC1-4681-96DA-B01A20815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40CB9-38B5-48DC-9584-CB1842FA3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A58806-FA28-48DB-A7AC-CD851A995C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0860B-C872-4175-978B-4272E2CC7306}"/>
              </a:ext>
            </a:extLst>
          </p:cNvPr>
          <p:cNvSpPr txBox="1"/>
          <p:nvPr/>
        </p:nvSpPr>
        <p:spPr>
          <a:xfrm>
            <a:off x="534291" y="2653175"/>
            <a:ext cx="4886768" cy="110799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74561F"/>
                </a:solidFill>
                <a:latin typeface="Consolas" panose="020B0609020204030204" pitchFamily="49" charset="0"/>
              </a:rPr>
              <a:t>Index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ViewBag.Title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Welcome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!"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ViewBag.Message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Hello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, World!"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D1F39F-E3BD-463B-8F7E-664EB4B8B48A}"/>
              </a:ext>
            </a:extLst>
          </p:cNvPr>
          <p:cNvSpPr txBox="1"/>
          <p:nvPr/>
        </p:nvSpPr>
        <p:spPr>
          <a:xfrm>
            <a:off x="475262" y="4430893"/>
            <a:ext cx="4886768" cy="43088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ViewBag.Title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a-DK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da-DK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da-DK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da-DK" sz="1100" dirty="0">
                <a:solidFill>
                  <a:srgbClr val="000000"/>
                </a:solidFill>
                <a:latin typeface="Consolas" panose="020B0609020204030204" pitchFamily="49" charset="0"/>
              </a:rPr>
              <a:t>Message: </a:t>
            </a:r>
            <a:r>
              <a:rPr lang="da-DK" sz="11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da-DK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ViewBag.Message</a:t>
            </a:r>
            <a:r>
              <a:rPr lang="da-DK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da-DK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da-DK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97C16-5017-43F4-8521-68CC2B471B29}"/>
              </a:ext>
            </a:extLst>
          </p:cNvPr>
          <p:cNvSpPr txBox="1"/>
          <p:nvPr/>
        </p:nvSpPr>
        <p:spPr>
          <a:xfrm>
            <a:off x="442829" y="2282166"/>
            <a:ext cx="2271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 err="1"/>
              <a:t>HomeController.cs</a:t>
            </a:r>
            <a:endParaRPr lang="nl-BE" sz="16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89A866-1F12-48FB-8235-585716C8062A}"/>
              </a:ext>
            </a:extLst>
          </p:cNvPr>
          <p:cNvSpPr txBox="1"/>
          <p:nvPr/>
        </p:nvSpPr>
        <p:spPr>
          <a:xfrm>
            <a:off x="442829" y="4037675"/>
            <a:ext cx="2428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Views/Home/</a:t>
            </a:r>
            <a:r>
              <a:rPr lang="nl-BE" sz="1600" b="1" u="sng" dirty="0" err="1"/>
              <a:t>Index.cshtml</a:t>
            </a:r>
            <a:endParaRPr lang="nl-BE" sz="1600" b="1" u="sng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F293E1-860E-42BD-8C46-27BC3D04C967}"/>
              </a:ext>
            </a:extLst>
          </p:cNvPr>
          <p:cNvSpPr/>
          <p:nvPr/>
        </p:nvSpPr>
        <p:spPr>
          <a:xfrm>
            <a:off x="6295663" y="3709021"/>
            <a:ext cx="698090" cy="465832"/>
          </a:xfrm>
          <a:prstGeom prst="rightArrow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D0B9F9-1CF1-4F85-B725-E710A1219338}"/>
              </a:ext>
            </a:extLst>
          </p:cNvPr>
          <p:cNvSpPr txBox="1"/>
          <p:nvPr/>
        </p:nvSpPr>
        <p:spPr>
          <a:xfrm>
            <a:off x="475262" y="5368413"/>
            <a:ext cx="9062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i="1" dirty="0"/>
              <a:t>Opmerking: </a:t>
            </a:r>
            <a:r>
              <a:rPr lang="nl-BE" i="1" dirty="0"/>
              <a:t>de </a:t>
            </a:r>
            <a:r>
              <a:rPr lang="nl-BE" i="1" dirty="0" err="1"/>
              <a:t>property’s</a:t>
            </a:r>
            <a:r>
              <a:rPr lang="nl-BE" i="1" dirty="0"/>
              <a:t> </a:t>
            </a:r>
            <a:r>
              <a:rPr lang="nl-BE" i="1" dirty="0" err="1"/>
              <a:t>Title</a:t>
            </a:r>
            <a:r>
              <a:rPr lang="nl-BE" i="1" dirty="0"/>
              <a:t> en Message worden “at </a:t>
            </a:r>
            <a:r>
              <a:rPr lang="nl-BE" i="1" dirty="0" err="1"/>
              <a:t>runtime</a:t>
            </a:r>
            <a:r>
              <a:rPr lang="nl-BE" i="1" dirty="0"/>
              <a:t>” aangemaakt en aan het </a:t>
            </a:r>
            <a:r>
              <a:rPr lang="nl-BE" i="1" dirty="0" err="1"/>
              <a:t>ViewBag</a:t>
            </a:r>
            <a:r>
              <a:rPr lang="nl-BE" i="1" dirty="0"/>
              <a:t>-object toegevoegd. Je krijgt hierbij géén auto-</a:t>
            </a:r>
            <a:r>
              <a:rPr lang="nl-BE" i="1" dirty="0" err="1"/>
              <a:t>completion</a:t>
            </a:r>
            <a:r>
              <a:rPr lang="nl-BE" i="1" dirty="0"/>
              <a:t>!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A8902A0-89E7-47F9-A532-61334174C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358" y="3090158"/>
            <a:ext cx="2230777" cy="110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787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0F7DF-CABB-488C-85C6-816B0F783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Data doorgeven aan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551B1-3049-48CB-B357-31C879B6D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178" y="1314721"/>
            <a:ext cx="9281274" cy="103518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MAAR: </a:t>
            </a:r>
            <a:r>
              <a:rPr lang="nl-BE" dirty="0" err="1"/>
              <a:t>ViewData</a:t>
            </a:r>
            <a:r>
              <a:rPr lang="nl-BE" dirty="0"/>
              <a:t> en </a:t>
            </a:r>
            <a:r>
              <a:rPr lang="nl-BE" dirty="0" err="1"/>
              <a:t>ViewBag</a:t>
            </a:r>
            <a:r>
              <a:rPr lang="nl-BE" dirty="0"/>
              <a:t> zijn minder geschikt voor complexe objecten: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17B55-E20F-4D04-9F26-819E0AE1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C50CC-ABE8-4EE8-B169-9C06DDB5A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59BC8E-58C2-4E02-B07B-897BFA789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913D5F-B3EB-47E4-B39E-0502AE66E266}"/>
              </a:ext>
            </a:extLst>
          </p:cNvPr>
          <p:cNvSpPr txBox="1"/>
          <p:nvPr/>
        </p:nvSpPr>
        <p:spPr>
          <a:xfrm>
            <a:off x="534291" y="3361101"/>
            <a:ext cx="4886768" cy="127727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4F8291"/>
                </a:solidFill>
                <a:latin typeface="Consolas" panose="020B0609020204030204" pitchFamily="49" charset="0"/>
              </a:rPr>
              <a:t>Product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US" sz="1100" dirty="0">
                <a:solidFill>
                  <a:srgbClr val="4F8291"/>
                </a:solidFill>
                <a:latin typeface="Consolas" panose="020B0609020204030204" pitchFamily="49" charset="0"/>
              </a:rPr>
              <a:t>Product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ViewData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"Product"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nl-BE" sz="11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Naam: </a:t>
            </a:r>
            <a:r>
              <a:rPr lang="nl-BE" sz="11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product.Name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Beschrijving: </a:t>
            </a:r>
            <a:r>
              <a:rPr lang="nl-BE" sz="11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product.Description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Prijs: </a:t>
            </a:r>
            <a:r>
              <a:rPr lang="nl-BE" sz="1100" dirty="0">
                <a:solidFill>
                  <a:srgbClr val="FF0000"/>
                </a:solidFill>
                <a:latin typeface="Consolas" panose="020B0609020204030204" pitchFamily="49" charset="0"/>
              </a:rPr>
              <a:t>&amp;euro;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product.Price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7C81F-F638-4699-9E70-EB70863BB289}"/>
              </a:ext>
            </a:extLst>
          </p:cNvPr>
          <p:cNvSpPr txBox="1"/>
          <p:nvPr/>
        </p:nvSpPr>
        <p:spPr>
          <a:xfrm>
            <a:off x="534291" y="4756973"/>
            <a:ext cx="476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i="1" dirty="0"/>
              <a:t>Cast nodig </a:t>
            </a:r>
            <a:r>
              <a:rPr lang="nl-BE" b="1" i="1" dirty="0">
                <a:sym typeface="Wingdings" panose="05000000000000000000" pitchFamily="2" charset="2"/>
              </a:rPr>
              <a:t> gevoelig voor fouten!</a:t>
            </a:r>
            <a:endParaRPr lang="nl-BE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F59D27-7D75-4495-85DF-1C1F61ABAD5C}"/>
              </a:ext>
            </a:extLst>
          </p:cNvPr>
          <p:cNvSpPr txBox="1"/>
          <p:nvPr/>
        </p:nvSpPr>
        <p:spPr>
          <a:xfrm>
            <a:off x="6635207" y="3361101"/>
            <a:ext cx="4886768" cy="6001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Naam: </a:t>
            </a:r>
            <a:r>
              <a:rPr lang="nl-BE" sz="11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ViewBag.Product.Name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Beschrijving: </a:t>
            </a:r>
            <a:r>
              <a:rPr lang="nl-BE" sz="11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ViewBag.Product.Description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Prijs: </a:t>
            </a:r>
            <a:r>
              <a:rPr lang="nl-BE" sz="1100" dirty="0">
                <a:solidFill>
                  <a:srgbClr val="FF0000"/>
                </a:solidFill>
                <a:latin typeface="Consolas" panose="020B0609020204030204" pitchFamily="49" charset="0"/>
              </a:rPr>
              <a:t>&amp;euro;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ViewBag.Product.Price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1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2F7B30-C739-42C3-8486-C06A66E2A159}"/>
              </a:ext>
            </a:extLst>
          </p:cNvPr>
          <p:cNvSpPr txBox="1"/>
          <p:nvPr/>
        </p:nvSpPr>
        <p:spPr>
          <a:xfrm>
            <a:off x="6635207" y="4756973"/>
            <a:ext cx="4765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i="1" dirty="0" err="1"/>
              <a:t>Dynamic</a:t>
            </a:r>
            <a:r>
              <a:rPr lang="nl-BE" b="1" i="1" dirty="0"/>
              <a:t> </a:t>
            </a:r>
            <a:r>
              <a:rPr lang="nl-BE" b="1" i="1" dirty="0">
                <a:sym typeface="Wingdings" panose="05000000000000000000" pitchFamily="2" charset="2"/>
              </a:rPr>
              <a:t> geen </a:t>
            </a:r>
            <a:r>
              <a:rPr lang="nl-BE" b="1" i="1" dirty="0" err="1">
                <a:sym typeface="Wingdings" panose="05000000000000000000" pitchFamily="2" charset="2"/>
              </a:rPr>
              <a:t>compile</a:t>
            </a:r>
            <a:r>
              <a:rPr lang="nl-BE" b="1" i="1" dirty="0">
                <a:sym typeface="Wingdings" panose="05000000000000000000" pitchFamily="2" charset="2"/>
              </a:rPr>
              <a:t>-time type-</a:t>
            </a:r>
            <a:r>
              <a:rPr lang="nl-BE" b="1" i="1" dirty="0" err="1">
                <a:sym typeface="Wingdings" panose="05000000000000000000" pitchFamily="2" charset="2"/>
              </a:rPr>
              <a:t>checking</a:t>
            </a:r>
            <a:endParaRPr lang="nl-BE" b="1" i="1" dirty="0">
              <a:sym typeface="Wingdings" panose="05000000000000000000" pitchFamily="2" charset="2"/>
            </a:endParaRPr>
          </a:p>
          <a:p>
            <a:r>
              <a:rPr lang="nl-BE" b="1" i="1" dirty="0">
                <a:sym typeface="Wingdings" panose="05000000000000000000" pitchFamily="2" charset="2"/>
              </a:rPr>
              <a:t>  Gevoelig voor fouten (</a:t>
            </a:r>
            <a:r>
              <a:rPr lang="nl-BE" b="1" i="1" dirty="0" err="1">
                <a:sym typeface="Wingdings" panose="05000000000000000000" pitchFamily="2" charset="2"/>
              </a:rPr>
              <a:t>runtime-exceptions</a:t>
            </a:r>
            <a:r>
              <a:rPr lang="nl-BE" b="1" i="1" dirty="0">
                <a:sym typeface="Wingdings" panose="05000000000000000000" pitchFamily="2" charset="2"/>
              </a:rPr>
              <a:t> mogelijk!)</a:t>
            </a:r>
            <a:endParaRPr lang="nl-BE" b="1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3433F3-0226-4ADD-94BA-3560FFBEA289}"/>
              </a:ext>
            </a:extLst>
          </p:cNvPr>
          <p:cNvSpPr txBox="1"/>
          <p:nvPr/>
        </p:nvSpPr>
        <p:spPr>
          <a:xfrm>
            <a:off x="534291" y="3007158"/>
            <a:ext cx="2723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 err="1"/>
              <a:t>ViewData</a:t>
            </a:r>
            <a:r>
              <a:rPr lang="nl-BE" sz="1600" b="1" u="sng" dirty="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AF4F78-2265-4BA1-9851-F739B39FBE84}"/>
              </a:ext>
            </a:extLst>
          </p:cNvPr>
          <p:cNvSpPr txBox="1"/>
          <p:nvPr/>
        </p:nvSpPr>
        <p:spPr>
          <a:xfrm>
            <a:off x="6635207" y="3007158"/>
            <a:ext cx="2723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 err="1"/>
              <a:t>ViewBag</a:t>
            </a:r>
            <a:r>
              <a:rPr lang="nl-BE" sz="1600" b="1" u="sng" dirty="0"/>
              <a:t>:</a:t>
            </a:r>
          </a:p>
        </p:txBody>
      </p:sp>
      <p:pic>
        <p:nvPicPr>
          <p:cNvPr id="1026" name="Picture 2" descr="data:image/png;base64,iVBORw0KGgoAAAANSUhEUgAAAOEAAADhCAMAAAAJbSJIAAAAzFBMVEX////gQAbgPQDgPwDfNwDfOgD//fzfNQDvnX/++vjhQgD98+///Pr+9vP++fbeMAD639Xmakb75d386+T87ef41cr3z8D64djjUyP1x7rriWvtmH/kWSj0w7T2zsT52s7tlHjxrJbkXTPwpo7pfFrjVSTytqTtlnzqgmTys5/hSBLodVL0vKvuoIrysZrnbUXrkn7mZTnkUhnqfFTmaELjTADsiGfphGvmYzTna0DoeV3lVx/zvrDuo5LwsKLrjXPiVC3mbE/mcVbofGOrEwk2AAAUZklEQVR4nNVdaXuquhbWFQIFnMqgolJUrFXUWt3audvuc///f7qgnUwCBESl75dznt02sEiy5qFQODLEkiyXG/a45174cF339nY6tepmTVcrFVmWS+Kx3+B4EFVDa7xe/HlcV6tVyYcgCMF/pOon8PplMbh5behG5dwvmxiy7lwNu/OlTxoGKIYAAWAsVaXOYGabNePcL80Pw3x9G3SQJOBQ2vYBWJLWi81fq1E697tzQJ/OHhaKv3OIj7ovKkHAzcnduF4+NwWRMKabf01ITN33XuJi/7ldz+tOivX7vge8JzMECDBqXrr6uYmhIWrddRRTSUQkCMJiWs6TGCkZ1qQqZUHdF5W4qrRM9dyEfaDs9BYCzpC8HUBQRlYeTmu5PutI2dMXAAloMmyc+bCWrbvrTI8nQSOGyzfnjDSK9db1gbwznka0mmnnIlDbvGfCPGNohGLfPYveWu4qR96/bxrx0j71URWN8fqI94+mUXqyTqrOqfZcSEbf1oz4AYCEqh325ePptLla2+OWDyigTMDKsn85eX4ejR4eHkbPk8tF/1rZkcpLKAj98YnEY2X4j/MCAhYEeJm32m+vtmXWGpqm64Zh6FqjZppX1muv3Zovgy/AtxxWRvVTEFjrcm2gTx1ezm+GVzXNKMvspUplQ6sFlvJaEDDHXiLc7x3dTpaHq3gJgUCQlCfX1NUyx9URy4Zev1gAj00J3uDI26i3lDj6fJYCy3tbTcbeRVEd/lnjWOsEgXdM4SjWH6Xoz+xzyObqopZy/VK9u/DimCxIg6PpOOXhOvIG+hKheXlzmNxS7c2qGMN5pEfzOPJfn0U+2aevv5lm8Hmd3vMymka8nB7DdDRHUY/1rYDVm5mR2qHZ3U4kjeC1Mz+psn0ZdT8wnk8bGXIA1XE7UVoTFEdOdk8LUBl2IggEYW4bGatUcmO2jKARYGVm+bhSz4t4mPQyPsa1EBstFE4jgusMJWP5JtyOAOi4R/MY1e69cAGJsZ3Vc9RuqBQEeO8e1QKvD8JPD8A0RB1MCL0lhD7DO7ourPbC1UTwbrM4Po37MB7j3/bx8QNGorkJ3UZYZnBDGiMUsj4om9O4wYzpIszy8LXUQ0kMV7Xxcngqn7TY6IYxVfB6h93FcjdkB30RUTuhc0gcKyEqMXjDQxauhHFRULonjvOZixCGA3iaflXxgk0ggv705I5orRXCcEBIzc/lMZtAQJOrLN+dE4bbYZOI02o34pT90QC10pq4h6Fir9iXMa2OavXZBEL7bDEv54mpfCBIZfbXJiEE9s6YS1Cbs0lUbpJLLmPDVGVAGWejC6aENhCYr+WNk1pvco/JnMGbnjlRQm+xX2ydlNvYTFUGOq9nzx9Qb5gMEHcaiZZxOiyuBf2TB7kYUGdMEqVJkquoTlgXGpqnl/MsqDPmAZNmCd5uJrEIVIZnZTLfKLdZtgZ4/DZ/nXUMAPdyk42ldpkk/uOVigZLEiKhnZMdDGCw/A5I4T2nM4X+QEg4tTERDX3AYIVwbXH9sfVObyFCm7ykYH2gNmccNDzhOaf6iHEA0il+R0V9wWIWb/GOd7nHOKOwOkl4ORmmTZpEaMa/qNmnD3heBOE+mHuBB3G3qbyhzyiCWS5z6cuM+4RwnNvmiqEuCH9yxUa/oS8Z5+065mWf6L/B6zxkeTJhM+wMyY38k2mV/ihKDrnMB0SXNmJBidqQMu3rQXCRQy7zCWPEOHPdiD/o0eoenudOEv7EFe1Mgvdwv5RGC1Fo5sEkDEeFjt36+lcos5kVyS1EkMLFc1LoA8YmhqmntUv6ly8zTgjIHjat2uAwJZrWEcC7Pe3rpoDYovelw/bJ1y4pvgSjXCoz+2hcUyRKM9ZNFP9SsgWW+RWFP+BSPhfosC6XNqG2ULg/+dumgfpCbyIrbmpRtxBB7tnMDmNKjEOHVmxU2vPxS7YwcH5Sx0+iw6Y1yqiA9XmCaClgUywEzylFhXaRCu3ceA/jYDA2kdweeUlt4TJZIOCcEF+pTaSumEWZTbidU7uXBVoQABCi/A/1G8tzxOrTQvxLSQJh352h0lf14Rd1AGDp1Hiy9wtDUlQcmIhzcsgzROwRvO8ZtvQx/pdUVGjW2J25Pbt2kCqr129n7bY7dZKuYpHuCbRnNWikIx+hJMG4IBGktXr3FKQUm6tBL61XoGRtLt89BKA0FxM3GStX/6OEwcOPH9965Bb3E+nc9YkXlNsh/8sE/212U3nn6nPvo2hvt0orEY0uyWtg9eMYPlD0jxKE0hqj/eozBBK+TXxWjYFErCIoswQOhgZ1Dr3x1w/1f5j8YY9/6fojnQACeJTsqIrmIx13BmGQYBupeJtw93XTbJJ8eOfnM/YLK6kBwSAJqxItRrgkeMkF/ypTcgX8/PWV38gjTMiSKNQZnvUPEhPsohmSsea/CTeJBmk7QOeTmZQ31P5yH1KG6+OTxARB1QbtMPv6UCNuzYOMSCD4lOnOiryjmPf4qy1S0P74hApvTE5thxfkgMedINEjb7L0qVrbpFMVlpxrFqaUSfIDuMP5+c11VInTgje1UiMp/Ax6l94o2ruca+rPkQWJ0gXXKuogtKBj+568Ro64IN4G1ruPYzyQD+BOKw7Jsf1+Ate7maz8pB+r9HndRTOSEGnn/G7MSdIVThahdmOquqtcWUoX0RQWgTcXy6Io3AWvTXIjGD4ONmqsdIif4PJliY9xq7Q4v7hG3uePqD5FuTDjW7BwFcUhtk9YcKxixFRPF+GRU801qNO4dSrKFJMV+DKLCuIwrn4ePA5O79BxZ2IVXqdfuU1tViD2KEcpKJzKiNyL5IFbCjnOlx1HIVI4HSriK/lC1WCzdPIa4AWnGKswkzT33q3I8bFu41YpAuehKpik4ia5PkvRSK1E4NW2eCjkuEEZUtggd0u496+JSR4SgbcaTH6LP6UcAjG7U1rQSAsKL2RGggl3ea04jO2R0cyE03i89oVK2hCwlgsiedSQwl1iY8VKiyeOVQxmBcXP13zkNS/kN1IFqaoFsUuy0g63RRYr8fkU08cYzYibMfgHknyhaq1Qoo4ufwKNehOntXEpuHQMdw8I+DMjLVI/88WFTOoBeMTvKKPsrn3Amssf1Yg+pjiBJ6NOek2lYUEmT5rQ5XdwaTHWE18mR4WR8fkNBD1+v51JUiO5BZmkWkiSTMrK0/3++LwcwomyoxOl9FBOFeGCDhzivwkCo2oryv/Ae3/KVNDh5yrDBN536lAFFFIWxyv/gv5HYySk7oBwm/u4a6NwT1SiIgHjgUEhocohlIjCghnmTUzkE3bCXHbCJFGAgHIbBhQSxwx5vErgB+rMSnmUhCX7MNlCUeI1DT8g39EUVghhBMuEFBacR6q3CwKJ1y7/hPFUZawSm3lPoNTmoLCZOLqtdvdbkAEuNlO0juk291ZBgK4T15KJMw4Kr1PE781NXxFwEF8L+tE1/7mpIuS1zcLbdsX0gQVvlabbFQ+FIZmL0RDN3sNlf6l4zcX/ZtO0GQCiM7771296XrM/uRunylciVW8Whf2UHabKTt1+fbXMwxIcSo269WpbV2lbQPNQmGoPcwMeCrNsoXV6cFH4m/ewxMNpkkuLHIEl8UmdBpLqNLlCmUUhqZcqmfV5OwMoV9ThtkXOwLQtyDRw/Pfcr3kAqJBtQCFp4+O3HNXdJwXTxic9GwkM1/zBJEvZAj8N5Wtr/arE0n1YpE9GGjL8pVxV+zmFTeY+VS2Gz/vx92SwU6Ayv6qNgkh6nD9TNH4jKlTcQiozYk+8Qe4cwmDFnhjxw8Rts3IDjWKbTz6FGnk5hZtfVGixjxqpvggtf7d0SiDOf624uCLddds4vkrGRaJL9vOM0piZi1H6S+XT/FYLsUxKPoS3sp3OiYruLJFfGFRy4q7Q0qSiT5NcNxkIR4PK5h5tdez0uYl5w5TKTdw1VTKoEGz6trVnhUgV+n7kl4rpc4TzBZGUhl8KKJ3n/XLeV02JGrmFX2klVHiSP1efD8G8I61Rc8yrHUzTqTV0Q81YO6SyVoTPDHFGvUVm8kJUNdOazkbzx+vlWsHbqdUYKetl52nQ7b3WHT07nwmZtvddb0G3/EhQMxMFWbN7d5OOIki7oNnnU7YVbhgLEniL0WxYz4ZKjUya+K6ZofsIwvvh3RTKzvjuvyYIkZO4gkCh0n9uDw+ry9zCjah7MqjateKhx9SZPa84xx+jYMjXanR7qL5P1cH+qF1j1B8+H2JBle1BU4EkEzyDX+53DxpU5UTVHxbGVA1paCOiWFSc7jL54PFtRaXweKul5q8XkTWkVB1wEZLVAX9BvfoDqcd3IpDWNynHRun/IuuA6frL5LXcAYyre4jLh40GSMt2qmnVVIbdfi03rbMiJXk9vmFvlofRt6URd9pXiblAeUNt4X49vkqNIsH8lY07yPVWM5vxuQD9dlJpRbnzKZl+cF8M/abPxTy59hjQKlkxeKlHZTcSfTEKdbq3SaKkQHsVMpAG7RQYQZKqVUnYjo/d/b8k4F0NP/OvwBsk2UaNyvyjepsw+tMo/I+ojRBDPOyym1Bx2Xn8c39xO7XrpuOjZtYte+p27+ePL57y+UsUjdi74L4n8pijixedTi60ONXF8rBJMphtUwTvfTVpubajhx44tVEfX4wu+83tH5AfSJrXOaWjRjpoGD2GCg2qdgIUPoGhtYlUAF8LUzr/Ru1hXeP6RmrN7nV3St7+h8JLzqF8lBexiJ8oec5oIIy5en3VB3scNFAyLzc9q5ZMqImG49tYfQXvNSYD1OWxVFW6RlNiCLt0/drKw5/NEHxL4mWUmLpPyLr5OpsrP4cfA55Y8efgltoc6DCCoIw+7sIobm2j/c2hEBa80dgxDjL2ypo1e1K+Z5Ah6A/j5IZBp/pLzKHBQ4pzx85T0DfFz8V9be2pV8vCMVExzIvOd58TaMaN7qErpeGaefoYjRMheu6HNvhggADCsutkmMOh2nPlk++Awuxk+QWTrvlg9770ORLdv7QY1SDDeRJ27XJQc5LJqMX91S9WHyM6QYpKnqgwmtCGZZA2kvWg/UivB6W/OWyOcxj08XNzR6M0CCeRUbYTro65dB9hFJpdY2770gCsZubR2rga0w9tXgitbdDocSMR5rtONjmJ6AXtBB1lABYz56gxccPqBjQitGGTWGaMG4HwXtCMRqC+EcJcOphZ5ltys8RdxxJDtVoK9jXxNvOgUuV40f28CxVWT3aWP0MbIYSVzfHpC6BacwHAY7XFMhjDWPAmajFGXTWrr77eAlx94tWLD0d5upawQteYJ++rXyiQscTgm6zJ86FuJF/VyJKEWKjdJcZUGkyK2Qh0V4Lgb4jmbbKLm8ed5MyAWB945GnSGJWZsfMtmDNKlNu9qzhdP9tn6POt9xYv+84lRm8iRDovaDisOTOdnwLGeXLPk70ompv7Hxem5DJcIPFzZkJmBU2+VRt5WD9bo3Z1+uOcMmcF8VSL6IyhGAh9F4SK50xj+PHwOmNMKuKZ9+T/KXNmV4Ia9pOAObNLeOa7P1SfzGL+5q5prAmN+/wiAiGz8y5ylMPPHJ2GitzhpLD5h7kh0Wgxh4gmqPsOmWF53kG531C7rABQooqtsDmk+SDRaDMjCHHq2j5CZsleD3OQIG202bNkB8nEdMg84Ob5c8CNbpH1avgxoaIl95gnAZTbMx9UfcSe6bxMXEOhdpmBLwCmr/VkaExC5nKnmNDYCJmtjqO9l8eFw56tDsVU5WgsxW9LYvtcme6iuWAPj4eEvbU/13tlt/4BJVmz9MxQmbJbYqefLCZOhRASB+cojTJcenTVFriT+nVEl91aFKH+6Uevaq2QxmIAB3xvuc3eRX8bT21NOYuQVA9ABxWfl9kKUhAteXFOuI2VW2Yno+BFvANrz0M0CB/Y652qPqpUuw/LlctAV9Y2YSSCcn91Eulv+Dw0JNEoPnzKAW0TclCD7KxTeN2cTWjvQp/ALNiB0Q5t1uzLjWN3YDB6l2FfOOhWl41+Vb4IJRFBkysfJDXsiReajOtz0awsHdkNT4oF6PBnZyVFbeSFpwNilGHBsjiMaOMJ0vIoXFXUukqION6eHuacyvRPm/YjMrdBeBxmWBmyRbnmXkekqwKaZzx+smRNopLTsfA4zqBk4guq2V6G71/AY1rZD2estSIzZDEs3KuMNLmP4H0EgUv3GBac4aKojrMIUH8zPpyxlszeKCadWnixj2OFV15fIluUIwDv8uawyJQ+HC2KMeni0tPRJsCK5jymliIYJrbqpi1BrVitvsdKGN57hNQ6po/B6IYL4C8iMV7fW2oyy0MUG725gmNrbcBXtY+rDIt2uBL1BQSCpMxnV7pa5qBTVg3N6nYwTykReKPjuxe09jJM0997FywIy0l7elXTQukslQ3NsXr3C0UQeAqlQFhknyHIeq/phLMszacSo85kM/v7alv1oDh2i5pjmld1y37ttVtzDwdVCVzLYeXhVP4hbca1jVsg2NZYKMtmp7+43GG16HeanrL9AXeVjb+Bw9O1JClbkyiNg0norrUsDggOq7GIQpBjdtKYiTp9oTobHw8oqL04eTRBdr1sCrk46MMvITmgR4Z+8x4vOTKgr7hIPvMzKzib/pH3EWFlNTtnA7lKfdYXYsZ4HEQfTN6OpoRyomS+LQRu2ZGMPgEmwzy0x5Mbwzk+vDqWBEjKwM5Lg8OScXWPpeQF6uFAuLq+cHKVaCaq7ouEk4pxNnW+YiA9Ts8aTA+B0101UYpeA/vk4WLz8kwJrByo1Nv/vSsJlE2SOuz1/+eem3nGQK337iZNQUhIpU+dBP3nu/HpCgAOQKVh/d3Ml4Ik8JlFvpFVhc5kNq3rv6iNmtowrV7rUdmWqIddzW0Ve1Vazm+GV46WR9YSg5KqazXbvX9aomo1qMCXhB2CVkrBvyjLeatnabrB4+zIL8SSLMtlzbTHPfdih5nbG1qO7v+7LB6dtv8D2z+Q6nyo5TMAAAAASUVORK5CYII=">
            <a:extLst>
              <a:ext uri="{FF2B5EF4-FFF2-40B4-BE49-F238E27FC236}">
                <a16:creationId xmlns:a16="http://schemas.microsoft.com/office/drawing/2014/main" id="{0EF76413-D92D-4543-9A4E-F14864ADF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283" y="3099696"/>
            <a:ext cx="658607" cy="65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data:image/png;base64,iVBORw0KGgoAAAANSUhEUgAAAOEAAADhCAMAAAAJbSJIAAAAzFBMVEX////gQAbgPQDgPwDfNwDfOgD//fzfNQDvnX/++vjhQgD98+///Pr+9vP++fbeMAD639Xmakb75d386+T87ef41cr3z8D64djjUyP1x7rriWvtmH/kWSj0w7T2zsT52s7tlHjxrJbkXTPwpo7pfFrjVSTytqTtlnzqgmTys5/hSBLodVL0vKvuoIrysZrnbUXrkn7mZTnkUhnqfFTmaELjTADsiGfphGvmYzTna0DoeV3lVx/zvrDuo5LwsKLrjXPiVC3mbE/mcVbofGOrEwk2AAAUZklEQVR4nNVdaXuquhbWFQIFnMqgolJUrFXUWt3audvuc///f7qgnUwCBESl75dznt02sEiy5qFQODLEkiyXG/a45174cF339nY6tepmTVcrFVmWS+Kx3+B4EFVDa7xe/HlcV6tVyYcgCMF/pOon8PplMbh5behG5dwvmxiy7lwNu/OlTxoGKIYAAWAsVaXOYGabNePcL80Pw3x9G3SQJOBQ2vYBWJLWi81fq1E697tzQJ/OHhaKv3OIj7ovKkHAzcnduF4+NwWRMKabf01ITN33XuJi/7ldz+tOivX7vge8JzMECDBqXrr6uYmhIWrddRRTSUQkCMJiWs6TGCkZ1qQqZUHdF5W4qrRM9dyEfaDs9BYCzpC8HUBQRlYeTmu5PutI2dMXAAloMmyc+bCWrbvrTI8nQSOGyzfnjDSK9db1gbwznka0mmnnIlDbvGfCPGNohGLfPYveWu4qR96/bxrx0j71URWN8fqI94+mUXqyTqrOqfZcSEbf1oz4AYCEqh325ePptLla2+OWDyigTMDKsn85eX4ejR4eHkbPk8tF/1rZkcpLKAj98YnEY2X4j/MCAhYEeJm32m+vtmXWGpqm64Zh6FqjZppX1muv3Zovgy/AtxxWRvVTEFjrcm2gTx1ezm+GVzXNKMvspUplQ6sFlvJaEDDHXiLc7x3dTpaHq3gJgUCQlCfX1NUyx9URy4Zev1gAj00J3uDI26i3lDj6fJYCy3tbTcbeRVEd/lnjWOsEgXdM4SjWH6Xoz+xzyObqopZy/VK9u/DimCxIg6PpOOXhOvIG+hKheXlzmNxS7c2qGMN5pEfzOPJfn0U+2aevv5lm8Hmd3vMymka8nB7DdDRHUY/1rYDVm5mR2qHZ3U4kjeC1Mz+psn0ZdT8wnk8bGXIA1XE7UVoTFEdOdk8LUBl2IggEYW4bGatUcmO2jKARYGVm+bhSz4t4mPQyPsa1EBstFE4jgusMJWP5JtyOAOi4R/MY1e69cAGJsZ3Vc9RuqBQEeO8e1QKvD8JPD8A0RB1MCL0lhD7DO7ourPbC1UTwbrM4Po37MB7j3/bx8QNGorkJ3UZYZnBDGiMUsj4om9O4wYzpIszy8LXUQ0kMV7Xxcngqn7TY6IYxVfB6h93FcjdkB30RUTuhc0gcKyEqMXjDQxauhHFRULonjvOZixCGA3iaflXxgk0ggv705I5orRXCcEBIzc/lMZtAQJOrLN+dE4bbYZOI02o34pT90QC10pq4h6Fir9iXMa2OavXZBEL7bDEv54mpfCBIZfbXJiEE9s6YS1Cbs0lUbpJLLmPDVGVAGWejC6aENhCYr+WNk1pvco/JnMGbnjlRQm+xX2ydlNvYTFUGOq9nzx9Qb5gMEHcaiZZxOiyuBf2TB7kYUGdMEqVJkquoTlgXGpqnl/MsqDPmAZNmCd5uJrEIVIZnZTLfKLdZtgZ4/DZ/nXUMAPdyk42ldpkk/uOVigZLEiKhnZMdDGCw/A5I4T2nM4X+QEg4tTERDX3AYIVwbXH9sfVObyFCm7ykYH2gNmccNDzhOaf6iHEA0il+R0V9wWIWb/GOd7nHOKOwOkl4ORmmTZpEaMa/qNmnD3heBOE+mHuBB3G3qbyhzyiCWS5z6cuM+4RwnNvmiqEuCH9yxUa/oS8Z5+065mWf6L/B6zxkeTJhM+wMyY38k2mV/ihKDrnMB0SXNmJBidqQMu3rQXCRQy7zCWPEOHPdiD/o0eoenudOEv7EFe1Mgvdwv5RGC1Fo5sEkDEeFjt36+lcos5kVyS1EkMLFc1LoA8YmhqmntUv6ly8zTgjIHjat2uAwJZrWEcC7Pe3rpoDYovelw/bJ1y4pvgSjXCoz+2hcUyRKM9ZNFP9SsgWW+RWFP+BSPhfosC6XNqG2ULg/+dumgfpCbyIrbmpRtxBB7tnMDmNKjEOHVmxU2vPxS7YwcH5Sx0+iw6Y1yqiA9XmCaClgUywEzylFhXaRCu3ceA/jYDA2kdweeUlt4TJZIOCcEF+pTaSumEWZTbidU7uXBVoQABCi/A/1G8tzxOrTQvxLSQJh352h0lf14Rd1AGDp1Hiy9wtDUlQcmIhzcsgzROwRvO8ZtvQx/pdUVGjW2J25Pbt2kCqr129n7bY7dZKuYpHuCbRnNWikIx+hJMG4IBGktXr3FKQUm6tBL61XoGRtLt89BKA0FxM3GStX/6OEwcOPH9965Bb3E+nc9YkXlNsh/8sE/212U3nn6nPvo2hvt0orEY0uyWtg9eMYPlD0jxKE0hqj/eozBBK+TXxWjYFErCIoswQOhgZ1Dr3x1w/1f5j8YY9/6fojnQACeJTsqIrmIx13BmGQYBupeJtw93XTbJJ8eOfnM/YLK6kBwSAJqxItRrgkeMkF/ypTcgX8/PWV38gjTMiSKNQZnvUPEhPsohmSsea/CTeJBmk7QOeTmZQ31P5yH1KG6+OTxARB1QbtMPv6UCNuzYOMSCD4lOnOiryjmPf4qy1S0P74hApvTE5thxfkgMedINEjb7L0qVrbpFMVlpxrFqaUSfIDuMP5+c11VInTgje1UiMp/Ax6l94o2ruca+rPkQWJ0gXXKuogtKBj+568Ro64IN4G1ruPYzyQD+BOKw7Jsf1+Ate7maz8pB+r9HndRTOSEGnn/G7MSdIVThahdmOquqtcWUoX0RQWgTcXy6Io3AWvTXIjGD4ONmqsdIif4PJliY9xq7Q4v7hG3uePqD5FuTDjW7BwFcUhtk9YcKxixFRPF+GRU801qNO4dSrKFJMV+DKLCuIwrn4ePA5O79BxZ2IVXqdfuU1tViD2KEcpKJzKiNyL5IFbCjnOlx1HIVI4HSriK/lC1WCzdPIa4AWnGKswkzT33q3I8bFu41YpAuehKpik4ia5PkvRSK1E4NW2eCjkuEEZUtggd0u496+JSR4SgbcaTH6LP6UcAjG7U1rQSAsKL2RGggl3ea04jO2R0cyE03i89oVK2hCwlgsiedSQwl1iY8VKiyeOVQxmBcXP13zkNS/kN1IFqaoFsUuy0g63RRYr8fkU08cYzYibMfgHknyhaq1Qoo4ufwKNehOntXEpuHQMdw8I+DMjLVI/88WFTOoBeMTvKKPsrn3Amssf1Yg+pjiBJ6NOek2lYUEmT5rQ5XdwaTHWE18mR4WR8fkNBD1+v51JUiO5BZmkWkiSTMrK0/3++LwcwomyoxOl9FBOFeGCDhzivwkCo2oryv/Ae3/KVNDh5yrDBN536lAFFFIWxyv/gv5HYySk7oBwm/u4a6NwT1SiIgHjgUEhocohlIjCghnmTUzkE3bCXHbCJFGAgHIbBhQSxwx5vErgB+rMSnmUhCX7MNlCUeI1DT8g39EUVghhBMuEFBacR6q3CwKJ1y7/hPFUZawSm3lPoNTmoLCZOLqtdvdbkAEuNlO0juk291ZBgK4T15KJMw4Kr1PE781NXxFwEF8L+tE1/7mpIuS1zcLbdsX0gQVvlabbFQ+FIZmL0RDN3sNlf6l4zcX/ZtO0GQCiM7771296XrM/uRunylciVW8Whf2UHabKTt1+fbXMwxIcSo269WpbV2lbQPNQmGoPcwMeCrNsoXV6cFH4m/ewxMNpkkuLHIEl8UmdBpLqNLlCmUUhqZcqmfV5OwMoV9ThtkXOwLQtyDRw/Pfcr3kAqJBtQCFp4+O3HNXdJwXTxic9GwkM1/zBJEvZAj8N5Wtr/arE0n1YpE9GGjL8pVxV+zmFTeY+VS2Gz/vx92SwU6Ayv6qNgkh6nD9TNH4jKlTcQiozYk+8Qe4cwmDFnhjxw8Rts3IDjWKbTz6FGnk5hZtfVGixjxqpvggtf7d0SiDOf624uCLddds4vkrGRaJL9vOM0piZi1H6S+XT/FYLsUxKPoS3sp3OiYruLJFfGFRy4q7Q0qSiT5NcNxkIR4PK5h5tdez0uYl5w5TKTdw1VTKoEGz6trVnhUgV+n7kl4rpc4TzBZGUhl8KKJ3n/XLeV02JGrmFX2klVHiSP1efD8G8I61Rc8yrHUzTqTV0Q81YO6SyVoTPDHFGvUVm8kJUNdOazkbzx+vlWsHbqdUYKetl52nQ7b3WHT07nwmZtvddb0G3/EhQMxMFWbN7d5OOIki7oNnnU7YVbhgLEniL0WxYz4ZKjUya+K6ZofsIwvvh3RTKzvjuvyYIkZO4gkCh0n9uDw+ry9zCjah7MqjateKhx9SZPa84xx+jYMjXanR7qL5P1cH+qF1j1B8+H2JBle1BU4EkEzyDX+53DxpU5UTVHxbGVA1paCOiWFSc7jL54PFtRaXweKul5q8XkTWkVB1wEZLVAX9BvfoDqcd3IpDWNynHRun/IuuA6frL5LXcAYyre4jLh40GSMt2qmnVVIbdfi03rbMiJXk9vmFvlofRt6URd9pXiblAeUNt4X49vkqNIsH8lY07yPVWM5vxuQD9dlJpRbnzKZl+cF8M/abPxTy59hjQKlkxeKlHZTcSfTEKdbq3SaKkQHsVMpAG7RQYQZKqVUnYjo/d/b8k4F0NP/OvwBsk2UaNyvyjepsw+tMo/I+ojRBDPOyym1Bx2Xn8c39xO7XrpuOjZtYte+p27+ePL57y+UsUjdi74L4n8pijixedTi60ONXF8rBJMphtUwTvfTVpubajhx44tVEfX4wu+83tH5AfSJrXOaWjRjpoGD2GCg2qdgIUPoGhtYlUAF8LUzr/Ru1hXeP6RmrN7nV3St7+h8JLzqF8lBexiJ8oec5oIIy5en3VB3scNFAyLzc9q5ZMqImG49tYfQXvNSYD1OWxVFW6RlNiCLt0/drKw5/NEHxL4mWUmLpPyLr5OpsrP4cfA55Y8efgltoc6DCCoIw+7sIobm2j/c2hEBa80dgxDjL2ypo1e1K+Z5Ah6A/j5IZBp/pLzKHBQ4pzx85T0DfFz8V9be2pV8vCMVExzIvOd58TaMaN7qErpeGaefoYjRMheu6HNvhggADCsutkmMOh2nPlk++Awuxk+QWTrvlg9770ORLdv7QY1SDDeRJ27XJQc5LJqMX91S9WHyM6QYpKnqgwmtCGZZA2kvWg/UivB6W/OWyOcxj08XNzR6M0CCeRUbYTro65dB9hFJpdY2770gCsZubR2rga0w9tXgitbdDocSMR5rtONjmJ6AXtBB1lABYz56gxccPqBjQitGGTWGaMG4HwXtCMRqC+EcJcOphZ5ltys8RdxxJDtVoK9jXxNvOgUuV40f28CxVWT3aWP0MbIYSVzfHpC6BacwHAY7XFMhjDWPAmajFGXTWrr77eAlx94tWLD0d5upawQteYJ++rXyiQscTgm6zJ86FuJF/VyJKEWKjdJcZUGkyK2Qh0V4Lgb4jmbbKLm8ed5MyAWB945GnSGJWZsfMtmDNKlNu9qzhdP9tn6POt9xYv+84lRm8iRDovaDisOTOdnwLGeXLPk70ompv7Hxem5DJcIPFzZkJmBU2+VRt5WD9bo3Z1+uOcMmcF8VSL6IyhGAh9F4SK50xj+PHwOmNMKuKZ9+T/KXNmV4Ia9pOAObNLeOa7P1SfzGL+5q5prAmN+/wiAiGz8y5ylMPPHJ2GitzhpLD5h7kh0Wgxh4gmqPsOmWF53kG531C7rABQooqtsDmk+SDRaDMjCHHq2j5CZsleD3OQIG202bNkB8nEdMg84Ob5c8CNbpH1avgxoaIl95gnAZTbMx9UfcSe6bxMXEOhdpmBLwCmr/VkaExC5nKnmNDYCJmtjqO9l8eFw56tDsVU5WgsxW9LYvtcme6iuWAPj4eEvbU/13tlt/4BJVmz9MxQmbJbYqefLCZOhRASB+cojTJcenTVFriT+nVEl91aFKH+6Uevaq2QxmIAB3xvuc3eRX8bT21NOYuQVA9ABxWfl9kKUhAteXFOuI2VW2Yno+BFvANrz0M0CB/Y652qPqpUuw/LlctAV9Y2YSSCcn91Eulv+Dw0JNEoPnzKAW0TclCD7KxTeN2cTWjvQp/ALNiB0Q5t1uzLjWN3YDB6l2FfOOhWl41+Vb4IJRFBkysfJDXsiReajOtz0awsHdkNT4oF6PBnZyVFbeSFpwNilGHBsjiMaOMJ0vIoXFXUukqION6eHuacyvRPm/YjMrdBeBxmWBmyRbnmXkekqwKaZzx+smRNopLTsfA4zqBk4guq2V6G71/AY1rZD2estSIzZDEs3KuMNLmP4H0EgUv3GBac4aKojrMIUH8zPpyxlszeKCadWnixj2OFV15fIluUIwDv8uawyJQ+HC2KMeni0tPRJsCK5jymliIYJrbqpi1BrVitvsdKGN57hNQ6po/B6IYL4C8iMV7fW2oyy0MUG725gmNrbcBXtY+rDIt2uBL1BQSCpMxnV7pa5qBTVg3N6nYwTykReKPjuxe09jJM0997FywIy0l7elXTQukslQ3NsXr3C0UQeAqlQFhknyHIeq/phLMszacSo85kM/v7alv1oDh2i5pjmld1y37ttVtzDwdVCVzLYeXhVP4hbca1jVsg2NZYKMtmp7+43GG16HeanrL9AXeVjb+Bw9O1JClbkyiNg0norrUsDggOq7GIQpBjdtKYiTp9oTobHw8oqL04eTRBdr1sCrk46MMvITmgR4Z+8x4vOTKgr7hIPvMzKzib/pH3EWFlNTtnA7lKfdYXYsZ4HEQfTN6OpoRyomS+LQRu2ZGMPgEmwzy0x5Mbwzk+vDqWBEjKwM5Lg8OScXWPpeQF6uFAuLq+cHKVaCaq7ouEk4pxNnW+YiA9Ts8aTA+B0101UYpeA/vk4WLz8kwJrByo1Nv/vSsJlE2SOuz1/+eem3nGQK337iZNQUhIpU+dBP3nu/HpCgAOQKVh/d3Ml4Ik8JlFvpFVhc5kNq3rv6iNmtowrV7rUdmWqIddzW0Ve1Vazm+GV46WR9YSg5KqazXbvX9aomo1qMCXhB2CVkrBvyjLeatnabrB4+zIL8SSLMtlzbTHPfdih5nbG1qO7v+7LB6dtv8D2z+Q6nyo5TMAAAAASUVORK5CYII=">
            <a:extLst>
              <a:ext uri="{FF2B5EF4-FFF2-40B4-BE49-F238E27FC236}">
                <a16:creationId xmlns:a16="http://schemas.microsoft.com/office/drawing/2014/main" id="{2DEF1490-FF59-414C-9292-2BB32D7A4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671" y="3002576"/>
            <a:ext cx="658607" cy="65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300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CE1A-7451-40A7-9DD0-D9CD4C013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Data doorgeven aan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8B0C6-C8C6-4056-9E38-098EEAE9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35" y="1998865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Gebruik </a:t>
            </a:r>
            <a:r>
              <a:rPr lang="nl-BE" sz="2400" dirty="0" err="1">
                <a:latin typeface="Consolas" panose="020B0609020204030204" pitchFamily="49" charset="0"/>
              </a:rPr>
              <a:t>ViewData</a:t>
            </a:r>
            <a:r>
              <a:rPr lang="nl-BE" dirty="0"/>
              <a:t> en </a:t>
            </a:r>
            <a:r>
              <a:rPr lang="nl-BE" sz="2400" dirty="0" err="1">
                <a:latin typeface="Consolas" panose="020B0609020204030204" pitchFamily="49" charset="0"/>
              </a:rPr>
              <a:t>ViewBag</a:t>
            </a:r>
            <a:r>
              <a:rPr lang="nl-BE" dirty="0"/>
              <a:t> enkel voor beperkte en eenvoudige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Veel gegevens en/of complexe objecten doorgeven </a:t>
            </a:r>
            <a:r>
              <a:rPr lang="nl-BE" dirty="0">
                <a:sym typeface="Wingdings" panose="05000000000000000000" pitchFamily="2" charset="2"/>
              </a:rPr>
              <a:t> maak een </a:t>
            </a:r>
            <a:r>
              <a:rPr lang="nl-BE" b="1" dirty="0">
                <a:solidFill>
                  <a:schemeClr val="accent6"/>
                </a:solidFill>
                <a:sym typeface="Wingdings" panose="05000000000000000000" pitchFamily="2" charset="2"/>
              </a:rPr>
              <a:t>View model-klasse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>
                <a:sym typeface="Wingdings" panose="05000000000000000000" pitchFamily="2" charset="2"/>
              </a:rPr>
              <a:t>View model </a:t>
            </a:r>
            <a:r>
              <a:rPr lang="nl-BE" sz="2400" dirty="0">
                <a:sym typeface="Wingdings" panose="05000000000000000000" pitchFamily="2" charset="2"/>
              </a:rPr>
              <a:t>= C#-klasse die </a:t>
            </a:r>
            <a:r>
              <a:rPr lang="nl-BE" sz="2400" dirty="0" err="1">
                <a:sym typeface="Wingdings" panose="05000000000000000000" pitchFamily="2" charset="2"/>
              </a:rPr>
              <a:t>property’s</a:t>
            </a:r>
            <a:r>
              <a:rPr lang="nl-BE" sz="2400" dirty="0">
                <a:sym typeface="Wingdings" panose="05000000000000000000" pitchFamily="2" charset="2"/>
              </a:rPr>
              <a:t> bevat voor alle gegevens die aan View moeten doorgegeven worden</a:t>
            </a: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C3C22-F0FE-410B-8F1A-022409111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420C6-151F-4BBE-BEEE-4654EA7B6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19288-3084-4272-9FC3-5A17C6EBCD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70901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B0F5A-6C26-4C2F-9809-5FB8E5B4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</a:t>
            </a:r>
            <a:r>
              <a:rPr lang="nl-BE" dirty="0" err="1"/>
              <a:t>ViewModel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6252F-D7D9-4831-A9A7-5CDF991D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73BB4-35C5-4BAD-81F4-3C4037176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FA46E0-CE3D-49FB-9FB8-BAEC2E266C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7C97CE-970D-4E05-89D8-72EA17D6140E}"/>
              </a:ext>
            </a:extLst>
          </p:cNvPr>
          <p:cNvSpPr txBox="1"/>
          <p:nvPr/>
        </p:nvSpPr>
        <p:spPr>
          <a:xfrm>
            <a:off x="450718" y="1824263"/>
            <a:ext cx="3782070" cy="76944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ProductDetailsViewModel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4F8291"/>
                </a:solidFill>
                <a:latin typeface="Consolas" panose="020B0609020204030204" pitchFamily="49" charset="0"/>
              </a:rPr>
              <a:t>Product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NumberInStock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57F881-AF36-4A37-AC31-7BAB17EE3CE5}"/>
              </a:ext>
            </a:extLst>
          </p:cNvPr>
          <p:cNvSpPr txBox="1"/>
          <p:nvPr/>
        </p:nvSpPr>
        <p:spPr>
          <a:xfrm>
            <a:off x="396000" y="3464714"/>
            <a:ext cx="6742193" cy="24622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ProductController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100" dirty="0">
                <a:solidFill>
                  <a:srgbClr val="4F8291"/>
                </a:solidFill>
                <a:latin typeface="Consolas" panose="020B0609020204030204" pitchFamily="49" charset="0"/>
              </a:rPr>
              <a:t>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private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ProductRepository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productRepository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ProductRepository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InventoryRepository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inventoryRepository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InventoryRepository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74561F"/>
                </a:solidFill>
                <a:latin typeface="Consolas" panose="020B0609020204030204" pitchFamily="49" charset="0"/>
              </a:rPr>
              <a:t>Details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id)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ProductDetailsViewModel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viewModel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ProductDetailsViewModel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Product =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productRepository.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FindById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NumberInStock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= _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inventoryRepository.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GetStockForProduct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};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viewModel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52952-F803-439E-B2CF-BE4218898C27}"/>
              </a:ext>
            </a:extLst>
          </p:cNvPr>
          <p:cNvSpPr txBox="1"/>
          <p:nvPr/>
        </p:nvSpPr>
        <p:spPr>
          <a:xfrm>
            <a:off x="342527" y="3068796"/>
            <a:ext cx="5152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 err="1"/>
              <a:t>ProductController.cs</a:t>
            </a:r>
            <a:endParaRPr lang="nl-BE" sz="16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1D573-4BFD-4A5C-A1E8-90153F41D8D7}"/>
              </a:ext>
            </a:extLst>
          </p:cNvPr>
          <p:cNvSpPr txBox="1"/>
          <p:nvPr/>
        </p:nvSpPr>
        <p:spPr>
          <a:xfrm>
            <a:off x="342527" y="1428345"/>
            <a:ext cx="5152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 err="1"/>
              <a:t>ProductDetailsViewModel.cs</a:t>
            </a:r>
            <a:endParaRPr lang="nl-BE" sz="1600" b="1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298F67-9195-444C-96A8-45C51EB654A7}"/>
              </a:ext>
            </a:extLst>
          </p:cNvPr>
          <p:cNvSpPr txBox="1"/>
          <p:nvPr/>
        </p:nvSpPr>
        <p:spPr>
          <a:xfrm>
            <a:off x="5494765" y="1839116"/>
            <a:ext cx="5664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dirty="0"/>
              <a:t>View model </a:t>
            </a:r>
            <a:r>
              <a:rPr lang="nl-BE" sz="2000" b="1" dirty="0">
                <a:solidFill>
                  <a:schemeClr val="accent6"/>
                </a:solidFill>
              </a:rPr>
              <a:t>combineert</a:t>
            </a:r>
            <a:r>
              <a:rPr lang="nl-BE" sz="2000" dirty="0"/>
              <a:t> gegevens van </a:t>
            </a:r>
            <a:r>
              <a:rPr lang="nl-BE" sz="2000" b="1" dirty="0">
                <a:solidFill>
                  <a:schemeClr val="accent6"/>
                </a:solidFill>
              </a:rPr>
              <a:t>verschillende modellen</a:t>
            </a:r>
            <a:r>
              <a:rPr lang="nl-BE" sz="2000" dirty="0"/>
              <a:t> om deze als één geheel weer te geven </a:t>
            </a:r>
          </a:p>
        </p:txBody>
      </p:sp>
    </p:spTree>
    <p:extLst>
      <p:ext uri="{BB962C8B-B14F-4D97-AF65-F5344CB8AC3E}">
        <p14:creationId xmlns:p14="http://schemas.microsoft.com/office/powerpoint/2010/main" val="373319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DE4B-4F06-4E94-8B1E-3C25864E9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Razor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57C02-AF3E-416F-9C6C-917530675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54BBBC-980B-4697-A943-610C0EFF9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D833F-B6C0-4BC2-9812-5A381897F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E3CE8D-5E97-4572-924B-C6CE656E40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33435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FB35-CB37-4ACE-AE08-333099647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Razor</a:t>
            </a:r>
            <a:r>
              <a:rPr lang="nl-BE" dirty="0"/>
              <a:t>: HTML genereren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C3DA2-F3D7-4917-A07A-B4CC82781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213" y="1883734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Controller geeft C#-object (view model) door aan view om response (bv.: HTML-code) te genereren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Object dat door controller werd doorgegeven is in </a:t>
            </a:r>
            <a:r>
              <a:rPr lang="nl-BE" dirty="0" err="1"/>
              <a:t>Razor</a:t>
            </a:r>
            <a:r>
              <a:rPr lang="nl-BE" dirty="0"/>
              <a:t>-template beschikbaar via Model-property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Template bevat code om </a:t>
            </a:r>
            <a:r>
              <a:rPr lang="nl-BE" dirty="0" err="1"/>
              <a:t>property’s</a:t>
            </a:r>
            <a:r>
              <a:rPr lang="nl-BE" dirty="0"/>
              <a:t> van Model op te vragen en weer te geven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Indien model wordt doorgegeven, spreekt men van “</a:t>
            </a:r>
            <a:r>
              <a:rPr lang="nl-BE" dirty="0" err="1"/>
              <a:t>strongly</a:t>
            </a:r>
            <a:r>
              <a:rPr lang="nl-BE" dirty="0"/>
              <a:t> </a:t>
            </a:r>
            <a:r>
              <a:rPr lang="nl-BE" dirty="0" err="1"/>
              <a:t>typed</a:t>
            </a:r>
            <a:r>
              <a:rPr lang="nl-BE" dirty="0"/>
              <a:t> view”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54012-9605-49ED-B317-3A0E03B9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262F0-FCA0-4EBC-82C8-C12A6A272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D41DE-2075-4EF5-802C-BFA2D1D98D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90312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DED2-C0AB-462B-950D-E7D607C28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Razor</a:t>
            </a:r>
            <a:r>
              <a:rPr lang="nl-BE" dirty="0"/>
              <a:t>: voorbeeld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06BC62-8EF6-4D3A-B210-A6AAA24D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DC0F9-2E5E-4B90-95BA-159338FA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2F79AF-FACA-4D52-ABA7-82E84C531B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77195-18A7-473D-859C-B328C9230FBF}"/>
              </a:ext>
            </a:extLst>
          </p:cNvPr>
          <p:cNvSpPr txBox="1"/>
          <p:nvPr/>
        </p:nvSpPr>
        <p:spPr>
          <a:xfrm>
            <a:off x="493426" y="2170787"/>
            <a:ext cx="6005695" cy="30469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@model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ProductDetailsViewModel</a:t>
            </a:r>
            <a:endParaRPr lang="nl-BE" sz="1200" dirty="0">
              <a:solidFill>
                <a:srgbClr val="4F8291"/>
              </a:solidFill>
              <a:latin typeface="Consolas" panose="020B0609020204030204" pitchFamily="49" charset="0"/>
            </a:endParaRP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Details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ID: </a:t>
            </a:r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.Product.ID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Naam: </a:t>
            </a:r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Model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.Product.Name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Beschrijving: </a:t>
            </a:r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Model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.Product.Description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Prijs: </a:t>
            </a:r>
            <a:r>
              <a:rPr lang="nl-BE" sz="1200" dirty="0">
                <a:solidFill>
                  <a:srgbClr val="FF0000"/>
                </a:solidFill>
                <a:latin typeface="Consolas" panose="020B0609020204030204" pitchFamily="49" charset="0"/>
              </a:rPr>
              <a:t>&amp;euro;</a:t>
            </a:r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Model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.Product.Price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Model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.NumberInStock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 0)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-primary"&gt;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Bestel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nu!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2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text-danger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Dit product is niet meer op voorraad!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0D87B-2347-4F88-A32C-0A82B5562DC0}"/>
              </a:ext>
            </a:extLst>
          </p:cNvPr>
          <p:cNvSpPr txBox="1"/>
          <p:nvPr/>
        </p:nvSpPr>
        <p:spPr>
          <a:xfrm>
            <a:off x="6931742" y="2170787"/>
            <a:ext cx="448351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b="1" dirty="0"/>
              <a:t>@model-</a:t>
            </a:r>
            <a:r>
              <a:rPr lang="nl-BE" sz="2000" b="1" dirty="0" err="1"/>
              <a:t>directive</a:t>
            </a:r>
            <a:r>
              <a:rPr lang="nl-BE" sz="2000" b="1" dirty="0"/>
              <a:t>: </a:t>
            </a:r>
            <a:r>
              <a:rPr lang="nl-BE" sz="2000" dirty="0"/>
              <a:t>geeft aan welk type object door controller werd doorgegeven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b="1" dirty="0"/>
              <a:t>Model-property:</a:t>
            </a:r>
            <a:r>
              <a:rPr lang="nl-BE" sz="2000" dirty="0"/>
              <a:t> verwijst naar object dat door controller werd doorgegeven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b="1" dirty="0" err="1"/>
              <a:t>If-else</a:t>
            </a:r>
            <a:r>
              <a:rPr lang="nl-BE" sz="2000" b="1" dirty="0"/>
              <a:t>: </a:t>
            </a:r>
            <a:r>
              <a:rPr lang="nl-BE" sz="2000" dirty="0"/>
              <a:t>HTML-code genereren op basis van conditie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E267F3-9DAB-4438-8B61-EEE5019DAD2C}"/>
              </a:ext>
            </a:extLst>
          </p:cNvPr>
          <p:cNvSpPr txBox="1"/>
          <p:nvPr/>
        </p:nvSpPr>
        <p:spPr>
          <a:xfrm>
            <a:off x="493426" y="1722362"/>
            <a:ext cx="2248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u="sng" dirty="0"/>
              <a:t>Views/</a:t>
            </a:r>
            <a:r>
              <a:rPr lang="nl-BE" sz="1600" b="1" u="sng" dirty="0" err="1"/>
              <a:t>Products</a:t>
            </a:r>
            <a:r>
              <a:rPr lang="nl-BE" sz="1600" b="1" u="sng" dirty="0"/>
              <a:t>/Details</a:t>
            </a:r>
          </a:p>
        </p:txBody>
      </p:sp>
    </p:spTree>
    <p:extLst>
      <p:ext uri="{BB962C8B-B14F-4D97-AF65-F5344CB8AC3E}">
        <p14:creationId xmlns:p14="http://schemas.microsoft.com/office/powerpoint/2010/main" val="3367155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44042-BC8E-4B78-9973-0F8858CB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Razor</a:t>
            </a:r>
            <a:r>
              <a:rPr lang="nl-BE" dirty="0"/>
              <a:t>: voorbeeld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DFBEA-6285-4053-864A-47659263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745D4-AE3D-41E0-B66F-2BF68FBD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4DC4AD-EE4E-469C-86C7-01130D3D5F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CB9AFF-FA30-4DFA-929F-01537BC39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91" y="1667400"/>
            <a:ext cx="5494496" cy="6325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35F4CD-7472-4C07-A3F9-9F624AC09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90" y="2383675"/>
            <a:ext cx="5494495" cy="31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102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5C04B-76A1-417C-B149-F4C5F984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</a:t>
            </a:r>
            <a:r>
              <a:rPr lang="nl-BE" dirty="0" err="1"/>
              <a:t>Razor</a:t>
            </a:r>
            <a:r>
              <a:rPr lang="nl-BE" dirty="0"/>
              <a:t>-syntax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96B94-9753-4F4C-A344-7ED34F19B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058" y="2065825"/>
            <a:ext cx="9281274" cy="282549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Eenvoudige expressies:</a:t>
            </a:r>
          </a:p>
          <a:p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Expressie met evaluatie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B487F-F4D2-4779-8666-45FCFA473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17A7F-4E47-4832-ADBE-4C8D9DF7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645DD2B-7656-48A9-80A9-608306658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CB0FAD-2232-4F64-B7A1-5E4A7D4B36E5}"/>
              </a:ext>
            </a:extLst>
          </p:cNvPr>
          <p:cNvSpPr txBox="1"/>
          <p:nvPr/>
        </p:nvSpPr>
        <p:spPr>
          <a:xfrm>
            <a:off x="1591259" y="2515007"/>
            <a:ext cx="4504741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Copyright 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DateTime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.Now.Year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&amp;copy;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6FDFEF-8B47-48C7-9CE8-51D3F036AE05}"/>
              </a:ext>
            </a:extLst>
          </p:cNvPr>
          <p:cNvSpPr txBox="1"/>
          <p:nvPr/>
        </p:nvSpPr>
        <p:spPr>
          <a:xfrm>
            <a:off x="1502768" y="3727818"/>
            <a:ext cx="4504741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4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De som van 5 en 10 is: </a:t>
            </a:r>
            <a:r>
              <a:rPr lang="nl-BE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@(</a:t>
            </a:r>
            <a:r>
              <a:rPr lang="nl-BE" sz="1400" dirty="0">
                <a:solidFill>
                  <a:srgbClr val="0000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5 + 10</a:t>
            </a:r>
            <a:r>
              <a:rPr lang="nl-BE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4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4100C7-8067-4B13-9B3F-D66774479660}"/>
              </a:ext>
            </a:extLst>
          </p:cNvPr>
          <p:cNvSpPr txBox="1"/>
          <p:nvPr/>
        </p:nvSpPr>
        <p:spPr>
          <a:xfrm>
            <a:off x="1089058" y="4891315"/>
            <a:ext cx="6941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b="1" dirty="0"/>
              <a:t>Meer voorbeelden:</a:t>
            </a:r>
            <a:r>
              <a:rPr lang="nl-BE" sz="2400" dirty="0"/>
              <a:t> </a:t>
            </a:r>
            <a:r>
              <a:rPr lang="nl-BE" sz="2400" i="1" dirty="0"/>
              <a:t>zie inleiding MVC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2E5C6B-5D50-4A33-B6D3-613C890FB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4544">
            <a:off x="9644475" y="672483"/>
            <a:ext cx="2534250" cy="76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2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3DC1B-BB31-4E06-9BA8-437734332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</a:t>
            </a:r>
            <a:r>
              <a:rPr lang="nl-BE" dirty="0" err="1"/>
              <a:t>Razor</a:t>
            </a:r>
            <a:r>
              <a:rPr lang="nl-BE" dirty="0"/>
              <a:t>-syntax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C096A-785B-4976-B138-ECAC43A37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532118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Condities: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25F9A-9270-475D-8FD0-C4AD9200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CFC1B-0AB0-49DB-9B42-7A1C8926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4EF49C-400E-403A-8756-2C356998E0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2F8C9A-2101-4CE0-8865-7AF8FE0611F1}"/>
              </a:ext>
            </a:extLst>
          </p:cNvPr>
          <p:cNvSpPr txBox="1"/>
          <p:nvPr/>
        </p:nvSpPr>
        <p:spPr>
          <a:xfrm>
            <a:off x="994260" y="2367171"/>
            <a:ext cx="6005695" cy="212365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@model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ProductDetailsViewModel</a:t>
            </a:r>
            <a:endParaRPr lang="nl-BE" sz="1200" dirty="0">
              <a:solidFill>
                <a:srgbClr val="4F8291"/>
              </a:solidFill>
              <a:latin typeface="Consolas" panose="020B0609020204030204" pitchFamily="49" charset="0"/>
            </a:endParaRP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Model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.NumberInStock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 0)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-primary"&gt;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Bestel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nu!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2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text-danger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Dit product is niet meer op voorraad!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F515E0-3BE5-410A-9850-68ED6E253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4544">
            <a:off x="9644475" y="672483"/>
            <a:ext cx="2534250" cy="76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9930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3DC1B-BB31-4E06-9BA8-437734332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</a:t>
            </a:r>
            <a:r>
              <a:rPr lang="nl-BE" dirty="0" err="1"/>
              <a:t>Razor</a:t>
            </a:r>
            <a:r>
              <a:rPr lang="nl-BE" dirty="0"/>
              <a:t>-syntax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C096A-785B-4976-B138-ECAC43A37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087025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Iteraties (bv.: </a:t>
            </a:r>
            <a:r>
              <a:rPr lang="nl-BE" dirty="0" err="1"/>
              <a:t>foreach</a:t>
            </a:r>
            <a:r>
              <a:rPr lang="nl-BE" dirty="0"/>
              <a:t>):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25F9A-9270-475D-8FD0-C4AD9200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BAD-views (basics)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CFC1B-0AB0-49DB-9B42-7A1C8926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4EF49C-400E-403A-8756-2C356998E0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2F8C9A-2101-4CE0-8865-7AF8FE0611F1}"/>
              </a:ext>
            </a:extLst>
          </p:cNvPr>
          <p:cNvSpPr txBox="1"/>
          <p:nvPr/>
        </p:nvSpPr>
        <p:spPr>
          <a:xfrm>
            <a:off x="876575" y="1771025"/>
            <a:ext cx="6005695" cy="433965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@model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ProductDetailsViewModel</a:t>
            </a:r>
            <a:endParaRPr lang="nl-BE" sz="1200" dirty="0">
              <a:solidFill>
                <a:srgbClr val="4F8291"/>
              </a:solidFill>
              <a:latin typeface="Consolas" panose="020B0609020204030204" pitchFamily="49" charset="0"/>
            </a:endParaRP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Product list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table-striped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thead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#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Naam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Prijs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thead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tbody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(var product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Model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.Products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product.ID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product.Name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product.Price.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ToString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"c"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tbody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F515E0-3BE5-410A-9850-68ED6E253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4544">
            <a:off x="9644475" y="672483"/>
            <a:ext cx="2534250" cy="766393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B8ED71F6-D7E8-4011-B18E-1E8D3E7D9255}"/>
              </a:ext>
            </a:extLst>
          </p:cNvPr>
          <p:cNvSpPr/>
          <p:nvPr/>
        </p:nvSpPr>
        <p:spPr>
          <a:xfrm>
            <a:off x="5584723" y="4680155"/>
            <a:ext cx="167148" cy="658761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43FCB2-EE2C-4907-A6AC-5D1DAC3FF66A}"/>
              </a:ext>
            </a:extLst>
          </p:cNvPr>
          <p:cNvSpPr txBox="1"/>
          <p:nvPr/>
        </p:nvSpPr>
        <p:spPr>
          <a:xfrm>
            <a:off x="5866812" y="4680155"/>
            <a:ext cx="3522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/>
              <a:t>Voor elk item een nieuwe </a:t>
            </a:r>
            <a:r>
              <a:rPr lang="nl-BE" b="1" dirty="0" err="1"/>
              <a:t>table-row</a:t>
            </a:r>
            <a:r>
              <a:rPr lang="nl-BE" b="1" dirty="0"/>
              <a:t> (&lt;</a:t>
            </a:r>
            <a:r>
              <a:rPr lang="nl-BE" b="1" dirty="0" err="1"/>
              <a:t>tr</a:t>
            </a:r>
            <a:r>
              <a:rPr lang="nl-BE" b="1" dirty="0"/>
              <a:t>&gt;)  genereren</a:t>
            </a:r>
          </a:p>
        </p:txBody>
      </p:sp>
    </p:spTree>
    <p:extLst>
      <p:ext uri="{BB962C8B-B14F-4D97-AF65-F5344CB8AC3E}">
        <p14:creationId xmlns:p14="http://schemas.microsoft.com/office/powerpoint/2010/main" val="400615516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disee_2">
      <a:dk1>
        <a:srgbClr val="1F416B"/>
      </a:dk1>
      <a:lt1>
        <a:srgbClr val="FFFFFF"/>
      </a:lt1>
      <a:dk2>
        <a:srgbClr val="181716"/>
      </a:dk2>
      <a:lt2>
        <a:srgbClr val="E7E6E6"/>
      </a:lt2>
      <a:accent1>
        <a:srgbClr val="00639C"/>
      </a:accent1>
      <a:accent2>
        <a:srgbClr val="E73F16"/>
      </a:accent2>
      <a:accent3>
        <a:srgbClr val="3CB497"/>
      </a:accent3>
      <a:accent4>
        <a:srgbClr val="D3DDF2"/>
      </a:accent4>
      <a:accent5>
        <a:srgbClr val="A3E1D2"/>
      </a:accent5>
      <a:accent6>
        <a:srgbClr val="96280E"/>
      </a:accent6>
      <a:hlink>
        <a:srgbClr val="0563C1"/>
      </a:hlink>
      <a:folHlink>
        <a:srgbClr val="954F72"/>
      </a:folHlink>
    </a:clrScheme>
    <a:fontScheme name="Odisee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wrap="square" lIns="0" tIns="0" rIns="0" bIns="0" rtlCol="0" anchor="ctr">
        <a:spAutoFit/>
      </a:bodyPr>
      <a:lstStyle>
        <a:defPPr algn="l">
          <a:defRPr sz="1600" b="1" dirty="0" err="1">
            <a:latin typeface="+mj-lt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8049F6D630AF47BB18DF5F87B80949" ma:contentTypeVersion="40" ma:contentTypeDescription="Een nieuw document maken." ma:contentTypeScope="" ma:versionID="a9e6d75ef9adede1cf206f88e0d4b107">
  <xsd:schema xmlns:xsd="http://www.w3.org/2001/XMLSchema" xmlns:xs="http://www.w3.org/2001/XMLSchema" xmlns:p="http://schemas.microsoft.com/office/2006/metadata/properties" xmlns:ns2="2e590e29-c89d-4e1a-bf06-0c489d371682" xmlns:ns3="5870f8f2-d835-4d1e-84f7-7c5a365f9c0a" targetNamespace="http://schemas.microsoft.com/office/2006/metadata/properties" ma:root="true" ma:fieldsID="65fb40e55a7a3fd51a5d8b3af476fe6e" ns2:_="" ns3:_="">
    <xsd:import namespace="2e590e29-c89d-4e1a-bf06-0c489d371682"/>
    <xsd:import namespace="5870f8f2-d835-4d1e-84f7-7c5a365f9c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590e29-c89d-4e1a-bf06-0c489d371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9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0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1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4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5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7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Afbeeldingtags" ma:readOnly="false" ma:fieldId="{5cf76f15-5ced-4ddc-b409-7134ff3c332f}" ma:taxonomyMulti="true" ma:sspId="6010e5f2-6256-435c-892d-4495c8ac23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70f8f2-d835-4d1e-84f7-7c5a365f9c0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18f5e209-b2fc-4ef1-b802-39e3b60cddd6}" ma:internalName="TaxCatchAll" ma:showField="CatchAllData" ma:web="5870f8f2-d835-4d1e-84f7-7c5a365f9c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2e590e29-c89d-4e1a-bf06-0c489d371682" xsi:nil="true"/>
    <Invited_Students xmlns="2e590e29-c89d-4e1a-bf06-0c489d371682" xsi:nil="true"/>
    <Owner xmlns="2e590e29-c89d-4e1a-bf06-0c489d371682">
      <UserInfo>
        <DisplayName/>
        <AccountId xsi:nil="true"/>
        <AccountType/>
      </UserInfo>
    </Owner>
    <Teams_Channel_Section_Location xmlns="2e590e29-c89d-4e1a-bf06-0c489d371682" xsi:nil="true"/>
    <TeamsChannelId xmlns="2e590e29-c89d-4e1a-bf06-0c489d371682" xsi:nil="true"/>
    <Invited_Teachers xmlns="2e590e29-c89d-4e1a-bf06-0c489d371682" xsi:nil="true"/>
    <DefaultSectionNames xmlns="2e590e29-c89d-4e1a-bf06-0c489d371682" xsi:nil="true"/>
    <Self_Registration_Enabled xmlns="2e590e29-c89d-4e1a-bf06-0c489d371682" xsi:nil="true"/>
    <FolderType xmlns="2e590e29-c89d-4e1a-bf06-0c489d371682" xsi:nil="true"/>
    <CultureName xmlns="2e590e29-c89d-4e1a-bf06-0c489d371682" xsi:nil="true"/>
    <Student_Groups xmlns="2e590e29-c89d-4e1a-bf06-0c489d371682">
      <UserInfo>
        <DisplayName/>
        <AccountId xsi:nil="true"/>
        <AccountType/>
      </UserInfo>
    </Student_Groups>
    <Is_Collaboration_Space_Locked xmlns="2e590e29-c89d-4e1a-bf06-0c489d371682" xsi:nil="true"/>
    <Templates xmlns="2e590e29-c89d-4e1a-bf06-0c489d371682" xsi:nil="true"/>
    <Teachers xmlns="2e590e29-c89d-4e1a-bf06-0c489d371682">
      <UserInfo>
        <DisplayName/>
        <AccountId xsi:nil="true"/>
        <AccountType/>
      </UserInfo>
    </Teachers>
    <Students xmlns="2e590e29-c89d-4e1a-bf06-0c489d371682">
      <UserInfo>
        <DisplayName/>
        <AccountId xsi:nil="true"/>
        <AccountType/>
      </UserInfo>
    </Students>
    <lcf76f155ced4ddcb4097134ff3c332f xmlns="2e590e29-c89d-4e1a-bf06-0c489d371682">
      <Terms xmlns="http://schemas.microsoft.com/office/infopath/2007/PartnerControls"/>
    </lcf76f155ced4ddcb4097134ff3c332f>
    <LMS_Mappings xmlns="2e590e29-c89d-4e1a-bf06-0c489d371682" xsi:nil="true"/>
    <IsNotebookLocked xmlns="2e590e29-c89d-4e1a-bf06-0c489d371682" xsi:nil="true"/>
    <TaxCatchAll xmlns="5870f8f2-d835-4d1e-84f7-7c5a365f9c0a" xsi:nil="true"/>
    <Math_Settings xmlns="2e590e29-c89d-4e1a-bf06-0c489d371682" xsi:nil="true"/>
    <Has_Teacher_Only_SectionGroup xmlns="2e590e29-c89d-4e1a-bf06-0c489d371682" xsi:nil="true"/>
    <NotebookType xmlns="2e590e29-c89d-4e1a-bf06-0c489d371682" xsi:nil="true"/>
    <Distribution_Groups xmlns="2e590e29-c89d-4e1a-bf06-0c489d37168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F00AB9-7467-459E-9CAC-00AA1EE571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590e29-c89d-4e1a-bf06-0c489d371682"/>
    <ds:schemaRef ds:uri="5870f8f2-d835-4d1e-84f7-7c5a365f9c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D73B7F-0156-4AE0-9067-DCB1429C264F}">
  <ds:schemaRefs>
    <ds:schemaRef ds:uri="http://schemas.microsoft.com/office/2006/metadata/properties"/>
    <ds:schemaRef ds:uri="http://schemas.microsoft.com/office/infopath/2007/PartnerControls"/>
    <ds:schemaRef ds:uri="2e590e29-c89d-4e1a-bf06-0c489d371682"/>
    <ds:schemaRef ds:uri="5870f8f2-d835-4d1e-84f7-7c5a365f9c0a"/>
  </ds:schemaRefs>
</ds:datastoreItem>
</file>

<file path=customXml/itemProps3.xml><?xml version="1.0" encoding="utf-8"?>
<ds:datastoreItem xmlns:ds="http://schemas.openxmlformats.org/officeDocument/2006/customXml" ds:itemID="{6404C268-C795-41E9-B2F8-F13282990F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9221</TotalTime>
  <Words>1804</Words>
  <Application>Microsoft Office PowerPoint</Application>
  <PresentationFormat>Widescreen</PresentationFormat>
  <Paragraphs>302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Wingdings</vt:lpstr>
      <vt:lpstr>Kantoorthema</vt:lpstr>
      <vt:lpstr>PowerPoint Presentation</vt:lpstr>
      <vt:lpstr>Business Application Development</vt:lpstr>
      <vt:lpstr>PowerPoint Presentation</vt:lpstr>
      <vt:lpstr>Controllers &amp; Views</vt:lpstr>
      <vt:lpstr>Inleiding</vt:lpstr>
      <vt:lpstr>Inleiding</vt:lpstr>
      <vt:lpstr>Inleiding</vt:lpstr>
      <vt:lpstr>Voorbeeld</vt:lpstr>
      <vt:lpstr>Separation of concerns</vt:lpstr>
      <vt:lpstr>View selectie</vt:lpstr>
      <vt:lpstr>Hoe selecteert Controller een view?</vt:lpstr>
      <vt:lpstr>Hoe selecteert Controller een view?</vt:lpstr>
      <vt:lpstr>Hoe selecteert Controller een view?</vt:lpstr>
      <vt:lpstr>Hoe selecteert Controller een view?</vt:lpstr>
      <vt:lpstr>Data doorgeven aan View</vt:lpstr>
      <vt:lpstr>Data doorgeven aan View</vt:lpstr>
      <vt:lpstr>Data doorgeven aan View: ViewData</vt:lpstr>
      <vt:lpstr>Data doorgeven aan View: ViewBag</vt:lpstr>
      <vt:lpstr>Data doorgeven aan View</vt:lpstr>
      <vt:lpstr>Data doorgeven aan View</vt:lpstr>
      <vt:lpstr>Voorbeeld ViewModel</vt:lpstr>
      <vt:lpstr>Razor</vt:lpstr>
      <vt:lpstr>Razor: HTML genereren</vt:lpstr>
      <vt:lpstr>Razor: voorbeeld</vt:lpstr>
      <vt:lpstr>Razor: voorbeeld</vt:lpstr>
      <vt:lpstr>Voorbeeld Razor-syntax</vt:lpstr>
      <vt:lpstr>Voorbeeld Razor-syntax</vt:lpstr>
      <vt:lpstr>Voorbeeld Razor-syntax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arn bollen</dc:creator>
  <cp:lastModifiedBy>Sam Van Buggenhout (u0132146)</cp:lastModifiedBy>
  <cp:revision>530</cp:revision>
  <dcterms:created xsi:type="dcterms:W3CDTF">2019-09-02T13:39:39Z</dcterms:created>
  <dcterms:modified xsi:type="dcterms:W3CDTF">2026-02-23T14:31:07Z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0x010100958049F6D630AF47BB18DF5F87B80949</vt:lpwstr>
  </property>
  <property fmtid="{D5CDD505-2E9C-101B-9397-08002B2CF9AE}" pid="3" name="MediaServiceImageTags">
    <vt:lpwstr/>
  </property>
</Properties>
</file>