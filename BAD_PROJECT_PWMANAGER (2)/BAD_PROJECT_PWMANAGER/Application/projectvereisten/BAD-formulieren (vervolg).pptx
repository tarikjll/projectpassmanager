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2"/>
  </p:notesMasterIdLst>
  <p:sldIdLst>
    <p:sldId id="261" r:id="rId5"/>
    <p:sldId id="256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6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561F"/>
    <a:srgbClr val="4F8291"/>
    <a:srgbClr val="FFFF00"/>
    <a:srgbClr val="339933"/>
    <a:srgbClr val="008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87" autoAdjust="0"/>
    <p:restoredTop sz="93649" autoAdjust="0"/>
  </p:normalViewPr>
  <p:slideViewPr>
    <p:cSldViewPr snapToGrid="0">
      <p:cViewPr varScale="1">
        <p:scale>
          <a:sx n="74" d="100"/>
          <a:sy n="74" d="100"/>
        </p:scale>
        <p:origin x="10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Van Buggenhout (u0132146)" userId="77de8a13-220e-4226-a82f-c9f4c6ce0102" providerId="ADAL" clId="{FE8A2003-6204-4F5F-B3DC-4D4150888483}"/>
    <pc:docChg chg="modSld">
      <pc:chgData name="Sam Van Buggenhout (u0132146)" userId="77de8a13-220e-4226-a82f-c9f4c6ce0102" providerId="ADAL" clId="{FE8A2003-6204-4F5F-B3DC-4D4150888483}" dt="2026-03-09T16:29:34.238" v="3" actId="20577"/>
      <pc:docMkLst>
        <pc:docMk/>
      </pc:docMkLst>
      <pc:sldChg chg="modSp mod">
        <pc:chgData name="Sam Van Buggenhout (u0132146)" userId="77de8a13-220e-4226-a82f-c9f4c6ce0102" providerId="ADAL" clId="{FE8A2003-6204-4F5F-B3DC-4D4150888483}" dt="2026-03-09T16:29:34.238" v="3" actId="20577"/>
        <pc:sldMkLst>
          <pc:docMk/>
          <pc:sldMk cId="1410289600" sldId="256"/>
        </pc:sldMkLst>
        <pc:spChg chg="mod">
          <ac:chgData name="Sam Van Buggenhout (u0132146)" userId="77de8a13-220e-4226-a82f-c9f4c6ce0102" providerId="ADAL" clId="{FE8A2003-6204-4F5F-B3DC-4D4150888483}" dt="2026-03-09T16:29:34.238" v="3" actId="20577"/>
          <ac:spMkLst>
            <pc:docMk/>
            <pc:sldMk cId="1410289600" sldId="256"/>
            <ac:spMk id="7" creationId="{38443782-7588-4BA1-A888-94A8DEFEE0F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BF3A7-A7E5-42B6-9154-500A7CB5E3E8}" type="datetimeFigureOut">
              <a:rPr lang="nl-BE" smtClean="0"/>
              <a:t>9/03/2026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6FAF20-346D-4074-B74A-C2F29A046F4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21578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>
            <a:extLst>
              <a:ext uri="{FF2B5EF4-FFF2-40B4-BE49-F238E27FC236}">
                <a16:creationId xmlns:a16="http://schemas.microsoft.com/office/drawing/2014/main" id="{AEE442BF-C82A-418E-8E62-533CFEF9E15F}"/>
              </a:ext>
            </a:extLst>
          </p:cNvPr>
          <p:cNvSpPr/>
          <p:nvPr userDrawn="1"/>
        </p:nvSpPr>
        <p:spPr>
          <a:xfrm>
            <a:off x="1" y="6024716"/>
            <a:ext cx="12192000" cy="8332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F5AD292-FAF8-44FC-84B3-0842804A02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"/>
            <a:ext cx="12192000" cy="6857827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7D9DA8C5-1FD2-4AD1-983E-C005AF19C7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74236" y="5516542"/>
            <a:ext cx="1300725" cy="41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65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hoek 14">
            <a:extLst>
              <a:ext uri="{FF2B5EF4-FFF2-40B4-BE49-F238E27FC236}">
                <a16:creationId xmlns:a16="http://schemas.microsoft.com/office/drawing/2014/main" id="{73CF8604-A629-44C9-BC34-FAB18A435DEF}"/>
              </a:ext>
            </a:extLst>
          </p:cNvPr>
          <p:cNvSpPr/>
          <p:nvPr userDrawn="1"/>
        </p:nvSpPr>
        <p:spPr>
          <a:xfrm>
            <a:off x="10164726" y="5684874"/>
            <a:ext cx="2027274" cy="117312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29340FA-55B0-4685-ABAD-FAD25820F9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248" y="1424767"/>
            <a:ext cx="9806754" cy="1447247"/>
          </a:xfrm>
        </p:spPr>
        <p:txBody>
          <a:bodyPr anchor="b"/>
          <a:lstStyle>
            <a:lvl1pPr algn="l">
              <a:defRPr sz="5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AD34407-B861-42C6-BCDB-C4A7F1C446A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61248" y="2793963"/>
            <a:ext cx="9144000" cy="544660"/>
          </a:xfrm>
        </p:spPr>
        <p:txBody>
          <a:bodyPr/>
          <a:lstStyle>
            <a:lvl1pPr marL="0" indent="0" algn="l">
              <a:buNone/>
              <a:defRPr sz="24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C197536-820C-433C-9FB6-7C7030EEC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1CCD3E8-9D74-4800-8114-49569A208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7" name="Gelijkbenige driehoek 6">
            <a:extLst>
              <a:ext uri="{FF2B5EF4-FFF2-40B4-BE49-F238E27FC236}">
                <a16:creationId xmlns:a16="http://schemas.microsoft.com/office/drawing/2014/main" id="{5EFC5DA7-42AD-4163-B81C-BC60400CFDEF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7D9DA8C5-1FD2-4AD1-983E-C005AF19C7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25073" y="6073679"/>
            <a:ext cx="1153603" cy="370306"/>
          </a:xfrm>
          <a:prstGeom prst="rect">
            <a:avLst/>
          </a:prstGeom>
        </p:spPr>
      </p:pic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9D3931E4-AE84-4614-95BF-CFF1449B84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33051" y="3999147"/>
            <a:ext cx="6308725" cy="466613"/>
          </a:xfrm>
        </p:spPr>
        <p:txBody>
          <a:bodyPr anchor="b"/>
          <a:lstStyle>
            <a:lvl1pPr marL="0" indent="0">
              <a:buFontTx/>
              <a:buNone/>
              <a:defRPr sz="22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Naam Achternaam</a:t>
            </a:r>
            <a:endParaRPr lang="nl-BE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3622B796-191D-402D-B39A-CDE2C6DA4F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40603" y="4493298"/>
            <a:ext cx="4662487" cy="1617663"/>
          </a:xfrm>
        </p:spPr>
        <p:txBody>
          <a:bodyPr/>
          <a:lstStyle>
            <a:lvl1pPr marL="0" indent="0">
              <a:buNone/>
              <a:defRPr sz="2200">
                <a:latin typeface="+mj-lt"/>
              </a:defRPr>
            </a:lvl1pPr>
            <a:lvl2pPr marL="358163" indent="0">
              <a:buNone/>
              <a:defRPr sz="2200">
                <a:latin typeface="+mj-lt"/>
              </a:defRPr>
            </a:lvl2pPr>
            <a:lvl3pPr marL="720000" indent="0">
              <a:buNone/>
              <a:defRPr sz="2200">
                <a:latin typeface="+mj-lt"/>
              </a:defRPr>
            </a:lvl3pPr>
            <a:lvl4pPr marL="1080000" indent="0">
              <a:buNone/>
              <a:defRPr sz="2200">
                <a:latin typeface="+mj-lt"/>
              </a:defRPr>
            </a:lvl4pPr>
            <a:lvl5pPr marL="1440000" indent="0">
              <a:buNone/>
              <a:defRPr sz="2200">
                <a:latin typeface="+mj-lt"/>
              </a:defRPr>
            </a:lvl5pPr>
          </a:lstStyle>
          <a:p>
            <a:pPr lvl="0"/>
            <a:r>
              <a:rPr lang="nl-NL" dirty="0"/>
              <a:t>Datum</a:t>
            </a:r>
            <a:endParaRPr lang="nl-BE" dirty="0"/>
          </a:p>
        </p:txBody>
      </p:sp>
      <p:sp>
        <p:nvSpPr>
          <p:cNvPr id="13" name="Rechthoekige driehoek 12">
            <a:extLst>
              <a:ext uri="{FF2B5EF4-FFF2-40B4-BE49-F238E27FC236}">
                <a16:creationId xmlns:a16="http://schemas.microsoft.com/office/drawing/2014/main" id="{2F4CE03C-2446-4EC5-B5DD-A041A68BBF35}"/>
              </a:ext>
            </a:extLst>
          </p:cNvPr>
          <p:cNvSpPr/>
          <p:nvPr userDrawn="1"/>
        </p:nvSpPr>
        <p:spPr>
          <a:xfrm rot="8100000">
            <a:off x="945998" y="4240087"/>
            <a:ext cx="309905" cy="30990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D6C2FF9A-F000-4BFA-9764-458F26D2BEB8}"/>
              </a:ext>
            </a:extLst>
          </p:cNvPr>
          <p:cNvSpPr/>
          <p:nvPr userDrawn="1"/>
        </p:nvSpPr>
        <p:spPr>
          <a:xfrm>
            <a:off x="945193" y="4401743"/>
            <a:ext cx="311510" cy="31151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2258528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>
            <a:extLst>
              <a:ext uri="{FF2B5EF4-FFF2-40B4-BE49-F238E27FC236}">
                <a16:creationId xmlns:a16="http://schemas.microsoft.com/office/drawing/2014/main" id="{CCEBE6B7-490D-4A8D-9B9C-C75E430100F2}"/>
              </a:ext>
            </a:extLst>
          </p:cNvPr>
          <p:cNvSpPr/>
          <p:nvPr userDrawn="1"/>
        </p:nvSpPr>
        <p:spPr>
          <a:xfrm>
            <a:off x="0" y="1"/>
            <a:ext cx="4068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77031" y="1852225"/>
            <a:ext cx="5365733" cy="3090532"/>
          </a:xfrm>
        </p:spPr>
        <p:txBody>
          <a:bodyPr/>
          <a:lstStyle>
            <a:lvl1pPr marL="0" indent="0">
              <a:lnSpc>
                <a:spcPts val="3800"/>
              </a:lnSpc>
              <a:spcBef>
                <a:spcPts val="2200"/>
              </a:spcBef>
              <a:buFont typeface="Arial" panose="020B0604020202020204" pitchFamily="34" charset="0"/>
              <a:buNone/>
              <a:defRPr sz="3200" b="1">
                <a:solidFill>
                  <a:schemeClr val="tx1"/>
                </a:solidFill>
                <a:latin typeface="+mj-lt"/>
              </a:defRPr>
            </a:lvl1pPr>
            <a:lvl2pPr marL="36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2pPr>
            <a:lvl3pPr marL="720000" indent="-180000" defTabSz="1436688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3pPr>
            <a:lvl4pPr marL="108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4pPr>
            <a:lvl5pPr marL="144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nl-NL" dirty="0"/>
              <a:t>Hoofdstuktitel</a:t>
            </a:r>
          </a:p>
          <a:p>
            <a:pPr lvl="0"/>
            <a:r>
              <a:rPr lang="nl-NL" dirty="0"/>
              <a:t>Hoofdstuktitel</a:t>
            </a:r>
          </a:p>
          <a:p>
            <a:pPr lvl="0"/>
            <a:r>
              <a:rPr lang="nl-NL" dirty="0"/>
              <a:t>Hoofdstuktitel</a:t>
            </a:r>
          </a:p>
          <a:p>
            <a:pPr lvl="0"/>
            <a:r>
              <a:rPr lang="nl-NL" dirty="0"/>
              <a:t>Hoofdstuktitel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77031" y="6264004"/>
            <a:ext cx="2743200" cy="365125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304FD9A2-98F2-4A5B-A452-66B8C41A893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549883" y="1859599"/>
            <a:ext cx="1345923" cy="3090532"/>
          </a:xfrm>
        </p:spPr>
        <p:txBody>
          <a:bodyPr/>
          <a:lstStyle>
            <a:lvl1pPr marL="0" indent="0" algn="r">
              <a:lnSpc>
                <a:spcPts val="3800"/>
              </a:lnSpc>
              <a:spcBef>
                <a:spcPts val="2200"/>
              </a:spcBef>
              <a:buFont typeface="Arial" panose="020B0604020202020204" pitchFamily="34" charset="0"/>
              <a:buNone/>
              <a:defRPr sz="5400" b="1">
                <a:solidFill>
                  <a:schemeClr val="bg1"/>
                </a:solidFill>
                <a:latin typeface="+mj-lt"/>
              </a:defRPr>
            </a:lvl1pPr>
            <a:lvl2pPr marL="36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2pPr>
            <a:lvl3pPr marL="720000" indent="-180000" defTabSz="1436688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3pPr>
            <a:lvl4pPr marL="108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4pPr>
            <a:lvl5pPr marL="144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nl-NL" dirty="0"/>
              <a:t>1.</a:t>
            </a:r>
          </a:p>
          <a:p>
            <a:pPr lvl="0"/>
            <a:r>
              <a:rPr lang="nl-NL" dirty="0"/>
              <a:t>2.</a:t>
            </a:r>
          </a:p>
          <a:p>
            <a:pPr lvl="0"/>
            <a:r>
              <a:rPr lang="nl-NL" dirty="0"/>
              <a:t>3.</a:t>
            </a:r>
          </a:p>
          <a:p>
            <a:pPr lvl="0"/>
            <a:r>
              <a:rPr lang="nl-NL" dirty="0"/>
              <a:t>4.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8DC82B8D-FA17-4BE4-A52F-A63703B07994}"/>
              </a:ext>
            </a:extLst>
          </p:cNvPr>
          <p:cNvSpPr txBox="1"/>
          <p:nvPr userDrawn="1"/>
        </p:nvSpPr>
        <p:spPr>
          <a:xfrm>
            <a:off x="532389" y="285502"/>
            <a:ext cx="1846251" cy="30777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nl-BE" sz="1400" b="1" dirty="0">
                <a:solidFill>
                  <a:schemeClr val="bg1"/>
                </a:solidFill>
                <a:latin typeface="+mj-lt"/>
              </a:rPr>
              <a:t>INHOUDSTAFEL</a:t>
            </a:r>
          </a:p>
        </p:txBody>
      </p:sp>
      <p:sp>
        <p:nvSpPr>
          <p:cNvPr id="15" name="Gelijkbenige driehoek 14">
            <a:extLst>
              <a:ext uri="{FF2B5EF4-FFF2-40B4-BE49-F238E27FC236}">
                <a16:creationId xmlns:a16="http://schemas.microsoft.com/office/drawing/2014/main" id="{F826CAAD-37E1-417F-AE93-7A7F7F6D5FE8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12610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00" y="2736000"/>
            <a:ext cx="9281274" cy="309053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  <a:lvl2pPr marL="358163" indent="0">
              <a:lnSpc>
                <a:spcPct val="100000"/>
              </a:lnSpc>
              <a:buNone/>
              <a:defRPr/>
            </a:lvl2pPr>
            <a:lvl3pPr marL="720000" indent="0">
              <a:lnSpc>
                <a:spcPct val="100000"/>
              </a:lnSpc>
              <a:buNone/>
              <a:defRPr/>
            </a:lvl3pPr>
            <a:lvl4pPr marL="1080000" indent="0">
              <a:lnSpc>
                <a:spcPct val="100000"/>
              </a:lnSpc>
              <a:buNone/>
              <a:defRPr/>
            </a:lvl4pPr>
            <a:lvl5pPr marL="1440000" indent="0">
              <a:lnSpc>
                <a:spcPct val="100000"/>
              </a:lnSpc>
              <a:buNone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6181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00" y="1908000"/>
            <a:ext cx="9291600" cy="3132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360000" indent="-180000">
              <a:buFont typeface="Arial" panose="020B0604020202020204" pitchFamily="34" charset="0"/>
              <a:buChar char="•"/>
              <a:defRPr/>
            </a:lvl2pPr>
            <a:lvl3pPr marL="720000" indent="-180000" defTabSz="1436688">
              <a:buFont typeface="Arial" panose="020B0604020202020204" pitchFamily="34" charset="0"/>
              <a:buChar char="•"/>
              <a:defRPr/>
            </a:lvl3pPr>
            <a:lvl4pPr marL="1080000" indent="-180000">
              <a:buFont typeface="Arial" panose="020B0604020202020204" pitchFamily="34" charset="0"/>
              <a:buChar char="•"/>
              <a:defRPr/>
            </a:lvl4pPr>
            <a:lvl5pPr marL="144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46906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E5158C-C5F8-4FA4-8D48-8495226D3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ACB0CE7-11E3-4438-919C-EA7601B23C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20000" y="2736000"/>
            <a:ext cx="4392000" cy="2883505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C456A98-2404-4694-96D5-FDAB6BA76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2000" y="2736000"/>
            <a:ext cx="4392000" cy="2883505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09CE115-B374-4617-BCB4-65CE99671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30D3D96-5DFD-4E22-A20C-C1B8E4E8A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8F20995-02CF-40E9-A9E3-07D0889F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3D35A45E-59A3-4C31-A9F3-DD73EF3BB7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10415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hoek 14">
            <a:extLst>
              <a:ext uri="{FF2B5EF4-FFF2-40B4-BE49-F238E27FC236}">
                <a16:creationId xmlns:a16="http://schemas.microsoft.com/office/drawing/2014/main" id="{97EFFFE8-8662-44ED-9D46-72EA0C894BB5}"/>
              </a:ext>
            </a:extLst>
          </p:cNvPr>
          <p:cNvSpPr/>
          <p:nvPr userDrawn="1"/>
        </p:nvSpPr>
        <p:spPr>
          <a:xfrm>
            <a:off x="10164726" y="5684874"/>
            <a:ext cx="2027274" cy="11731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pic>
        <p:nvPicPr>
          <p:cNvPr id="13" name="Afbeelding 12" descr="Afbeelding met bijl&#10;&#10;Automatisch gegenereerde beschrijving">
            <a:extLst>
              <a:ext uri="{FF2B5EF4-FFF2-40B4-BE49-F238E27FC236}">
                <a16:creationId xmlns:a16="http://schemas.microsoft.com/office/drawing/2014/main" id="{26190394-04D1-435B-872B-98D9438B95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9842"/>
            <a:ext cx="2485770" cy="495831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AD43DC2-455F-4EDF-A084-FEE83CFC4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74829" y="2226013"/>
            <a:ext cx="7759257" cy="1429415"/>
          </a:xfrm>
        </p:spPr>
        <p:txBody>
          <a:bodyPr anchor="b"/>
          <a:lstStyle>
            <a:lvl1pPr>
              <a:defRPr sz="4400" spc="170" baseline="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C704646-7228-4188-9EAC-6994DE76A28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674829" y="3619988"/>
            <a:ext cx="775925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ONDERTITEL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6946962-0A67-44EB-A18D-73C07F936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316FD36-254F-49C1-A06F-1DBD00D98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849368-50CE-404F-865E-EF0DB7781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8" name="Gelijkbenige driehoek 7">
            <a:extLst>
              <a:ext uri="{FF2B5EF4-FFF2-40B4-BE49-F238E27FC236}">
                <a16:creationId xmlns:a16="http://schemas.microsoft.com/office/drawing/2014/main" id="{939230B4-815F-440B-888A-070C90C48BA5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9A854FE4-B9A5-46C1-BF2D-13E51D44B0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293" y="1353110"/>
            <a:ext cx="1660525" cy="2808287"/>
          </a:xfrm>
        </p:spPr>
        <p:txBody>
          <a:bodyPr anchor="b"/>
          <a:lstStyle>
            <a:lvl1pPr marL="0" indent="0" algn="r">
              <a:buNone/>
              <a:defRPr sz="9000" b="1">
                <a:solidFill>
                  <a:schemeClr val="accent2"/>
                </a:solidFill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1.</a:t>
            </a:r>
            <a:endParaRPr lang="nl-BE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92DBF72E-0CB1-45B4-9813-C3B6894F6D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25073" y="6073679"/>
            <a:ext cx="1153603" cy="37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407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 en bee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00" y="1908000"/>
            <a:ext cx="4114800" cy="309053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360000" indent="-180000">
              <a:lnSpc>
                <a:spcPct val="100000"/>
              </a:lnSpc>
              <a:buFont typeface="Arial" panose="020B0604020202020204" pitchFamily="34" charset="0"/>
              <a:buChar char="•"/>
              <a:defRPr/>
            </a:lvl2pPr>
            <a:lvl3pPr marL="720000" indent="-180000" defTabSz="1436688">
              <a:lnSpc>
                <a:spcPct val="100000"/>
              </a:lnSpc>
              <a:buFont typeface="Arial" panose="020B0604020202020204" pitchFamily="34" charset="0"/>
              <a:buChar char="•"/>
              <a:defRPr/>
            </a:lvl3pPr>
            <a:lvl4pPr marL="1080000" indent="-180000">
              <a:lnSpc>
                <a:spcPct val="100000"/>
              </a:lnSpc>
              <a:buFont typeface="Arial" panose="020B0604020202020204" pitchFamily="34" charset="0"/>
              <a:buChar char="•"/>
              <a:defRPr/>
            </a:lvl4pPr>
            <a:lvl5pPr marL="1440000" indent="-180000">
              <a:lnSpc>
                <a:spcPct val="100000"/>
              </a:lnSpc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CD9E304B-9EEF-4540-A2A5-7D039634D7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92000" y="0"/>
            <a:ext cx="5400000" cy="6858000"/>
          </a:xfrm>
        </p:spPr>
        <p:txBody>
          <a:bodyPr anchor="ctr"/>
          <a:lstStyle>
            <a:lvl1pPr marL="0" indent="0" algn="ctr">
              <a:buNone/>
              <a:defRPr baseline="-25000"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44810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bee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E5744A9E-4C9D-4407-95E8-93A822A070AB}"/>
              </a:ext>
            </a:extLst>
          </p:cNvPr>
          <p:cNvSpPr/>
          <p:nvPr userDrawn="1"/>
        </p:nvSpPr>
        <p:spPr>
          <a:xfrm>
            <a:off x="0" y="1"/>
            <a:ext cx="4068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999" y="594002"/>
            <a:ext cx="3099759" cy="15180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099759" cy="365125"/>
          </a:xfrm>
        </p:spPr>
        <p:txBody>
          <a:bodyPr anchor="b" anchorCtr="0"/>
          <a:lstStyle>
            <a:lvl1pPr marL="0" indent="0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CD9E304B-9EEF-4540-A2A5-7D039634D7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8000" y="0"/>
            <a:ext cx="6858000" cy="6858000"/>
          </a:xfrm>
        </p:spPr>
        <p:txBody>
          <a:bodyPr anchor="ctr"/>
          <a:lstStyle>
            <a:lvl1pPr marL="0" indent="0" algn="ctr">
              <a:buNone/>
              <a:defRPr baseline="-25000"/>
            </a:lvl1pPr>
          </a:lstStyle>
          <a:p>
            <a:endParaRPr lang="nl-BE"/>
          </a:p>
        </p:txBody>
      </p:sp>
      <p:sp>
        <p:nvSpPr>
          <p:cNvPr id="10" name="Gelijkbenige driehoek 9">
            <a:extLst>
              <a:ext uri="{FF2B5EF4-FFF2-40B4-BE49-F238E27FC236}">
                <a16:creationId xmlns:a16="http://schemas.microsoft.com/office/drawing/2014/main" id="{83AC5738-621C-4857-A498-30728DB03399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3328971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B146321D-6FEB-4DB2-A1BE-8F6F0E01F7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89799" y="2727183"/>
            <a:ext cx="5162888" cy="2140319"/>
          </a:xfrm>
        </p:spPr>
        <p:txBody>
          <a:bodyPr/>
          <a:lstStyle>
            <a:lvl1pPr marL="0" indent="0">
              <a:buNone/>
              <a:defRPr sz="27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Quote groot: </a:t>
            </a:r>
            <a:r>
              <a:rPr lang="nl-NL" dirty="0" err="1"/>
              <a:t>occulpa</a:t>
            </a:r>
            <a:r>
              <a:rPr lang="nl-NL" dirty="0"/>
              <a:t> </a:t>
            </a:r>
            <a:r>
              <a:rPr lang="nl-NL" dirty="0" err="1"/>
              <a:t>etureicae</a:t>
            </a:r>
            <a:r>
              <a:rPr lang="nl-NL" dirty="0"/>
              <a:t> </a:t>
            </a:r>
            <a:r>
              <a:rPr lang="nl-NL" dirty="0" err="1"/>
              <a:t>sit</a:t>
            </a:r>
            <a:r>
              <a:rPr lang="nl-NL" dirty="0"/>
              <a:t> </a:t>
            </a:r>
            <a:r>
              <a:rPr lang="nl-NL" dirty="0" err="1"/>
              <a:t>dolorae</a:t>
            </a:r>
            <a:r>
              <a:rPr lang="nl-NL" dirty="0"/>
              <a:t>. </a:t>
            </a:r>
            <a:r>
              <a:rPr lang="nl-NL" dirty="0" err="1"/>
              <a:t>Nemporese</a:t>
            </a:r>
            <a:r>
              <a:rPr lang="nl-NL" dirty="0"/>
              <a:t> </a:t>
            </a:r>
            <a:r>
              <a:rPr lang="nl-NL" dirty="0" err="1"/>
              <a:t>endae</a:t>
            </a:r>
            <a:r>
              <a:rPr lang="nl-NL" dirty="0"/>
              <a:t> </a:t>
            </a:r>
            <a:r>
              <a:rPr lang="nl-NL" dirty="0" err="1"/>
              <a:t>am</a:t>
            </a:r>
            <a:r>
              <a:rPr lang="nl-NL" dirty="0"/>
              <a:t>, ad </a:t>
            </a:r>
            <a:r>
              <a:rPr lang="nl-NL" dirty="0" err="1"/>
              <a:t>quatecum</a:t>
            </a:r>
            <a:r>
              <a:rPr lang="nl-NL" dirty="0"/>
              <a:t> </a:t>
            </a:r>
            <a:r>
              <a:rPr lang="nl-NL" dirty="0" err="1"/>
              <a:t>fugiaeperunt</a:t>
            </a:r>
            <a:r>
              <a:rPr lang="nl-NL" dirty="0"/>
              <a:t> </a:t>
            </a:r>
            <a:r>
              <a:rPr lang="nl-NL" dirty="0" err="1"/>
              <a:t>unt</a:t>
            </a:r>
            <a:r>
              <a:rPr lang="nl-NL" dirty="0"/>
              <a:t>. </a:t>
            </a:r>
            <a:r>
              <a:rPr lang="nl-NL" dirty="0" err="1"/>
              <a:t>Atia</a:t>
            </a:r>
            <a:r>
              <a:rPr lang="nl-NL" dirty="0"/>
              <a:t> </a:t>
            </a:r>
            <a:r>
              <a:rPr lang="nl-NL" dirty="0" err="1"/>
              <a:t>sam</a:t>
            </a:r>
            <a:r>
              <a:rPr lang="nl-NL" dirty="0"/>
              <a:t> que </a:t>
            </a:r>
            <a:r>
              <a:rPr lang="nl-NL" dirty="0" err="1"/>
              <a:t>quamustrum</a:t>
            </a:r>
            <a:r>
              <a:rPr lang="nl-NL" dirty="0"/>
              <a:t> </a:t>
            </a:r>
            <a:r>
              <a:rPr lang="nl-NL" dirty="0" err="1"/>
              <a:t>fugiam</a:t>
            </a:r>
            <a:r>
              <a:rPr lang="nl-NL" dirty="0"/>
              <a:t> </a:t>
            </a:r>
            <a:r>
              <a:rPr lang="nl-NL" dirty="0" err="1"/>
              <a:t>quis</a:t>
            </a:r>
            <a:r>
              <a:rPr lang="nl-NL" dirty="0"/>
              <a:t> </a:t>
            </a:r>
            <a:r>
              <a:rPr lang="nl-NL" dirty="0" err="1"/>
              <a:t>corempo</a:t>
            </a:r>
            <a:r>
              <a:rPr lang="nl-NL" dirty="0"/>
              <a:t> </a:t>
            </a:r>
            <a:r>
              <a:rPr lang="nl-NL" dirty="0" err="1"/>
              <a:t>restium</a:t>
            </a:r>
            <a:r>
              <a:rPr lang="nl-NL" dirty="0"/>
              <a:t> </a:t>
            </a:r>
            <a:r>
              <a:rPr lang="nl-NL" dirty="0" err="1"/>
              <a:t>ero</a:t>
            </a:r>
            <a:r>
              <a:rPr lang="nl-NL" dirty="0"/>
              <a:t>.</a:t>
            </a:r>
            <a:endParaRPr lang="nl-BE" dirty="0"/>
          </a:p>
        </p:txBody>
      </p:sp>
      <p:sp>
        <p:nvSpPr>
          <p:cNvPr id="17" name="Gelijkbenige driehoek 16">
            <a:extLst>
              <a:ext uri="{FF2B5EF4-FFF2-40B4-BE49-F238E27FC236}">
                <a16:creationId xmlns:a16="http://schemas.microsoft.com/office/drawing/2014/main" id="{C9E84D4C-76DA-4E4E-9F21-DB0F8DC87F65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7BE966C4-F2D9-4A05-8182-0E3CB210AD5F}"/>
              </a:ext>
            </a:extLst>
          </p:cNvPr>
          <p:cNvSpPr/>
          <p:nvPr userDrawn="1"/>
        </p:nvSpPr>
        <p:spPr>
          <a:xfrm>
            <a:off x="10179781" y="5632057"/>
            <a:ext cx="2012219" cy="1225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4F015E38-B67E-4A5F-B168-2C2166D851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25073" y="6073679"/>
            <a:ext cx="1153603" cy="37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029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quote met na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CD9E304B-9EEF-4540-A2A5-7D039634D7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73615" y="4537479"/>
            <a:ext cx="1008000" cy="1008000"/>
          </a:xfrm>
        </p:spPr>
        <p:txBody>
          <a:bodyPr anchor="ctr"/>
          <a:lstStyle>
            <a:lvl1pPr marL="0" indent="0" algn="ctr">
              <a:buNone/>
              <a:defRPr sz="2000" baseline="-25000"/>
            </a:lvl1pPr>
          </a:lstStyle>
          <a:p>
            <a:endParaRPr lang="nl-BE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B146321D-6FEB-4DB2-A1BE-8F6F0E01F7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89799" y="2185019"/>
            <a:ext cx="5162888" cy="2140319"/>
          </a:xfrm>
        </p:spPr>
        <p:txBody>
          <a:bodyPr/>
          <a:lstStyle>
            <a:lvl1pPr marL="0" indent="0">
              <a:buNone/>
              <a:defRPr sz="27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Quote groot: </a:t>
            </a:r>
            <a:r>
              <a:rPr lang="nl-NL" dirty="0" err="1"/>
              <a:t>occulpa</a:t>
            </a:r>
            <a:r>
              <a:rPr lang="nl-NL" dirty="0"/>
              <a:t> </a:t>
            </a:r>
            <a:r>
              <a:rPr lang="nl-NL" dirty="0" err="1"/>
              <a:t>etureicae</a:t>
            </a:r>
            <a:r>
              <a:rPr lang="nl-NL" dirty="0"/>
              <a:t> </a:t>
            </a:r>
            <a:r>
              <a:rPr lang="nl-NL" dirty="0" err="1"/>
              <a:t>sit</a:t>
            </a:r>
            <a:r>
              <a:rPr lang="nl-NL" dirty="0"/>
              <a:t> </a:t>
            </a:r>
            <a:r>
              <a:rPr lang="nl-NL" dirty="0" err="1"/>
              <a:t>dolorae</a:t>
            </a:r>
            <a:r>
              <a:rPr lang="nl-NL" dirty="0"/>
              <a:t>. </a:t>
            </a:r>
            <a:r>
              <a:rPr lang="nl-NL" dirty="0" err="1"/>
              <a:t>Nemporese</a:t>
            </a:r>
            <a:r>
              <a:rPr lang="nl-NL" dirty="0"/>
              <a:t> </a:t>
            </a:r>
            <a:r>
              <a:rPr lang="nl-NL" dirty="0" err="1"/>
              <a:t>endae</a:t>
            </a:r>
            <a:r>
              <a:rPr lang="nl-NL" dirty="0"/>
              <a:t> </a:t>
            </a:r>
            <a:r>
              <a:rPr lang="nl-NL" dirty="0" err="1"/>
              <a:t>am</a:t>
            </a:r>
            <a:r>
              <a:rPr lang="nl-NL" dirty="0"/>
              <a:t>, ad </a:t>
            </a:r>
            <a:r>
              <a:rPr lang="nl-NL" dirty="0" err="1"/>
              <a:t>quatecum</a:t>
            </a:r>
            <a:r>
              <a:rPr lang="nl-NL" dirty="0"/>
              <a:t> </a:t>
            </a:r>
            <a:r>
              <a:rPr lang="nl-NL" dirty="0" err="1"/>
              <a:t>fugiaeperunt</a:t>
            </a:r>
            <a:r>
              <a:rPr lang="nl-NL" dirty="0"/>
              <a:t> </a:t>
            </a:r>
            <a:r>
              <a:rPr lang="nl-NL" dirty="0" err="1"/>
              <a:t>unt</a:t>
            </a:r>
            <a:r>
              <a:rPr lang="nl-NL" dirty="0"/>
              <a:t>. </a:t>
            </a:r>
            <a:r>
              <a:rPr lang="nl-NL" dirty="0" err="1"/>
              <a:t>Atia</a:t>
            </a:r>
            <a:r>
              <a:rPr lang="nl-NL" dirty="0"/>
              <a:t> </a:t>
            </a:r>
            <a:r>
              <a:rPr lang="nl-NL" dirty="0" err="1"/>
              <a:t>sam</a:t>
            </a:r>
            <a:r>
              <a:rPr lang="nl-NL" dirty="0"/>
              <a:t> que </a:t>
            </a:r>
            <a:r>
              <a:rPr lang="nl-NL" dirty="0" err="1"/>
              <a:t>quamustrum</a:t>
            </a:r>
            <a:r>
              <a:rPr lang="nl-NL" dirty="0"/>
              <a:t> </a:t>
            </a:r>
            <a:r>
              <a:rPr lang="nl-NL" dirty="0" err="1"/>
              <a:t>fugiam</a:t>
            </a:r>
            <a:r>
              <a:rPr lang="nl-NL" dirty="0"/>
              <a:t> </a:t>
            </a:r>
            <a:r>
              <a:rPr lang="nl-NL" dirty="0" err="1"/>
              <a:t>quis</a:t>
            </a:r>
            <a:r>
              <a:rPr lang="nl-NL" dirty="0"/>
              <a:t> </a:t>
            </a:r>
            <a:r>
              <a:rPr lang="nl-NL" dirty="0" err="1"/>
              <a:t>corempo</a:t>
            </a:r>
            <a:r>
              <a:rPr lang="nl-NL" dirty="0"/>
              <a:t> </a:t>
            </a:r>
            <a:r>
              <a:rPr lang="nl-NL" dirty="0" err="1"/>
              <a:t>restium</a:t>
            </a:r>
            <a:r>
              <a:rPr lang="nl-NL" dirty="0"/>
              <a:t> </a:t>
            </a:r>
            <a:r>
              <a:rPr lang="nl-NL" dirty="0" err="1"/>
              <a:t>ero</a:t>
            </a:r>
            <a:r>
              <a:rPr lang="nl-NL" dirty="0"/>
              <a:t>.</a:t>
            </a:r>
            <a:endParaRPr lang="nl-BE" dirty="0"/>
          </a:p>
        </p:txBody>
      </p:sp>
      <p:sp>
        <p:nvSpPr>
          <p:cNvPr id="11" name="Tijdelijke aanduiding voor tekst 9">
            <a:extLst>
              <a:ext uri="{FF2B5EF4-FFF2-40B4-BE49-F238E27FC236}">
                <a16:creationId xmlns:a16="http://schemas.microsoft.com/office/drawing/2014/main" id="{65E274DD-5F46-4B35-A5AC-31E6BE89CE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55982" y="4574866"/>
            <a:ext cx="6308725" cy="466613"/>
          </a:xfrm>
        </p:spPr>
        <p:txBody>
          <a:bodyPr anchor="b"/>
          <a:lstStyle>
            <a:lvl1pPr marL="0" indent="0">
              <a:buFontTx/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Naam Achternaam</a:t>
            </a:r>
            <a:endParaRPr lang="nl-BE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DA29B528-8ACF-4D4D-B37B-A6AAB88026F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55982" y="5041479"/>
            <a:ext cx="1909500" cy="466613"/>
          </a:xfrm>
        </p:spPr>
        <p:txBody>
          <a:bodyPr/>
          <a:lstStyle>
            <a:lvl1pPr marL="0" indent="0">
              <a:buNone/>
              <a:defRPr sz="2100">
                <a:solidFill>
                  <a:schemeClr val="tx1"/>
                </a:solidFill>
                <a:latin typeface="+mj-lt"/>
              </a:defRPr>
            </a:lvl1pPr>
            <a:lvl2pPr marL="358163" indent="0">
              <a:buNone/>
              <a:defRPr sz="2200">
                <a:latin typeface="+mj-lt"/>
              </a:defRPr>
            </a:lvl2pPr>
            <a:lvl3pPr marL="720000" indent="0">
              <a:buNone/>
              <a:defRPr sz="2200">
                <a:latin typeface="+mj-lt"/>
              </a:defRPr>
            </a:lvl3pPr>
            <a:lvl4pPr marL="1080000" indent="0">
              <a:buNone/>
              <a:defRPr sz="2200">
                <a:latin typeface="+mj-lt"/>
              </a:defRPr>
            </a:lvl4pPr>
            <a:lvl5pPr marL="1440000" indent="0">
              <a:buNone/>
              <a:defRPr sz="2200">
                <a:latin typeface="+mj-lt"/>
              </a:defRPr>
            </a:lvl5pPr>
          </a:lstStyle>
          <a:p>
            <a:pPr lvl="0"/>
            <a:r>
              <a:rPr lang="nl-NL" dirty="0"/>
              <a:t>Datum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96691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en titel en inhou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5843A7B-9F3B-480D-AD2E-C3AACED19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44671" y="1769806"/>
            <a:ext cx="4036181" cy="1269552"/>
          </a:xfrm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DDAC10B-1AED-4A32-B7C4-E04362F3B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44672" y="3047450"/>
            <a:ext cx="4036182" cy="2549854"/>
          </a:xfrm>
        </p:spPr>
        <p:txBody>
          <a:bodyPr/>
          <a:lstStyle>
            <a:lvl1pPr marL="0" indent="0">
              <a:buNone/>
              <a:defRPr/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44202EC0-7C3F-449D-A78C-41C97D42D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CE90316-0261-473A-89DB-C22973630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9AAC146-4636-4E5A-A84D-9EC96FAB2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DC69D467-5BA6-489C-BF11-65D772B5B4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602B1D0A-36A5-4B59-853B-DAA887AFB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13" name="Tijdelijke aanduiding voor grafiek 12">
            <a:extLst>
              <a:ext uri="{FF2B5EF4-FFF2-40B4-BE49-F238E27FC236}">
                <a16:creationId xmlns:a16="http://schemas.microsoft.com/office/drawing/2014/main" id="{FF732A83-4257-4217-8FBA-FB64E01272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96001" y="1295400"/>
            <a:ext cx="6401310" cy="46116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89662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en ti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44202EC0-7C3F-449D-A78C-41C97D42D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CE90316-0261-473A-89DB-C22973630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9AAC146-4636-4E5A-A84D-9EC96FAB2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DC69D467-5BA6-489C-BF11-65D772B5B4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602B1D0A-36A5-4B59-853B-DAA887AFB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13" name="Tijdelijke aanduiding voor grafiek 12">
            <a:extLst>
              <a:ext uri="{FF2B5EF4-FFF2-40B4-BE49-F238E27FC236}">
                <a16:creationId xmlns:a16="http://schemas.microsoft.com/office/drawing/2014/main" id="{FF732A83-4257-4217-8FBA-FB64E01272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1280400" y="1295400"/>
            <a:ext cx="9301567" cy="46116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191332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BCCE59-2411-4F31-B2FA-A0E3C2D3F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E3473E5-12B3-4067-8FAB-0C045297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5205202-803B-40C0-8FCF-E7381AE4E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3488137-6613-43C0-B311-4B1FB099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6" name="Tijdelijke aanduiding voor tekst 7">
            <a:extLst>
              <a:ext uri="{FF2B5EF4-FFF2-40B4-BE49-F238E27FC236}">
                <a16:creationId xmlns:a16="http://schemas.microsoft.com/office/drawing/2014/main" id="{591161BA-2045-41AE-B361-A0AB563B57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493497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7DF97DE-814F-4A02-925B-4FA8DC174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39C6991-A2F7-45F1-A24C-12CAC083E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91E0077-B4BD-4C07-BC35-57BD3CDF0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53358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1A2C12ED-88A7-4813-9ECA-D67FA6D81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0" y="612000"/>
            <a:ext cx="10515600" cy="68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05F5B42-3528-42D1-A27E-87182BBDF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0328" y="2729021"/>
            <a:ext cx="9281274" cy="30905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4F6AD4E-0376-4AAB-8907-1E42C4537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98576" y="6264004"/>
            <a:ext cx="274320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141D534-2D3B-4E3E-93F0-6E17F620A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246" y="6264211"/>
            <a:ext cx="411480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AC6B2CE-C5EC-498A-A0F1-8E7B718BB6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4291" y="6264211"/>
            <a:ext cx="28800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 b="0">
                <a:solidFill>
                  <a:schemeClr val="tx1"/>
                </a:solidFill>
                <a:latin typeface="+mj-lt"/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C54CFD1D-AE9F-4E01-BB96-1FD87EDE6CC2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5073" y="6073683"/>
            <a:ext cx="1153603" cy="370307"/>
          </a:xfrm>
          <a:prstGeom prst="rect">
            <a:avLst/>
          </a:prstGeom>
        </p:spPr>
      </p:pic>
      <p:sp>
        <p:nvSpPr>
          <p:cNvPr id="10" name="Gelijkbenige driehoek 9">
            <a:extLst>
              <a:ext uri="{FF2B5EF4-FFF2-40B4-BE49-F238E27FC236}">
                <a16:creationId xmlns:a16="http://schemas.microsoft.com/office/drawing/2014/main" id="{91F4572B-450D-4A18-A92E-3CDA65745A0D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3853335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49" r:id="rId2"/>
    <p:sldLayoutId id="2147483667" r:id="rId3"/>
    <p:sldLayoutId id="2147483650" r:id="rId4"/>
    <p:sldLayoutId id="2147483661" r:id="rId5"/>
    <p:sldLayoutId id="2147483652" r:id="rId6"/>
    <p:sldLayoutId id="2147483651" r:id="rId7"/>
    <p:sldLayoutId id="2147483663" r:id="rId8"/>
    <p:sldLayoutId id="2147483666" r:id="rId9"/>
    <p:sldLayoutId id="2147483664" r:id="rId10"/>
    <p:sldLayoutId id="2147483665" r:id="rId11"/>
    <p:sldLayoutId id="2147483653" r:id="rId12"/>
    <p:sldLayoutId id="2147483669" r:id="rId13"/>
    <p:sldLayoutId id="2147483654" r:id="rId14"/>
    <p:sldLayoutId id="2147483655" r:id="rId15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7800" indent="-1778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0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62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xceptionnotfound.net/asp-net-mvc-demystified-unobtrusive-validation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180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718ED56-9B95-423B-8216-9F178AD2C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1247" y="1424767"/>
            <a:ext cx="10287043" cy="1447247"/>
          </a:xfrm>
        </p:spPr>
        <p:txBody>
          <a:bodyPr/>
          <a:lstStyle/>
          <a:p>
            <a:r>
              <a:rPr lang="nl-BE" dirty="0"/>
              <a:t>Business Application Development</a:t>
            </a:r>
          </a:p>
        </p:txBody>
      </p:sp>
      <p:sp>
        <p:nvSpPr>
          <p:cNvPr id="5" name="Ondertitel 4">
            <a:extLst>
              <a:ext uri="{FF2B5EF4-FFF2-40B4-BE49-F238E27FC236}">
                <a16:creationId xmlns:a16="http://schemas.microsoft.com/office/drawing/2014/main" id="{124F62E7-84EB-4132-BAC4-04FD56CAD6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/>
              <a:t>Formulieren (vervolg)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18169475-DD59-4D84-BD2E-FA0DFEC69F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40603" y="3988604"/>
            <a:ext cx="6308725" cy="466613"/>
          </a:xfrm>
        </p:spPr>
        <p:txBody>
          <a:bodyPr/>
          <a:lstStyle/>
          <a:p>
            <a:r>
              <a:rPr lang="nl-BE" dirty="0"/>
              <a:t>Sam Van Buggenhout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38443782-7588-4BA1-A888-94A8DEFEE0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40603" y="4486230"/>
            <a:ext cx="4662487" cy="1617663"/>
          </a:xfrm>
        </p:spPr>
        <p:txBody>
          <a:bodyPr/>
          <a:lstStyle/>
          <a:p>
            <a:r>
              <a:rPr lang="nl-BE"/>
              <a:t>Academiejaar 2025-2026</a:t>
            </a:r>
            <a:endParaRPr lang="nl-BE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83EA1070-FA06-4A00-A759-4ACED8B01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FC613BBA-66FF-4B29-8641-2A8DBF9F4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2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410289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D9A78874-CA76-4C66-8AB0-DB0467756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5186" y="2290916"/>
            <a:ext cx="5365733" cy="2712881"/>
          </a:xfrm>
        </p:spPr>
        <p:txBody>
          <a:bodyPr anchor="ctr"/>
          <a:lstStyle/>
          <a:p>
            <a:endParaRPr lang="nl-BE" dirty="0"/>
          </a:p>
          <a:p>
            <a:r>
              <a:rPr lang="nl-BE" dirty="0"/>
              <a:t>Validatie &amp; Security</a:t>
            </a:r>
          </a:p>
          <a:p>
            <a:r>
              <a:rPr lang="nl-BE" dirty="0"/>
              <a:t>CRUD</a:t>
            </a:r>
          </a:p>
          <a:p>
            <a:r>
              <a:rPr lang="nl-BE" dirty="0" err="1"/>
              <a:t>ViewModels</a:t>
            </a:r>
            <a:endParaRPr lang="nl-BE" dirty="0"/>
          </a:p>
          <a:p>
            <a:r>
              <a:rPr lang="nl-BE" dirty="0" err="1"/>
              <a:t>Scaffolding</a:t>
            </a:r>
            <a:endParaRPr lang="nl-BE" dirty="0"/>
          </a:p>
          <a:p>
            <a:endParaRPr lang="nl-BE" dirty="0"/>
          </a:p>
          <a:p>
            <a:endParaRPr lang="nl-BE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1EB6E6A-9EE0-4FEF-9807-DEC31A15C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59CE2FD-DE76-4295-BF54-E1613FCA4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3</a:t>
            </a:fld>
            <a:endParaRPr lang="nl-B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376BF4A-A5EE-4931-88FC-7233F3E470C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09927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DF56-8F19-4DE8-9680-3B24FB264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Validatie en security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D2BF5-3C8D-44B9-916E-07459E9C2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4B247F-694C-4189-93CD-010E7DA7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0506E5-6B0D-4986-8F59-626F92D9A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AFAAA7-34C9-4E82-91C1-FC11DAE03A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57459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Validatie: herhaling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1" y="1314721"/>
            <a:ext cx="9727722" cy="477144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Gegevens in formulier worden gevalideerd </a:t>
            </a:r>
            <a:r>
              <a:rPr lang="nl-BE" sz="2400" b="1" dirty="0">
                <a:solidFill>
                  <a:schemeClr val="accent6"/>
                </a:solidFill>
              </a:rPr>
              <a:t>ná model-binding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Welke controles? Aangegeven via </a:t>
            </a:r>
            <a:r>
              <a:rPr lang="nl-BE" sz="2400" b="1" dirty="0">
                <a:solidFill>
                  <a:schemeClr val="accent6"/>
                </a:solidFill>
              </a:rPr>
              <a:t>data </a:t>
            </a:r>
            <a:r>
              <a:rPr lang="nl-BE" sz="2400" b="1" dirty="0" err="1">
                <a:solidFill>
                  <a:schemeClr val="accent6"/>
                </a:solidFill>
              </a:rPr>
              <a:t>annotations</a:t>
            </a:r>
            <a:r>
              <a:rPr lang="nl-BE" sz="2400" b="1" dirty="0">
                <a:solidFill>
                  <a:schemeClr val="accent6"/>
                </a:solidFill>
              </a:rPr>
              <a:t> </a:t>
            </a:r>
            <a:r>
              <a:rPr lang="nl-BE" sz="2400" dirty="0"/>
              <a:t>in model-klasse (bv.: </a:t>
            </a:r>
            <a:r>
              <a:rPr lang="nl-BE" sz="2000" dirty="0">
                <a:latin typeface="Consolas" panose="020B0609020204030204" pitchFamily="49" charset="0"/>
              </a:rPr>
              <a:t>[</a:t>
            </a:r>
            <a:r>
              <a:rPr lang="nl-BE" sz="2000" dirty="0" err="1">
                <a:latin typeface="Consolas" panose="020B0609020204030204" pitchFamily="49" charset="0"/>
              </a:rPr>
              <a:t>Required</a:t>
            </a:r>
            <a:r>
              <a:rPr lang="nl-BE" sz="2000" dirty="0">
                <a:latin typeface="Consolas" panose="020B0609020204030204" pitchFamily="49" charset="0"/>
              </a:rPr>
              <a:t>]</a:t>
            </a:r>
            <a:r>
              <a:rPr lang="nl-BE" sz="2400" dirty="0"/>
              <a:t>, </a:t>
            </a:r>
            <a:r>
              <a:rPr lang="nl-BE" sz="2000" dirty="0">
                <a:latin typeface="Consolas" panose="020B0609020204030204" pitchFamily="49" charset="0"/>
              </a:rPr>
              <a:t>[</a:t>
            </a:r>
            <a:r>
              <a:rPr lang="nl-BE" sz="2000" dirty="0" err="1">
                <a:latin typeface="Consolas" panose="020B0609020204030204" pitchFamily="49" charset="0"/>
              </a:rPr>
              <a:t>EmailAddress</a:t>
            </a:r>
            <a:r>
              <a:rPr lang="nl-BE" sz="2000" dirty="0">
                <a:latin typeface="Consolas" panose="020B0609020204030204" pitchFamily="49" charset="0"/>
              </a:rPr>
              <a:t>]</a:t>
            </a:r>
            <a:r>
              <a:rPr lang="nl-BE" sz="2400" dirty="0"/>
              <a:t>, ...)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In </a:t>
            </a:r>
            <a:r>
              <a:rPr lang="nl-BE" sz="2400" b="1" dirty="0">
                <a:solidFill>
                  <a:schemeClr val="accent6"/>
                </a:solidFill>
              </a:rPr>
              <a:t>controller</a:t>
            </a:r>
            <a:r>
              <a:rPr lang="nl-BE" sz="2400" dirty="0"/>
              <a:t>: nagaan of model fouten bevat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Aan de hand van </a:t>
            </a:r>
            <a:r>
              <a:rPr lang="nl-BE" sz="2000" dirty="0" err="1"/>
              <a:t>ModelState.IsValid</a:t>
            </a:r>
            <a:endParaRPr lang="nl-BE" sz="20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Validatie vindt plaats op de server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Formulier geldig? </a:t>
            </a:r>
            <a:r>
              <a:rPr lang="nl-BE" sz="2400" dirty="0" err="1"/>
              <a:t>Redirect</a:t>
            </a:r>
            <a:r>
              <a:rPr lang="nl-BE" sz="2400" dirty="0"/>
              <a:t> naar andere Action </a:t>
            </a:r>
            <a:r>
              <a:rPr lang="nl-BE" sz="2400" b="1" dirty="0">
                <a:solidFill>
                  <a:schemeClr val="accent6"/>
                </a:solidFill>
              </a:rPr>
              <a:t>(POST/REDIRECT/GET)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/>
              <a:t>MAAR</a:t>
            </a:r>
            <a:r>
              <a:rPr lang="nl-BE" sz="2400" dirty="0"/>
              <a:t>: validatie vindt pas plaats nadat formulier verstuurd is naar de server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Gebruiker krijgt pas laat feedback </a:t>
            </a:r>
            <a:r>
              <a:rPr lang="nl-BE" sz="2000" dirty="0">
                <a:sym typeface="Wingdings" panose="05000000000000000000" pitchFamily="2" charset="2"/>
              </a:rPr>
              <a:t> gebruiksvriendelijkheid 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 err="1">
                <a:sym typeface="Wingdings" panose="05000000000000000000" pitchFamily="2" charset="2"/>
              </a:rPr>
              <a:t>Request</a:t>
            </a:r>
            <a:r>
              <a:rPr lang="nl-BE" sz="2000" dirty="0">
                <a:sym typeface="Wingdings" panose="05000000000000000000" pitchFamily="2" charset="2"/>
              </a:rPr>
              <a:t> wordt naar server gestuurd  overbodige overhead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b="1" dirty="0">
                <a:sym typeface="Wingdings" panose="05000000000000000000" pitchFamily="2" charset="2"/>
              </a:rPr>
              <a:t>Oplossing</a:t>
            </a:r>
            <a:r>
              <a:rPr lang="nl-BE" sz="2000" dirty="0">
                <a:sym typeface="Wingdings" panose="05000000000000000000" pitchFamily="2" charset="2"/>
              </a:rPr>
              <a:t>: </a:t>
            </a:r>
            <a:r>
              <a:rPr lang="nl-BE" sz="2000" b="1" dirty="0">
                <a:sym typeface="Wingdings" panose="05000000000000000000" pitchFamily="2" charset="2"/>
              </a:rPr>
              <a:t>eerst</a:t>
            </a:r>
            <a:r>
              <a:rPr lang="nl-BE" sz="2000" dirty="0">
                <a:sym typeface="Wingdings" panose="05000000000000000000" pitchFamily="2" charset="2"/>
              </a:rPr>
              <a:t> al valideren op </a:t>
            </a:r>
            <a:r>
              <a:rPr lang="nl-BE" sz="2000" b="1" dirty="0" err="1">
                <a:sym typeface="Wingdings" panose="05000000000000000000" pitchFamily="2" charset="2"/>
              </a:rPr>
              <a:t>client</a:t>
            </a:r>
            <a:r>
              <a:rPr lang="nl-BE" sz="2000" dirty="0">
                <a:sym typeface="Wingdings" panose="05000000000000000000" pitchFamily="2" charset="2"/>
              </a:rPr>
              <a:t> (in de browser)</a:t>
            </a:r>
            <a:endParaRPr lang="nl-BE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67584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8D1E4-6637-4EC4-B3FE-CE795E152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Validatie: </a:t>
            </a:r>
            <a:r>
              <a:rPr lang="nl-BE" dirty="0" err="1"/>
              <a:t>client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F6A13-A5BE-4F09-9079-EC90AC0C3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438142"/>
            <a:ext cx="101533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Bij compileren van </a:t>
            </a:r>
            <a:r>
              <a:rPr lang="nl-BE" sz="2400" dirty="0" err="1"/>
              <a:t>Razor</a:t>
            </a:r>
            <a:r>
              <a:rPr lang="nl-BE" sz="2400" dirty="0"/>
              <a:t>-template worden tag-helpers gebruikt (</a:t>
            </a:r>
            <a:r>
              <a:rPr lang="nl-BE" sz="2000" dirty="0" err="1">
                <a:latin typeface="Consolas" panose="020B0609020204030204" pitchFamily="49" charset="0"/>
              </a:rPr>
              <a:t>asp-for</a:t>
            </a:r>
            <a:r>
              <a:rPr lang="nl-BE" sz="2400" dirty="0"/>
              <a:t>) om </a:t>
            </a:r>
            <a:r>
              <a:rPr lang="nl-BE" sz="2400" b="1" dirty="0">
                <a:solidFill>
                  <a:schemeClr val="accent6"/>
                </a:solidFill>
              </a:rPr>
              <a:t>extra attributen</a:t>
            </a:r>
            <a:r>
              <a:rPr lang="nl-BE" sz="2400" dirty="0"/>
              <a:t> toe te voegen aan &lt;input&gt;-elementen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Deze attributen worden tevens bepaald door </a:t>
            </a:r>
            <a:r>
              <a:rPr lang="nl-BE" sz="2400" b="1" dirty="0">
                <a:solidFill>
                  <a:schemeClr val="accent6"/>
                </a:solidFill>
              </a:rPr>
              <a:t>data </a:t>
            </a:r>
            <a:r>
              <a:rPr lang="nl-BE" sz="2400" b="1" dirty="0" err="1">
                <a:solidFill>
                  <a:schemeClr val="accent6"/>
                </a:solidFill>
              </a:rPr>
              <a:t>annotations</a:t>
            </a:r>
            <a:r>
              <a:rPr lang="nl-BE" sz="2400" b="1" dirty="0">
                <a:solidFill>
                  <a:schemeClr val="accent6"/>
                </a:solidFill>
              </a:rPr>
              <a:t> </a:t>
            </a:r>
            <a:r>
              <a:rPr lang="nl-BE" sz="2400" dirty="0"/>
              <a:t>in model-klasse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Attributen kunnen in </a:t>
            </a:r>
            <a:r>
              <a:rPr lang="nl-BE" sz="2400" dirty="0" err="1"/>
              <a:t>JavaScript</a:t>
            </a:r>
            <a:r>
              <a:rPr lang="nl-BE" sz="2400" dirty="0"/>
              <a:t> gebruikt worden om </a:t>
            </a:r>
            <a:r>
              <a:rPr lang="nl-BE" sz="2400" b="1" dirty="0">
                <a:solidFill>
                  <a:schemeClr val="accent6"/>
                </a:solidFill>
              </a:rPr>
              <a:t>validatie-code</a:t>
            </a:r>
            <a:r>
              <a:rPr lang="nl-BE" sz="2400" dirty="0"/>
              <a:t> te vereenvoudigen. Dit wordt “</a:t>
            </a:r>
            <a:r>
              <a:rPr lang="nl-BE" sz="2400" b="1" dirty="0" err="1">
                <a:solidFill>
                  <a:schemeClr val="accent6"/>
                </a:solidFill>
              </a:rPr>
              <a:t>unobtrusive</a:t>
            </a:r>
            <a:r>
              <a:rPr lang="nl-BE" sz="2400" b="1" dirty="0">
                <a:solidFill>
                  <a:schemeClr val="accent6"/>
                </a:solidFill>
              </a:rPr>
              <a:t> </a:t>
            </a:r>
            <a:r>
              <a:rPr lang="nl-BE" sz="2400" b="1" dirty="0" err="1">
                <a:solidFill>
                  <a:schemeClr val="accent6"/>
                </a:solidFill>
              </a:rPr>
              <a:t>validation</a:t>
            </a:r>
            <a:r>
              <a:rPr lang="nl-BE" sz="2400" baseline="30000" dirty="0"/>
              <a:t>(*)</a:t>
            </a:r>
            <a:r>
              <a:rPr lang="nl-BE" sz="2400" dirty="0"/>
              <a:t>” genoemd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05ACD5-0261-4251-B260-CA0F808DE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299E7-71E8-41C7-A076-191FD809F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AD02F07-1CBB-494B-8AD4-994541170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5D2DB4-10BA-42DE-9FBB-98AE9E34C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20" y="4572083"/>
            <a:ext cx="11788960" cy="9316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12D635-B558-48A4-94AE-FDEAFF5F2D6E}"/>
              </a:ext>
            </a:extLst>
          </p:cNvPr>
          <p:cNvSpPr txBox="1"/>
          <p:nvPr/>
        </p:nvSpPr>
        <p:spPr>
          <a:xfrm>
            <a:off x="201520" y="4031168"/>
            <a:ext cx="42475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u="sng" dirty="0"/>
              <a:t>Voorbeeld gegenereerde attributen: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01BBDC-38E6-4624-BA38-941003F9BC28}"/>
              </a:ext>
            </a:extLst>
          </p:cNvPr>
          <p:cNvSpPr txBox="1"/>
          <p:nvPr/>
        </p:nvSpPr>
        <p:spPr>
          <a:xfrm>
            <a:off x="678291" y="5754073"/>
            <a:ext cx="975855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i="1" baseline="30000" dirty="0"/>
              <a:t>(*)</a:t>
            </a:r>
            <a:r>
              <a:rPr lang="nl-BE" sz="1600" i="1" dirty="0"/>
              <a:t>Voor meer informatie, zie: </a:t>
            </a:r>
            <a:r>
              <a:rPr lang="nl-BE" sz="1600" i="1" dirty="0">
                <a:hlinkClick r:id="rId3"/>
              </a:rPr>
              <a:t>https://exceptionnotfound.net/asp-net-mvc-demystified-unobtrusive-validation/</a:t>
            </a:r>
            <a:endParaRPr lang="nl-BE" sz="1600" i="1" dirty="0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278491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25E16-932C-4CF7-998C-0783C06B2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Validatie: </a:t>
            </a:r>
            <a:r>
              <a:rPr lang="nl-BE" dirty="0" err="1"/>
              <a:t>client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537E6-F81E-4E81-8B5A-9797913F1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532118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ASP.NET </a:t>
            </a:r>
            <a:r>
              <a:rPr lang="nl-BE" dirty="0" err="1"/>
              <a:t>Core</a:t>
            </a:r>
            <a:r>
              <a:rPr lang="nl-BE" dirty="0"/>
              <a:t> MVC template bevat view met </a:t>
            </a:r>
            <a:r>
              <a:rPr lang="nl-BE" dirty="0" err="1"/>
              <a:t>imports</a:t>
            </a:r>
            <a:r>
              <a:rPr lang="nl-BE" dirty="0"/>
              <a:t> voor validatie-scripts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Locatie: </a:t>
            </a:r>
            <a:r>
              <a:rPr lang="nl-BE" sz="2400" i="1" dirty="0"/>
              <a:t>Views/Shared/_</a:t>
            </a:r>
            <a:r>
              <a:rPr lang="nl-BE" sz="2400" i="1" dirty="0" err="1"/>
              <a:t>ValidationScriptsPartial.cshtml</a:t>
            </a:r>
            <a:endParaRPr lang="nl-BE" sz="2400" i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Gebruik: invoegen in view die formulier bevat (helemaal onderaan)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BF1280-9D14-4286-931A-AC641FA2D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9F8D5A-2406-4EEF-906E-F2CB15125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1717C0-EF20-43EA-B239-27C33B8347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3BDBFA-682E-40AB-AB1F-CE2EDC1C7DFC}"/>
              </a:ext>
            </a:extLst>
          </p:cNvPr>
          <p:cNvSpPr txBox="1"/>
          <p:nvPr/>
        </p:nvSpPr>
        <p:spPr>
          <a:xfrm>
            <a:off x="534291" y="4218039"/>
            <a:ext cx="6574432" cy="138499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rgbClr val="006400"/>
                </a:solidFill>
                <a:latin typeface="Consolas" panose="020B0609020204030204" pitchFamily="49" charset="0"/>
              </a:rPr>
              <a:t>&lt;!-- helemaal onderaan view --&gt;</a:t>
            </a:r>
            <a:endParaRPr lang="nl-BE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nl-BE" sz="14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endParaRPr lang="nl-BE" sz="14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4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section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Scripts </a:t>
            </a:r>
            <a:r>
              <a:rPr lang="nl-BE" sz="1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nl-BE" sz="1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Html.</a:t>
            </a:r>
            <a:r>
              <a:rPr lang="nl-BE" sz="1400" dirty="0" err="1">
                <a:solidFill>
                  <a:srgbClr val="74561F"/>
                </a:solidFill>
                <a:latin typeface="Consolas" panose="020B0609020204030204" pitchFamily="49" charset="0"/>
              </a:rPr>
              <a:t>PartialAsync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400" dirty="0">
                <a:solidFill>
                  <a:srgbClr val="A31515"/>
                </a:solidFill>
                <a:latin typeface="Consolas" panose="020B0609020204030204" pitchFamily="49" charset="0"/>
              </a:rPr>
              <a:t>"_</a:t>
            </a:r>
            <a:r>
              <a:rPr lang="nl-BE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ValidationScriptsPartial.cshtml</a:t>
            </a:r>
            <a:r>
              <a:rPr lang="nl-BE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nl-BE" sz="1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endParaRPr lang="nl-BE" sz="1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2AC8DE5-EC29-46BF-8B94-DE97B542E811}"/>
              </a:ext>
            </a:extLst>
          </p:cNvPr>
          <p:cNvCxnSpPr/>
          <p:nvPr/>
        </p:nvCxnSpPr>
        <p:spPr>
          <a:xfrm flipH="1">
            <a:off x="6912078" y="5240594"/>
            <a:ext cx="65876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A6D0096-B467-4591-8CC0-6EC73A67ABAB}"/>
              </a:ext>
            </a:extLst>
          </p:cNvPr>
          <p:cNvSpPr txBox="1"/>
          <p:nvPr/>
        </p:nvSpPr>
        <p:spPr>
          <a:xfrm>
            <a:off x="7649497" y="5055928"/>
            <a:ext cx="3923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dirty="0"/>
              <a:t>invoegen als </a:t>
            </a:r>
            <a:r>
              <a:rPr lang="nl-BE" b="1" dirty="0" err="1"/>
              <a:t>partial</a:t>
            </a:r>
            <a:r>
              <a:rPr lang="nl-BE" b="1" dirty="0"/>
              <a:t> view </a:t>
            </a:r>
            <a:r>
              <a:rPr lang="nl-BE" i="1" dirty="0"/>
              <a:t>(zie later)</a:t>
            </a:r>
          </a:p>
        </p:txBody>
      </p:sp>
    </p:spTree>
    <p:extLst>
      <p:ext uri="{BB962C8B-B14F-4D97-AF65-F5344CB8AC3E}">
        <p14:creationId xmlns:p14="http://schemas.microsoft.com/office/powerpoint/2010/main" val="1846293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055EC-42A0-4D80-BFC4-32B25BD6F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Validatie: </a:t>
            </a:r>
            <a:r>
              <a:rPr lang="nl-BE" dirty="0" err="1"/>
              <a:t>client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B5EC1-BED3-4B3B-9CE5-43369D6A8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6375" y="2234839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Foutboodschappen worden geüpdatet wanneer veld focus verliest (“real-time”)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Validatie is gebaseerd op data </a:t>
            </a:r>
            <a:r>
              <a:rPr lang="nl-BE" dirty="0" err="1"/>
              <a:t>annotations</a:t>
            </a:r>
            <a:r>
              <a:rPr lang="nl-BE" dirty="0"/>
              <a:t> in model-klasse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Werkt niet voor </a:t>
            </a:r>
            <a:r>
              <a:rPr lang="nl-BE" dirty="0" err="1"/>
              <a:t>custom</a:t>
            </a:r>
            <a:r>
              <a:rPr lang="nl-BE" dirty="0"/>
              <a:t> validatie-</a:t>
            </a:r>
            <a:r>
              <a:rPr lang="nl-BE" dirty="0" err="1"/>
              <a:t>annotations</a:t>
            </a:r>
            <a:endParaRPr lang="nl-BE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Client-validatie is een toevoeging op server-side validatie, géén vervanging ervan!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5B9320-37EA-4E5C-8417-7A3237C89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B272D2-D5EC-4BF7-9D85-39B24E65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18AC61F-2023-411D-A881-7A83982F89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4682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5EAFE-C096-4780-956F-C36C67403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Security: Cross-site </a:t>
            </a:r>
            <a:r>
              <a:rPr lang="nl-BE" dirty="0" err="1"/>
              <a:t>Request</a:t>
            </a:r>
            <a:r>
              <a:rPr lang="nl-BE" dirty="0"/>
              <a:t> </a:t>
            </a:r>
            <a:r>
              <a:rPr lang="nl-BE" dirty="0" err="1"/>
              <a:t>Forgery</a:t>
            </a:r>
            <a:r>
              <a:rPr lang="nl-BE" dirty="0"/>
              <a:t> (CSRF)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8A207-6C86-4318-AB76-1C6BEC58A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858296"/>
            <a:ext cx="9281274" cy="448350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>
                <a:solidFill>
                  <a:schemeClr val="accent6"/>
                </a:solidFill>
              </a:rPr>
              <a:t>Cross-site </a:t>
            </a:r>
            <a:r>
              <a:rPr lang="nl-BE" sz="2400" b="1" dirty="0" err="1">
                <a:solidFill>
                  <a:schemeClr val="accent6"/>
                </a:solidFill>
              </a:rPr>
              <a:t>Request</a:t>
            </a:r>
            <a:r>
              <a:rPr lang="nl-BE" sz="2400" b="1" dirty="0">
                <a:solidFill>
                  <a:schemeClr val="accent6"/>
                </a:solidFill>
              </a:rPr>
              <a:t> </a:t>
            </a:r>
            <a:r>
              <a:rPr lang="nl-BE" sz="2400" b="1" dirty="0" err="1">
                <a:solidFill>
                  <a:schemeClr val="accent6"/>
                </a:solidFill>
              </a:rPr>
              <a:t>Forgery</a:t>
            </a:r>
            <a:r>
              <a:rPr lang="nl-BE" sz="2400" b="1" dirty="0">
                <a:solidFill>
                  <a:schemeClr val="accent6"/>
                </a:solidFill>
              </a:rPr>
              <a:t> (CSRF) </a:t>
            </a:r>
            <a:r>
              <a:rPr lang="nl-BE" sz="2400" dirty="0"/>
              <a:t>is veelvoorkomend security-probleem bij dynamische web-toepassingen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Stel:</a:t>
            </a:r>
          </a:p>
          <a:p>
            <a:pPr marL="1234350" lvl="2" indent="-514350">
              <a:buFont typeface="+mj-lt"/>
              <a:buAutoNum type="arabicPeriod"/>
            </a:pPr>
            <a:r>
              <a:rPr lang="nl-BE" sz="2000" dirty="0"/>
              <a:t>Gebruiker logt in op bank-applicatie </a:t>
            </a:r>
            <a:br>
              <a:rPr lang="nl-BE" sz="2000" dirty="0"/>
            </a:br>
            <a:r>
              <a:rPr lang="nl-BE" sz="2000" dirty="0">
                <a:sym typeface="Wingdings" panose="05000000000000000000" pitchFamily="2" charset="2"/>
              </a:rPr>
              <a:t> login-gegevens worden bewaard in cookie</a:t>
            </a:r>
          </a:p>
          <a:p>
            <a:pPr marL="1234350" lvl="2" indent="-514350">
              <a:buFont typeface="+mj-lt"/>
              <a:buAutoNum type="arabicPeriod"/>
            </a:pPr>
            <a:r>
              <a:rPr lang="nl-BE" sz="2000" dirty="0">
                <a:sym typeface="Wingdings" panose="05000000000000000000" pitchFamily="2" charset="2"/>
              </a:rPr>
              <a:t>Gebruiker bezoekt nadien website van aanvaller. Deze website bevat (verborgen) formulier dat POST-</a:t>
            </a:r>
            <a:r>
              <a:rPr lang="nl-BE" sz="2000" dirty="0" err="1">
                <a:sym typeface="Wingdings" panose="05000000000000000000" pitchFamily="2" charset="2"/>
              </a:rPr>
              <a:t>request</a:t>
            </a:r>
            <a:r>
              <a:rPr lang="nl-BE" sz="2000" dirty="0">
                <a:sym typeface="Wingdings" panose="05000000000000000000" pitchFamily="2" charset="2"/>
              </a:rPr>
              <a:t> uitvoert naar bank-applicatie met bedrag + rekeningnummer van aanvaller</a:t>
            </a:r>
          </a:p>
          <a:p>
            <a:pPr marL="1234350" lvl="2" indent="-514350">
              <a:buFont typeface="+mj-lt"/>
              <a:buAutoNum type="arabicPeriod"/>
            </a:pPr>
            <a:r>
              <a:rPr lang="nl-BE" sz="2000" dirty="0">
                <a:sym typeface="Wingdings" panose="05000000000000000000" pitchFamily="2" charset="2"/>
              </a:rPr>
              <a:t>Bij POST worden cookies met login-gegevens meegestuurd naar bank-applicatie  gebruiker is ingelogd  transactie wordt uitgevoerd!</a:t>
            </a:r>
            <a:endParaRPr lang="nl-BE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67432-8661-4658-BBFF-28B1FA4B5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060E2A-5977-4BEC-BB77-45EB4F1BD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D89AF2-CCAB-4E12-82F8-BCEA978512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13A98EB2-A690-49E2-9157-1A0840AAB6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8" t="9474" r="7891" b="9256"/>
          <a:stretch/>
        </p:blipFill>
        <p:spPr>
          <a:xfrm>
            <a:off x="9815565" y="3610839"/>
            <a:ext cx="1802080" cy="172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437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0ACB7-4558-4415-A8A9-0D1769776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Security: Cross-site </a:t>
            </a:r>
            <a:r>
              <a:rPr lang="nl-BE" dirty="0" err="1"/>
              <a:t>Request</a:t>
            </a:r>
            <a:r>
              <a:rPr lang="nl-BE" dirty="0"/>
              <a:t> </a:t>
            </a:r>
            <a:r>
              <a:rPr lang="nl-BE" dirty="0" err="1"/>
              <a:t>Forgery</a:t>
            </a:r>
            <a:r>
              <a:rPr lang="nl-BE" dirty="0"/>
              <a:t> (CSRF)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82192F-0A64-4273-80DF-2AAE853AA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CFF869-0EFC-4931-ABDE-0E7925C37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1AA127D-F09D-4063-BA98-D8C2603985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2E37A3E-0EE5-4857-9319-B4EDAE7AA2CB}"/>
              </a:ext>
            </a:extLst>
          </p:cNvPr>
          <p:cNvGrpSpPr/>
          <p:nvPr/>
        </p:nvGrpSpPr>
        <p:grpSpPr>
          <a:xfrm>
            <a:off x="2361674" y="1606831"/>
            <a:ext cx="6584251" cy="4346549"/>
            <a:chOff x="2389238" y="1447628"/>
            <a:chExt cx="6584251" cy="434654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B7BF57B-6C2D-45EF-AA01-212E65C2B352}"/>
                </a:ext>
              </a:extLst>
            </p:cNvPr>
            <p:cNvSpPr txBox="1"/>
            <p:nvPr/>
          </p:nvSpPr>
          <p:spPr>
            <a:xfrm>
              <a:off x="2466215" y="5486400"/>
              <a:ext cx="64302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sz="1400" i="1" dirty="0"/>
                <a:t>Bron: </a:t>
              </a:r>
              <a:r>
                <a:rPr lang="en-US" sz="1400" i="1" dirty="0"/>
                <a:t>Lock, A. (2018b). Asp.net Core in Action. Shelter Island, NY: Manning Publications.</a:t>
              </a:r>
              <a:endParaRPr lang="nl-BE" sz="1400" i="1" dirty="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5976411-38D6-480D-A643-1B74505E85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89238" y="1447628"/>
              <a:ext cx="6584251" cy="39627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5215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8D487-1B22-4CD5-B341-7420D7CA6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Security: Cross-site </a:t>
            </a:r>
            <a:r>
              <a:rPr lang="nl-BE" dirty="0" err="1"/>
              <a:t>Request</a:t>
            </a:r>
            <a:r>
              <a:rPr lang="nl-BE" dirty="0"/>
              <a:t> </a:t>
            </a:r>
            <a:r>
              <a:rPr lang="nl-BE" dirty="0" err="1"/>
              <a:t>Forgery</a:t>
            </a:r>
            <a:r>
              <a:rPr lang="nl-BE" dirty="0"/>
              <a:t> (CSRF)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1B7C6-5124-4929-AB57-E54213C6E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778" y="1431943"/>
            <a:ext cx="10114044" cy="445758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/>
              <a:t>Probleem: </a:t>
            </a:r>
            <a:r>
              <a:rPr lang="nl-BE" sz="2400" dirty="0"/>
              <a:t>server moet kunnen te weten komen dat gegevens afkomstig zijn van formulier dat door server aangeleverd werd (en niet afkomstig zijn van malafide website)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/>
              <a:t>Oplossing: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Bij </a:t>
            </a:r>
            <a:r>
              <a:rPr lang="nl-BE" sz="2000" dirty="0" err="1"/>
              <a:t>request</a:t>
            </a:r>
            <a:r>
              <a:rPr lang="nl-BE" sz="2000" dirty="0"/>
              <a:t> voor pagina met formulier, genereert server een string (token) en bewaart dit token in een cookie én in een verborgen veld in het formulier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Wanneer gebruiker POST uitvoert, worden cookie en verborgen veld meegestuurd naar server </a:t>
            </a:r>
            <a:r>
              <a:rPr lang="nl-BE" sz="2000" dirty="0">
                <a:sym typeface="Wingdings" panose="05000000000000000000" pitchFamily="2" charset="2"/>
              </a:rPr>
              <a:t> controle of beide overeenkomen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>
                <a:sym typeface="Wingdings" panose="05000000000000000000" pitchFamily="2" charset="2"/>
              </a:rPr>
              <a:t>Indien token ontbreekt of niet overeenkomt  </a:t>
            </a:r>
            <a:r>
              <a:rPr lang="nl-BE" sz="2000" dirty="0" err="1">
                <a:sym typeface="Wingdings" panose="05000000000000000000" pitchFamily="2" charset="2"/>
              </a:rPr>
              <a:t>request</a:t>
            </a:r>
            <a:r>
              <a:rPr lang="nl-BE" sz="2000" dirty="0">
                <a:sym typeface="Wingdings" panose="05000000000000000000" pitchFamily="2" charset="2"/>
              </a:rPr>
              <a:t> wordt geweigerd!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>
                <a:sym typeface="Wingdings" panose="05000000000000000000" pitchFamily="2" charset="2"/>
              </a:rPr>
              <a:t>Deze tokens worden </a:t>
            </a:r>
            <a:r>
              <a:rPr lang="nl-BE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anti-</a:t>
            </a:r>
            <a:r>
              <a:rPr lang="nl-BE" sz="2400" b="1" dirty="0" err="1">
                <a:solidFill>
                  <a:schemeClr val="accent6"/>
                </a:solidFill>
                <a:sym typeface="Wingdings" panose="05000000000000000000" pitchFamily="2" charset="2"/>
              </a:rPr>
              <a:t>forgery</a:t>
            </a:r>
            <a:r>
              <a:rPr lang="nl-BE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 tokens </a:t>
            </a:r>
            <a:r>
              <a:rPr lang="nl-BE" sz="2400" dirty="0">
                <a:sym typeface="Wingdings" panose="05000000000000000000" pitchFamily="2" charset="2"/>
              </a:rPr>
              <a:t>genoemd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>
                <a:sym typeface="Wingdings" panose="05000000000000000000" pitchFamily="2" charset="2"/>
              </a:rPr>
              <a:t>Gegenereerd at-</a:t>
            </a:r>
            <a:r>
              <a:rPr lang="nl-BE" sz="2400" dirty="0" err="1">
                <a:sym typeface="Wingdings" panose="05000000000000000000" pitchFamily="2" charset="2"/>
              </a:rPr>
              <a:t>runtime</a:t>
            </a:r>
            <a:r>
              <a:rPr lang="nl-BE" sz="2400" dirty="0">
                <a:sym typeface="Wingdings" panose="05000000000000000000" pitchFamily="2" charset="2"/>
              </a:rPr>
              <a:t>  onmogelijk na te maken door aanvaller!</a:t>
            </a:r>
            <a:endParaRPr lang="nl-BE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8B3BC7-6CA6-462D-8624-BF34F7B89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8228E8-A3EE-4447-A3A6-A69F52D62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39B1AD-2498-411C-8F69-9988396C1F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23058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0ACB7-4558-4415-A8A9-0D1769776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Security: Cross-site </a:t>
            </a:r>
            <a:r>
              <a:rPr lang="nl-BE" dirty="0" err="1"/>
              <a:t>Request</a:t>
            </a:r>
            <a:r>
              <a:rPr lang="nl-BE" dirty="0"/>
              <a:t> </a:t>
            </a:r>
            <a:r>
              <a:rPr lang="nl-BE" dirty="0" err="1"/>
              <a:t>Forgery</a:t>
            </a:r>
            <a:r>
              <a:rPr lang="nl-BE" dirty="0"/>
              <a:t> (CSRF)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82192F-0A64-4273-80DF-2AAE853AA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CFF869-0EFC-4931-ABDE-0E7925C37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1AA127D-F09D-4063-BA98-D8C2603985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6CD0D73-3668-4D7F-B80E-A95C4142D8F3}"/>
              </a:ext>
            </a:extLst>
          </p:cNvPr>
          <p:cNvGrpSpPr/>
          <p:nvPr/>
        </p:nvGrpSpPr>
        <p:grpSpPr>
          <a:xfrm>
            <a:off x="2361674" y="1665904"/>
            <a:ext cx="6584251" cy="4287476"/>
            <a:chOff x="2361674" y="1665904"/>
            <a:chExt cx="6584251" cy="428747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B7BF57B-6C2D-45EF-AA01-212E65C2B352}"/>
                </a:ext>
              </a:extLst>
            </p:cNvPr>
            <p:cNvSpPr txBox="1"/>
            <p:nvPr/>
          </p:nvSpPr>
          <p:spPr>
            <a:xfrm>
              <a:off x="2438651" y="5645603"/>
              <a:ext cx="64302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sz="1400" i="1" dirty="0"/>
                <a:t>Bron: </a:t>
              </a:r>
              <a:r>
                <a:rPr lang="en-US" sz="1400" i="1" dirty="0"/>
                <a:t>Lock, A. (2018b). Asp.net Core in Action. Shelter Island, NY: Manning Publications.</a:t>
              </a:r>
              <a:endParaRPr lang="nl-BE" sz="1400" i="1" dirty="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5976411-38D6-480D-A643-1B74505E85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1674" y="1665904"/>
              <a:ext cx="6584251" cy="38445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86426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F8F3B-64BA-49F8-8EB4-06C4A8B39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Security: Cross-site </a:t>
            </a:r>
            <a:r>
              <a:rPr lang="nl-BE" dirty="0" err="1"/>
              <a:t>Request</a:t>
            </a:r>
            <a:r>
              <a:rPr lang="nl-BE" dirty="0"/>
              <a:t> </a:t>
            </a:r>
            <a:r>
              <a:rPr lang="nl-BE" dirty="0" err="1"/>
              <a:t>Forgery</a:t>
            </a:r>
            <a:r>
              <a:rPr lang="nl-BE" dirty="0"/>
              <a:t> (CSRF)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C5EDA-8A74-4B27-9294-67EE9A26E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409" y="1271068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Bij gebruik van </a:t>
            </a:r>
            <a:r>
              <a:rPr lang="nl-BE" sz="2400" b="1" dirty="0">
                <a:solidFill>
                  <a:schemeClr val="accent6"/>
                </a:solidFill>
              </a:rPr>
              <a:t>tag-helpers</a:t>
            </a:r>
            <a:r>
              <a:rPr lang="nl-BE" sz="2400" dirty="0"/>
              <a:t> in formulier, wordt automatisch een </a:t>
            </a:r>
            <a:r>
              <a:rPr lang="nl-BE" sz="2400" b="1" dirty="0">
                <a:solidFill>
                  <a:schemeClr val="accent6"/>
                </a:solidFill>
              </a:rPr>
              <a:t>anti-</a:t>
            </a:r>
            <a:r>
              <a:rPr lang="nl-BE" sz="2400" b="1" dirty="0" err="1">
                <a:solidFill>
                  <a:schemeClr val="accent6"/>
                </a:solidFill>
              </a:rPr>
              <a:t>forgery</a:t>
            </a:r>
            <a:r>
              <a:rPr lang="nl-BE" sz="2400" b="1" dirty="0">
                <a:solidFill>
                  <a:schemeClr val="accent6"/>
                </a:solidFill>
              </a:rPr>
              <a:t> token </a:t>
            </a:r>
            <a:r>
              <a:rPr lang="nl-BE" sz="2400" dirty="0"/>
              <a:t>aan formulier toegevoegd: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C7860D-B0AB-4AD5-8602-26D1DE6B0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9A367F-C20E-429F-AB6B-3DCA811CD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B2B5F1B-AD60-44FC-AB72-E0209D553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7ACE09-446D-4866-9594-99A31B4917B3}"/>
              </a:ext>
            </a:extLst>
          </p:cNvPr>
          <p:cNvSpPr txBox="1"/>
          <p:nvPr/>
        </p:nvSpPr>
        <p:spPr>
          <a:xfrm>
            <a:off x="3126842" y="2508674"/>
            <a:ext cx="5053916" cy="73866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800080"/>
                </a:solidFill>
                <a:latin typeface="Consolas" panose="020B0609020204030204" pitchFamily="49" charset="0"/>
              </a:rPr>
              <a:t>asp-controller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="User"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800080"/>
                </a:solidFill>
                <a:latin typeface="Consolas" panose="020B0609020204030204" pitchFamily="49" charset="0"/>
              </a:rPr>
              <a:t>asp-action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="Create"&gt;</a:t>
            </a:r>
          </a:p>
          <a:p>
            <a:r>
              <a:rPr lang="nl-BE" sz="1400" dirty="0">
                <a:solidFill>
                  <a:srgbClr val="006400"/>
                </a:solidFill>
                <a:latin typeface="Consolas" panose="020B0609020204030204" pitchFamily="49" charset="0"/>
              </a:rPr>
              <a:t>    &lt;!-- rest van het formulier --&gt;</a:t>
            </a:r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D3CF48-A2D1-40AB-9B83-BD4B2756B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03" y="4505613"/>
            <a:ext cx="8239432" cy="16145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67975A-6C91-4002-B322-7D8DCB024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4928" y="4460013"/>
            <a:ext cx="7528575" cy="996905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037BE71A-FEC2-4CB1-91FC-EEAA08F62443}"/>
              </a:ext>
            </a:extLst>
          </p:cNvPr>
          <p:cNvSpPr/>
          <p:nvPr/>
        </p:nvSpPr>
        <p:spPr>
          <a:xfrm>
            <a:off x="5250426" y="3429000"/>
            <a:ext cx="609600" cy="684000"/>
          </a:xfrm>
          <a:prstGeom prst="downArrow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80669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C6A76-6713-4D99-B265-5A8DFB520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Security: Cross-site </a:t>
            </a:r>
            <a:r>
              <a:rPr lang="nl-BE" dirty="0" err="1"/>
              <a:t>Request</a:t>
            </a:r>
            <a:r>
              <a:rPr lang="nl-BE" dirty="0"/>
              <a:t> </a:t>
            </a:r>
            <a:r>
              <a:rPr lang="nl-BE" dirty="0" err="1"/>
              <a:t>Forgery</a:t>
            </a:r>
            <a:r>
              <a:rPr lang="nl-BE" dirty="0"/>
              <a:t> (CSRF)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A1661-F4D5-4B75-8975-3AA094EE1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332740"/>
            <a:ext cx="9897735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Anti-</a:t>
            </a:r>
            <a:r>
              <a:rPr lang="nl-BE" sz="2400" dirty="0" err="1"/>
              <a:t>forgery</a:t>
            </a:r>
            <a:r>
              <a:rPr lang="nl-BE" sz="2400" dirty="0"/>
              <a:t> token wordt automatisch gegenereerd, </a:t>
            </a:r>
            <a:br>
              <a:rPr lang="nl-BE" sz="2400" dirty="0"/>
            </a:br>
            <a:r>
              <a:rPr lang="nl-BE" sz="2400" dirty="0"/>
              <a:t>maar </a:t>
            </a:r>
            <a:r>
              <a:rPr lang="nl-BE" sz="2400" b="1" dirty="0"/>
              <a:t>niet automatisch gevalideerd</a:t>
            </a:r>
            <a:r>
              <a:rPr lang="nl-BE" sz="2400" dirty="0"/>
              <a:t>!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Attribuut </a:t>
            </a:r>
            <a:r>
              <a:rPr lang="nl-BE" sz="2000" dirty="0">
                <a:latin typeface="Consolas" panose="020B0609020204030204" pitchFamily="49" charset="0"/>
              </a:rPr>
              <a:t>[</a:t>
            </a:r>
            <a:r>
              <a:rPr lang="nl-BE" sz="2000" dirty="0" err="1">
                <a:latin typeface="Consolas" panose="020B0609020204030204" pitchFamily="49" charset="0"/>
              </a:rPr>
              <a:t>ValidateAntiForgeryToken</a:t>
            </a:r>
            <a:r>
              <a:rPr lang="nl-BE" sz="2000" dirty="0">
                <a:latin typeface="Consolas" panose="020B0609020204030204" pitchFamily="49" charset="0"/>
              </a:rPr>
              <a:t>] </a:t>
            </a:r>
            <a:r>
              <a:rPr lang="nl-BE" sz="2400" dirty="0"/>
              <a:t>toevoegen aan </a:t>
            </a:r>
            <a:br>
              <a:rPr lang="nl-BE" sz="2400" dirty="0"/>
            </a:br>
            <a:r>
              <a:rPr lang="nl-BE" sz="2400" dirty="0"/>
              <a:t>Action-</a:t>
            </a:r>
            <a:r>
              <a:rPr lang="nl-BE" sz="2400" dirty="0" err="1"/>
              <a:t>method</a:t>
            </a:r>
            <a:r>
              <a:rPr lang="nl-BE" sz="2400" dirty="0"/>
              <a:t> die POST-</a:t>
            </a:r>
            <a:r>
              <a:rPr lang="nl-BE" sz="2400" dirty="0" err="1"/>
              <a:t>request</a:t>
            </a:r>
            <a:r>
              <a:rPr lang="nl-BE" sz="2400" dirty="0"/>
              <a:t> afhandelt: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5B2D98-F97D-4059-8332-CCED18EED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62CA74-98C0-43F9-90BA-1BB3DFB95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AA37ED-E9CC-4276-9466-55A4B53CFF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8CE25B-29D1-44D8-8980-B3B58EFCC935}"/>
              </a:ext>
            </a:extLst>
          </p:cNvPr>
          <p:cNvSpPr txBox="1"/>
          <p:nvPr/>
        </p:nvSpPr>
        <p:spPr>
          <a:xfrm>
            <a:off x="2477912" y="3541061"/>
            <a:ext cx="6744745" cy="224676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008000"/>
                </a:solidFill>
                <a:latin typeface="Consolas" panose="020B0609020204030204" pitchFamily="49" charset="0"/>
              </a:rPr>
              <a:t>//POST-</a:t>
            </a:r>
            <a:r>
              <a:rPr lang="nl-BE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request</a:t>
            </a:r>
            <a:r>
              <a:rPr lang="nl-BE" sz="1400" dirty="0">
                <a:solidFill>
                  <a:srgbClr val="008000"/>
                </a:solidFill>
                <a:latin typeface="Consolas" panose="020B0609020204030204" pitchFamily="49" charset="0"/>
              </a:rPr>
              <a:t> (ontvangen en verwerken van gegevens)</a:t>
            </a:r>
            <a:endParaRPr lang="nl-BE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[</a:t>
            </a:r>
            <a:r>
              <a:rPr lang="nl-BE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HttpPost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[</a:t>
            </a:r>
            <a:r>
              <a:rPr lang="nl-BE" sz="1400" b="1" dirty="0" err="1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ValidateAntiForgeryToken</a:t>
            </a:r>
            <a:r>
              <a:rPr lang="nl-BE" sz="14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]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Create(</a:t>
            </a:r>
            <a:r>
              <a:rPr lang="en-US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UserBindingModel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userModel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ModelState.IsValid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         return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74561F"/>
                </a:solidFill>
                <a:latin typeface="Consolas" panose="020B0609020204030204" pitchFamily="49" charset="0"/>
              </a:rPr>
              <a:t>RedirectToAction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Success</a:t>
            </a:r>
            <a:r>
              <a:rPr lang="nl-BE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endParaRPr lang="nl-BE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userModel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400" dirty="0"/>
          </a:p>
        </p:txBody>
      </p:sp>
    </p:spTree>
    <p:extLst>
      <p:ext uri="{BB962C8B-B14F-4D97-AF65-F5344CB8AC3E}">
        <p14:creationId xmlns:p14="http://schemas.microsoft.com/office/powerpoint/2010/main" val="3287146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E8E0C-1647-4F06-ACA8-718DBB087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CRUD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96D27-06A6-4017-B2D3-208F42ABF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B09426-16C0-4DC0-B79D-9172E4D03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E15848-565B-476F-AA32-DBA6987CD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15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90D054-3E2C-4A3C-BB0D-7F14041595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79442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3B9E0-A66D-4B98-AA60-71F72344C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CRUD-applicaties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40EB2-2B77-4775-9AF0-0E7418D36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163" y="2077522"/>
            <a:ext cx="9281274" cy="362518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Veel Business Applications bestaan uit </a:t>
            </a:r>
            <a:r>
              <a:rPr lang="nl-BE" b="1" dirty="0">
                <a:solidFill>
                  <a:schemeClr val="accent6"/>
                </a:solidFill>
              </a:rPr>
              <a:t>CRUD</a:t>
            </a:r>
            <a:r>
              <a:rPr lang="nl-BE" dirty="0"/>
              <a:t>-operaties: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b="1" dirty="0" err="1">
                <a:solidFill>
                  <a:schemeClr val="accent6"/>
                </a:solidFill>
              </a:rPr>
              <a:t>C</a:t>
            </a:r>
            <a:r>
              <a:rPr lang="nl-BE" sz="2400" dirty="0" err="1"/>
              <a:t>reate</a:t>
            </a:r>
            <a:r>
              <a:rPr lang="nl-BE" sz="2400" dirty="0"/>
              <a:t> (entiteiten aanmaken)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b="1" dirty="0">
                <a:solidFill>
                  <a:schemeClr val="accent6"/>
                </a:solidFill>
              </a:rPr>
              <a:t>R</a:t>
            </a:r>
            <a:r>
              <a:rPr lang="nl-BE" sz="2400" dirty="0"/>
              <a:t>ead (entiteiten weergeven, overzicht en/of detail)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b="1" dirty="0">
                <a:solidFill>
                  <a:schemeClr val="accent6"/>
                </a:solidFill>
              </a:rPr>
              <a:t>U</a:t>
            </a:r>
            <a:r>
              <a:rPr lang="nl-BE" sz="2400" dirty="0"/>
              <a:t>pdate (entiteiten wijzigen)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b="1" dirty="0">
                <a:solidFill>
                  <a:schemeClr val="accent6"/>
                </a:solidFill>
              </a:rPr>
              <a:t>D</a:t>
            </a:r>
            <a:r>
              <a:rPr lang="nl-BE" sz="2400" dirty="0"/>
              <a:t>elete (entiteiten verwijderen)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ADD9A4-657C-4618-9D70-D8D7484DC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035E16-2BE4-4FDE-8110-A019523CD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0909172-A932-40E8-B39A-C15C7AB451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51725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707DE-D844-4C4B-B798-CF6C6258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CRUD-applicaties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2E1775-9BDC-4328-86B4-DCFE3B51E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CFF0E-65EB-4337-8B33-4BAF97E62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91026B-3391-46A1-98CB-2F4FB36AF2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FB795F-94E7-4C42-B891-9702C6181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0" y="3179085"/>
            <a:ext cx="7512321" cy="22484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1863DC-F687-4FB8-867C-B5692965174A}"/>
              </a:ext>
            </a:extLst>
          </p:cNvPr>
          <p:cNvSpPr txBox="1"/>
          <p:nvPr/>
        </p:nvSpPr>
        <p:spPr>
          <a:xfrm>
            <a:off x="410178" y="1296000"/>
            <a:ext cx="943191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i="1" dirty="0"/>
              <a:t>Uitleg aan de hand van </a:t>
            </a:r>
            <a:r>
              <a:rPr lang="nl-BE" sz="2400" i="1" dirty="0" err="1"/>
              <a:t>use</a:t>
            </a:r>
            <a:r>
              <a:rPr lang="nl-BE" sz="2400" i="1" dirty="0"/>
              <a:t> case: studenten-registratie applicatie</a:t>
            </a:r>
          </a:p>
          <a:p>
            <a:pPr lvl="2"/>
            <a:r>
              <a:rPr lang="nl-BE" sz="2000" i="1" dirty="0"/>
              <a:t>Code vind je terug op Toledo</a:t>
            </a:r>
          </a:p>
          <a:p>
            <a:endParaRPr lang="nl-B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B748E9-85C9-4284-B546-C2B9DABBC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133" y="2868018"/>
            <a:ext cx="2790442" cy="292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358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C6FC9-1258-4FDA-A11D-6D768209B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CRUD-applicaties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731C-2047-40E7-8ABF-59D47AA11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0" y="1532118"/>
            <a:ext cx="10769941" cy="371830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Index: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Vaak overzicht (lijst met alle entiteiten)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Weergave van titels via HTML-helper </a:t>
            </a:r>
            <a:r>
              <a:rPr lang="nl-BE" sz="2000" dirty="0">
                <a:latin typeface="Consolas" panose="020B0609020204030204" pitchFamily="49" charset="0"/>
              </a:rPr>
              <a:t>@</a:t>
            </a:r>
            <a:r>
              <a:rPr lang="nl-BE" sz="2000" dirty="0" err="1">
                <a:latin typeface="Consolas" panose="020B0609020204030204" pitchFamily="49" charset="0"/>
              </a:rPr>
              <a:t>Html.DisplayNameFor</a:t>
            </a:r>
            <a:r>
              <a:rPr lang="nl-BE" sz="2000" dirty="0">
                <a:latin typeface="Consolas" panose="020B0609020204030204" pitchFamily="49" charset="0"/>
              </a:rPr>
              <a:t>(...)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Weergave van waarde van property kan via HTML-helper </a:t>
            </a:r>
            <a:r>
              <a:rPr lang="nl-BE" sz="2000" dirty="0">
                <a:latin typeface="Consolas" panose="020B0609020204030204" pitchFamily="49" charset="0"/>
              </a:rPr>
              <a:t>@</a:t>
            </a:r>
            <a:r>
              <a:rPr lang="nl-BE" sz="2000" dirty="0" err="1">
                <a:latin typeface="Consolas" panose="020B0609020204030204" pitchFamily="49" charset="0"/>
              </a:rPr>
              <a:t>Html.DisplayFor</a:t>
            </a:r>
            <a:r>
              <a:rPr lang="nl-BE" sz="2000" dirty="0">
                <a:latin typeface="Consolas" panose="020B0609020204030204" pitchFamily="49" charset="0"/>
              </a:rPr>
              <a:t>(...)</a:t>
            </a:r>
            <a:r>
              <a:rPr lang="nl-BE" sz="2400" dirty="0"/>
              <a:t> of rechtstreeks via Model-property (bv.: </a:t>
            </a:r>
            <a:r>
              <a:rPr lang="nl-BE" sz="2000" dirty="0">
                <a:latin typeface="Consolas" panose="020B0609020204030204" pitchFamily="49" charset="0"/>
              </a:rPr>
              <a:t>@</a:t>
            </a:r>
            <a:r>
              <a:rPr lang="nl-BE" sz="2000" dirty="0" err="1">
                <a:latin typeface="Consolas" panose="020B0609020204030204" pitchFamily="49" charset="0"/>
              </a:rPr>
              <a:t>Model.FirstName</a:t>
            </a:r>
            <a:r>
              <a:rPr lang="nl-BE" sz="2400" dirty="0"/>
              <a:t>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Link naar andere Actions </a:t>
            </a:r>
            <a:r>
              <a:rPr lang="nl-BE" sz="2400" dirty="0">
                <a:sym typeface="Wingdings" panose="05000000000000000000" pitchFamily="2" charset="2"/>
              </a:rPr>
              <a:t></a:t>
            </a:r>
            <a:r>
              <a:rPr lang="nl-BE" sz="2400" dirty="0"/>
              <a:t> URL samenstellen m.b.v. tag-helpers</a:t>
            </a:r>
          </a:p>
          <a:p>
            <a:pPr marL="1177200" lvl="2" indent="-457200">
              <a:buFont typeface="Arial" panose="020B0604020202020204" pitchFamily="34" charset="0"/>
              <a:buChar char="•"/>
            </a:pPr>
            <a:r>
              <a:rPr lang="nl-BE" sz="2000" dirty="0" err="1">
                <a:latin typeface="Consolas" panose="020B0609020204030204" pitchFamily="49" charset="0"/>
              </a:rPr>
              <a:t>asp</a:t>
            </a:r>
            <a:r>
              <a:rPr lang="nl-BE" sz="2000" dirty="0">
                <a:latin typeface="Consolas" panose="020B0609020204030204" pitchFamily="49" charset="0"/>
              </a:rPr>
              <a:t>-controller</a:t>
            </a:r>
            <a:r>
              <a:rPr lang="nl-BE" sz="2400" dirty="0"/>
              <a:t> + </a:t>
            </a:r>
            <a:r>
              <a:rPr lang="nl-BE" sz="2000" dirty="0" err="1">
                <a:latin typeface="Consolas" panose="020B0609020204030204" pitchFamily="49" charset="0"/>
              </a:rPr>
              <a:t>asp</a:t>
            </a:r>
            <a:r>
              <a:rPr lang="nl-BE" sz="2000" dirty="0">
                <a:latin typeface="Consolas" panose="020B0609020204030204" pitchFamily="49" charset="0"/>
              </a:rPr>
              <a:t>-action</a:t>
            </a:r>
            <a:r>
              <a:rPr lang="nl-BE" sz="2400" dirty="0"/>
              <a:t> bepalen route</a:t>
            </a:r>
          </a:p>
          <a:p>
            <a:pPr marL="1177200" lvl="2" indent="-457200">
              <a:buFont typeface="Arial" panose="020B0604020202020204" pitchFamily="34" charset="0"/>
              <a:buChar char="•"/>
            </a:pPr>
            <a:r>
              <a:rPr lang="nl-BE" sz="2400" dirty="0"/>
              <a:t>Extra parameter(s) via </a:t>
            </a:r>
            <a:r>
              <a:rPr lang="nl-BE" sz="2000" dirty="0" err="1">
                <a:latin typeface="Consolas" panose="020B0609020204030204" pitchFamily="49" charset="0"/>
              </a:rPr>
              <a:t>asp</a:t>
            </a:r>
            <a:r>
              <a:rPr lang="nl-BE" sz="2000" dirty="0">
                <a:latin typeface="Consolas" panose="020B0609020204030204" pitchFamily="49" charset="0"/>
              </a:rPr>
              <a:t>-route-</a:t>
            </a:r>
            <a:r>
              <a:rPr lang="nl-BE" sz="2000" i="1" dirty="0">
                <a:latin typeface="Consolas" panose="020B0609020204030204" pitchFamily="49" charset="0"/>
              </a:rPr>
              <a:t>{naam parameter}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E04D9-F4F0-495B-B69A-D856F5C9C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4B949F-9930-4848-A379-864AC6174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DF3344D-CDA8-4878-B2FC-75C4C0B5D8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B0DEC0-4851-4848-914E-F75CACE2D9A9}"/>
              </a:ext>
            </a:extLst>
          </p:cNvPr>
          <p:cNvSpPr txBox="1"/>
          <p:nvPr/>
        </p:nvSpPr>
        <p:spPr>
          <a:xfrm>
            <a:off x="1356852" y="5250426"/>
            <a:ext cx="9065342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40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asp</a:t>
            </a:r>
            <a:r>
              <a:rPr lang="nl-BE" sz="1400" b="1" dirty="0">
                <a:solidFill>
                  <a:srgbClr val="800080"/>
                </a:solidFill>
                <a:latin typeface="Consolas" panose="020B0609020204030204" pitchFamily="49" charset="0"/>
              </a:rPr>
              <a:t>-controller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="Student"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asp</a:t>
            </a:r>
            <a:r>
              <a:rPr lang="nl-BE" sz="1400" b="1" dirty="0">
                <a:solidFill>
                  <a:srgbClr val="800080"/>
                </a:solidFill>
                <a:latin typeface="Consolas" panose="020B0609020204030204" pitchFamily="49" charset="0"/>
              </a:rPr>
              <a:t>-action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="Details"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asp</a:t>
            </a:r>
            <a:r>
              <a:rPr lang="nl-BE" sz="1400" b="1" dirty="0">
                <a:solidFill>
                  <a:srgbClr val="800080"/>
                </a:solidFill>
                <a:latin typeface="Consolas" panose="020B0609020204030204" pitchFamily="49" charset="0"/>
              </a:rPr>
              <a:t>-route-</a:t>
            </a:r>
            <a:r>
              <a:rPr lang="nl-BE" sz="14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id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nl-BE" sz="1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student.ID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Details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40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400" dirty="0"/>
          </a:p>
        </p:txBody>
      </p:sp>
    </p:spTree>
    <p:extLst>
      <p:ext uri="{BB962C8B-B14F-4D97-AF65-F5344CB8AC3E}">
        <p14:creationId xmlns:p14="http://schemas.microsoft.com/office/powerpoint/2010/main" val="425820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95E77-A6D3-47B7-B7DD-D28D7E461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CRUD-applicaties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35310-E17E-4F72-97EA-C8F65C576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3468373"/>
            <a:ext cx="9065342" cy="224759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Indien andere namen gebruik in routing-template: andere naam in </a:t>
            </a:r>
            <a:r>
              <a:rPr lang="nl-BE" sz="2400" dirty="0" err="1"/>
              <a:t>asp</a:t>
            </a:r>
            <a:r>
              <a:rPr lang="nl-BE" sz="2400" dirty="0"/>
              <a:t>-route-... –attribuut mogelijk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083A2F-F5D1-444C-B703-70F3175AD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41D2A9-4256-44E5-83D3-0E9378B85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3F21BC2-48C9-47C0-8253-1B65F51DEF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8B9C5A-6DCD-4B7F-B87B-BFD3BF8A2D21}"/>
              </a:ext>
            </a:extLst>
          </p:cNvPr>
          <p:cNvSpPr txBox="1"/>
          <p:nvPr/>
        </p:nvSpPr>
        <p:spPr>
          <a:xfrm>
            <a:off x="443375" y="1426972"/>
            <a:ext cx="9065342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40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asp</a:t>
            </a:r>
            <a:r>
              <a:rPr lang="nl-BE" sz="1400" b="1" dirty="0">
                <a:solidFill>
                  <a:srgbClr val="800080"/>
                </a:solidFill>
                <a:latin typeface="Consolas" panose="020B0609020204030204" pitchFamily="49" charset="0"/>
              </a:rPr>
              <a:t>-controller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="Student"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asp</a:t>
            </a:r>
            <a:r>
              <a:rPr lang="nl-BE" sz="1400" b="1" dirty="0">
                <a:solidFill>
                  <a:srgbClr val="800080"/>
                </a:solidFill>
                <a:latin typeface="Consolas" panose="020B0609020204030204" pitchFamily="49" charset="0"/>
              </a:rPr>
              <a:t>-action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="Details"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asp</a:t>
            </a:r>
            <a:r>
              <a:rPr lang="nl-BE" sz="1400" b="1" dirty="0">
                <a:solidFill>
                  <a:srgbClr val="800080"/>
                </a:solidFill>
                <a:latin typeface="Consolas" panose="020B0609020204030204" pitchFamily="49" charset="0"/>
              </a:rPr>
              <a:t>-route-</a:t>
            </a:r>
            <a:r>
              <a:rPr lang="nl-BE" sz="1400" b="1" dirty="0" err="1">
                <a:solidFill>
                  <a:srgbClr val="800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id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@student.ID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Details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40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CCCD42A-3CBB-4F14-8D3D-33D7C3F5B5C1}"/>
              </a:ext>
            </a:extLst>
          </p:cNvPr>
          <p:cNvCxnSpPr/>
          <p:nvPr/>
        </p:nvCxnSpPr>
        <p:spPr>
          <a:xfrm flipV="1">
            <a:off x="6420465" y="1733679"/>
            <a:ext cx="0" cy="37042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974FFB7-3D85-45A2-86A4-858B121886D4}"/>
              </a:ext>
            </a:extLst>
          </p:cNvPr>
          <p:cNvSpPr txBox="1"/>
          <p:nvPr/>
        </p:nvSpPr>
        <p:spPr>
          <a:xfrm>
            <a:off x="4522840" y="2114305"/>
            <a:ext cx="4621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 err="1"/>
              <a:t>id</a:t>
            </a:r>
            <a:r>
              <a:rPr lang="nl-BE" dirty="0"/>
              <a:t> is naam van parameter in routing-template</a:t>
            </a:r>
          </a:p>
          <a:p>
            <a:endParaRPr lang="nl-B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CD01E8-2E25-4307-9400-14DF2DA85B7C}"/>
              </a:ext>
            </a:extLst>
          </p:cNvPr>
          <p:cNvSpPr txBox="1"/>
          <p:nvPr/>
        </p:nvSpPr>
        <p:spPr>
          <a:xfrm>
            <a:off x="4424517" y="2432284"/>
            <a:ext cx="48178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dirty="0">
                <a:latin typeface="Consolas" panose="020B0609020204030204" pitchFamily="49" charset="0"/>
              </a:rPr>
              <a:t>{controller=Student}/{action=Index}/{</a:t>
            </a:r>
            <a:r>
              <a:rPr lang="nl-BE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id</a:t>
            </a:r>
            <a:r>
              <a:rPr lang="nl-BE" sz="1600" dirty="0">
                <a:latin typeface="Consolas" panose="020B0609020204030204" pitchFamily="49" charset="0"/>
              </a:rPr>
              <a:t>?}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AE5A08-7D5D-49F0-BD23-707BD8A36229}"/>
              </a:ext>
            </a:extLst>
          </p:cNvPr>
          <p:cNvSpPr txBox="1"/>
          <p:nvPr/>
        </p:nvSpPr>
        <p:spPr>
          <a:xfrm>
            <a:off x="678291" y="4296880"/>
            <a:ext cx="64106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/>
              <a:t>Voorbeeld: </a:t>
            </a:r>
          </a:p>
          <a:p>
            <a:r>
              <a:rPr lang="nl-BE" dirty="0">
                <a:latin typeface="Consolas" panose="020B0609020204030204" pitchFamily="49" charset="0"/>
              </a:rPr>
              <a:t>	routing-</a:t>
            </a:r>
            <a:r>
              <a:rPr lang="nl-BE" dirty="0" err="1">
                <a:latin typeface="Consolas" panose="020B0609020204030204" pitchFamily="49" charset="0"/>
              </a:rPr>
              <a:t>pattern</a:t>
            </a:r>
            <a:r>
              <a:rPr lang="nl-BE" dirty="0">
                <a:latin typeface="Consolas" panose="020B0609020204030204" pitchFamily="49" charset="0"/>
              </a:rPr>
              <a:t>: </a:t>
            </a:r>
            <a:r>
              <a:rPr lang="nl-BE" dirty="0" err="1">
                <a:latin typeface="Consolas" panose="020B0609020204030204" pitchFamily="49" charset="0"/>
              </a:rPr>
              <a:t>Convert</a:t>
            </a:r>
            <a:r>
              <a:rPr lang="nl-BE" dirty="0">
                <a:latin typeface="Consolas" panose="020B0609020204030204" pitchFamily="49" charset="0"/>
              </a:rPr>
              <a:t>/</a:t>
            </a:r>
            <a:r>
              <a:rPr lang="nl-BE" dirty="0"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  <a:r>
              <a:rPr lang="nl-BE" dirty="0" err="1">
                <a:highlight>
                  <a:srgbClr val="FFFF00"/>
                </a:highlight>
                <a:latin typeface="Consolas" panose="020B0609020204030204" pitchFamily="49" charset="0"/>
              </a:rPr>
              <a:t>from</a:t>
            </a:r>
            <a:r>
              <a:rPr lang="nl-BE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r>
              <a:rPr lang="nl-BE" dirty="0">
                <a:latin typeface="Consolas" panose="020B0609020204030204" pitchFamily="49" charset="0"/>
              </a:rPr>
              <a:t>-</a:t>
            </a:r>
            <a:r>
              <a:rPr lang="nl-BE" dirty="0">
                <a:highlight>
                  <a:srgbClr val="00FF00"/>
                </a:highlight>
                <a:latin typeface="Consolas" panose="020B0609020204030204" pitchFamily="49" charset="0"/>
              </a:rPr>
              <a:t>{</a:t>
            </a:r>
            <a:r>
              <a:rPr lang="nl-BE" dirty="0" err="1">
                <a:highlight>
                  <a:srgbClr val="00FF00"/>
                </a:highlight>
                <a:latin typeface="Consolas" panose="020B0609020204030204" pitchFamily="49" charset="0"/>
              </a:rPr>
              <a:t>to</a:t>
            </a:r>
            <a:r>
              <a:rPr lang="nl-BE" dirty="0">
                <a:highlight>
                  <a:srgbClr val="00FF00"/>
                </a:highlight>
                <a:latin typeface="Consolas" panose="020B0609020204030204" pitchFamily="49" charset="0"/>
              </a:rPr>
              <a:t>}</a:t>
            </a:r>
            <a:endParaRPr lang="nl-BE" dirty="0">
              <a:highlight>
                <a:srgbClr val="00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582D8C-34CB-45E2-93DC-4117E745604A}"/>
              </a:ext>
            </a:extLst>
          </p:cNvPr>
          <p:cNvSpPr txBox="1"/>
          <p:nvPr/>
        </p:nvSpPr>
        <p:spPr>
          <a:xfrm>
            <a:off x="678291" y="5337570"/>
            <a:ext cx="9704574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800080"/>
                </a:solidFill>
                <a:latin typeface="Consolas" panose="020B0609020204030204" pitchFamily="49" charset="0"/>
              </a:rPr>
              <a:t>asp-action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="Convert"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800080"/>
                </a:solidFill>
                <a:latin typeface="Consolas" panose="020B0609020204030204" pitchFamily="49" charset="0"/>
              </a:rPr>
              <a:t>asp-controller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="Currency"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800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asp-route-from</a:t>
            </a:r>
            <a:r>
              <a:rPr lang="en-US" sz="1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="USD"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80008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asp-route-to</a:t>
            </a:r>
            <a:r>
              <a:rPr lang="en-US" sz="140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="EUR"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988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EE818-3EB2-48CF-8F64-0BF3B463D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CRUD-applicaties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2B40F-B161-453C-95F2-171F4CDA3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1" y="1693781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Indien voor genereren van URL specifieke routing-template gebruikt moet worden, kan dit aangegeven worden </a:t>
            </a:r>
            <a:r>
              <a:rPr lang="nl-BE" sz="2400" dirty="0" err="1"/>
              <a:t>mbv</a:t>
            </a:r>
            <a:r>
              <a:rPr lang="nl-BE" sz="2400" dirty="0"/>
              <a:t> het </a:t>
            </a:r>
            <a:r>
              <a:rPr lang="nl-BE" sz="2000" dirty="0" err="1">
                <a:latin typeface="Consolas" panose="020B0609020204030204" pitchFamily="49" charset="0"/>
              </a:rPr>
              <a:t>asp</a:t>
            </a:r>
            <a:r>
              <a:rPr lang="nl-BE" sz="2000" dirty="0">
                <a:latin typeface="Consolas" panose="020B0609020204030204" pitchFamily="49" charset="0"/>
              </a:rPr>
              <a:t>-route</a:t>
            </a:r>
            <a:r>
              <a:rPr lang="nl-BE" sz="2400" dirty="0"/>
              <a:t>-attribuut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A70616-C024-4122-A417-0A940EC63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170FA-FCF7-4696-AF9E-E9A7F121E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4BD672-5AB2-49C5-99EE-273E9AF221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D0070F-52A9-4D99-80FA-83287503CF9B}"/>
              </a:ext>
            </a:extLst>
          </p:cNvPr>
          <p:cNvSpPr txBox="1"/>
          <p:nvPr/>
        </p:nvSpPr>
        <p:spPr>
          <a:xfrm>
            <a:off x="1185710" y="2660655"/>
            <a:ext cx="7580671" cy="156966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</a:t>
            </a:r>
            <a:r>
              <a:rPr lang="nl-BE" sz="12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MapControllerRoute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name: </a:t>
            </a:r>
            <a:r>
              <a:rPr lang="nl-BE" sz="1200" dirty="0">
                <a:solidFill>
                  <a:srgbClr val="A31515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"</a:t>
            </a:r>
            <a:r>
              <a:rPr lang="nl-BE" sz="1200" dirty="0" err="1">
                <a:solidFill>
                  <a:srgbClr val="A31515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curr_conversion</a:t>
            </a:r>
            <a:r>
              <a:rPr lang="nl-BE" sz="1200" dirty="0">
                <a:solidFill>
                  <a:srgbClr val="A31515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"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pattern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nl-BE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nl-BE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Convert</a:t>
            </a:r>
            <a:r>
              <a:rPr lang="nl-BE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/{</a:t>
            </a:r>
            <a:r>
              <a:rPr lang="nl-BE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from</a:t>
            </a:r>
            <a:r>
              <a:rPr lang="nl-BE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}-{</a:t>
            </a:r>
            <a:r>
              <a:rPr lang="nl-BE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to</a:t>
            </a:r>
            <a:r>
              <a:rPr lang="nl-BE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}"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defaults: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{ controller = 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"Currency"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action = 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"Convert"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});</a:t>
            </a: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</a:t>
            </a:r>
            <a:r>
              <a:rPr lang="nl-BE" sz="12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MapControllerRoute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name: </a:t>
            </a:r>
            <a:r>
              <a:rPr lang="nl-BE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"default"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pattern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nl-BE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"{controller=Student}/{action=Index}/{</a:t>
            </a:r>
            <a:r>
              <a:rPr lang="nl-BE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id</a:t>
            </a:r>
            <a:r>
              <a:rPr lang="nl-BE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?}"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nl-BE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89F2FD-CFA3-469B-AC62-CCC33CE8CB35}"/>
              </a:ext>
            </a:extLst>
          </p:cNvPr>
          <p:cNvSpPr txBox="1"/>
          <p:nvPr/>
        </p:nvSpPr>
        <p:spPr>
          <a:xfrm>
            <a:off x="1185710" y="5380192"/>
            <a:ext cx="7580671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800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asp-route</a:t>
            </a:r>
            <a:r>
              <a:rPr lang="en-US" sz="1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curr_conversion</a:t>
            </a:r>
            <a:r>
              <a:rPr lang="en-US" sz="1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800080"/>
                </a:solidFill>
                <a:latin typeface="Consolas" panose="020B0609020204030204" pitchFamily="49" charset="0"/>
              </a:rPr>
              <a:t>asp-route-from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="USD"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800080"/>
                </a:solidFill>
                <a:latin typeface="Consolas" panose="020B0609020204030204" pitchFamily="49" charset="0"/>
              </a:rPr>
              <a:t>asp-route-to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="EUR"&gt;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5446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99666-C88B-4954-8DBB-CA5F1B63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CRUD-applicaties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48EC4-393D-4960-8ABE-9234BBD9A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178" y="1388981"/>
            <a:ext cx="9281274" cy="195398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Details: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Parameter (</a:t>
            </a:r>
            <a:r>
              <a:rPr lang="nl-BE" sz="2000" dirty="0" err="1"/>
              <a:t>id</a:t>
            </a:r>
            <a:r>
              <a:rPr lang="nl-BE" sz="2000" dirty="0"/>
              <a:t>) van entiteit om weer te geven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Wordt doorgegeven via routing-</a:t>
            </a:r>
            <a:r>
              <a:rPr lang="nl-BE" sz="2000" dirty="0" err="1"/>
              <a:t>value</a:t>
            </a:r>
            <a:endParaRPr lang="nl-BE" sz="20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URL gegenereerd in &lt;a&gt; via tag-helpers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8A52B0-C24B-4805-A207-3AD9D60E8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84B7D4-5A00-4499-8FE3-7EAF19546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EC92F10-21F4-46BB-893D-FAA42FE5CB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2CCA47-98DB-46B2-8EAF-B3F7D5BEEF7C}"/>
              </a:ext>
            </a:extLst>
          </p:cNvPr>
          <p:cNvSpPr txBox="1"/>
          <p:nvPr/>
        </p:nvSpPr>
        <p:spPr>
          <a:xfrm>
            <a:off x="2630296" y="4957595"/>
            <a:ext cx="5683213" cy="95410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Details(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id) 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400" dirty="0">
                <a:solidFill>
                  <a:srgbClr val="4F8291"/>
                </a:solidFill>
                <a:latin typeface="Consolas" panose="020B0609020204030204" pitchFamily="49" charset="0"/>
              </a:rPr>
              <a:t>Student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student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StudentRepository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l-BE" sz="1400" dirty="0" err="1">
                <a:solidFill>
                  <a:srgbClr val="74561F"/>
                </a:solidFill>
                <a:latin typeface="Consolas" panose="020B0609020204030204" pitchFamily="49" charset="0"/>
              </a:rPr>
              <a:t>GetById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id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(student);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715D30-A45C-4290-AAAB-6CB027AE0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978" y="4020969"/>
            <a:ext cx="5203027" cy="365125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4EB43EAC-1FCF-48B4-9F08-5914820DB67B}"/>
              </a:ext>
            </a:extLst>
          </p:cNvPr>
          <p:cNvSpPr/>
          <p:nvPr/>
        </p:nvSpPr>
        <p:spPr>
          <a:xfrm>
            <a:off x="5320594" y="3581601"/>
            <a:ext cx="363794" cy="446224"/>
          </a:xfrm>
          <a:prstGeom prst="downArrow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8520-84BF-4B15-BFD2-FB2A34C44F61}"/>
              </a:ext>
            </a:extLst>
          </p:cNvPr>
          <p:cNvSpPr txBox="1"/>
          <p:nvPr/>
        </p:nvSpPr>
        <p:spPr>
          <a:xfrm>
            <a:off x="1239788" y="3190566"/>
            <a:ext cx="8830206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40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asp</a:t>
            </a:r>
            <a:r>
              <a:rPr lang="nl-BE" sz="1400" b="1" dirty="0">
                <a:solidFill>
                  <a:srgbClr val="800080"/>
                </a:solidFill>
                <a:latin typeface="Consolas" panose="020B0609020204030204" pitchFamily="49" charset="0"/>
              </a:rPr>
              <a:t>-controller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="Student"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asp</a:t>
            </a:r>
            <a:r>
              <a:rPr lang="nl-BE" sz="1400" b="1" dirty="0">
                <a:solidFill>
                  <a:srgbClr val="800080"/>
                </a:solidFill>
                <a:latin typeface="Consolas" panose="020B0609020204030204" pitchFamily="49" charset="0"/>
              </a:rPr>
              <a:t>-action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="Details"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asp</a:t>
            </a:r>
            <a:r>
              <a:rPr lang="nl-BE" sz="1400" b="1" dirty="0">
                <a:solidFill>
                  <a:srgbClr val="800080"/>
                </a:solidFill>
                <a:latin typeface="Consolas" panose="020B0609020204030204" pitchFamily="49" charset="0"/>
              </a:rPr>
              <a:t>-route-</a:t>
            </a:r>
            <a:r>
              <a:rPr lang="nl-BE" sz="14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id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nl-BE" sz="1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student.ID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Details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40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400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2A0150D3-F556-4C66-85AF-8CACB6749111}"/>
              </a:ext>
            </a:extLst>
          </p:cNvPr>
          <p:cNvSpPr/>
          <p:nvPr/>
        </p:nvSpPr>
        <p:spPr>
          <a:xfrm>
            <a:off x="5290006" y="4425981"/>
            <a:ext cx="363794" cy="446224"/>
          </a:xfrm>
          <a:prstGeom prst="downArrow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9541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CE391-E3FF-42EF-B876-DA9E1178D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CRUD-applicaties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15212-599A-46CE-A0A2-B57FE15A2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1" y="1590453"/>
            <a:ext cx="9281274" cy="292738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Details: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b="1" dirty="0"/>
              <a:t>Naam</a:t>
            </a:r>
            <a:r>
              <a:rPr lang="nl-BE" sz="2000" dirty="0"/>
              <a:t> van property weergegeven via </a:t>
            </a:r>
            <a:r>
              <a:rPr lang="nl-BE" sz="1800" dirty="0">
                <a:latin typeface="Consolas" panose="020B0609020204030204" pitchFamily="49" charset="0"/>
              </a:rPr>
              <a:t>@</a:t>
            </a:r>
            <a:r>
              <a:rPr lang="nl-BE" sz="1800" dirty="0" err="1">
                <a:latin typeface="Consolas" panose="020B0609020204030204" pitchFamily="49" charset="0"/>
              </a:rPr>
              <a:t>Html.DisplayNameFor</a:t>
            </a:r>
            <a:r>
              <a:rPr lang="nl-BE" sz="1800" dirty="0">
                <a:latin typeface="Consolas" panose="020B0609020204030204" pitchFamily="49" charset="0"/>
              </a:rPr>
              <a:t>(...)</a:t>
            </a:r>
            <a:endParaRPr lang="nl-BE" sz="2000" dirty="0">
              <a:latin typeface="Consolas" panose="020B0609020204030204" pitchFamily="49" charset="0"/>
            </a:endParaRPr>
          </a:p>
          <a:p>
            <a:pPr marL="1177200" lvl="2" indent="-457200">
              <a:buFont typeface="Arial" panose="020B0604020202020204" pitchFamily="34" charset="0"/>
              <a:buChar char="•"/>
            </a:pPr>
            <a:r>
              <a:rPr lang="nl-BE" sz="2000" dirty="0"/>
              <a:t>HTML-helper</a:t>
            </a:r>
          </a:p>
          <a:p>
            <a:pPr marL="1177200" lvl="2" indent="-457200">
              <a:buFont typeface="Arial" panose="020B0604020202020204" pitchFamily="34" charset="0"/>
              <a:buChar char="•"/>
            </a:pPr>
            <a:r>
              <a:rPr lang="nl-BE" sz="2000" dirty="0"/>
              <a:t>Standaard: naam van property in model-klasse</a:t>
            </a:r>
          </a:p>
          <a:p>
            <a:pPr marL="1177200" lvl="2" indent="-457200">
              <a:buFont typeface="Arial" panose="020B0604020202020204" pitchFamily="34" charset="0"/>
              <a:buChar char="•"/>
            </a:pPr>
            <a:r>
              <a:rPr lang="nl-BE" sz="2000" dirty="0"/>
              <a:t>Kan overschreven worden via </a:t>
            </a:r>
            <a:r>
              <a:rPr lang="nl-BE" sz="1800" dirty="0">
                <a:latin typeface="Consolas" panose="020B0609020204030204" pitchFamily="49" charset="0"/>
              </a:rPr>
              <a:t>[Display(Name=“...”)]</a:t>
            </a:r>
            <a:r>
              <a:rPr lang="nl-BE" sz="2000" dirty="0"/>
              <a:t>-attribuut op property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b="1" dirty="0"/>
              <a:t>Waarde</a:t>
            </a:r>
            <a:r>
              <a:rPr lang="nl-BE" sz="2000" dirty="0"/>
              <a:t> van property weergegeven via </a:t>
            </a:r>
            <a:r>
              <a:rPr lang="nl-BE" sz="1800" dirty="0">
                <a:latin typeface="Consolas" panose="020B0609020204030204" pitchFamily="49" charset="0"/>
              </a:rPr>
              <a:t>@</a:t>
            </a:r>
            <a:r>
              <a:rPr lang="nl-BE" sz="1800" dirty="0" err="1">
                <a:latin typeface="Consolas" panose="020B0609020204030204" pitchFamily="49" charset="0"/>
              </a:rPr>
              <a:t>Html.DisplayFor</a:t>
            </a:r>
            <a:r>
              <a:rPr lang="nl-BE" sz="1800" dirty="0">
                <a:latin typeface="Consolas" panose="020B0609020204030204" pitchFamily="49" charset="0"/>
              </a:rPr>
              <a:t>(...)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1800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4CF8F4-65AD-4541-9051-87FA6274D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E6D7A7-308F-4B1F-B873-EBF5EF0C2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B322DED-EDD0-4A55-9718-8023186A28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ED4AB6-1BE2-4EDE-82FE-674F81D02D94}"/>
              </a:ext>
            </a:extLst>
          </p:cNvPr>
          <p:cNvSpPr txBox="1"/>
          <p:nvPr/>
        </p:nvSpPr>
        <p:spPr>
          <a:xfrm>
            <a:off x="1638180" y="4119790"/>
            <a:ext cx="7649496" cy="138499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400" dirty="0" err="1">
                <a:solidFill>
                  <a:srgbClr val="800000"/>
                </a:solidFill>
                <a:latin typeface="Consolas" panose="020B0609020204030204" pitchFamily="49" charset="0"/>
              </a:rPr>
              <a:t>dt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="col-sm-2"&gt;</a:t>
            </a:r>
            <a:endParaRPr lang="nl-BE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Html.DisplayNameFor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(model =&gt;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model.FirstName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400" dirty="0" err="1">
                <a:solidFill>
                  <a:srgbClr val="800000"/>
                </a:solidFill>
                <a:latin typeface="Consolas" panose="020B0609020204030204" pitchFamily="49" charset="0"/>
              </a:rPr>
              <a:t>dt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400" dirty="0" err="1">
                <a:solidFill>
                  <a:srgbClr val="800000"/>
                </a:solidFill>
                <a:latin typeface="Consolas" panose="020B0609020204030204" pitchFamily="49" charset="0"/>
              </a:rPr>
              <a:t>dd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="col-sm-10"&gt;</a:t>
            </a:r>
            <a:endParaRPr lang="nl-BE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Html.DisplayFor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(model =&gt;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model.FirstName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400" dirty="0" err="1">
                <a:solidFill>
                  <a:srgbClr val="800000"/>
                </a:solidFill>
                <a:latin typeface="Consolas" panose="020B0609020204030204" pitchFamily="49" charset="0"/>
              </a:rPr>
              <a:t>dd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400" dirty="0"/>
          </a:p>
        </p:txBody>
      </p:sp>
    </p:spTree>
    <p:extLst>
      <p:ext uri="{BB962C8B-B14F-4D97-AF65-F5344CB8AC3E}">
        <p14:creationId xmlns:p14="http://schemas.microsoft.com/office/powerpoint/2010/main" val="7502099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E6920-4E3E-4C7B-9BA7-62E2409E1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CRUD-applicaties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21CFA-2778-457B-B9BC-5E88FFE8C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974" y="1388980"/>
            <a:ext cx="10851464" cy="262258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 err="1"/>
              <a:t>Edit</a:t>
            </a:r>
            <a:r>
              <a:rPr lang="nl-BE" dirty="0"/>
              <a:t>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Wijzigen verloopt ook in </a:t>
            </a:r>
            <a:r>
              <a:rPr lang="nl-BE" sz="2400" b="1" dirty="0">
                <a:solidFill>
                  <a:schemeClr val="accent6"/>
                </a:solidFill>
              </a:rPr>
              <a:t>twee stappen</a:t>
            </a:r>
            <a:r>
              <a:rPr lang="nl-BE" sz="2400" dirty="0"/>
              <a:t>:</a:t>
            </a:r>
          </a:p>
          <a:p>
            <a:pPr marL="1234350" lvl="2" indent="-514350">
              <a:buFont typeface="+mj-lt"/>
              <a:buAutoNum type="arabicPeriod"/>
            </a:pPr>
            <a:r>
              <a:rPr lang="nl-BE" sz="2000" dirty="0"/>
              <a:t>Opvragen van te wijzigen entiteit (</a:t>
            </a:r>
            <a:r>
              <a:rPr lang="nl-BE" sz="2000" dirty="0" err="1"/>
              <a:t>id</a:t>
            </a:r>
            <a:r>
              <a:rPr lang="nl-BE" sz="2000" dirty="0"/>
              <a:t> via routing-</a:t>
            </a:r>
            <a:r>
              <a:rPr lang="nl-BE" sz="2000" dirty="0" err="1"/>
              <a:t>value</a:t>
            </a:r>
            <a:r>
              <a:rPr lang="nl-BE" sz="2000" dirty="0"/>
              <a:t>) </a:t>
            </a:r>
            <a:r>
              <a:rPr lang="nl-BE" sz="2000" dirty="0">
                <a:sym typeface="Wingdings" panose="05000000000000000000" pitchFamily="2" charset="2"/>
              </a:rPr>
              <a:t> HTTP GET</a:t>
            </a:r>
            <a:endParaRPr lang="nl-BE" sz="2000" dirty="0"/>
          </a:p>
          <a:p>
            <a:pPr marL="1234350" lvl="2" indent="-514350">
              <a:buFont typeface="+mj-lt"/>
              <a:buAutoNum type="arabicPeriod"/>
            </a:pPr>
            <a:r>
              <a:rPr lang="nl-BE" sz="2000" dirty="0"/>
              <a:t>Action-methode om formuliergegevens te ontvangen en te verwerken </a:t>
            </a:r>
            <a:r>
              <a:rPr lang="nl-BE" sz="2000" dirty="0">
                <a:sym typeface="Wingdings" panose="05000000000000000000" pitchFamily="2" charset="2"/>
              </a:rPr>
              <a:t> HTTP POST</a:t>
            </a:r>
            <a:endParaRPr lang="nl-BE" sz="2000" dirty="0"/>
          </a:p>
          <a:p>
            <a:pPr marL="872513" lvl="1" indent="-514350">
              <a:buFont typeface="Arial" panose="020B0604020202020204" pitchFamily="34" charset="0"/>
              <a:buChar char="•"/>
            </a:pPr>
            <a:r>
              <a:rPr lang="nl-BE" sz="2400" dirty="0"/>
              <a:t>Na succesvolle POST: </a:t>
            </a:r>
            <a:r>
              <a:rPr lang="nl-BE" sz="2400" dirty="0" err="1"/>
              <a:t>redirect</a:t>
            </a:r>
            <a:r>
              <a:rPr lang="nl-BE" sz="2400" dirty="0"/>
              <a:t>! </a:t>
            </a:r>
            <a:r>
              <a:rPr lang="nl-BE" sz="2400" b="1" dirty="0">
                <a:solidFill>
                  <a:schemeClr val="accent6"/>
                </a:solidFill>
              </a:rPr>
              <a:t>(POST/REDIRECT/GET)</a:t>
            </a:r>
          </a:p>
          <a:p>
            <a:pPr marL="1234350" lvl="2" indent="-514350">
              <a:buFont typeface="Arial" panose="020B0604020202020204" pitchFamily="34" charset="0"/>
              <a:buChar char="•"/>
            </a:pPr>
            <a:r>
              <a:rPr lang="nl-BE" sz="2000" dirty="0"/>
              <a:t>Mogelijkheid om daarbij </a:t>
            </a:r>
            <a:r>
              <a:rPr lang="nl-BE" sz="2000" b="1" dirty="0"/>
              <a:t>parameters</a:t>
            </a:r>
            <a:r>
              <a:rPr lang="nl-BE" sz="2000" dirty="0"/>
              <a:t> mee te geven: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0D9C7-81C0-479F-B0B3-36920DA0E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CB82B-D20D-4B85-9B72-AB36837AC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EE26D9C-76D1-4E6E-880C-0FB5EBA0B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B08C61-33E2-409A-8F6A-C78E827ACDE4}"/>
              </a:ext>
            </a:extLst>
          </p:cNvPr>
          <p:cNvSpPr txBox="1"/>
          <p:nvPr/>
        </p:nvSpPr>
        <p:spPr>
          <a:xfrm>
            <a:off x="6853084" y="3518495"/>
            <a:ext cx="4961940" cy="26161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74561F"/>
                </a:solidFill>
                <a:latin typeface="Consolas" panose="020B0609020204030204" pitchFamily="49" charset="0"/>
              </a:rPr>
              <a:t>RedirectToAction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"Details"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1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{ id = student.ID }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nl-BE" sz="11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693096-C2CB-4226-9EA1-8DA250D8DD0F}"/>
              </a:ext>
            </a:extLst>
          </p:cNvPr>
          <p:cNvSpPr txBox="1">
            <a:spLocks/>
          </p:cNvSpPr>
          <p:nvPr/>
        </p:nvSpPr>
        <p:spPr>
          <a:xfrm>
            <a:off x="678291" y="4148359"/>
            <a:ext cx="10851464" cy="250021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163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Waarden van te wijzigen entiteit wordt </a:t>
            </a:r>
            <a:r>
              <a:rPr lang="nl-BE" sz="2400" b="1" dirty="0">
                <a:solidFill>
                  <a:schemeClr val="accent6"/>
                </a:solidFill>
              </a:rPr>
              <a:t>automatisch ingevuld (model-binding)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 err="1">
                <a:solidFill>
                  <a:schemeClr val="accent6"/>
                </a:solidFill>
              </a:rPr>
              <a:t>Id</a:t>
            </a:r>
            <a:r>
              <a:rPr lang="nl-BE" sz="2400" dirty="0"/>
              <a:t> van te wijzigen entiteit wordt bij POST-</a:t>
            </a:r>
            <a:r>
              <a:rPr lang="nl-BE" sz="2400" dirty="0" err="1"/>
              <a:t>request</a:t>
            </a:r>
            <a:r>
              <a:rPr lang="nl-BE" sz="2400" dirty="0"/>
              <a:t> </a:t>
            </a:r>
            <a:r>
              <a:rPr lang="nl-BE" sz="2400" b="1" dirty="0">
                <a:solidFill>
                  <a:schemeClr val="accent6"/>
                </a:solidFill>
              </a:rPr>
              <a:t>nergens</a:t>
            </a:r>
            <a:r>
              <a:rPr lang="nl-BE" sz="2400" dirty="0"/>
              <a:t> </a:t>
            </a:r>
            <a:r>
              <a:rPr lang="nl-BE" sz="2400" b="1" dirty="0">
                <a:solidFill>
                  <a:schemeClr val="accent6"/>
                </a:solidFill>
              </a:rPr>
              <a:t>expliciet</a:t>
            </a:r>
            <a:r>
              <a:rPr lang="nl-BE" sz="2400" dirty="0"/>
              <a:t> </a:t>
            </a:r>
            <a:r>
              <a:rPr lang="nl-BE" sz="2400" b="1" dirty="0">
                <a:solidFill>
                  <a:schemeClr val="accent6"/>
                </a:solidFill>
              </a:rPr>
              <a:t>meegestuurd</a:t>
            </a:r>
            <a:r>
              <a:rPr lang="nl-BE" sz="2400" dirty="0"/>
              <a:t> (bv.: niet in formulier), maar is tóch aanwezig in binding-model </a:t>
            </a:r>
            <a:r>
              <a:rPr lang="nl-BE" sz="2400" dirty="0">
                <a:sym typeface="Wingdings" panose="05000000000000000000" pitchFamily="2" charset="2"/>
              </a:rPr>
              <a:t> wordt door model-binder uit route-</a:t>
            </a:r>
            <a:r>
              <a:rPr lang="nl-BE" sz="2400" dirty="0" err="1">
                <a:sym typeface="Wingdings" panose="05000000000000000000" pitchFamily="2" charset="2"/>
              </a:rPr>
              <a:t>value</a:t>
            </a:r>
            <a:r>
              <a:rPr lang="nl-BE" sz="2400" dirty="0">
                <a:sym typeface="Wingdings" panose="05000000000000000000" pitchFamily="2" charset="2"/>
              </a:rPr>
              <a:t> gehaald</a:t>
            </a:r>
            <a:endParaRPr lang="nl-BE" sz="2400" dirty="0"/>
          </a:p>
        </p:txBody>
      </p:sp>
    </p:spTree>
    <p:extLst>
      <p:ext uri="{BB962C8B-B14F-4D97-AF65-F5344CB8AC3E}">
        <p14:creationId xmlns:p14="http://schemas.microsoft.com/office/powerpoint/2010/main" val="276699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8FE27-ED6D-4D5E-91D7-5453AD5B2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CRUD-applicaties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386F9-48C4-4504-B0F2-CEE283E55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1256725"/>
            <a:ext cx="10831799" cy="340916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Delete: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Delete-methode heeft side-</a:t>
            </a:r>
            <a:r>
              <a:rPr lang="nl-BE" sz="2000" dirty="0" err="1"/>
              <a:t>effects</a:t>
            </a:r>
            <a:r>
              <a:rPr lang="nl-BE" sz="2000" dirty="0"/>
              <a:t> </a:t>
            </a:r>
            <a:r>
              <a:rPr lang="nl-BE" sz="2000" dirty="0">
                <a:sym typeface="Wingdings" panose="05000000000000000000" pitchFamily="2" charset="2"/>
              </a:rPr>
              <a:t> </a:t>
            </a:r>
            <a:r>
              <a:rPr lang="nl-BE" sz="2000" b="1" dirty="0">
                <a:solidFill>
                  <a:srgbClr val="C00000"/>
                </a:solidFill>
                <a:sym typeface="Wingdings" panose="05000000000000000000" pitchFamily="2" charset="2"/>
              </a:rPr>
              <a:t>gebruik steeds HTTP-POST</a:t>
            </a:r>
            <a:r>
              <a:rPr lang="nl-BE" sz="2000" dirty="0">
                <a:solidFill>
                  <a:srgbClr val="C00000"/>
                </a:solidFill>
                <a:sym typeface="Wingdings" panose="05000000000000000000" pitchFamily="2" charset="2"/>
              </a:rPr>
              <a:t>!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>
                <a:sym typeface="Wingdings" panose="05000000000000000000" pitchFamily="2" charset="2"/>
              </a:rPr>
              <a:t>Bestaat tevens uit twee stappen:</a:t>
            </a:r>
          </a:p>
          <a:p>
            <a:pPr marL="1177200" lvl="2" indent="-457200">
              <a:buFont typeface="+mj-lt"/>
              <a:buAutoNum type="arabicPeriod"/>
            </a:pPr>
            <a:r>
              <a:rPr lang="nl-BE" sz="2000" dirty="0">
                <a:sym typeface="Wingdings" panose="05000000000000000000" pitchFamily="2" charset="2"/>
              </a:rPr>
              <a:t>HTTP-GET voor bevestiging</a:t>
            </a:r>
          </a:p>
          <a:p>
            <a:pPr marL="1177200" lvl="2" indent="-457200">
              <a:buFont typeface="+mj-lt"/>
              <a:buAutoNum type="arabicPeriod"/>
            </a:pPr>
            <a:r>
              <a:rPr lang="nl-BE" sz="2000" dirty="0">
                <a:sym typeface="Wingdings" panose="05000000000000000000" pitchFamily="2" charset="2"/>
              </a:rPr>
              <a:t>HTTP-POST voor afhandelen van bevestiging van delete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>
                <a:sym typeface="Wingdings" panose="05000000000000000000" pitchFamily="2" charset="2"/>
              </a:rPr>
              <a:t>Beide action-</a:t>
            </a:r>
            <a:r>
              <a:rPr lang="nl-BE" sz="2000" dirty="0" err="1">
                <a:sym typeface="Wingdings" panose="05000000000000000000" pitchFamily="2" charset="2"/>
              </a:rPr>
              <a:t>methods</a:t>
            </a:r>
            <a:r>
              <a:rPr lang="nl-BE" sz="2000" dirty="0">
                <a:sym typeface="Wingdings" panose="05000000000000000000" pitchFamily="2" charset="2"/>
              </a:rPr>
              <a:t> hebben zelfde parameters nodig (nl.: het </a:t>
            </a:r>
            <a:r>
              <a:rPr lang="nl-BE" sz="2000" dirty="0" err="1">
                <a:sym typeface="Wingdings" panose="05000000000000000000" pitchFamily="2" charset="2"/>
              </a:rPr>
              <a:t>id</a:t>
            </a:r>
            <a:r>
              <a:rPr lang="nl-BE" sz="2000" dirty="0">
                <a:sym typeface="Wingdings" panose="05000000000000000000" pitchFamily="2" charset="2"/>
              </a:rPr>
              <a:t> van de te verwijderen entiteit)</a:t>
            </a:r>
            <a:br>
              <a:rPr lang="nl-BE" sz="2000" dirty="0">
                <a:sym typeface="Wingdings" panose="05000000000000000000" pitchFamily="2" charset="2"/>
              </a:rPr>
            </a:br>
            <a:r>
              <a:rPr lang="nl-BE" sz="2000" b="1" dirty="0">
                <a:sym typeface="Wingdings" panose="05000000000000000000" pitchFamily="2" charset="2"/>
              </a:rPr>
              <a:t>MAAR: </a:t>
            </a:r>
            <a:r>
              <a:rPr lang="nl-BE" sz="2000" dirty="0">
                <a:sym typeface="Wingdings" panose="05000000000000000000" pitchFamily="2" charset="2"/>
              </a:rPr>
              <a:t>dan hebben methodes eenzelfde signatuur  </a:t>
            </a:r>
            <a:r>
              <a:rPr lang="nl-BE" sz="2000" dirty="0" err="1">
                <a:sym typeface="Wingdings" panose="05000000000000000000" pitchFamily="2" charset="2"/>
              </a:rPr>
              <a:t>compile</a:t>
            </a:r>
            <a:r>
              <a:rPr lang="nl-BE" sz="2000" dirty="0">
                <a:sym typeface="Wingdings" panose="05000000000000000000" pitchFamily="2" charset="2"/>
              </a:rPr>
              <a:t>-error!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b="1" dirty="0" err="1">
                <a:sym typeface="Wingdings" panose="05000000000000000000" pitchFamily="2" charset="2"/>
              </a:rPr>
              <a:t>Work-around</a:t>
            </a:r>
            <a:r>
              <a:rPr lang="nl-BE" sz="2000" b="1" dirty="0">
                <a:sym typeface="Wingdings" panose="05000000000000000000" pitchFamily="2" charset="2"/>
              </a:rPr>
              <a:t>:</a:t>
            </a:r>
            <a:r>
              <a:rPr lang="nl-BE" sz="2000" dirty="0">
                <a:sym typeface="Wingdings" panose="05000000000000000000" pitchFamily="2" charset="2"/>
              </a:rPr>
              <a:t> methode voor POST-</a:t>
            </a:r>
            <a:r>
              <a:rPr lang="nl-BE" sz="2000" dirty="0" err="1">
                <a:sym typeface="Wingdings" panose="05000000000000000000" pitchFamily="2" charset="2"/>
              </a:rPr>
              <a:t>request</a:t>
            </a:r>
            <a:r>
              <a:rPr lang="nl-BE" sz="2000" dirty="0">
                <a:sym typeface="Wingdings" panose="05000000000000000000" pitchFamily="2" charset="2"/>
              </a:rPr>
              <a:t> extra parameter geven (</a:t>
            </a:r>
            <a:r>
              <a:rPr lang="nl-BE" sz="1800" dirty="0" err="1">
                <a:latin typeface="Consolas" panose="020B0609020204030204" pitchFamily="49" charset="0"/>
                <a:sym typeface="Wingdings" panose="05000000000000000000" pitchFamily="2" charset="2"/>
              </a:rPr>
              <a:t>IFormCollection</a:t>
            </a:r>
            <a:r>
              <a:rPr lang="nl-BE" sz="2000" dirty="0">
                <a:sym typeface="Wingdings" panose="05000000000000000000" pitchFamily="2" charset="2"/>
              </a:rPr>
              <a:t>). Deze wordt in action-methode verder niet gebruikt</a:t>
            </a:r>
            <a:endParaRPr lang="nl-BE" sz="2000" dirty="0"/>
          </a:p>
          <a:p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736CB2-1EB1-430E-B754-806175D0E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067E1-1FFA-4F90-94F7-3FF46E994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33DA35A-3228-4A02-A8BB-AC5BECABDC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69770A-A395-4E92-84D8-0604A86F2ED2}"/>
              </a:ext>
            </a:extLst>
          </p:cNvPr>
          <p:cNvSpPr txBox="1"/>
          <p:nvPr/>
        </p:nvSpPr>
        <p:spPr>
          <a:xfrm>
            <a:off x="1164749" y="4665887"/>
            <a:ext cx="8632722" cy="144655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Delete(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id) 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...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[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HttpPost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Delete(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sz="1100" dirty="0" err="1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IFormCollection</a:t>
            </a:r>
            <a:r>
              <a:rPr lang="nl-BE" sz="11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notUsed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  <a:r>
              <a:rPr lang="nl-BE" sz="1100" dirty="0">
                <a:solidFill>
                  <a:srgbClr val="008000"/>
                </a:solidFill>
                <a:latin typeface="Consolas" panose="020B0609020204030204" pitchFamily="49" charset="0"/>
              </a:rPr>
              <a:t>/* extra parameter nodig voor </a:t>
            </a:r>
            <a:r>
              <a:rPr lang="nl-BE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overload</a:t>
            </a:r>
            <a:r>
              <a:rPr lang="nl-BE" sz="1100" dirty="0">
                <a:solidFill>
                  <a:srgbClr val="008000"/>
                </a:solidFill>
                <a:latin typeface="Consolas" panose="020B0609020204030204" pitchFamily="49" charset="0"/>
              </a:rPr>
              <a:t> */</a:t>
            </a:r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...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100" dirty="0"/>
          </a:p>
        </p:txBody>
      </p:sp>
    </p:spTree>
    <p:extLst>
      <p:ext uri="{BB962C8B-B14F-4D97-AF65-F5344CB8AC3E}">
        <p14:creationId xmlns:p14="http://schemas.microsoft.com/office/powerpoint/2010/main" val="23005889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B1E52-A0F4-4C94-A5D1-AAA51C245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ViewModels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32D9C-C225-4423-8A84-B7F8A8E9F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393DD6-09EF-4CBF-A4B5-2D4DCF9B5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164B9-2A33-44D3-9DB4-7DBCAD8ED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25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9BFB3-10A2-4661-B2A9-BACABE02EF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225794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D6CCC-66F3-4697-8F5A-DEB4AB267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ViewModels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865B0-AEA7-4B07-830E-BCB5E04B2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1" y="1885366"/>
            <a:ext cx="10357360" cy="378947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Soms komen gegevens in View niet volledig overeen met nodige data voor model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Bv.: extra gegevens nodig, zoals items in </a:t>
            </a:r>
            <a:r>
              <a:rPr lang="nl-BE" sz="2400" dirty="0" err="1"/>
              <a:t>dropdown</a:t>
            </a:r>
            <a:r>
              <a:rPr lang="nl-BE" sz="2400" dirty="0"/>
              <a:t>-lijst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Oplossing: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 err="1"/>
              <a:t>ViewModel</a:t>
            </a:r>
            <a:r>
              <a:rPr lang="nl-BE" sz="2400" dirty="0"/>
              <a:t>-klasse maken met </a:t>
            </a:r>
            <a:r>
              <a:rPr lang="nl-BE" sz="2400" dirty="0" err="1"/>
              <a:t>property’s</a:t>
            </a:r>
            <a:r>
              <a:rPr lang="nl-BE" sz="2400" dirty="0"/>
              <a:t> voor invulvelden + alle nodige data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Voorzien van Data </a:t>
            </a:r>
            <a:r>
              <a:rPr lang="nl-BE" sz="2400" dirty="0" err="1"/>
              <a:t>Annotations</a:t>
            </a:r>
            <a:r>
              <a:rPr lang="nl-BE" sz="2400" dirty="0"/>
              <a:t> voor validatie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In controller: opvullen en omzetten van </a:t>
            </a:r>
            <a:r>
              <a:rPr lang="nl-BE" sz="2400" dirty="0" err="1"/>
              <a:t>ViewModel</a:t>
            </a:r>
            <a:r>
              <a:rPr lang="nl-BE" sz="2400" dirty="0"/>
              <a:t> naar entiteiten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04E16F-4B86-48FC-8666-20231FED1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07A331-FA4B-412C-B501-77ADFD28A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C30AAD-9DF9-40F2-83BD-CE6390744E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0592390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EF814-3886-43A3-89AE-0A767F430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Voorbeeld </a:t>
            </a:r>
            <a:r>
              <a:rPr lang="nl-BE" dirty="0" err="1"/>
              <a:t>ViewModel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2B8D4-4A99-49CA-91E7-72731D100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1131522"/>
            <a:ext cx="9281274" cy="151335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 err="1"/>
              <a:t>Use</a:t>
            </a:r>
            <a:r>
              <a:rPr lang="nl-BE" dirty="0"/>
              <a:t> case: 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Inventaris om boeken te beheren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Drop-down lijst met verschillende genres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F8F2ED-EDEE-476B-A91D-139DE3762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9578A1-8C2E-4045-B96D-36728A6C1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AA6740-596D-427B-8B10-1A04583819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D1492A-DC9A-4DC1-9090-75875920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30" y="2841266"/>
            <a:ext cx="6584251" cy="30939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5C9F5F-6298-49EA-8AF9-C17176722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314" y="851961"/>
            <a:ext cx="3109229" cy="486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0221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B6465-BBB7-47FD-9F67-2C0279FB4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Voorbeeld </a:t>
            </a:r>
            <a:r>
              <a:rPr lang="nl-BE" dirty="0" err="1"/>
              <a:t>ViewModel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9C5A1-70F2-44DA-B906-D57ED17E7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178" y="1532118"/>
            <a:ext cx="4338803" cy="57198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Data-klassen (entiteiten):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727B7C-1D34-4A10-B984-A9659607B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E2C44F-3683-4B6F-8EB0-89C3C3394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C361661-8294-4C45-8823-C41EFBBD2E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71E58D-D956-4FF4-950F-3715F0EE1CD2}"/>
              </a:ext>
            </a:extLst>
          </p:cNvPr>
          <p:cNvSpPr txBox="1"/>
          <p:nvPr/>
        </p:nvSpPr>
        <p:spPr>
          <a:xfrm>
            <a:off x="734454" y="2354109"/>
            <a:ext cx="3837546" cy="230832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Book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Id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Title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Author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ISBN13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4F8291"/>
                </a:solidFill>
                <a:latin typeface="Consolas" panose="020B0609020204030204" pitchFamily="49" charset="0"/>
              </a:rPr>
              <a:t>Genre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Genre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2B91AF"/>
                </a:solidFill>
                <a:latin typeface="Consolas" panose="020B0609020204030204" pitchFamily="49" charset="0"/>
              </a:rPr>
              <a:t>Genre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Id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Name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AE1B45F-0629-4477-A177-064F694DA8FF}"/>
              </a:ext>
            </a:extLst>
          </p:cNvPr>
          <p:cNvSpPr txBox="1">
            <a:spLocks/>
          </p:cNvSpPr>
          <p:nvPr/>
        </p:nvSpPr>
        <p:spPr>
          <a:xfrm>
            <a:off x="6196461" y="1532117"/>
            <a:ext cx="4338803" cy="571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163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Creatie-scherm: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DAE7BD-893F-42DC-B014-C36C694C5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680" y="2104102"/>
            <a:ext cx="2242676" cy="36048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DA2520-94EB-4507-A7D6-3481F29ECE63}"/>
              </a:ext>
            </a:extLst>
          </p:cNvPr>
          <p:cNvSpPr txBox="1"/>
          <p:nvPr/>
        </p:nvSpPr>
        <p:spPr>
          <a:xfrm>
            <a:off x="3677265" y="5997677"/>
            <a:ext cx="6282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nl-BE" dirty="0">
                <a:sym typeface="Wingdings" panose="05000000000000000000" pitchFamily="2" charset="2"/>
              </a:rPr>
              <a:t>Data van twee bronnen nodig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nl-BE" dirty="0" err="1">
                <a:sym typeface="Wingdings" panose="05000000000000000000" pitchFamily="2" charset="2"/>
              </a:rPr>
              <a:t>ViewModel</a:t>
            </a:r>
            <a:r>
              <a:rPr lang="nl-BE" dirty="0">
                <a:sym typeface="Wingdings" panose="05000000000000000000" pitchFamily="2" charset="2"/>
              </a:rPr>
              <a:t>-klasse maken die beide modellen “</a:t>
            </a:r>
            <a:r>
              <a:rPr lang="nl-BE" dirty="0" err="1">
                <a:sym typeface="Wingdings" panose="05000000000000000000" pitchFamily="2" charset="2"/>
              </a:rPr>
              <a:t>encapsuleert</a:t>
            </a:r>
            <a:r>
              <a:rPr lang="nl-BE" dirty="0">
                <a:sym typeface="Wingdings" panose="05000000000000000000" pitchFamily="2" charset="2"/>
              </a:rPr>
              <a:t>”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2316612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68738-63F5-4193-B423-6FA8AA074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Voorbeeld </a:t>
            </a:r>
            <a:r>
              <a:rPr lang="nl-BE" dirty="0" err="1"/>
              <a:t>ViewModel</a:t>
            </a: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839A1B-07FE-477F-B98C-26675A629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C0243F-769A-4F5C-A16C-D658F4621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0D79CA6-36AB-45D6-AA2C-E432D40723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3E56D-E76A-4478-96C1-479F8717E075}"/>
              </a:ext>
            </a:extLst>
          </p:cNvPr>
          <p:cNvSpPr txBox="1"/>
          <p:nvPr/>
        </p:nvSpPr>
        <p:spPr>
          <a:xfrm>
            <a:off x="534291" y="1459374"/>
            <a:ext cx="9170148" cy="360098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BookViewModel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Required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ErrorMessage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"Gelieve een titel in te vullen"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nl-BE" sz="1200" dirty="0">
                <a:solidFill>
                  <a:srgbClr val="4F8291"/>
                </a:solidFill>
                <a:latin typeface="Consolas" panose="020B0609020204030204" pitchFamily="49" charset="0"/>
              </a:rPr>
              <a:t>Display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(Name = 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"Titel"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Title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Required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ErrorMessage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"Gelieve een auteur in te vullen"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nl-BE" sz="1200" dirty="0">
                <a:solidFill>
                  <a:srgbClr val="4F8291"/>
                </a:solidFill>
                <a:latin typeface="Consolas" panose="020B0609020204030204" pitchFamily="49" charset="0"/>
              </a:rPr>
              <a:t>Display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(Name = 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"Auteur"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Author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Required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ErrorMessage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"Gelieve een ISBN-nummer in te vullen"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StringLength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(13,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MinimumLength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= 13,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ErrorMessage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"Een ISBN-nummer moet 13 karakters lang zijn"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nl-BE" sz="1200" dirty="0">
                <a:solidFill>
                  <a:srgbClr val="4F8291"/>
                </a:solidFill>
                <a:latin typeface="Consolas" panose="020B0609020204030204" pitchFamily="49" charset="0"/>
              </a:rPr>
              <a:t>Display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(Name = 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"ISBN-nummer"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ISBN13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nl-BE" sz="1200" dirty="0">
                <a:solidFill>
                  <a:srgbClr val="4F8291"/>
                </a:solidFill>
                <a:latin typeface="Consolas" panose="020B0609020204030204" pitchFamily="49" charset="0"/>
              </a:rPr>
              <a:t>Display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(Name = 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"Genre"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SelectedGenre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IEnumerable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>
                <a:solidFill>
                  <a:srgbClr val="4F8291"/>
                </a:solidFill>
                <a:latin typeface="Consolas" panose="020B0609020204030204" pitchFamily="49" charset="0"/>
              </a:rPr>
              <a:t>Genre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AllGenres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60DC02-6881-4A19-93A7-CEB68D690EF9}"/>
              </a:ext>
            </a:extLst>
          </p:cNvPr>
          <p:cNvSpPr txBox="1"/>
          <p:nvPr/>
        </p:nvSpPr>
        <p:spPr>
          <a:xfrm>
            <a:off x="534291" y="5319252"/>
            <a:ext cx="94257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/>
              <a:t>Bevat </a:t>
            </a:r>
            <a:r>
              <a:rPr lang="nl-BE" dirty="0" err="1"/>
              <a:t>property’s</a:t>
            </a:r>
            <a:r>
              <a:rPr lang="nl-BE" dirty="0"/>
              <a:t> voor waarden van alle formulier-velden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/>
              <a:t>Bevat </a:t>
            </a:r>
            <a:r>
              <a:rPr lang="nl-BE" dirty="0" err="1"/>
              <a:t>property’s</a:t>
            </a:r>
            <a:r>
              <a:rPr lang="nl-BE" dirty="0"/>
              <a:t> voor weergave van bijkomende gegevens (bv.: alle gegevens in </a:t>
            </a:r>
            <a:r>
              <a:rPr lang="nl-BE" dirty="0" err="1"/>
              <a:t>dropdown</a:t>
            </a:r>
            <a:r>
              <a:rPr lang="nl-BE" dirty="0"/>
              <a:t>-lijst)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A1FEAC-0F39-42BA-ADE2-AFA212AD840B}"/>
              </a:ext>
            </a:extLst>
          </p:cNvPr>
          <p:cNvSpPr txBox="1"/>
          <p:nvPr/>
        </p:nvSpPr>
        <p:spPr>
          <a:xfrm>
            <a:off x="534291" y="1056114"/>
            <a:ext cx="2061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 err="1"/>
              <a:t>ViewModel</a:t>
            </a:r>
            <a:r>
              <a:rPr lang="nl-BE" b="1" u="sng" dirty="0"/>
              <a:t>-klasse:</a:t>
            </a:r>
          </a:p>
        </p:txBody>
      </p:sp>
    </p:spTree>
    <p:extLst>
      <p:ext uri="{BB962C8B-B14F-4D97-AF65-F5344CB8AC3E}">
        <p14:creationId xmlns:p14="http://schemas.microsoft.com/office/powerpoint/2010/main" val="16703877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6BF26-E79C-4F0A-9045-8D62FE1CE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Voorbeeld </a:t>
            </a:r>
            <a:r>
              <a:rPr lang="nl-BE" dirty="0" err="1"/>
              <a:t>ViewModel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EBE40-2EFA-45E1-9417-F45BF2128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7556" y="1748427"/>
            <a:ext cx="9281274" cy="147655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In Controller: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 err="1"/>
              <a:t>ViewModel</a:t>
            </a:r>
            <a:r>
              <a:rPr lang="nl-BE" sz="2000" dirty="0"/>
              <a:t> opvullen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b="1" dirty="0"/>
              <a:t>Opgelet: </a:t>
            </a:r>
            <a:r>
              <a:rPr lang="nl-BE" sz="2000" b="1" dirty="0">
                <a:solidFill>
                  <a:srgbClr val="C00000"/>
                </a:solidFill>
              </a:rPr>
              <a:t>ook ná POST opnieuw opvullen!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F2A32E-0D99-4DCE-875B-CB973641E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0390DA-8FC5-4C04-B717-FAC1D4BB8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2B51FC-7695-40E3-9636-2876FD976C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860E22-A6E1-4E17-B526-CE653D966BF4}"/>
              </a:ext>
            </a:extLst>
          </p:cNvPr>
          <p:cNvSpPr txBox="1"/>
          <p:nvPr/>
        </p:nvSpPr>
        <p:spPr>
          <a:xfrm>
            <a:off x="327606" y="1748427"/>
            <a:ext cx="5768394" cy="432426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BookViewModel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model =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BookViewModel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model.AllGenres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= _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genreRepository.</a:t>
            </a:r>
            <a:r>
              <a:rPr lang="nl-BE" sz="1100" dirty="0" err="1">
                <a:solidFill>
                  <a:srgbClr val="74561F"/>
                </a:solidFill>
                <a:latin typeface="Consolas" panose="020B0609020204030204" pitchFamily="49" charset="0"/>
              </a:rPr>
              <a:t>GetAll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(model);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[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HttpPost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[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ValidateAntiForgeryToken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Create(</a:t>
            </a:r>
            <a:r>
              <a:rPr lang="en-US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BookViewModel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model) 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    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ModelState.IsValid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Book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book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Book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book.Title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model.Title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book.Author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model.Author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book.ISBN13 = model.ISBN13;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1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book.Genre</a:t>
            </a:r>
            <a:r>
              <a:rPr lang="nl-BE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 _</a:t>
            </a:r>
            <a:r>
              <a:rPr lang="nl-BE" sz="11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genreRepository.</a:t>
            </a:r>
            <a:r>
              <a:rPr lang="nl-BE" sz="1100" b="1" dirty="0" err="1">
                <a:solidFill>
                  <a:srgbClr val="74561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GetById</a:t>
            </a:r>
            <a:r>
              <a:rPr lang="nl-BE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nl-BE" sz="11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model.SelectedGenre</a:t>
            </a:r>
            <a:r>
              <a:rPr lang="nl-BE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_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bookRepository.</a:t>
            </a:r>
            <a:r>
              <a:rPr lang="nl-BE" sz="1100" dirty="0" err="1">
                <a:solidFill>
                  <a:srgbClr val="74561F"/>
                </a:solidFill>
                <a:latin typeface="Consolas" panose="020B0609020204030204" pitchFamily="49" charset="0"/>
              </a:rPr>
              <a:t>Add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book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RedirectToAction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>
                <a:solidFill>
                  <a:srgbClr val="A31515"/>
                </a:solidFill>
                <a:latin typeface="Consolas" panose="020B0609020204030204" pitchFamily="49" charset="0"/>
              </a:rPr>
              <a:t>"Index"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1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model.AllGenres</a:t>
            </a:r>
            <a:r>
              <a:rPr lang="nl-BE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 _</a:t>
            </a:r>
            <a:r>
              <a:rPr lang="nl-BE" sz="11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genreRepository.</a:t>
            </a:r>
            <a:r>
              <a:rPr lang="nl-BE" sz="1100" b="1" dirty="0" err="1">
                <a:solidFill>
                  <a:srgbClr val="74561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GetAll</a:t>
            </a:r>
            <a:r>
              <a:rPr lang="nl-BE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(model);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1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11D2074-3418-4AEB-BCC6-C376ACC8AFB6}"/>
              </a:ext>
            </a:extLst>
          </p:cNvPr>
          <p:cNvCxnSpPr/>
          <p:nvPr/>
        </p:nvCxnSpPr>
        <p:spPr>
          <a:xfrm flipH="1">
            <a:off x="5663381" y="4395019"/>
            <a:ext cx="65876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D7B30FF-263C-4BB5-86BE-C57CED3F3BA8}"/>
              </a:ext>
            </a:extLst>
          </p:cNvPr>
          <p:cNvSpPr txBox="1"/>
          <p:nvPr/>
        </p:nvSpPr>
        <p:spPr>
          <a:xfrm>
            <a:off x="6400801" y="4210353"/>
            <a:ext cx="3224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/>
              <a:t>opnieuw </a:t>
            </a:r>
            <a:r>
              <a:rPr lang="nl-BE" b="1" dirty="0"/>
              <a:t>ophalen uit DB!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41A57F4-1C4F-47C1-851D-45C4EEB29F82}"/>
              </a:ext>
            </a:extLst>
          </p:cNvPr>
          <p:cNvCxnSpPr/>
          <p:nvPr/>
        </p:nvCxnSpPr>
        <p:spPr>
          <a:xfrm flipH="1">
            <a:off x="4311446" y="5565058"/>
            <a:ext cx="65876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55B8250-D36F-4D21-BCA2-8BCA0EF0A3A4}"/>
              </a:ext>
            </a:extLst>
          </p:cNvPr>
          <p:cNvSpPr txBox="1"/>
          <p:nvPr/>
        </p:nvSpPr>
        <p:spPr>
          <a:xfrm>
            <a:off x="5048865" y="5380392"/>
            <a:ext cx="390518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BE" b="1" dirty="0" err="1"/>
              <a:t>ViewModel</a:t>
            </a:r>
            <a:r>
              <a:rPr lang="nl-BE" b="1" dirty="0"/>
              <a:t> na POST opnieuw opvullen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50A7F8-2872-468D-8318-1FDC7EA4E105}"/>
              </a:ext>
            </a:extLst>
          </p:cNvPr>
          <p:cNvSpPr txBox="1"/>
          <p:nvPr/>
        </p:nvSpPr>
        <p:spPr>
          <a:xfrm>
            <a:off x="327606" y="1314721"/>
            <a:ext cx="2061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/>
              <a:t>Controller:</a:t>
            </a:r>
          </a:p>
        </p:txBody>
      </p:sp>
    </p:spTree>
    <p:extLst>
      <p:ext uri="{BB962C8B-B14F-4D97-AF65-F5344CB8AC3E}">
        <p14:creationId xmlns:p14="http://schemas.microsoft.com/office/powerpoint/2010/main" val="15760312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5D397-2C4A-4F5B-BF3B-F5CD81F4D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Voorbeeld </a:t>
            </a:r>
            <a:r>
              <a:rPr lang="nl-BE" dirty="0" err="1"/>
              <a:t>ViewModel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69727-E0B7-4A69-A1A3-CF87B8FCA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1457806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Opgelet bij gebruik van </a:t>
            </a:r>
            <a:r>
              <a:rPr lang="nl-BE" dirty="0" err="1"/>
              <a:t>ViewModel</a:t>
            </a:r>
            <a:r>
              <a:rPr lang="nl-BE" dirty="0"/>
              <a:t> bij </a:t>
            </a:r>
            <a:r>
              <a:rPr lang="nl-BE" dirty="0" err="1"/>
              <a:t>Edit</a:t>
            </a:r>
            <a:r>
              <a:rPr lang="nl-BE" dirty="0"/>
              <a:t>!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Indien naam van property niet overeenkomt in </a:t>
            </a:r>
            <a:r>
              <a:rPr lang="nl-BE" sz="2400" dirty="0" err="1"/>
              <a:t>ViewModel</a:t>
            </a:r>
            <a:r>
              <a:rPr lang="nl-BE" sz="2400" dirty="0"/>
              <a:t> en routing-</a:t>
            </a:r>
            <a:r>
              <a:rPr lang="nl-BE" sz="2400" dirty="0" err="1"/>
              <a:t>value</a:t>
            </a:r>
            <a:r>
              <a:rPr lang="nl-BE" sz="2400" dirty="0"/>
              <a:t> </a:t>
            </a:r>
            <a:r>
              <a:rPr lang="nl-BE" sz="2400" dirty="0">
                <a:sym typeface="Wingdings" panose="05000000000000000000" pitchFamily="2" charset="2"/>
              </a:rPr>
              <a:t> wordt niet door model-binder gebonden!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b="1" dirty="0">
                <a:sym typeface="Wingdings" panose="05000000000000000000" pitchFamily="2" charset="2"/>
              </a:rPr>
              <a:t>Oplossing:</a:t>
            </a:r>
            <a:r>
              <a:rPr lang="nl-BE" sz="2400" dirty="0">
                <a:sym typeface="Wingdings" panose="05000000000000000000" pitchFamily="2" charset="2"/>
              </a:rPr>
              <a:t> </a:t>
            </a:r>
            <a:r>
              <a:rPr lang="nl-BE" sz="2400" dirty="0" err="1">
                <a:sym typeface="Wingdings" panose="05000000000000000000" pitchFamily="2" charset="2"/>
              </a:rPr>
              <a:t>hidden</a:t>
            </a:r>
            <a:r>
              <a:rPr lang="nl-BE" sz="2400" dirty="0">
                <a:sym typeface="Wingdings" panose="05000000000000000000" pitchFamily="2" charset="2"/>
              </a:rPr>
              <a:t> field voorzien in formulier om waarde van </a:t>
            </a:r>
            <a:r>
              <a:rPr lang="nl-BE" sz="2400" dirty="0" err="1">
                <a:sym typeface="Wingdings" panose="05000000000000000000" pitchFamily="2" charset="2"/>
              </a:rPr>
              <a:t>id</a:t>
            </a:r>
            <a:r>
              <a:rPr lang="nl-BE" sz="2400" dirty="0">
                <a:sym typeface="Wingdings" panose="05000000000000000000" pitchFamily="2" charset="2"/>
              </a:rPr>
              <a:t> mee te sturen</a:t>
            </a:r>
            <a:endParaRPr lang="nl-BE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34EDD5-46A0-497B-8A00-6411A1F1F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D3A084-A230-4C72-9A34-55CCF8B44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CBA1FA8-D5B4-420E-8E20-D70E10C866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926EEF-ABE5-44A0-A2D8-330A76E721D1}"/>
              </a:ext>
            </a:extLst>
          </p:cNvPr>
          <p:cNvSpPr txBox="1"/>
          <p:nvPr/>
        </p:nvSpPr>
        <p:spPr>
          <a:xfrm>
            <a:off x="999873" y="4399218"/>
            <a:ext cx="3837546" cy="83099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BookViewModel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BookId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...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917E00-9AFB-49BC-BE94-A8493D5FCFE0}"/>
              </a:ext>
            </a:extLst>
          </p:cNvPr>
          <p:cNvSpPr txBox="1"/>
          <p:nvPr/>
        </p:nvSpPr>
        <p:spPr>
          <a:xfrm>
            <a:off x="5989744" y="4392681"/>
            <a:ext cx="5202383" cy="83099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asp</a:t>
            </a:r>
            <a:r>
              <a:rPr lang="nl-BE" sz="1200" b="1" dirty="0">
                <a:solidFill>
                  <a:srgbClr val="800080"/>
                </a:solidFill>
                <a:latin typeface="Consolas" panose="020B0609020204030204" pitchFamily="49" charset="0"/>
              </a:rPr>
              <a:t>-action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nl-BE" sz="1200" dirty="0">
                <a:solidFill>
                  <a:srgbClr val="8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input</a:t>
            </a:r>
            <a:r>
              <a:rPr lang="nl-BE" sz="1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nl-BE" sz="1200" b="1" dirty="0">
                <a:solidFill>
                  <a:srgbClr val="800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nl-BE" sz="12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="</a:t>
            </a:r>
            <a:r>
              <a:rPr lang="nl-BE" sz="1200" dirty="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hidden</a:t>
            </a:r>
            <a:r>
              <a:rPr lang="nl-BE" sz="12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nl-BE" sz="1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nl-BE" sz="1200" b="1" dirty="0" err="1">
                <a:solidFill>
                  <a:srgbClr val="800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asp-for</a:t>
            </a:r>
            <a:r>
              <a:rPr lang="nl-BE" sz="12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="</a:t>
            </a:r>
            <a:r>
              <a:rPr lang="nl-BE" sz="12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BookId</a:t>
            </a:r>
            <a:r>
              <a:rPr lang="nl-BE" sz="12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"/&gt;</a:t>
            </a:r>
          </a:p>
          <a:p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     ...</a:t>
            </a:r>
          </a:p>
          <a:p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200" dirty="0">
                <a:solidFill>
                  <a:schemeClr val="accent6"/>
                </a:solidFill>
                <a:latin typeface="Consolas" panose="020B0609020204030204" pitchFamily="49" charset="0"/>
              </a:rPr>
              <a:t>form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485975-A7B6-41B6-8739-F63A72F374E4}"/>
              </a:ext>
            </a:extLst>
          </p:cNvPr>
          <p:cNvSpPr/>
          <p:nvPr/>
        </p:nvSpPr>
        <p:spPr>
          <a:xfrm>
            <a:off x="7059561" y="4597498"/>
            <a:ext cx="1130710" cy="216000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308773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347E3-24F6-4648-9877-94969CFCA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ViewModels</a:t>
            </a:r>
            <a:r>
              <a:rPr lang="nl-BE" dirty="0"/>
              <a:t> en formulieren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C241A-4894-48D7-B9DD-94896D555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178" y="1314721"/>
            <a:ext cx="10021848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Opmerking: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Om een onderscheid te maken tussen de default-waarde en geen invoer, dien je </a:t>
            </a:r>
            <a:r>
              <a:rPr lang="nl-BE" sz="2400" b="1" dirty="0"/>
              <a:t>primitieve types </a:t>
            </a:r>
            <a:r>
              <a:rPr lang="nl-BE" sz="2400" i="1" dirty="0"/>
              <a:t>(int, </a:t>
            </a:r>
            <a:r>
              <a:rPr lang="nl-BE" sz="2400" i="1" dirty="0" err="1"/>
              <a:t>enum’s</a:t>
            </a:r>
            <a:r>
              <a:rPr lang="nl-BE" sz="2400" i="1" dirty="0"/>
              <a:t>, </a:t>
            </a:r>
            <a:r>
              <a:rPr lang="nl-BE" sz="2400" i="1" dirty="0" err="1"/>
              <a:t>DateTime</a:t>
            </a:r>
            <a:r>
              <a:rPr lang="nl-BE" sz="2400" i="1" dirty="0"/>
              <a:t>, ...) </a:t>
            </a:r>
            <a:r>
              <a:rPr lang="nl-BE" sz="2400" b="1" dirty="0" err="1">
                <a:solidFill>
                  <a:schemeClr val="accent6"/>
                </a:solidFill>
              </a:rPr>
              <a:t>nullable</a:t>
            </a:r>
            <a:r>
              <a:rPr lang="nl-BE" sz="2400" dirty="0"/>
              <a:t> (</a:t>
            </a:r>
            <a:r>
              <a:rPr lang="nl-BE" sz="2400" b="1" dirty="0">
                <a:solidFill>
                  <a:srgbClr val="FF0000"/>
                </a:solidFill>
              </a:rPr>
              <a:t>?</a:t>
            </a:r>
            <a:r>
              <a:rPr lang="nl-BE" sz="2400" dirty="0"/>
              <a:t>) te maken: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ED539F-7CFA-42D2-93B4-918676D8B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6A7C08-904A-4437-B969-BD7ED78E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11D4F9-3391-4367-8364-2654AC6B09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3E76F6-8BDA-4983-87C3-863E990C456D}"/>
              </a:ext>
            </a:extLst>
          </p:cNvPr>
          <p:cNvSpPr txBox="1"/>
          <p:nvPr/>
        </p:nvSpPr>
        <p:spPr>
          <a:xfrm>
            <a:off x="1068726" y="3076180"/>
            <a:ext cx="6797080" cy="212365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BookViewModel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Required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ErrorMessage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"Gelieve een publicatie datum in te vullen"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nl-BE" sz="1200" dirty="0">
                <a:solidFill>
                  <a:srgbClr val="4F8291"/>
                </a:solidFill>
                <a:latin typeface="Consolas" panose="020B0609020204030204" pitchFamily="49" charset="0"/>
              </a:rPr>
              <a:t>Display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(Name = 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"Publicatie datum"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DateTime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?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PublicationDate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nl-BE" sz="1200" dirty="0">
                <a:solidFill>
                  <a:srgbClr val="4F8291"/>
                </a:solidFill>
                <a:latin typeface="Consolas" panose="020B0609020204030204" pitchFamily="49" charset="0"/>
              </a:rPr>
              <a:t>Display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(Name = 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"Aantal pagina’s"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Required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ErrorMessage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"Gelieve het aantal pagina’s in te vullen"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?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NumberOfPages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...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nl-BE" sz="1200" dirty="0"/>
          </a:p>
        </p:txBody>
      </p:sp>
    </p:spTree>
    <p:extLst>
      <p:ext uri="{BB962C8B-B14F-4D97-AF65-F5344CB8AC3E}">
        <p14:creationId xmlns:p14="http://schemas.microsoft.com/office/powerpoint/2010/main" val="28005068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1657B-6127-4A36-9DBB-C99A47705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Scaffolding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71D8F-C24C-44E6-A54F-2970D693F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AFACBA-69A7-40EC-AE8C-9720F1DBA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8604DE-ADDB-47A9-A29F-8CCA2C3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33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9C2B19D-8372-4AE3-89A7-447B4B0B44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629953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E0EEC-D3E5-41CF-8522-D999D790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Wat is </a:t>
            </a:r>
            <a:r>
              <a:rPr lang="nl-BE" dirty="0" err="1"/>
              <a:t>Scaffolding</a:t>
            </a:r>
            <a:r>
              <a:rPr lang="nl-BE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7F1C8-B34E-40C9-9BCE-113D7C6C9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1" y="1507104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 err="1"/>
              <a:t>Scaffolding</a:t>
            </a:r>
            <a:r>
              <a:rPr lang="nl-BE" dirty="0"/>
              <a:t> = views en/of controllers genereren op basis van Model-klasse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Rechtsklik Controller-folder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Kies </a:t>
            </a:r>
            <a:r>
              <a:rPr lang="nl-BE" sz="2400" dirty="0" err="1"/>
              <a:t>Add</a:t>
            </a:r>
            <a:r>
              <a:rPr lang="nl-BE" sz="2400" dirty="0"/>
              <a:t> &gt; New </a:t>
            </a:r>
            <a:r>
              <a:rPr lang="nl-BE" sz="2400" dirty="0" err="1"/>
              <a:t>Scaffolded</a:t>
            </a:r>
            <a:r>
              <a:rPr lang="nl-BE" sz="2400" dirty="0"/>
              <a:t> item...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077273-9EF1-433E-9E9A-F2B4E65CD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ED9C0E-67C6-4AF3-B4A1-83FD54581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C730403-9C52-4A2C-AEF3-0E38787EA4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366E00-1D9B-4DAC-A94A-6F3136AD3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513" y="3755091"/>
            <a:ext cx="6850974" cy="217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7105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63CC-FDC6-45B7-8028-CE17D8D9A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Scaffolding</a:t>
            </a:r>
            <a:r>
              <a:rPr lang="nl-BE" dirty="0"/>
              <a:t>: Controllers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E4F460-FD90-4998-ACB3-01B6D7A8E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A03A0-A254-4557-98DD-18AEB09F0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B4B62EA-3BDD-428D-B014-073F79C3DF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43B7A5-DBC7-4E31-B56A-3CEE79AA4B68}"/>
              </a:ext>
            </a:extLst>
          </p:cNvPr>
          <p:cNvSpPr txBox="1"/>
          <p:nvPr/>
        </p:nvSpPr>
        <p:spPr>
          <a:xfrm>
            <a:off x="410178" y="1386348"/>
            <a:ext cx="89108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400" dirty="0"/>
              <a:t>Kies: MVC Controller </a:t>
            </a:r>
            <a:r>
              <a:rPr lang="nl-BE" sz="2400" dirty="0" err="1"/>
              <a:t>with</a:t>
            </a:r>
            <a:r>
              <a:rPr lang="nl-BE" sz="2400" dirty="0"/>
              <a:t> </a:t>
            </a:r>
            <a:r>
              <a:rPr lang="nl-BE" sz="2400" dirty="0" err="1"/>
              <a:t>read</a:t>
            </a:r>
            <a:r>
              <a:rPr lang="nl-BE" sz="2400" dirty="0"/>
              <a:t>/</a:t>
            </a:r>
            <a:r>
              <a:rPr lang="nl-BE" sz="2400" dirty="0" err="1"/>
              <a:t>write</a:t>
            </a:r>
            <a:r>
              <a:rPr lang="nl-BE" sz="2400" dirty="0"/>
              <a:t> actions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A52011-2DD4-4596-8792-61976D460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91" y="2152614"/>
            <a:ext cx="9030483" cy="29491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D3F40A-E3DB-4A40-8972-F780CD54BE2E}"/>
              </a:ext>
            </a:extLst>
          </p:cNvPr>
          <p:cNvSpPr txBox="1"/>
          <p:nvPr/>
        </p:nvSpPr>
        <p:spPr>
          <a:xfrm>
            <a:off x="534291" y="5540006"/>
            <a:ext cx="94356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000" b="1" dirty="0"/>
              <a:t>Opmerking: </a:t>
            </a:r>
            <a:r>
              <a:rPr lang="nl-BE" sz="2000" dirty="0"/>
              <a:t>gegenereerde code is slechts een opstart </a:t>
            </a:r>
            <a:r>
              <a:rPr lang="nl-BE" sz="2000" dirty="0">
                <a:sym typeface="Wingdings" panose="05000000000000000000" pitchFamily="2" charset="2"/>
              </a:rPr>
              <a:t> vaak veel wijzigingen nodig!</a:t>
            </a: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11093258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4B8E5-12E4-4E3C-9036-6F68B37FF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Scaffolding</a:t>
            </a:r>
            <a:r>
              <a:rPr lang="nl-BE" dirty="0"/>
              <a:t>: 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CD5FC-139E-4955-A061-C83F8A050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654451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Voor verschillende </a:t>
            </a:r>
            <a:r>
              <a:rPr lang="nl-BE" dirty="0" err="1"/>
              <a:t>Action’s</a:t>
            </a:r>
            <a:r>
              <a:rPr lang="nl-BE" dirty="0"/>
              <a:t> kunnen bijhorende views gegenereerd worden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Rechtsklik Views-folder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Kies </a:t>
            </a:r>
            <a:r>
              <a:rPr lang="nl-BE" sz="2400" i="1" dirty="0" err="1"/>
              <a:t>Add</a:t>
            </a:r>
            <a:r>
              <a:rPr lang="nl-BE" sz="2400" i="1" dirty="0"/>
              <a:t> &gt; New </a:t>
            </a:r>
            <a:r>
              <a:rPr lang="nl-BE" sz="2400" i="1" dirty="0" err="1"/>
              <a:t>Scaffolded</a:t>
            </a:r>
            <a:r>
              <a:rPr lang="nl-BE" sz="2400" i="1" dirty="0"/>
              <a:t> Item... 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Kies vervolgens </a:t>
            </a:r>
            <a:r>
              <a:rPr lang="nl-BE" sz="2400" i="1" dirty="0" err="1"/>
              <a:t>Razor</a:t>
            </a:r>
            <a:r>
              <a:rPr lang="nl-BE" sz="2400" i="1" dirty="0"/>
              <a:t> View: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D51776-01D1-4B90-B92B-1A6AEC85F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C8E8A8-F9E8-4C55-BC96-66FBC30A6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5D8397-375E-4DB1-95D5-C4F0A2C88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C9E81A-0A9C-40F9-9299-018D1901F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539" y="3958249"/>
            <a:ext cx="5131771" cy="139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115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8EBC8-043E-4CD7-9492-07A0891C2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Scaffolding</a:t>
            </a:r>
            <a:r>
              <a:rPr lang="nl-BE" dirty="0"/>
              <a:t>: Views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4A5BD-E3FD-4834-A124-85BFD6DC3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</a:t>
            </a:r>
            <a:r>
              <a:rPr lang="en-US" dirty="0" err="1"/>
              <a:t>vervolg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3B4B5-9409-4610-AEE0-F88A2D9EB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9877378-C979-4746-9CEE-299F3A79AA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096CCA-479E-4EFF-9FBF-2F3C50F70E73}"/>
              </a:ext>
            </a:extLst>
          </p:cNvPr>
          <p:cNvSpPr txBox="1"/>
          <p:nvPr/>
        </p:nvSpPr>
        <p:spPr>
          <a:xfrm>
            <a:off x="534291" y="1373715"/>
            <a:ext cx="98850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400" dirty="0"/>
              <a:t>In het </a:t>
            </a:r>
            <a:r>
              <a:rPr lang="nl-BE" sz="2400" dirty="0" err="1"/>
              <a:t>dropdown</a:t>
            </a:r>
            <a:r>
              <a:rPr lang="nl-BE" sz="2400" dirty="0"/>
              <a:t>-menu kan je vervolgens de gewenste template (List/</a:t>
            </a:r>
            <a:r>
              <a:rPr lang="nl-BE" sz="2400" dirty="0" err="1"/>
              <a:t>Create</a:t>
            </a:r>
            <a:r>
              <a:rPr lang="nl-BE" sz="2400" dirty="0"/>
              <a:t>/</a:t>
            </a:r>
            <a:r>
              <a:rPr lang="nl-BE" sz="2400" dirty="0" err="1"/>
              <a:t>Edit</a:t>
            </a:r>
            <a:r>
              <a:rPr lang="nl-BE" sz="2400" dirty="0"/>
              <a:t>/...) selecteren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400" dirty="0"/>
              <a:t>Kies in </a:t>
            </a:r>
            <a:r>
              <a:rPr lang="nl-BE" sz="2400" dirty="0" err="1"/>
              <a:t>dropdown</a:t>
            </a:r>
            <a:r>
              <a:rPr lang="nl-BE" sz="2400" dirty="0"/>
              <a:t>-menu de model-klasse waarvoor je View wilt genereren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C58539-AB59-45D4-BD49-C9AD81322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372" y="2795927"/>
            <a:ext cx="5593565" cy="32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707725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disee_2">
      <a:dk1>
        <a:srgbClr val="1F416B"/>
      </a:dk1>
      <a:lt1>
        <a:srgbClr val="FFFFFF"/>
      </a:lt1>
      <a:dk2>
        <a:srgbClr val="181716"/>
      </a:dk2>
      <a:lt2>
        <a:srgbClr val="E7E6E6"/>
      </a:lt2>
      <a:accent1>
        <a:srgbClr val="00639C"/>
      </a:accent1>
      <a:accent2>
        <a:srgbClr val="E73F16"/>
      </a:accent2>
      <a:accent3>
        <a:srgbClr val="3CB497"/>
      </a:accent3>
      <a:accent4>
        <a:srgbClr val="D3DDF2"/>
      </a:accent4>
      <a:accent5>
        <a:srgbClr val="A3E1D2"/>
      </a:accent5>
      <a:accent6>
        <a:srgbClr val="96280E"/>
      </a:accent6>
      <a:hlink>
        <a:srgbClr val="0563C1"/>
      </a:hlink>
      <a:folHlink>
        <a:srgbClr val="954F72"/>
      </a:folHlink>
    </a:clrScheme>
    <a:fontScheme name="Odisee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</a:spPr>
      <a:bodyPr wrap="square" lIns="0" tIns="0" rIns="0" bIns="0" rtlCol="0" anchor="ctr">
        <a:spAutoFit/>
      </a:bodyPr>
      <a:lstStyle>
        <a:defPPr algn="l">
          <a:defRPr sz="1600" b="1" dirty="0" err="1">
            <a:latin typeface="+mj-lt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pVersion xmlns="2e590e29-c89d-4e1a-bf06-0c489d371682" xsi:nil="true"/>
    <Invited_Students xmlns="2e590e29-c89d-4e1a-bf06-0c489d371682" xsi:nil="true"/>
    <Owner xmlns="2e590e29-c89d-4e1a-bf06-0c489d371682">
      <UserInfo>
        <DisplayName/>
        <AccountId xsi:nil="true"/>
        <AccountType/>
      </UserInfo>
    </Owner>
    <Teams_Channel_Section_Location xmlns="2e590e29-c89d-4e1a-bf06-0c489d371682" xsi:nil="true"/>
    <TeamsChannelId xmlns="2e590e29-c89d-4e1a-bf06-0c489d371682" xsi:nil="true"/>
    <Invited_Teachers xmlns="2e590e29-c89d-4e1a-bf06-0c489d371682" xsi:nil="true"/>
    <DefaultSectionNames xmlns="2e590e29-c89d-4e1a-bf06-0c489d371682" xsi:nil="true"/>
    <Self_Registration_Enabled xmlns="2e590e29-c89d-4e1a-bf06-0c489d371682" xsi:nil="true"/>
    <FolderType xmlns="2e590e29-c89d-4e1a-bf06-0c489d371682" xsi:nil="true"/>
    <CultureName xmlns="2e590e29-c89d-4e1a-bf06-0c489d371682" xsi:nil="true"/>
    <Student_Groups xmlns="2e590e29-c89d-4e1a-bf06-0c489d371682">
      <UserInfo>
        <DisplayName/>
        <AccountId xsi:nil="true"/>
        <AccountType/>
      </UserInfo>
    </Student_Groups>
    <Is_Collaboration_Space_Locked xmlns="2e590e29-c89d-4e1a-bf06-0c489d371682" xsi:nil="true"/>
    <Templates xmlns="2e590e29-c89d-4e1a-bf06-0c489d371682" xsi:nil="true"/>
    <Teachers xmlns="2e590e29-c89d-4e1a-bf06-0c489d371682">
      <UserInfo>
        <DisplayName/>
        <AccountId xsi:nil="true"/>
        <AccountType/>
      </UserInfo>
    </Teachers>
    <Students xmlns="2e590e29-c89d-4e1a-bf06-0c489d371682">
      <UserInfo>
        <DisplayName/>
        <AccountId xsi:nil="true"/>
        <AccountType/>
      </UserInfo>
    </Students>
    <lcf76f155ced4ddcb4097134ff3c332f xmlns="2e590e29-c89d-4e1a-bf06-0c489d371682">
      <Terms xmlns="http://schemas.microsoft.com/office/infopath/2007/PartnerControls"/>
    </lcf76f155ced4ddcb4097134ff3c332f>
    <LMS_Mappings xmlns="2e590e29-c89d-4e1a-bf06-0c489d371682" xsi:nil="true"/>
    <IsNotebookLocked xmlns="2e590e29-c89d-4e1a-bf06-0c489d371682" xsi:nil="true"/>
    <TaxCatchAll xmlns="5870f8f2-d835-4d1e-84f7-7c5a365f9c0a" xsi:nil="true"/>
    <Math_Settings xmlns="2e590e29-c89d-4e1a-bf06-0c489d371682" xsi:nil="true"/>
    <Has_Teacher_Only_SectionGroup xmlns="2e590e29-c89d-4e1a-bf06-0c489d371682" xsi:nil="true"/>
    <NotebookType xmlns="2e590e29-c89d-4e1a-bf06-0c489d371682" xsi:nil="true"/>
    <Distribution_Groups xmlns="2e590e29-c89d-4e1a-bf06-0c489d37168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8049F6D630AF47BB18DF5F87B80949" ma:contentTypeVersion="40" ma:contentTypeDescription="Een nieuw document maken." ma:contentTypeScope="" ma:versionID="a9e6d75ef9adede1cf206f88e0d4b107">
  <xsd:schema xmlns:xsd="http://www.w3.org/2001/XMLSchema" xmlns:xs="http://www.w3.org/2001/XMLSchema" xmlns:p="http://schemas.microsoft.com/office/2006/metadata/properties" xmlns:ns2="2e590e29-c89d-4e1a-bf06-0c489d371682" xmlns:ns3="5870f8f2-d835-4d1e-84f7-7c5a365f9c0a" targetNamespace="http://schemas.microsoft.com/office/2006/metadata/properties" ma:root="true" ma:fieldsID="65fb40e55a7a3fd51a5d8b3af476fe6e" ns2:_="" ns3:_="">
    <xsd:import namespace="2e590e29-c89d-4e1a-bf06-0c489d371682"/>
    <xsd:import namespace="5870f8f2-d835-4d1e-84f7-7c5a365f9c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590e29-c89d-4e1a-bf06-0c489d3716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NotebookType" ma:index="20" nillable="true" ma:displayName="Notebook Type" ma:internalName="NotebookType">
      <xsd:simpleType>
        <xsd:restriction base="dms:Text"/>
      </xsd:simpleType>
    </xsd:element>
    <xsd:element name="FolderType" ma:index="21" nillable="true" ma:displayName="Folder Type" ma:internalName="FolderType">
      <xsd:simpleType>
        <xsd:restriction base="dms:Text"/>
      </xsd:simpleType>
    </xsd:element>
    <xsd:element name="CultureName" ma:index="22" nillable="true" ma:displayName="Culture Name" ma:internalName="CultureName">
      <xsd:simpleType>
        <xsd:restriction base="dms:Text"/>
      </xsd:simpleType>
    </xsd:element>
    <xsd:element name="AppVersion" ma:index="23" nillable="true" ma:displayName="App Version" ma:internalName="AppVersion">
      <xsd:simpleType>
        <xsd:restriction base="dms:Text"/>
      </xsd:simpleType>
    </xsd:element>
    <xsd:element name="TeamsChannelId" ma:index="24" nillable="true" ma:displayName="Teams Channel Id" ma:internalName="TeamsChannelId">
      <xsd:simpleType>
        <xsd:restriction base="dms:Text"/>
      </xsd:simpleType>
    </xsd:element>
    <xsd:element name="Owner" ma:index="25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6" nillable="true" ma:displayName="Math Settings" ma:internalName="Math_Settings">
      <xsd:simpleType>
        <xsd:restriction base="dms:Text"/>
      </xsd:simpleType>
    </xsd:element>
    <xsd:element name="DefaultSectionNames" ma:index="27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8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9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30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1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2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3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4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5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6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7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8" nillable="true" ma:displayName="Is Collaboration Space Locked" ma:internalName="Is_Collaboration_Space_Locked">
      <xsd:simpleType>
        <xsd:restriction base="dms:Boolean"/>
      </xsd:simpleType>
    </xsd:element>
    <xsd:element name="IsNotebookLocked" ma:index="39" nillable="true" ma:displayName="Is Notebook Locked" ma:internalName="IsNotebookLocked">
      <xsd:simpleType>
        <xsd:restriction base="dms:Boolean"/>
      </xsd:simpleType>
    </xsd:element>
    <xsd:element name="Teams_Channel_Section_Location" ma:index="40" nillable="true" ma:displayName="Teams Channel Section Location" ma:internalName="Teams_Channel_Section_Location">
      <xsd:simpleType>
        <xsd:restriction base="dms:Text"/>
      </xsd:simpleType>
    </xsd:element>
    <xsd:element name="MediaLengthInSeconds" ma:index="4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43" nillable="true" ma:taxonomy="true" ma:internalName="lcf76f155ced4ddcb4097134ff3c332f" ma:taxonomyFieldName="MediaServiceImageTags" ma:displayName="Afbeeldingtags" ma:readOnly="false" ma:fieldId="{5cf76f15-5ced-4ddc-b409-7134ff3c332f}" ma:taxonomyMulti="true" ma:sspId="6010e5f2-6256-435c-892d-4495c8ac23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4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4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70f8f2-d835-4d1e-84f7-7c5a365f9c0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44" nillable="true" ma:displayName="Taxonomy Catch All Column" ma:hidden="true" ma:list="{18f5e209-b2fc-4ef1-b802-39e3b60cddd6}" ma:internalName="TaxCatchAll" ma:showField="CatchAllData" ma:web="5870f8f2-d835-4d1e-84f7-7c5a365f9c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816748D-10A2-4CEC-A1FB-BEA254E5055F}">
  <ds:schemaRefs>
    <ds:schemaRef ds:uri="http://schemas.microsoft.com/office/2006/metadata/properties"/>
    <ds:schemaRef ds:uri="http://schemas.microsoft.com/office/infopath/2007/PartnerControls"/>
    <ds:schemaRef ds:uri="2e590e29-c89d-4e1a-bf06-0c489d371682"/>
    <ds:schemaRef ds:uri="5870f8f2-d835-4d1e-84f7-7c5a365f9c0a"/>
  </ds:schemaRefs>
</ds:datastoreItem>
</file>

<file path=customXml/itemProps2.xml><?xml version="1.0" encoding="utf-8"?>
<ds:datastoreItem xmlns:ds="http://schemas.openxmlformats.org/officeDocument/2006/customXml" ds:itemID="{C08581D2-B974-46A4-B685-8F25EED71797}"/>
</file>

<file path=customXml/itemProps3.xml><?xml version="1.0" encoding="utf-8"?>
<ds:datastoreItem xmlns:ds="http://schemas.openxmlformats.org/officeDocument/2006/customXml" ds:itemID="{BF09EE21-C5D7-455B-87BC-B703B5CF6B4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10746</TotalTime>
  <Words>2397</Words>
  <Application>Microsoft Office PowerPoint</Application>
  <PresentationFormat>Widescreen</PresentationFormat>
  <Paragraphs>364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Calibri</vt:lpstr>
      <vt:lpstr>Calibri Light</vt:lpstr>
      <vt:lpstr>Cascadia Mono</vt:lpstr>
      <vt:lpstr>Consolas</vt:lpstr>
      <vt:lpstr>Wingdings</vt:lpstr>
      <vt:lpstr>Kantoorthema</vt:lpstr>
      <vt:lpstr>PowerPoint Presentation</vt:lpstr>
      <vt:lpstr>Business Application Development</vt:lpstr>
      <vt:lpstr>PowerPoint Presentation</vt:lpstr>
      <vt:lpstr>Validatie en security</vt:lpstr>
      <vt:lpstr>Validatie: herhaling</vt:lpstr>
      <vt:lpstr>Validatie: client</vt:lpstr>
      <vt:lpstr>Validatie: client</vt:lpstr>
      <vt:lpstr>Validatie: client</vt:lpstr>
      <vt:lpstr>Security: Cross-site Request Forgery (CSRF)</vt:lpstr>
      <vt:lpstr>Security: Cross-site Request Forgery (CSRF)</vt:lpstr>
      <vt:lpstr>Security: Cross-site Request Forgery (CSRF)</vt:lpstr>
      <vt:lpstr>Security: Cross-site Request Forgery (CSRF)</vt:lpstr>
      <vt:lpstr>Security: Cross-site Request Forgery (CSRF)</vt:lpstr>
      <vt:lpstr>Security: Cross-site Request Forgery (CSRF)</vt:lpstr>
      <vt:lpstr>CRUD</vt:lpstr>
      <vt:lpstr>CRUD-applicaties</vt:lpstr>
      <vt:lpstr>CRUD-applicaties</vt:lpstr>
      <vt:lpstr>CRUD-applicaties</vt:lpstr>
      <vt:lpstr>CRUD-applicaties</vt:lpstr>
      <vt:lpstr>CRUD-applicaties</vt:lpstr>
      <vt:lpstr>CRUD-applicaties</vt:lpstr>
      <vt:lpstr>CRUD-applicaties</vt:lpstr>
      <vt:lpstr>CRUD-applicaties</vt:lpstr>
      <vt:lpstr>CRUD-applicaties</vt:lpstr>
      <vt:lpstr>ViewModels</vt:lpstr>
      <vt:lpstr>ViewModels</vt:lpstr>
      <vt:lpstr>Voorbeeld ViewModel</vt:lpstr>
      <vt:lpstr>Voorbeeld ViewModel</vt:lpstr>
      <vt:lpstr>Voorbeeld ViewModel</vt:lpstr>
      <vt:lpstr>Voorbeeld ViewModel</vt:lpstr>
      <vt:lpstr>Voorbeeld ViewModel</vt:lpstr>
      <vt:lpstr>ViewModels en formulieren</vt:lpstr>
      <vt:lpstr>Scaffolding</vt:lpstr>
      <vt:lpstr>Wat is Scaffolding?</vt:lpstr>
      <vt:lpstr>Scaffolding: Controllers</vt:lpstr>
      <vt:lpstr>Scaffolding: Views</vt:lpstr>
      <vt:lpstr>Scaffolding: Views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arn bollen</dc:creator>
  <cp:lastModifiedBy>Sam Van Buggenhout (u0132146)</cp:lastModifiedBy>
  <cp:revision>622</cp:revision>
  <dcterms:created xsi:type="dcterms:W3CDTF">2019-09-02T13:39:39Z</dcterms:created>
  <dcterms:modified xsi:type="dcterms:W3CDTF">2026-03-09T16:29:35Z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0x010100958049F6D630AF47BB18DF5F87B80949</vt:lpwstr>
  </property>
</Properties>
</file>