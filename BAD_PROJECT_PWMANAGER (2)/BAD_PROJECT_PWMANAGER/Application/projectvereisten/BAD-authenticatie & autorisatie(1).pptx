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5"/>
  </p:notesMasterIdLst>
  <p:sldIdLst>
    <p:sldId id="261" r:id="rId2"/>
    <p:sldId id="256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1" r:id="rId32"/>
    <p:sldId id="290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43" r:id="rId53"/>
    <p:sldId id="311" r:id="rId54"/>
    <p:sldId id="313" r:id="rId55"/>
    <p:sldId id="312" r:id="rId56"/>
    <p:sldId id="314" r:id="rId57"/>
    <p:sldId id="315" r:id="rId58"/>
    <p:sldId id="316" r:id="rId59"/>
    <p:sldId id="317" r:id="rId60"/>
    <p:sldId id="318" r:id="rId61"/>
    <p:sldId id="342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  <p:sldId id="333" r:id="rId77"/>
    <p:sldId id="334" r:id="rId78"/>
    <p:sldId id="335" r:id="rId79"/>
    <p:sldId id="336" r:id="rId80"/>
    <p:sldId id="337" r:id="rId81"/>
    <p:sldId id="338" r:id="rId82"/>
    <p:sldId id="339" r:id="rId83"/>
    <p:sldId id="340" r:id="rId84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561F"/>
    <a:srgbClr val="4F8291"/>
    <a:srgbClr val="FFFF00"/>
    <a:srgbClr val="0000FF"/>
    <a:srgbClr val="008000"/>
    <a:srgbClr val="339933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87" autoAdjust="0"/>
    <p:restoredTop sz="93649" autoAdjust="0"/>
  </p:normalViewPr>
  <p:slideViewPr>
    <p:cSldViewPr snapToGrid="0">
      <p:cViewPr varScale="1">
        <p:scale>
          <a:sx n="74" d="100"/>
          <a:sy n="74" d="100"/>
        </p:scale>
        <p:origin x="10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microsoft.com/office/2016/11/relationships/changesInfo" Target="changesInfos/changesInfo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Van Buggenhout" userId="77de8a13-220e-4226-a82f-c9f4c6ce0102" providerId="ADAL" clId="{F5535B8C-6594-4B49-AA86-19E89A7CA1C9}"/>
    <pc:docChg chg="modSld">
      <pc:chgData name="Sam Van Buggenhout" userId="77de8a13-220e-4226-a82f-c9f4c6ce0102" providerId="ADAL" clId="{F5535B8C-6594-4B49-AA86-19E89A7CA1C9}" dt="2025-04-01T08:54:00.847" v="3" actId="20577"/>
      <pc:docMkLst>
        <pc:docMk/>
      </pc:docMkLst>
      <pc:sldChg chg="modSp mod">
        <pc:chgData name="Sam Van Buggenhout" userId="77de8a13-220e-4226-a82f-c9f4c6ce0102" providerId="ADAL" clId="{F5535B8C-6594-4B49-AA86-19E89A7CA1C9}" dt="2025-04-01T08:54:00.847" v="3" actId="20577"/>
        <pc:sldMkLst>
          <pc:docMk/>
          <pc:sldMk cId="1410289600" sldId="256"/>
        </pc:sldMkLst>
        <pc:spChg chg="mod">
          <ac:chgData name="Sam Van Buggenhout" userId="77de8a13-220e-4226-a82f-c9f4c6ce0102" providerId="ADAL" clId="{F5535B8C-6594-4B49-AA86-19E89A7CA1C9}" dt="2025-04-01T08:54:00.847" v="3" actId="20577"/>
          <ac:spMkLst>
            <pc:docMk/>
            <pc:sldMk cId="1410289600" sldId="256"/>
            <ac:spMk id="7" creationId="{38443782-7588-4BA1-A888-94A8DEFEE0F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BF3A7-A7E5-42B6-9154-500A7CB5E3E8}" type="datetimeFigureOut">
              <a:rPr lang="nl-BE" smtClean="0"/>
              <a:t>23/03/2026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6FAF20-346D-4074-B74A-C2F29A046F4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21578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28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68484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dirty="0"/>
              <a:t>Voorbeeld naar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Lock, A. (2018b).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Asp.net Core in Action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Shelter Island, NY: Manning Publications.</a:t>
            </a:r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65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53832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>
            <a:extLst>
              <a:ext uri="{FF2B5EF4-FFF2-40B4-BE49-F238E27FC236}">
                <a16:creationId xmlns:a16="http://schemas.microsoft.com/office/drawing/2014/main" id="{AEE442BF-C82A-418E-8E62-533CFEF9E15F}"/>
              </a:ext>
            </a:extLst>
          </p:cNvPr>
          <p:cNvSpPr/>
          <p:nvPr userDrawn="1"/>
        </p:nvSpPr>
        <p:spPr>
          <a:xfrm>
            <a:off x="1" y="6024716"/>
            <a:ext cx="12192000" cy="8332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F5AD292-FAF8-44FC-84B3-0842804A02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"/>
            <a:ext cx="12192000" cy="6857827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7D9DA8C5-1FD2-4AD1-983E-C005AF19C7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74236" y="5516542"/>
            <a:ext cx="1300725" cy="41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65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hoek 14">
            <a:extLst>
              <a:ext uri="{FF2B5EF4-FFF2-40B4-BE49-F238E27FC236}">
                <a16:creationId xmlns:a16="http://schemas.microsoft.com/office/drawing/2014/main" id="{73CF8604-A629-44C9-BC34-FAB18A435DEF}"/>
              </a:ext>
            </a:extLst>
          </p:cNvPr>
          <p:cNvSpPr/>
          <p:nvPr userDrawn="1"/>
        </p:nvSpPr>
        <p:spPr>
          <a:xfrm>
            <a:off x="10164726" y="5684874"/>
            <a:ext cx="2027274" cy="117312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29340FA-55B0-4685-ABAD-FAD25820F9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248" y="1424767"/>
            <a:ext cx="9806754" cy="1447247"/>
          </a:xfrm>
        </p:spPr>
        <p:txBody>
          <a:bodyPr anchor="b"/>
          <a:lstStyle>
            <a:lvl1pPr algn="l">
              <a:defRPr sz="5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AD34407-B861-42C6-BCDB-C4A7F1C446A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61248" y="2793963"/>
            <a:ext cx="9144000" cy="544660"/>
          </a:xfrm>
        </p:spPr>
        <p:txBody>
          <a:bodyPr/>
          <a:lstStyle>
            <a:lvl1pPr marL="0" indent="0" algn="l">
              <a:buNone/>
              <a:defRPr sz="24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C197536-820C-433C-9FB6-7C7030EEC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1CCD3E8-9D74-4800-8114-49569A208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7" name="Gelijkbenige driehoek 6">
            <a:extLst>
              <a:ext uri="{FF2B5EF4-FFF2-40B4-BE49-F238E27FC236}">
                <a16:creationId xmlns:a16="http://schemas.microsoft.com/office/drawing/2014/main" id="{5EFC5DA7-42AD-4163-B81C-BC60400CFDEF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7D9DA8C5-1FD2-4AD1-983E-C005AF19C7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25073" y="6073679"/>
            <a:ext cx="1153603" cy="370306"/>
          </a:xfrm>
          <a:prstGeom prst="rect">
            <a:avLst/>
          </a:prstGeom>
        </p:spPr>
      </p:pic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9D3931E4-AE84-4614-95BF-CFF1449B84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33051" y="3999147"/>
            <a:ext cx="6308725" cy="466613"/>
          </a:xfrm>
        </p:spPr>
        <p:txBody>
          <a:bodyPr anchor="b"/>
          <a:lstStyle>
            <a:lvl1pPr marL="0" indent="0">
              <a:buFontTx/>
              <a:buNone/>
              <a:defRPr sz="22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Naam Achternaam</a:t>
            </a:r>
            <a:endParaRPr lang="nl-BE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3622B796-191D-402D-B39A-CDE2C6DA4F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40603" y="4493298"/>
            <a:ext cx="4662487" cy="1617663"/>
          </a:xfrm>
        </p:spPr>
        <p:txBody>
          <a:bodyPr/>
          <a:lstStyle>
            <a:lvl1pPr marL="0" indent="0">
              <a:buNone/>
              <a:defRPr sz="2200">
                <a:latin typeface="+mj-lt"/>
              </a:defRPr>
            </a:lvl1pPr>
            <a:lvl2pPr marL="358163" indent="0">
              <a:buNone/>
              <a:defRPr sz="2200">
                <a:latin typeface="+mj-lt"/>
              </a:defRPr>
            </a:lvl2pPr>
            <a:lvl3pPr marL="720000" indent="0">
              <a:buNone/>
              <a:defRPr sz="2200">
                <a:latin typeface="+mj-lt"/>
              </a:defRPr>
            </a:lvl3pPr>
            <a:lvl4pPr marL="1080000" indent="0">
              <a:buNone/>
              <a:defRPr sz="2200">
                <a:latin typeface="+mj-lt"/>
              </a:defRPr>
            </a:lvl4pPr>
            <a:lvl5pPr marL="1440000" indent="0">
              <a:buNone/>
              <a:defRPr sz="2200">
                <a:latin typeface="+mj-lt"/>
              </a:defRPr>
            </a:lvl5pPr>
          </a:lstStyle>
          <a:p>
            <a:pPr lvl="0"/>
            <a:r>
              <a:rPr lang="nl-NL" dirty="0"/>
              <a:t>Datum</a:t>
            </a:r>
            <a:endParaRPr lang="nl-BE" dirty="0"/>
          </a:p>
        </p:txBody>
      </p:sp>
      <p:sp>
        <p:nvSpPr>
          <p:cNvPr id="13" name="Rechthoekige driehoek 12">
            <a:extLst>
              <a:ext uri="{FF2B5EF4-FFF2-40B4-BE49-F238E27FC236}">
                <a16:creationId xmlns:a16="http://schemas.microsoft.com/office/drawing/2014/main" id="{2F4CE03C-2446-4EC5-B5DD-A041A68BBF35}"/>
              </a:ext>
            </a:extLst>
          </p:cNvPr>
          <p:cNvSpPr/>
          <p:nvPr userDrawn="1"/>
        </p:nvSpPr>
        <p:spPr>
          <a:xfrm rot="8100000">
            <a:off x="945998" y="4240087"/>
            <a:ext cx="309905" cy="30990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D6C2FF9A-F000-4BFA-9764-458F26D2BEB8}"/>
              </a:ext>
            </a:extLst>
          </p:cNvPr>
          <p:cNvSpPr/>
          <p:nvPr userDrawn="1"/>
        </p:nvSpPr>
        <p:spPr>
          <a:xfrm>
            <a:off x="945193" y="4401743"/>
            <a:ext cx="311510" cy="31151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</p:spTree>
    <p:extLst>
      <p:ext uri="{BB962C8B-B14F-4D97-AF65-F5344CB8AC3E}">
        <p14:creationId xmlns:p14="http://schemas.microsoft.com/office/powerpoint/2010/main" val="2258528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>
            <a:extLst>
              <a:ext uri="{FF2B5EF4-FFF2-40B4-BE49-F238E27FC236}">
                <a16:creationId xmlns:a16="http://schemas.microsoft.com/office/drawing/2014/main" id="{CCEBE6B7-490D-4A8D-9B9C-C75E430100F2}"/>
              </a:ext>
            </a:extLst>
          </p:cNvPr>
          <p:cNvSpPr/>
          <p:nvPr userDrawn="1"/>
        </p:nvSpPr>
        <p:spPr>
          <a:xfrm>
            <a:off x="0" y="1"/>
            <a:ext cx="4068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0D7A79-D2CD-4715-91F0-318D4B76503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77031" y="1852225"/>
            <a:ext cx="5365733" cy="3090532"/>
          </a:xfrm>
        </p:spPr>
        <p:txBody>
          <a:bodyPr/>
          <a:lstStyle>
            <a:lvl1pPr marL="0" indent="0">
              <a:lnSpc>
                <a:spcPts val="3800"/>
              </a:lnSpc>
              <a:spcBef>
                <a:spcPts val="2200"/>
              </a:spcBef>
              <a:buFont typeface="Arial" panose="020B0604020202020204" pitchFamily="34" charset="0"/>
              <a:buNone/>
              <a:defRPr sz="3200" b="1">
                <a:solidFill>
                  <a:schemeClr val="tx1"/>
                </a:solidFill>
                <a:latin typeface="+mj-lt"/>
              </a:defRPr>
            </a:lvl1pPr>
            <a:lvl2pPr marL="36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2pPr>
            <a:lvl3pPr marL="720000" indent="-180000" defTabSz="1436688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3pPr>
            <a:lvl4pPr marL="108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4pPr>
            <a:lvl5pPr marL="144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nl-NL" dirty="0"/>
              <a:t>Hoofdstuktitel</a:t>
            </a:r>
          </a:p>
          <a:p>
            <a:pPr lvl="0"/>
            <a:r>
              <a:rPr lang="nl-NL" dirty="0"/>
              <a:t>Hoofdstuktitel</a:t>
            </a:r>
          </a:p>
          <a:p>
            <a:pPr lvl="0"/>
            <a:r>
              <a:rPr lang="nl-NL" dirty="0"/>
              <a:t>Hoofdstuktitel</a:t>
            </a:r>
          </a:p>
          <a:p>
            <a:pPr lvl="0"/>
            <a:r>
              <a:rPr lang="nl-NL" dirty="0"/>
              <a:t>Hoofdstuktitel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77031" y="6264004"/>
            <a:ext cx="2743200" cy="365125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304FD9A2-98F2-4A5B-A452-66B8C41A893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549883" y="1859599"/>
            <a:ext cx="1345923" cy="3090532"/>
          </a:xfrm>
        </p:spPr>
        <p:txBody>
          <a:bodyPr/>
          <a:lstStyle>
            <a:lvl1pPr marL="0" indent="0" algn="r">
              <a:lnSpc>
                <a:spcPts val="3800"/>
              </a:lnSpc>
              <a:spcBef>
                <a:spcPts val="2200"/>
              </a:spcBef>
              <a:buFont typeface="Arial" panose="020B0604020202020204" pitchFamily="34" charset="0"/>
              <a:buNone/>
              <a:defRPr sz="5400" b="1">
                <a:solidFill>
                  <a:schemeClr val="bg1"/>
                </a:solidFill>
                <a:latin typeface="+mj-lt"/>
              </a:defRPr>
            </a:lvl1pPr>
            <a:lvl2pPr marL="36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2pPr>
            <a:lvl3pPr marL="720000" indent="-180000" defTabSz="1436688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3pPr>
            <a:lvl4pPr marL="108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4pPr>
            <a:lvl5pPr marL="144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nl-NL" dirty="0"/>
              <a:t>1.</a:t>
            </a:r>
          </a:p>
          <a:p>
            <a:pPr lvl="0"/>
            <a:r>
              <a:rPr lang="nl-NL" dirty="0"/>
              <a:t>2.</a:t>
            </a:r>
          </a:p>
          <a:p>
            <a:pPr lvl="0"/>
            <a:r>
              <a:rPr lang="nl-NL" dirty="0"/>
              <a:t>3.</a:t>
            </a:r>
          </a:p>
          <a:p>
            <a:pPr lvl="0"/>
            <a:r>
              <a:rPr lang="nl-NL" dirty="0"/>
              <a:t>4.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8DC82B8D-FA17-4BE4-A52F-A63703B07994}"/>
              </a:ext>
            </a:extLst>
          </p:cNvPr>
          <p:cNvSpPr txBox="1"/>
          <p:nvPr userDrawn="1"/>
        </p:nvSpPr>
        <p:spPr>
          <a:xfrm>
            <a:off x="532389" y="285502"/>
            <a:ext cx="1846251" cy="30777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nl-BE" sz="1400" b="1" dirty="0">
                <a:solidFill>
                  <a:schemeClr val="bg1"/>
                </a:solidFill>
                <a:latin typeface="+mj-lt"/>
              </a:rPr>
              <a:t>INHOUDSTAFEL</a:t>
            </a:r>
          </a:p>
        </p:txBody>
      </p:sp>
      <p:sp>
        <p:nvSpPr>
          <p:cNvPr id="15" name="Gelijkbenige driehoek 14">
            <a:extLst>
              <a:ext uri="{FF2B5EF4-FFF2-40B4-BE49-F238E27FC236}">
                <a16:creationId xmlns:a16="http://schemas.microsoft.com/office/drawing/2014/main" id="{F826CAAD-37E1-417F-AE93-7A7F7F6D5FE8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</p:spTree>
    <p:extLst>
      <p:ext uri="{BB962C8B-B14F-4D97-AF65-F5344CB8AC3E}">
        <p14:creationId xmlns:p14="http://schemas.microsoft.com/office/powerpoint/2010/main" val="126106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0D7A79-D2CD-4715-91F0-318D4B765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00" y="2736000"/>
            <a:ext cx="9281274" cy="309053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  <a:lvl2pPr marL="358163" indent="0">
              <a:lnSpc>
                <a:spcPct val="100000"/>
              </a:lnSpc>
              <a:buNone/>
              <a:defRPr/>
            </a:lvl2pPr>
            <a:lvl3pPr marL="720000" indent="0">
              <a:lnSpc>
                <a:spcPct val="100000"/>
              </a:lnSpc>
              <a:buNone/>
              <a:defRPr/>
            </a:lvl3pPr>
            <a:lvl4pPr marL="1080000" indent="0">
              <a:lnSpc>
                <a:spcPct val="100000"/>
              </a:lnSpc>
              <a:buNone/>
              <a:defRPr/>
            </a:lvl4pPr>
            <a:lvl5pPr marL="1440000" indent="0">
              <a:lnSpc>
                <a:spcPct val="100000"/>
              </a:lnSpc>
              <a:buNone/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16181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0D7A79-D2CD-4715-91F0-318D4B765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00" y="1908000"/>
            <a:ext cx="9291600" cy="3132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360000" indent="-180000">
              <a:buFont typeface="Arial" panose="020B0604020202020204" pitchFamily="34" charset="0"/>
              <a:buChar char="•"/>
              <a:defRPr/>
            </a:lvl2pPr>
            <a:lvl3pPr marL="720000" indent="-180000" defTabSz="1436688">
              <a:buFont typeface="Arial" panose="020B0604020202020204" pitchFamily="34" charset="0"/>
              <a:buChar char="•"/>
              <a:defRPr/>
            </a:lvl3pPr>
            <a:lvl4pPr marL="1080000" indent="-180000">
              <a:buFont typeface="Arial" panose="020B0604020202020204" pitchFamily="34" charset="0"/>
              <a:buChar char="•"/>
              <a:defRPr/>
            </a:lvl4pPr>
            <a:lvl5pPr marL="144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46906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E5158C-C5F8-4FA4-8D48-8495226D3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ACB0CE7-11E3-4438-919C-EA7601B23C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20000" y="2736000"/>
            <a:ext cx="4392000" cy="2883505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C456A98-2404-4694-96D5-FDAB6BA76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2000" y="2736000"/>
            <a:ext cx="4392000" cy="2883505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09CE115-B374-4617-BCB4-65CE99671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30D3D96-5DFD-4E22-A20C-C1B8E4E8A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8F20995-02CF-40E9-A9E3-07D0889FE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3D35A45E-59A3-4C31-A9F3-DD73EF3BB7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710415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hoek 14">
            <a:extLst>
              <a:ext uri="{FF2B5EF4-FFF2-40B4-BE49-F238E27FC236}">
                <a16:creationId xmlns:a16="http://schemas.microsoft.com/office/drawing/2014/main" id="{97EFFFE8-8662-44ED-9D46-72EA0C894BB5}"/>
              </a:ext>
            </a:extLst>
          </p:cNvPr>
          <p:cNvSpPr/>
          <p:nvPr userDrawn="1"/>
        </p:nvSpPr>
        <p:spPr>
          <a:xfrm>
            <a:off x="10164726" y="5684874"/>
            <a:ext cx="2027274" cy="11731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pic>
        <p:nvPicPr>
          <p:cNvPr id="13" name="Afbeelding 12" descr="Afbeelding met bijl&#10;&#10;Automatisch gegenereerde beschrijving">
            <a:extLst>
              <a:ext uri="{FF2B5EF4-FFF2-40B4-BE49-F238E27FC236}">
                <a16:creationId xmlns:a16="http://schemas.microsoft.com/office/drawing/2014/main" id="{26190394-04D1-435B-872B-98D9438B95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9842"/>
            <a:ext cx="2485770" cy="495831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AD43DC2-455F-4EDF-A084-FEE83CFC4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74829" y="2226013"/>
            <a:ext cx="7759257" cy="1429415"/>
          </a:xfrm>
        </p:spPr>
        <p:txBody>
          <a:bodyPr anchor="b"/>
          <a:lstStyle>
            <a:lvl1pPr>
              <a:defRPr sz="4400" spc="170" baseline="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C704646-7228-4188-9EAC-6994DE76A28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674829" y="3619988"/>
            <a:ext cx="775925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ONDERTITEL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6946962-0A67-44EB-A18D-73C07F936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316FD36-254F-49C1-A06F-1DBD00D98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849368-50CE-404F-865E-EF0DB7781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8" name="Gelijkbenige driehoek 7">
            <a:extLst>
              <a:ext uri="{FF2B5EF4-FFF2-40B4-BE49-F238E27FC236}">
                <a16:creationId xmlns:a16="http://schemas.microsoft.com/office/drawing/2014/main" id="{939230B4-815F-440B-888A-070C90C48BA5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9A854FE4-B9A5-46C1-BF2D-13E51D44B0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293" y="1353110"/>
            <a:ext cx="1660525" cy="2808287"/>
          </a:xfrm>
        </p:spPr>
        <p:txBody>
          <a:bodyPr anchor="b"/>
          <a:lstStyle>
            <a:lvl1pPr marL="0" indent="0" algn="r">
              <a:buNone/>
              <a:defRPr sz="9000" b="1">
                <a:solidFill>
                  <a:schemeClr val="accent2"/>
                </a:solidFill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1.</a:t>
            </a:r>
            <a:endParaRPr lang="nl-BE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92DBF72E-0CB1-45B4-9813-C3B6894F6D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25073" y="6073679"/>
            <a:ext cx="1153603" cy="370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407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 en bee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0D7A79-D2CD-4715-91F0-318D4B765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00" y="1908000"/>
            <a:ext cx="4114800" cy="309053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360000" indent="-180000">
              <a:lnSpc>
                <a:spcPct val="100000"/>
              </a:lnSpc>
              <a:buFont typeface="Arial" panose="020B0604020202020204" pitchFamily="34" charset="0"/>
              <a:buChar char="•"/>
              <a:defRPr/>
            </a:lvl2pPr>
            <a:lvl3pPr marL="720000" indent="-180000" defTabSz="1436688">
              <a:lnSpc>
                <a:spcPct val="100000"/>
              </a:lnSpc>
              <a:buFont typeface="Arial" panose="020B0604020202020204" pitchFamily="34" charset="0"/>
              <a:buChar char="•"/>
              <a:defRPr/>
            </a:lvl3pPr>
            <a:lvl4pPr marL="1080000" indent="-180000">
              <a:lnSpc>
                <a:spcPct val="100000"/>
              </a:lnSpc>
              <a:buFont typeface="Arial" panose="020B0604020202020204" pitchFamily="34" charset="0"/>
              <a:buChar char="•"/>
              <a:defRPr/>
            </a:lvl4pPr>
            <a:lvl5pPr marL="1440000" indent="-180000">
              <a:lnSpc>
                <a:spcPct val="100000"/>
              </a:lnSpc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CD9E304B-9EEF-4540-A2A5-7D039634D74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92000" y="0"/>
            <a:ext cx="5400000" cy="6858000"/>
          </a:xfrm>
        </p:spPr>
        <p:txBody>
          <a:bodyPr anchor="ctr"/>
          <a:lstStyle>
            <a:lvl1pPr marL="0" indent="0" algn="ctr">
              <a:buNone/>
              <a:defRPr baseline="-25000"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44810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bee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E5744A9E-4C9D-4407-95E8-93A822A070AB}"/>
              </a:ext>
            </a:extLst>
          </p:cNvPr>
          <p:cNvSpPr/>
          <p:nvPr userDrawn="1"/>
        </p:nvSpPr>
        <p:spPr>
          <a:xfrm>
            <a:off x="0" y="1"/>
            <a:ext cx="4068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999" y="594002"/>
            <a:ext cx="3099759" cy="15180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099759" cy="365125"/>
          </a:xfrm>
        </p:spPr>
        <p:txBody>
          <a:bodyPr anchor="b" anchorCtr="0"/>
          <a:lstStyle>
            <a:lvl1pPr marL="0" indent="0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CD9E304B-9EEF-4540-A2A5-7D039634D74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8000" y="0"/>
            <a:ext cx="6858000" cy="6858000"/>
          </a:xfrm>
        </p:spPr>
        <p:txBody>
          <a:bodyPr anchor="ctr"/>
          <a:lstStyle>
            <a:lvl1pPr marL="0" indent="0" algn="ctr">
              <a:buNone/>
              <a:defRPr baseline="-25000"/>
            </a:lvl1pPr>
          </a:lstStyle>
          <a:p>
            <a:endParaRPr lang="nl-BE"/>
          </a:p>
        </p:txBody>
      </p:sp>
      <p:sp>
        <p:nvSpPr>
          <p:cNvPr id="10" name="Gelijkbenige driehoek 9">
            <a:extLst>
              <a:ext uri="{FF2B5EF4-FFF2-40B4-BE49-F238E27FC236}">
                <a16:creationId xmlns:a16="http://schemas.microsoft.com/office/drawing/2014/main" id="{83AC5738-621C-4857-A498-30728DB03399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</p:spTree>
    <p:extLst>
      <p:ext uri="{BB962C8B-B14F-4D97-AF65-F5344CB8AC3E}">
        <p14:creationId xmlns:p14="http://schemas.microsoft.com/office/powerpoint/2010/main" val="3328971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B146321D-6FEB-4DB2-A1BE-8F6F0E01F7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89799" y="2727183"/>
            <a:ext cx="5162888" cy="2140319"/>
          </a:xfrm>
        </p:spPr>
        <p:txBody>
          <a:bodyPr/>
          <a:lstStyle>
            <a:lvl1pPr marL="0" indent="0">
              <a:buNone/>
              <a:defRPr sz="27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Quote groot: </a:t>
            </a:r>
            <a:r>
              <a:rPr lang="nl-NL" dirty="0" err="1"/>
              <a:t>occulpa</a:t>
            </a:r>
            <a:r>
              <a:rPr lang="nl-NL" dirty="0"/>
              <a:t> </a:t>
            </a:r>
            <a:r>
              <a:rPr lang="nl-NL" dirty="0" err="1"/>
              <a:t>etureicae</a:t>
            </a:r>
            <a:r>
              <a:rPr lang="nl-NL" dirty="0"/>
              <a:t> </a:t>
            </a:r>
            <a:r>
              <a:rPr lang="nl-NL" dirty="0" err="1"/>
              <a:t>sit</a:t>
            </a:r>
            <a:r>
              <a:rPr lang="nl-NL" dirty="0"/>
              <a:t> </a:t>
            </a:r>
            <a:r>
              <a:rPr lang="nl-NL" dirty="0" err="1"/>
              <a:t>dolorae</a:t>
            </a:r>
            <a:r>
              <a:rPr lang="nl-NL" dirty="0"/>
              <a:t>. </a:t>
            </a:r>
            <a:r>
              <a:rPr lang="nl-NL" dirty="0" err="1"/>
              <a:t>Nemporese</a:t>
            </a:r>
            <a:r>
              <a:rPr lang="nl-NL" dirty="0"/>
              <a:t> </a:t>
            </a:r>
            <a:r>
              <a:rPr lang="nl-NL" dirty="0" err="1"/>
              <a:t>endae</a:t>
            </a:r>
            <a:r>
              <a:rPr lang="nl-NL" dirty="0"/>
              <a:t> </a:t>
            </a:r>
            <a:r>
              <a:rPr lang="nl-NL" dirty="0" err="1"/>
              <a:t>am</a:t>
            </a:r>
            <a:r>
              <a:rPr lang="nl-NL" dirty="0"/>
              <a:t>, ad </a:t>
            </a:r>
            <a:r>
              <a:rPr lang="nl-NL" dirty="0" err="1"/>
              <a:t>quatecum</a:t>
            </a:r>
            <a:r>
              <a:rPr lang="nl-NL" dirty="0"/>
              <a:t> </a:t>
            </a:r>
            <a:r>
              <a:rPr lang="nl-NL" dirty="0" err="1"/>
              <a:t>fugiaeperunt</a:t>
            </a:r>
            <a:r>
              <a:rPr lang="nl-NL" dirty="0"/>
              <a:t> </a:t>
            </a:r>
            <a:r>
              <a:rPr lang="nl-NL" dirty="0" err="1"/>
              <a:t>unt</a:t>
            </a:r>
            <a:r>
              <a:rPr lang="nl-NL" dirty="0"/>
              <a:t>. </a:t>
            </a:r>
            <a:r>
              <a:rPr lang="nl-NL" dirty="0" err="1"/>
              <a:t>Atia</a:t>
            </a:r>
            <a:r>
              <a:rPr lang="nl-NL" dirty="0"/>
              <a:t> </a:t>
            </a:r>
            <a:r>
              <a:rPr lang="nl-NL" dirty="0" err="1"/>
              <a:t>sam</a:t>
            </a:r>
            <a:r>
              <a:rPr lang="nl-NL" dirty="0"/>
              <a:t> que </a:t>
            </a:r>
            <a:r>
              <a:rPr lang="nl-NL" dirty="0" err="1"/>
              <a:t>quamustrum</a:t>
            </a:r>
            <a:r>
              <a:rPr lang="nl-NL" dirty="0"/>
              <a:t> </a:t>
            </a:r>
            <a:r>
              <a:rPr lang="nl-NL" dirty="0" err="1"/>
              <a:t>fugiam</a:t>
            </a:r>
            <a:r>
              <a:rPr lang="nl-NL" dirty="0"/>
              <a:t> </a:t>
            </a:r>
            <a:r>
              <a:rPr lang="nl-NL" dirty="0" err="1"/>
              <a:t>quis</a:t>
            </a:r>
            <a:r>
              <a:rPr lang="nl-NL" dirty="0"/>
              <a:t> </a:t>
            </a:r>
            <a:r>
              <a:rPr lang="nl-NL" dirty="0" err="1"/>
              <a:t>corempo</a:t>
            </a:r>
            <a:r>
              <a:rPr lang="nl-NL" dirty="0"/>
              <a:t> </a:t>
            </a:r>
            <a:r>
              <a:rPr lang="nl-NL" dirty="0" err="1"/>
              <a:t>restium</a:t>
            </a:r>
            <a:r>
              <a:rPr lang="nl-NL" dirty="0"/>
              <a:t> </a:t>
            </a:r>
            <a:r>
              <a:rPr lang="nl-NL" dirty="0" err="1"/>
              <a:t>ero</a:t>
            </a:r>
            <a:r>
              <a:rPr lang="nl-NL" dirty="0"/>
              <a:t>.</a:t>
            </a:r>
            <a:endParaRPr lang="nl-BE" dirty="0"/>
          </a:p>
        </p:txBody>
      </p:sp>
      <p:sp>
        <p:nvSpPr>
          <p:cNvPr id="17" name="Gelijkbenige driehoek 16">
            <a:extLst>
              <a:ext uri="{FF2B5EF4-FFF2-40B4-BE49-F238E27FC236}">
                <a16:creationId xmlns:a16="http://schemas.microsoft.com/office/drawing/2014/main" id="{C9E84D4C-76DA-4E4E-9F21-DB0F8DC87F65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7BE966C4-F2D9-4A05-8182-0E3CB210AD5F}"/>
              </a:ext>
            </a:extLst>
          </p:cNvPr>
          <p:cNvSpPr/>
          <p:nvPr userDrawn="1"/>
        </p:nvSpPr>
        <p:spPr>
          <a:xfrm>
            <a:off x="10179781" y="5632057"/>
            <a:ext cx="2012219" cy="12259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4F015E38-B67E-4A5F-B168-2C2166D851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25073" y="6073679"/>
            <a:ext cx="1153603" cy="370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029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quote met naa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CD9E304B-9EEF-4540-A2A5-7D039634D74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73615" y="4537479"/>
            <a:ext cx="1008000" cy="1008000"/>
          </a:xfrm>
        </p:spPr>
        <p:txBody>
          <a:bodyPr anchor="ctr"/>
          <a:lstStyle>
            <a:lvl1pPr marL="0" indent="0" algn="ctr">
              <a:buNone/>
              <a:defRPr sz="2000" baseline="-25000"/>
            </a:lvl1pPr>
          </a:lstStyle>
          <a:p>
            <a:endParaRPr lang="nl-BE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B146321D-6FEB-4DB2-A1BE-8F6F0E01F7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89799" y="2185019"/>
            <a:ext cx="5162888" cy="2140319"/>
          </a:xfrm>
        </p:spPr>
        <p:txBody>
          <a:bodyPr/>
          <a:lstStyle>
            <a:lvl1pPr marL="0" indent="0">
              <a:buNone/>
              <a:defRPr sz="27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Quote groot: </a:t>
            </a:r>
            <a:r>
              <a:rPr lang="nl-NL" dirty="0" err="1"/>
              <a:t>occulpa</a:t>
            </a:r>
            <a:r>
              <a:rPr lang="nl-NL" dirty="0"/>
              <a:t> </a:t>
            </a:r>
            <a:r>
              <a:rPr lang="nl-NL" dirty="0" err="1"/>
              <a:t>etureicae</a:t>
            </a:r>
            <a:r>
              <a:rPr lang="nl-NL" dirty="0"/>
              <a:t> </a:t>
            </a:r>
            <a:r>
              <a:rPr lang="nl-NL" dirty="0" err="1"/>
              <a:t>sit</a:t>
            </a:r>
            <a:r>
              <a:rPr lang="nl-NL" dirty="0"/>
              <a:t> </a:t>
            </a:r>
            <a:r>
              <a:rPr lang="nl-NL" dirty="0" err="1"/>
              <a:t>dolorae</a:t>
            </a:r>
            <a:r>
              <a:rPr lang="nl-NL" dirty="0"/>
              <a:t>. </a:t>
            </a:r>
            <a:r>
              <a:rPr lang="nl-NL" dirty="0" err="1"/>
              <a:t>Nemporese</a:t>
            </a:r>
            <a:r>
              <a:rPr lang="nl-NL" dirty="0"/>
              <a:t> </a:t>
            </a:r>
            <a:r>
              <a:rPr lang="nl-NL" dirty="0" err="1"/>
              <a:t>endae</a:t>
            </a:r>
            <a:r>
              <a:rPr lang="nl-NL" dirty="0"/>
              <a:t> </a:t>
            </a:r>
            <a:r>
              <a:rPr lang="nl-NL" dirty="0" err="1"/>
              <a:t>am</a:t>
            </a:r>
            <a:r>
              <a:rPr lang="nl-NL" dirty="0"/>
              <a:t>, ad </a:t>
            </a:r>
            <a:r>
              <a:rPr lang="nl-NL" dirty="0" err="1"/>
              <a:t>quatecum</a:t>
            </a:r>
            <a:r>
              <a:rPr lang="nl-NL" dirty="0"/>
              <a:t> </a:t>
            </a:r>
            <a:r>
              <a:rPr lang="nl-NL" dirty="0" err="1"/>
              <a:t>fugiaeperunt</a:t>
            </a:r>
            <a:r>
              <a:rPr lang="nl-NL" dirty="0"/>
              <a:t> </a:t>
            </a:r>
            <a:r>
              <a:rPr lang="nl-NL" dirty="0" err="1"/>
              <a:t>unt</a:t>
            </a:r>
            <a:r>
              <a:rPr lang="nl-NL" dirty="0"/>
              <a:t>. </a:t>
            </a:r>
            <a:r>
              <a:rPr lang="nl-NL" dirty="0" err="1"/>
              <a:t>Atia</a:t>
            </a:r>
            <a:r>
              <a:rPr lang="nl-NL" dirty="0"/>
              <a:t> </a:t>
            </a:r>
            <a:r>
              <a:rPr lang="nl-NL" dirty="0" err="1"/>
              <a:t>sam</a:t>
            </a:r>
            <a:r>
              <a:rPr lang="nl-NL" dirty="0"/>
              <a:t> que </a:t>
            </a:r>
            <a:r>
              <a:rPr lang="nl-NL" dirty="0" err="1"/>
              <a:t>quamustrum</a:t>
            </a:r>
            <a:r>
              <a:rPr lang="nl-NL" dirty="0"/>
              <a:t> </a:t>
            </a:r>
            <a:r>
              <a:rPr lang="nl-NL" dirty="0" err="1"/>
              <a:t>fugiam</a:t>
            </a:r>
            <a:r>
              <a:rPr lang="nl-NL" dirty="0"/>
              <a:t> </a:t>
            </a:r>
            <a:r>
              <a:rPr lang="nl-NL" dirty="0" err="1"/>
              <a:t>quis</a:t>
            </a:r>
            <a:r>
              <a:rPr lang="nl-NL" dirty="0"/>
              <a:t> </a:t>
            </a:r>
            <a:r>
              <a:rPr lang="nl-NL" dirty="0" err="1"/>
              <a:t>corempo</a:t>
            </a:r>
            <a:r>
              <a:rPr lang="nl-NL" dirty="0"/>
              <a:t> </a:t>
            </a:r>
            <a:r>
              <a:rPr lang="nl-NL" dirty="0" err="1"/>
              <a:t>restium</a:t>
            </a:r>
            <a:r>
              <a:rPr lang="nl-NL" dirty="0"/>
              <a:t> </a:t>
            </a:r>
            <a:r>
              <a:rPr lang="nl-NL" dirty="0" err="1"/>
              <a:t>ero</a:t>
            </a:r>
            <a:r>
              <a:rPr lang="nl-NL" dirty="0"/>
              <a:t>.</a:t>
            </a:r>
            <a:endParaRPr lang="nl-BE" dirty="0"/>
          </a:p>
        </p:txBody>
      </p:sp>
      <p:sp>
        <p:nvSpPr>
          <p:cNvPr id="11" name="Tijdelijke aanduiding voor tekst 9">
            <a:extLst>
              <a:ext uri="{FF2B5EF4-FFF2-40B4-BE49-F238E27FC236}">
                <a16:creationId xmlns:a16="http://schemas.microsoft.com/office/drawing/2014/main" id="{65E274DD-5F46-4B35-A5AC-31E6BE89CE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55982" y="4574866"/>
            <a:ext cx="6308725" cy="466613"/>
          </a:xfrm>
        </p:spPr>
        <p:txBody>
          <a:bodyPr anchor="b"/>
          <a:lstStyle>
            <a:lvl1pPr marL="0" indent="0">
              <a:buFontTx/>
              <a:buNone/>
              <a:defRPr sz="21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Naam Achternaam</a:t>
            </a:r>
            <a:endParaRPr lang="nl-BE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DA29B528-8ACF-4D4D-B37B-A6AAB88026F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55982" y="5041479"/>
            <a:ext cx="1909500" cy="466613"/>
          </a:xfrm>
        </p:spPr>
        <p:txBody>
          <a:bodyPr/>
          <a:lstStyle>
            <a:lvl1pPr marL="0" indent="0">
              <a:buNone/>
              <a:defRPr sz="2100">
                <a:solidFill>
                  <a:schemeClr val="tx1"/>
                </a:solidFill>
                <a:latin typeface="+mj-lt"/>
              </a:defRPr>
            </a:lvl1pPr>
            <a:lvl2pPr marL="358163" indent="0">
              <a:buNone/>
              <a:defRPr sz="2200">
                <a:latin typeface="+mj-lt"/>
              </a:defRPr>
            </a:lvl2pPr>
            <a:lvl3pPr marL="720000" indent="0">
              <a:buNone/>
              <a:defRPr sz="2200">
                <a:latin typeface="+mj-lt"/>
              </a:defRPr>
            </a:lvl3pPr>
            <a:lvl4pPr marL="1080000" indent="0">
              <a:buNone/>
              <a:defRPr sz="2200">
                <a:latin typeface="+mj-lt"/>
              </a:defRPr>
            </a:lvl4pPr>
            <a:lvl5pPr marL="1440000" indent="0">
              <a:buNone/>
              <a:defRPr sz="2200">
                <a:latin typeface="+mj-lt"/>
              </a:defRPr>
            </a:lvl5pPr>
          </a:lstStyle>
          <a:p>
            <a:pPr lvl="0"/>
            <a:r>
              <a:rPr lang="nl-NL" dirty="0"/>
              <a:t>Datum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896691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en titel en inhou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5843A7B-9F3B-480D-AD2E-C3AACED19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44671" y="1769806"/>
            <a:ext cx="4036181" cy="1269552"/>
          </a:xfrm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DDAC10B-1AED-4A32-B7C4-E04362F3B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44672" y="3047450"/>
            <a:ext cx="4036182" cy="2549854"/>
          </a:xfrm>
        </p:spPr>
        <p:txBody>
          <a:bodyPr/>
          <a:lstStyle>
            <a:lvl1pPr marL="0" indent="0">
              <a:buNone/>
              <a:defRPr/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44202EC0-7C3F-449D-A78C-41C97D42D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CE90316-0261-473A-89DB-C22973630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C9AAC146-4636-4E5A-A84D-9EC96FAB2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DC69D467-5BA6-489C-BF11-65D772B5B4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11" name="Tijdelijke aanduiding voor tekst 7">
            <a:extLst>
              <a:ext uri="{FF2B5EF4-FFF2-40B4-BE49-F238E27FC236}">
                <a16:creationId xmlns:a16="http://schemas.microsoft.com/office/drawing/2014/main" id="{602B1D0A-36A5-4B59-853B-DAA887AFB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13" name="Tijdelijke aanduiding voor grafiek 12">
            <a:extLst>
              <a:ext uri="{FF2B5EF4-FFF2-40B4-BE49-F238E27FC236}">
                <a16:creationId xmlns:a16="http://schemas.microsoft.com/office/drawing/2014/main" id="{FF732A83-4257-4217-8FBA-FB64E01272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96001" y="1295400"/>
            <a:ext cx="6401310" cy="461168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89662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en tit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44202EC0-7C3F-449D-A78C-41C97D42D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CE90316-0261-473A-89DB-C22973630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C9AAC146-4636-4E5A-A84D-9EC96FAB2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DC69D467-5BA6-489C-BF11-65D772B5B4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11" name="Tijdelijke aanduiding voor tekst 7">
            <a:extLst>
              <a:ext uri="{FF2B5EF4-FFF2-40B4-BE49-F238E27FC236}">
                <a16:creationId xmlns:a16="http://schemas.microsoft.com/office/drawing/2014/main" id="{602B1D0A-36A5-4B59-853B-DAA887AFB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13" name="Tijdelijke aanduiding voor grafiek 12">
            <a:extLst>
              <a:ext uri="{FF2B5EF4-FFF2-40B4-BE49-F238E27FC236}">
                <a16:creationId xmlns:a16="http://schemas.microsoft.com/office/drawing/2014/main" id="{FF732A83-4257-4217-8FBA-FB64E01272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1280400" y="1295400"/>
            <a:ext cx="9301567" cy="461168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191332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BCCE59-2411-4F31-B2FA-A0E3C2D3F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E3473E5-12B3-4067-8FAB-0C045297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5205202-803B-40C0-8FCF-E7381AE4E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3488137-6613-43C0-B311-4B1FB099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6" name="Tijdelijke aanduiding voor tekst 7">
            <a:extLst>
              <a:ext uri="{FF2B5EF4-FFF2-40B4-BE49-F238E27FC236}">
                <a16:creationId xmlns:a16="http://schemas.microsoft.com/office/drawing/2014/main" id="{591161BA-2045-41AE-B361-A0AB563B57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493497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7DF97DE-814F-4A02-925B-4FA8DC174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639C6991-A2F7-45F1-A24C-12CAC083E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91E0077-B4BD-4C07-BC35-57BD3CDF0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53358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1A2C12ED-88A7-4813-9ECA-D67FA6D81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00" y="612000"/>
            <a:ext cx="10515600" cy="68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05F5B42-3528-42D1-A27E-87182BBDF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0328" y="2729021"/>
            <a:ext cx="9281274" cy="309053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4F6AD4E-0376-4AAB-8907-1E42C45378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98576" y="6264004"/>
            <a:ext cx="2743200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141D534-2D3B-4E3E-93F0-6E17F620AF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246" y="6264211"/>
            <a:ext cx="4114800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AC6B2CE-C5EC-498A-A0F1-8E7B718BB6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4291" y="6264211"/>
            <a:ext cx="288000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200" b="0">
                <a:solidFill>
                  <a:schemeClr val="tx1"/>
                </a:solidFill>
                <a:latin typeface="+mj-lt"/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C54CFD1D-AE9F-4E01-BB96-1FD87EDE6CC2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5073" y="6073683"/>
            <a:ext cx="1153603" cy="370307"/>
          </a:xfrm>
          <a:prstGeom prst="rect">
            <a:avLst/>
          </a:prstGeom>
        </p:spPr>
      </p:pic>
      <p:sp>
        <p:nvSpPr>
          <p:cNvPr id="10" name="Gelijkbenige driehoek 9">
            <a:extLst>
              <a:ext uri="{FF2B5EF4-FFF2-40B4-BE49-F238E27FC236}">
                <a16:creationId xmlns:a16="http://schemas.microsoft.com/office/drawing/2014/main" id="{91F4572B-450D-4A18-A92E-3CDA65745A0D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</p:spTree>
    <p:extLst>
      <p:ext uri="{BB962C8B-B14F-4D97-AF65-F5344CB8AC3E}">
        <p14:creationId xmlns:p14="http://schemas.microsoft.com/office/powerpoint/2010/main" val="3853335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49" r:id="rId2"/>
    <p:sldLayoutId id="2147483667" r:id="rId3"/>
    <p:sldLayoutId id="2147483650" r:id="rId4"/>
    <p:sldLayoutId id="2147483661" r:id="rId5"/>
    <p:sldLayoutId id="2147483652" r:id="rId6"/>
    <p:sldLayoutId id="2147483651" r:id="rId7"/>
    <p:sldLayoutId id="2147483663" r:id="rId8"/>
    <p:sldLayoutId id="2147483666" r:id="rId9"/>
    <p:sldLayoutId id="2147483664" r:id="rId10"/>
    <p:sldLayoutId id="2147483665" r:id="rId11"/>
    <p:sldLayoutId id="2147483653" r:id="rId12"/>
    <p:sldLayoutId id="2147483669" r:id="rId13"/>
    <p:sldLayoutId id="2147483654" r:id="rId14"/>
    <p:sldLayoutId id="2147483655" r:id="rId15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7800" indent="-1778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0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62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webf.zone/ultimate-guide-to-http-cookies-2aa3e083dbae#8529" TargetMode="Externa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jp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icrosoft.com/en-us/aspnet/core/security/authentication/identity-configuration?view=aspnetcore-5.0" TargetMode="Externa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icrosoft.com/en-us/dotnet/api/microsoft.aspnetcore.identity.usermanager-1?view=aspnetcore-5.0" TargetMode="Externa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Singleton_pattern" TargetMode="External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1180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718ED56-9B95-423B-8216-9F178AD2C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1247" y="1424767"/>
            <a:ext cx="10287043" cy="1447247"/>
          </a:xfrm>
        </p:spPr>
        <p:txBody>
          <a:bodyPr/>
          <a:lstStyle/>
          <a:p>
            <a:r>
              <a:rPr lang="nl-BE" dirty="0"/>
              <a:t>Business Application Development</a:t>
            </a:r>
          </a:p>
        </p:txBody>
      </p:sp>
      <p:sp>
        <p:nvSpPr>
          <p:cNvPr id="5" name="Ondertitel 4">
            <a:extLst>
              <a:ext uri="{FF2B5EF4-FFF2-40B4-BE49-F238E27FC236}">
                <a16:creationId xmlns:a16="http://schemas.microsoft.com/office/drawing/2014/main" id="{124F62E7-84EB-4132-BAC4-04FD56CAD6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BE" dirty="0"/>
              <a:t>Authenticatie &amp; Autorisatie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18169475-DD59-4D84-BD2E-FA0DFEC69F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40603" y="3988604"/>
            <a:ext cx="6308725" cy="466613"/>
          </a:xfrm>
        </p:spPr>
        <p:txBody>
          <a:bodyPr/>
          <a:lstStyle/>
          <a:p>
            <a:r>
              <a:rPr lang="nl-BE" dirty="0"/>
              <a:t>Sam Van Buggenhout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38443782-7588-4BA1-A888-94A8DEFEE0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40603" y="4486230"/>
            <a:ext cx="4662487" cy="1617663"/>
          </a:xfrm>
        </p:spPr>
        <p:txBody>
          <a:bodyPr/>
          <a:lstStyle/>
          <a:p>
            <a:r>
              <a:rPr lang="nl-BE" dirty="0"/>
              <a:t>Academiejaar 2025-2026</a:t>
            </a:r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83EA1070-FA06-4A00-A759-4ACED8B01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FC613BBA-66FF-4B29-8641-2A8DBF9F4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2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410289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D9A78874-CA76-4C66-8AB0-DB0467756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7891" y="1472277"/>
            <a:ext cx="4916130" cy="4613891"/>
          </a:xfrm>
        </p:spPr>
        <p:txBody>
          <a:bodyPr numCol="2" anchor="ctr"/>
          <a:lstStyle/>
          <a:p>
            <a:pPr>
              <a:spcBef>
                <a:spcPts val="600"/>
              </a:spcBef>
            </a:pPr>
            <a:r>
              <a:rPr lang="nl-BE" dirty="0"/>
              <a:t>Cookies</a:t>
            </a:r>
          </a:p>
          <a:p>
            <a:pPr>
              <a:spcBef>
                <a:spcPts val="600"/>
              </a:spcBef>
            </a:pPr>
            <a:r>
              <a:rPr lang="nl-BE" dirty="0"/>
              <a:t>Sessies</a:t>
            </a:r>
          </a:p>
          <a:p>
            <a:pPr>
              <a:spcBef>
                <a:spcPts val="600"/>
              </a:spcBef>
            </a:pPr>
            <a:r>
              <a:rPr lang="nl-BE" dirty="0"/>
              <a:t>Authenticatie</a:t>
            </a:r>
          </a:p>
          <a:p>
            <a:pPr>
              <a:spcBef>
                <a:spcPts val="600"/>
              </a:spcBef>
            </a:pPr>
            <a:r>
              <a:rPr lang="nl-BE" dirty="0"/>
              <a:t>Autorisatie</a:t>
            </a:r>
          </a:p>
          <a:p>
            <a:pPr>
              <a:spcBef>
                <a:spcPts val="600"/>
              </a:spcBef>
            </a:pPr>
            <a:endParaRPr lang="nl-BE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1EB6E6A-9EE0-4FEF-9807-DEC31A15C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59CE2FD-DE76-4295-BF54-E1613FCA4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3</a:t>
            </a:fld>
            <a:endParaRPr lang="nl-BE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10ED5F0-52A2-493E-B0DC-8AD33139F942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09927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BA70A-C2DB-4349-AC47-5E8528B89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Cookies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046C20-E4A7-45AA-A273-F37634E32D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4D739D-15AA-421A-9A5A-F92C8A1AE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A25898-6C08-4411-9284-738CE2CFC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4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D7B6A6-5A9E-4EDE-ADAC-1210712341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89691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221ED-85F3-4FBC-B8B5-5632417DF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Wat zijn Cookies?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2F9719-F74C-4A35-9987-517807551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2725D8-0E65-4630-A7F0-4A560A215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BAA0173-DB8B-4E65-BA3D-ECEB138AAD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0CBD2F-06CD-4671-9DD7-F03294D8FF45}"/>
              </a:ext>
            </a:extLst>
          </p:cNvPr>
          <p:cNvSpPr txBox="1"/>
          <p:nvPr/>
        </p:nvSpPr>
        <p:spPr>
          <a:xfrm>
            <a:off x="410470" y="2289818"/>
            <a:ext cx="742891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400" b="1" dirty="0">
                <a:solidFill>
                  <a:schemeClr val="accent6"/>
                </a:solidFill>
              </a:rPr>
              <a:t>Cookie</a:t>
            </a:r>
            <a:r>
              <a:rPr lang="nl-BE" sz="2400" dirty="0"/>
              <a:t> = stukje data dat opgeslagen wordt in de browser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400" dirty="0"/>
              <a:t>Gebruik: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sz="2400" dirty="0"/>
              <a:t>beveiliging (authenticatie, anti </a:t>
            </a:r>
            <a:r>
              <a:rPr lang="nl-BE" sz="2400" dirty="0" err="1"/>
              <a:t>forgery</a:t>
            </a:r>
            <a:r>
              <a:rPr lang="nl-BE" sz="2400" dirty="0"/>
              <a:t>-tokens, ...)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sz="2400" dirty="0"/>
              <a:t>personalisatie (voorkeuren, advertenties, ...)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sz="2400" dirty="0"/>
              <a:t>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400" dirty="0"/>
              <a:t>In de vorm van </a:t>
            </a:r>
            <a:r>
              <a:rPr lang="nl-BE" sz="2400" dirty="0" err="1"/>
              <a:t>key-value</a:t>
            </a:r>
            <a:r>
              <a:rPr lang="nl-BE" sz="2400" dirty="0"/>
              <a:t> paren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BE" sz="2400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EF0AF71-1AA8-460E-B1E2-BC5C7E4F7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2050" name="Picture 2" descr="https://lh3.googleusercontent.com/dJuH61NS0g54JtBHH13J-VHiF2TFv2tTceeSDJuv9d8WUDUeGE8JAyLwolcWdp13dFMxjsuwD6J5ErzrKUxlvseTyi3WcnAvOJ9aBs-_tyUIxVdoAmgsZswll3DAYyHS_VaNEDl1BlriBZgTl9i26qNjedgBaOkv_vau34opKhEut9Qo_cagbiUXKt-TFYzNZmM3f9C0YX63TL3WUd05rxlFRSc75QdPEgCJIh7CozPo5vMhQmJIBsc1C7hgi_8OLsQamy2ntOfSIlsvSBacN5DM8ZGy0xvbhCVVbVIzrA48XGnpuNimMnqacYO8h0JhTHJfN7GWMZdyWQeI5axIuaqmuu2h9xsiuOTwJS3ISI2vfpUI6v68GGFqpUcErK4CDcG6RQ7YI_pnjJ9IO_gZQMkepN2AAjOlMyGVvQPghkov4CM-Wlgt_BNP8uH_Ny8vjRgzgz8XP1XmtW5qJFRv36kVdGQw4ftwoQU7m5z92pghJiqJP7-3mQs2cI7pMb9mypV6WSfpbsqqDkagakMyYjSGJam-wvLA0f95NMS122C_YmgVS1VSqre-61bu2WwKneMGQIdv7mZRYOtj4XKnA5kURrNOH312e_lSJrVIJ_n1SFP1uNqKlWdzEpYT-TaMqnwcPDADY4nBGfF_JdxjCn0bPQR0LJ1wm0UZOkBM750qBm61X323SB38r_2XTg=w678-h903-no?authuser=0">
            <a:extLst>
              <a:ext uri="{FF2B5EF4-FFF2-40B4-BE49-F238E27FC236}">
                <a16:creationId xmlns:a16="http://schemas.microsoft.com/office/drawing/2014/main" id="{587184ED-16EC-48AA-8C54-EB3D047532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93"/>
          <a:stretch/>
        </p:blipFill>
        <p:spPr bwMode="auto">
          <a:xfrm>
            <a:off x="8256107" y="1609905"/>
            <a:ext cx="3326294" cy="3638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ED2FB99-3F9A-42FE-955D-4D9F451628D5}"/>
              </a:ext>
            </a:extLst>
          </p:cNvPr>
          <p:cNvSpPr txBox="1"/>
          <p:nvPr/>
        </p:nvSpPr>
        <p:spPr>
          <a:xfrm>
            <a:off x="8187281" y="5248094"/>
            <a:ext cx="3463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i="1" dirty="0"/>
              <a:t>Bron: Sam Van Buggenhout</a:t>
            </a:r>
          </a:p>
        </p:txBody>
      </p:sp>
    </p:spTree>
    <p:extLst>
      <p:ext uri="{BB962C8B-B14F-4D97-AF65-F5344CB8AC3E}">
        <p14:creationId xmlns:p14="http://schemas.microsoft.com/office/powerpoint/2010/main" val="4016065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5B709-C84A-4129-ADEF-9418E2667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Wat zijn Cookies?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50A52-71EC-4A8C-8063-959D74B15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163" y="1956619"/>
            <a:ext cx="9281274" cy="403122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HTTP is </a:t>
            </a:r>
            <a:r>
              <a:rPr lang="nl-BE" b="1" dirty="0" err="1">
                <a:solidFill>
                  <a:schemeClr val="accent6"/>
                </a:solidFill>
              </a:rPr>
              <a:t>stateless</a:t>
            </a:r>
            <a:r>
              <a:rPr lang="nl-BE" dirty="0"/>
              <a:t> protocol </a:t>
            </a:r>
            <a:r>
              <a:rPr lang="nl-BE" dirty="0">
                <a:sym typeface="Wingdings" panose="05000000000000000000" pitchFamily="2" charset="2"/>
              </a:rPr>
              <a:t> data kan niet over verschillende </a:t>
            </a:r>
            <a:r>
              <a:rPr lang="nl-BE" dirty="0" err="1">
                <a:sym typeface="Wingdings" panose="05000000000000000000" pitchFamily="2" charset="2"/>
              </a:rPr>
              <a:t>requests</a:t>
            </a:r>
            <a:r>
              <a:rPr lang="nl-BE" dirty="0">
                <a:sym typeface="Wingdings" panose="05000000000000000000" pitchFamily="2" charset="2"/>
              </a:rPr>
              <a:t> heen bewaard worden</a:t>
            </a:r>
            <a:endParaRPr lang="nl-BE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b="1" dirty="0"/>
              <a:t>Oplossing:</a:t>
            </a:r>
            <a:r>
              <a:rPr lang="nl-BE" dirty="0"/>
              <a:t> data meesturen via </a:t>
            </a:r>
            <a:r>
              <a:rPr lang="nl-BE" b="1" dirty="0">
                <a:solidFill>
                  <a:schemeClr val="accent6"/>
                </a:solidFill>
              </a:rPr>
              <a:t>cookie</a:t>
            </a:r>
            <a:r>
              <a:rPr lang="nl-BE" dirty="0"/>
              <a:t>:</a:t>
            </a:r>
          </a:p>
          <a:p>
            <a:pPr marL="872513" lvl="1" indent="-514350">
              <a:buFont typeface="+mj-lt"/>
              <a:buAutoNum type="arabicPeriod"/>
            </a:pPr>
            <a:r>
              <a:rPr lang="nl-BE" sz="2400" dirty="0"/>
              <a:t>Client stuurt </a:t>
            </a:r>
            <a:r>
              <a:rPr lang="nl-BE" sz="2400" dirty="0" err="1"/>
              <a:t>request</a:t>
            </a:r>
            <a:r>
              <a:rPr lang="nl-BE" sz="2400" dirty="0"/>
              <a:t> naar server (bv.: POST-</a:t>
            </a:r>
            <a:r>
              <a:rPr lang="nl-BE" sz="2400" dirty="0" err="1"/>
              <a:t>request</a:t>
            </a:r>
            <a:r>
              <a:rPr lang="nl-BE" sz="2400" dirty="0"/>
              <a:t> bij login)</a:t>
            </a:r>
          </a:p>
          <a:p>
            <a:pPr marL="872513" lvl="1" indent="-514350">
              <a:buFont typeface="+mj-lt"/>
              <a:buAutoNum type="arabicPeriod"/>
            </a:pPr>
            <a:r>
              <a:rPr lang="nl-BE" sz="2400" dirty="0"/>
              <a:t>De server stuurt een response + cookie met gegevens naar de </a:t>
            </a:r>
            <a:r>
              <a:rPr lang="nl-BE" sz="2400" dirty="0" err="1"/>
              <a:t>client</a:t>
            </a:r>
            <a:endParaRPr lang="nl-BE" sz="2400" dirty="0"/>
          </a:p>
          <a:p>
            <a:pPr marL="872513" lvl="1" indent="-514350">
              <a:buFont typeface="+mj-lt"/>
              <a:buAutoNum type="arabicPeriod"/>
            </a:pPr>
            <a:r>
              <a:rPr lang="nl-BE" sz="2400" dirty="0"/>
              <a:t>Bij elke volgende </a:t>
            </a:r>
            <a:r>
              <a:rPr lang="nl-BE" sz="2400" dirty="0" err="1"/>
              <a:t>request</a:t>
            </a:r>
            <a:r>
              <a:rPr lang="nl-BE" sz="2400" dirty="0"/>
              <a:t> naar de server, zal </a:t>
            </a:r>
            <a:r>
              <a:rPr lang="nl-BE" sz="2400" dirty="0" err="1"/>
              <a:t>client</a:t>
            </a:r>
            <a:r>
              <a:rPr lang="nl-BE" sz="2400" dirty="0"/>
              <a:t> deze cookie meesturen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8CAD8F-F081-4D3B-9204-D2D38BE27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047BF5-E995-42EA-880F-765D27766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6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70A43F2-A136-42DA-AFD7-1E998C18E2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69164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5B709-C84A-4129-ADEF-9418E2667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Wat zijn Cookies?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8CAD8F-F081-4D3B-9204-D2D38BE27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047BF5-E995-42EA-880F-765D27766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7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70A43F2-A136-42DA-AFD7-1E998C18E2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0B5FA0B-FABD-4550-8A95-8FA5EF253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239" y="2189879"/>
            <a:ext cx="6509522" cy="2606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6165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54507-6A9D-439C-9C17-1920C69B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Cookies instellen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F8BE9-0078-4754-8505-D9BF272EC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291" y="1457806"/>
            <a:ext cx="10618974" cy="309053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sz="2400" dirty="0"/>
              <a:t>Gebruik de methode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Response.Cookies.Append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2000" i="1" dirty="0">
                <a:solidFill>
                  <a:schemeClr val="tx2"/>
                </a:solidFill>
                <a:latin typeface="Consolas" panose="020B0609020204030204" pitchFamily="49" charset="0"/>
              </a:rPr>
              <a:t>key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2000" i="1" dirty="0">
                <a:solidFill>
                  <a:schemeClr val="tx2"/>
                </a:solidFill>
                <a:latin typeface="Consolas" panose="020B0609020204030204" pitchFamily="49" charset="0"/>
              </a:rPr>
              <a:t>value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/>
              <a:t> </a:t>
            </a:r>
            <a:br>
              <a:rPr lang="en-US" sz="2000" dirty="0"/>
            </a:br>
            <a:r>
              <a:rPr lang="en-US" sz="2400" dirty="0"/>
              <a:t>om </a:t>
            </a:r>
            <a:r>
              <a:rPr lang="en-US" sz="2400" dirty="0" err="1"/>
              <a:t>een</a:t>
            </a:r>
            <a:r>
              <a:rPr lang="en-US" sz="2400" dirty="0"/>
              <a:t> cookie in </a:t>
            </a:r>
            <a:r>
              <a:rPr lang="en-US" sz="2400" dirty="0" err="1"/>
              <a:t>te</a:t>
            </a:r>
            <a:r>
              <a:rPr lang="en-US" sz="2400" dirty="0"/>
              <a:t> </a:t>
            </a:r>
            <a:r>
              <a:rPr lang="en-US" sz="2400" dirty="0" err="1"/>
              <a:t>stellen</a:t>
            </a:r>
            <a:endParaRPr lang="nl-BE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55A9F1-2C55-4349-86E4-25FF8C072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19CA0F-42C6-421A-A7D0-61E12947E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8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78467F4-8806-4DF4-BB66-93CBF2A001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B864A3-3F8B-4670-9130-9A39D9EC785C}"/>
              </a:ext>
            </a:extLst>
          </p:cNvPr>
          <p:cNvSpPr txBox="1"/>
          <p:nvPr/>
        </p:nvSpPr>
        <p:spPr>
          <a:xfrm>
            <a:off x="1189704" y="2703871"/>
            <a:ext cx="6912078" cy="246221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HomeController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nl-BE" sz="1400" dirty="0">
                <a:solidFill>
                  <a:srgbClr val="4F8291"/>
                </a:solidFill>
                <a:latin typeface="Consolas" panose="020B0609020204030204" pitchFamily="49" charset="0"/>
              </a:rPr>
              <a:t>Controller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endParaRPr lang="nl-BE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[</a:t>
            </a:r>
            <a:r>
              <a:rPr lang="nl-BE" sz="1400" dirty="0" err="1">
                <a:solidFill>
                  <a:srgbClr val="4F8291"/>
                </a:solidFill>
                <a:latin typeface="Consolas" panose="020B0609020204030204" pitchFamily="49" charset="0"/>
              </a:rPr>
              <a:t>HttpPost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ChangeLanguage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language) 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Response.Cookies.</a:t>
            </a:r>
            <a:r>
              <a:rPr lang="en-US" sz="1400" b="1" dirty="0" err="1">
                <a:solidFill>
                  <a:srgbClr val="74561F"/>
                </a:solidFill>
                <a:latin typeface="Consolas" panose="020B0609020204030204" pitchFamily="49" charset="0"/>
              </a:rPr>
              <a:t>Append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"LANG"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, language);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400" dirty="0">
                <a:solidFill>
                  <a:srgbClr val="008000"/>
                </a:solidFill>
                <a:latin typeface="Consolas" panose="020B0609020204030204" pitchFamily="49" charset="0"/>
              </a:rPr>
              <a:t>//...</a:t>
            </a:r>
            <a:endParaRPr lang="nl-BE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        return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74561F"/>
                </a:solidFill>
                <a:latin typeface="Consolas" panose="020B0609020204030204" pitchFamily="49" charset="0"/>
              </a:rPr>
              <a:t>View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16851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985DC-61CF-4EBF-A9AE-482FC04C1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Cookies instellen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C0DD5-8BFA-4F6B-8252-F90B466FE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A79347-545F-4BA7-821C-29815CC9A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9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D24AA29-254B-4CD9-8E7C-4F1571CD63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7BAA9B-7F0A-4DC7-B2B2-3641B2AD23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838"/>
          <a:stretch/>
        </p:blipFill>
        <p:spPr>
          <a:xfrm>
            <a:off x="363792" y="3569558"/>
            <a:ext cx="10992465" cy="12723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66AAA8-B22C-4F71-A954-38296AD3E460}"/>
              </a:ext>
            </a:extLst>
          </p:cNvPr>
          <p:cNvSpPr txBox="1"/>
          <p:nvPr/>
        </p:nvSpPr>
        <p:spPr>
          <a:xfrm>
            <a:off x="449506" y="2015614"/>
            <a:ext cx="107690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400" dirty="0"/>
              <a:t>Waarde van cookie wordt bewaard in browser (zie Developer Tools)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400" b="1" dirty="0"/>
              <a:t>Opmerking: </a:t>
            </a:r>
            <a:r>
              <a:rPr lang="nl-BE" sz="2400" i="1" dirty="0" err="1"/>
              <a:t>Expires</a:t>
            </a:r>
            <a:r>
              <a:rPr lang="nl-BE" sz="2400" i="1" dirty="0"/>
              <a:t> </a:t>
            </a:r>
            <a:r>
              <a:rPr lang="nl-BE" sz="2400" i="1" dirty="0">
                <a:sym typeface="Wingdings" panose="05000000000000000000" pitchFamily="2" charset="2"/>
              </a:rPr>
              <a:t> cookie “vervalt” (is na vervaldatum niet meer geldig)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sz="2400" dirty="0">
                <a:sym typeface="Wingdings" panose="05000000000000000000" pitchFamily="2" charset="2"/>
              </a:rPr>
              <a:t>Kan ingesteld worden via </a:t>
            </a:r>
            <a:r>
              <a:rPr lang="nl-BE" sz="2000" dirty="0" err="1">
                <a:latin typeface="Consolas" panose="020B0609020204030204" pitchFamily="49" charset="0"/>
                <a:sym typeface="Wingdings" panose="05000000000000000000" pitchFamily="2" charset="2"/>
              </a:rPr>
              <a:t>CookieOptions</a:t>
            </a:r>
            <a:endParaRPr lang="nl-BE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C7E4C7-511F-457C-AE30-D0E1ED9C4288}"/>
              </a:ext>
            </a:extLst>
          </p:cNvPr>
          <p:cNvSpPr/>
          <p:nvPr/>
        </p:nvSpPr>
        <p:spPr>
          <a:xfrm>
            <a:off x="2035276" y="4198375"/>
            <a:ext cx="2980098" cy="245807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82854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472CF-52F4-4C67-94DC-FFB49EF4B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Cookies instellen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884363-A2FF-483B-BB04-93E608D6F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62D610-DB91-4FE6-9C7F-D31C6A38D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10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D0E0955-DDB0-472B-9915-39083E2C76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3365F4-6938-4C3E-9C13-65165E980F95}"/>
              </a:ext>
            </a:extLst>
          </p:cNvPr>
          <p:cNvSpPr txBox="1"/>
          <p:nvPr/>
        </p:nvSpPr>
        <p:spPr>
          <a:xfrm>
            <a:off x="1071581" y="2097590"/>
            <a:ext cx="5365078" cy="95410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 err="1">
                <a:solidFill>
                  <a:srgbClr val="4F8291"/>
                </a:solidFill>
                <a:latin typeface="Consolas" panose="020B0609020204030204" pitchFamily="49" charset="0"/>
              </a:rPr>
              <a:t>CookieOptions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options = 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 err="1">
                <a:solidFill>
                  <a:srgbClr val="4F8291"/>
                </a:solidFill>
                <a:latin typeface="Consolas" panose="020B0609020204030204" pitchFamily="49" charset="0"/>
              </a:rPr>
              <a:t>CookieOptions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options.Expires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400" dirty="0" err="1">
                <a:solidFill>
                  <a:srgbClr val="4F8291"/>
                </a:solidFill>
                <a:latin typeface="Consolas" panose="020B0609020204030204" pitchFamily="49" charset="0"/>
              </a:rPr>
              <a:t>DateTime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.Now.</a:t>
            </a:r>
            <a:r>
              <a:rPr lang="nl-BE" sz="1400" dirty="0" err="1">
                <a:solidFill>
                  <a:srgbClr val="74561F"/>
                </a:solidFill>
                <a:latin typeface="Consolas" panose="020B0609020204030204" pitchFamily="49" charset="0"/>
              </a:rPr>
              <a:t>AddDays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(1);</a:t>
            </a:r>
          </a:p>
          <a:p>
            <a:endParaRPr lang="nl-BE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Response.Cookies.</a:t>
            </a:r>
            <a:r>
              <a:rPr lang="en-US" sz="1400" dirty="0" err="1">
                <a:solidFill>
                  <a:srgbClr val="74561F"/>
                </a:solidFill>
                <a:latin typeface="Consolas" panose="020B0609020204030204" pitchFamily="49" charset="0"/>
              </a:rPr>
              <a:t>Append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"LANG"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language, options);</a:t>
            </a:r>
            <a:endParaRPr lang="nl-BE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B5119D-192D-4AAA-85B5-43A43E1BBE12}"/>
              </a:ext>
            </a:extLst>
          </p:cNvPr>
          <p:cNvSpPr txBox="1"/>
          <p:nvPr/>
        </p:nvSpPr>
        <p:spPr>
          <a:xfrm>
            <a:off x="678291" y="1396181"/>
            <a:ext cx="10333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400" dirty="0" err="1">
                <a:latin typeface="Consolas" panose="020B0609020204030204" pitchFamily="49" charset="0"/>
              </a:rPr>
              <a:t>CookieOptions</a:t>
            </a:r>
            <a:r>
              <a:rPr lang="nl-BE" sz="2400" dirty="0"/>
              <a:t>: opties voor cookies instellen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3EC0C5-878F-4377-86A0-3CC493D93F6E}"/>
              </a:ext>
            </a:extLst>
          </p:cNvPr>
          <p:cNvSpPr txBox="1"/>
          <p:nvPr/>
        </p:nvSpPr>
        <p:spPr>
          <a:xfrm>
            <a:off x="678291" y="3596016"/>
            <a:ext cx="930145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000" dirty="0"/>
              <a:t>Andere </a:t>
            </a:r>
            <a:r>
              <a:rPr lang="nl-BE" sz="2000" dirty="0" err="1"/>
              <a:t>property’s</a:t>
            </a:r>
            <a:r>
              <a:rPr lang="nl-BE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b="1" dirty="0"/>
              <a:t>Domain: </a:t>
            </a:r>
            <a:r>
              <a:rPr lang="nl-BE" dirty="0"/>
              <a:t>restrictie op </a:t>
            </a:r>
            <a:r>
              <a:rPr lang="nl-BE" dirty="0" err="1"/>
              <a:t>domain-name</a:t>
            </a:r>
            <a:r>
              <a:rPr lang="nl-BE" dirty="0"/>
              <a:t> waarbij cookie bij </a:t>
            </a:r>
            <a:r>
              <a:rPr lang="nl-BE" dirty="0" err="1"/>
              <a:t>requests</a:t>
            </a:r>
            <a:r>
              <a:rPr lang="nl-BE" dirty="0"/>
              <a:t> moet meegestuurd worden </a:t>
            </a:r>
            <a:r>
              <a:rPr lang="nl-BE" i="1" dirty="0"/>
              <a:t>(zie </a:t>
            </a:r>
            <a:r>
              <a:rPr lang="nl-BE" i="1" dirty="0">
                <a:hlinkClick r:id="rId2"/>
              </a:rPr>
              <a:t>https://blog.webf.zone/ultimate-guide-to-http-cookies-2aa3e083dbae#8529</a:t>
            </a:r>
            <a:r>
              <a:rPr lang="nl-BE" i="1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b="1" dirty="0" err="1"/>
              <a:t>Expires</a:t>
            </a:r>
            <a:r>
              <a:rPr lang="nl-BE" b="1" dirty="0"/>
              <a:t>: </a:t>
            </a:r>
            <a:r>
              <a:rPr lang="nl-BE" dirty="0"/>
              <a:t>vervaldatum voor cookie (nadien niet meer geldig)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b="1" dirty="0" err="1"/>
              <a:t>HttpOnly</a:t>
            </a:r>
            <a:r>
              <a:rPr lang="nl-BE" b="1" dirty="0"/>
              <a:t>:</a:t>
            </a:r>
            <a:r>
              <a:rPr lang="nl-BE" dirty="0"/>
              <a:t> cookie is enkel beschikbaar op server (niet op </a:t>
            </a:r>
            <a:r>
              <a:rPr lang="nl-BE" dirty="0" err="1"/>
              <a:t>client</a:t>
            </a:r>
            <a:r>
              <a:rPr lang="nl-BE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b="1" dirty="0"/>
              <a:t>Secure:</a:t>
            </a:r>
            <a:r>
              <a:rPr lang="nl-BE" dirty="0"/>
              <a:t> indien </a:t>
            </a:r>
            <a:r>
              <a:rPr lang="nl-BE" i="1" dirty="0" err="1"/>
              <a:t>true</a:t>
            </a:r>
            <a:r>
              <a:rPr lang="nl-BE" dirty="0"/>
              <a:t> </a:t>
            </a:r>
            <a:r>
              <a:rPr lang="nl-BE" dirty="0">
                <a:sym typeface="Wingdings" panose="05000000000000000000" pitchFamily="2" charset="2"/>
              </a:rPr>
              <a:t></a:t>
            </a:r>
            <a:r>
              <a:rPr lang="nl-BE" dirty="0"/>
              <a:t> geeft aan dat cookie enkel over HTTPS mag verstuurd worden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090293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866D1-06B7-4BA3-BB66-852D4F190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Cookies uitlezen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CF35C-052C-4018-BC86-E1D5554A8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0" y="1296000"/>
            <a:ext cx="997639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Cookies worden bij volgende </a:t>
            </a:r>
            <a:r>
              <a:rPr lang="nl-BE" sz="2400" dirty="0" err="1"/>
              <a:t>requests</a:t>
            </a:r>
            <a:r>
              <a:rPr lang="nl-BE" sz="2400" dirty="0"/>
              <a:t> van </a:t>
            </a:r>
            <a:r>
              <a:rPr lang="nl-BE" sz="2400" dirty="0" err="1"/>
              <a:t>client</a:t>
            </a:r>
            <a:r>
              <a:rPr lang="nl-BE" sz="2400" dirty="0"/>
              <a:t> naar browser meegestuurd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Waarde opvragen op server via </a:t>
            </a:r>
            <a:r>
              <a:rPr lang="nl-BE" sz="2000" dirty="0" err="1">
                <a:solidFill>
                  <a:schemeClr val="tx2"/>
                </a:solidFill>
                <a:latin typeface="Consolas" panose="020B0609020204030204" pitchFamily="49" charset="0"/>
              </a:rPr>
              <a:t>Request.Cookies</a:t>
            </a:r>
            <a:r>
              <a:rPr lang="nl-BE" sz="2400" dirty="0"/>
              <a:t> </a:t>
            </a:r>
            <a:r>
              <a:rPr lang="nl-BE" sz="2400" i="1" dirty="0"/>
              <a:t>(= </a:t>
            </a:r>
            <a:r>
              <a:rPr lang="nl-BE" sz="2400" i="1" dirty="0" err="1"/>
              <a:t>dictionary</a:t>
            </a:r>
            <a:r>
              <a:rPr lang="nl-BE" sz="2400" i="1" dirty="0"/>
              <a:t>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E76B5A-52AA-44A8-8C07-0C0A45FE3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1891DB-988A-41D6-A3AC-98F7C6B55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11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0BC13C-5947-4893-AE68-119E4A3C07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FCC4A0-B352-4C28-BDAF-33756206B5D6}"/>
              </a:ext>
            </a:extLst>
          </p:cNvPr>
          <p:cNvSpPr txBox="1"/>
          <p:nvPr/>
        </p:nvSpPr>
        <p:spPr>
          <a:xfrm>
            <a:off x="1061884" y="2776589"/>
            <a:ext cx="6597444" cy="246221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Index() {</a:t>
            </a:r>
          </a:p>
          <a:p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Request.Cookies.</a:t>
            </a:r>
            <a:r>
              <a:rPr lang="en-US" sz="1400" b="1" dirty="0" err="1">
                <a:solidFill>
                  <a:srgbClr val="74561F"/>
                </a:solidFill>
                <a:latin typeface="Consolas" panose="020B0609020204030204" pitchFamily="49" charset="0"/>
              </a:rPr>
              <a:t>TryGetValue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"LANG"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out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language);</a:t>
            </a:r>
          </a:p>
          <a:p>
            <a:endParaRPr lang="nl-BE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language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nl-BE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language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400" dirty="0">
                <a:solidFill>
                  <a:srgbClr val="A31515"/>
                </a:solidFill>
                <a:latin typeface="Consolas" panose="020B0609020204030204" pitchFamily="49" charset="0"/>
              </a:rPr>
              <a:t>"EN-US"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endParaRPr lang="nl-BE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400" dirty="0">
                <a:solidFill>
                  <a:srgbClr val="008000"/>
                </a:solidFill>
                <a:latin typeface="Consolas" panose="020B0609020204030204" pitchFamily="49" charset="0"/>
              </a:rPr>
              <a:t>//...</a:t>
            </a:r>
            <a:endParaRPr lang="nl-BE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nl-BE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74561F"/>
                </a:solidFill>
                <a:latin typeface="Consolas" panose="020B0609020204030204" pitchFamily="49" charset="0"/>
              </a:rPr>
              <a:t>View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400" dirty="0">
                <a:solidFill>
                  <a:srgbClr val="A31515"/>
                </a:solidFill>
                <a:latin typeface="Consolas" panose="020B0609020204030204" pitchFamily="49" charset="0"/>
              </a:rPr>
              <a:t>"Index"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7783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2E449-0579-4F48-8D0C-A3B10EC50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Cookies verwijderen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7602A-5445-405D-BF95-D576C80D8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111" y="1531032"/>
            <a:ext cx="9281274" cy="95653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Gebruik </a:t>
            </a:r>
            <a:r>
              <a:rPr lang="nl-BE" sz="2400" dirty="0" err="1">
                <a:solidFill>
                  <a:schemeClr val="tx2"/>
                </a:solidFill>
                <a:latin typeface="Consolas" panose="020B0609020204030204" pitchFamily="49" charset="0"/>
              </a:rPr>
              <a:t>Response.Cookies.Delete</a:t>
            </a:r>
            <a:r>
              <a:rPr lang="nl-BE" sz="2400" dirty="0">
                <a:solidFill>
                  <a:schemeClr val="tx2"/>
                </a:solidFill>
                <a:latin typeface="Consolas" panose="020B0609020204030204" pitchFamily="49" charset="0"/>
              </a:rPr>
              <a:t>(...)</a:t>
            </a:r>
            <a:r>
              <a:rPr lang="nl-BE" dirty="0"/>
              <a:t> om een cookie opnieuw te verwijderen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4D8836-17D8-4856-94EC-A9B44369F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B2A641-0F60-4800-B6F1-A87AC61F0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12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FF6632-4A04-4B22-9D08-4FA98184DF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C3890C-5CA8-47C0-90FE-DEEC572BF69E}"/>
              </a:ext>
            </a:extLst>
          </p:cNvPr>
          <p:cNvSpPr txBox="1"/>
          <p:nvPr/>
        </p:nvSpPr>
        <p:spPr>
          <a:xfrm>
            <a:off x="1179872" y="2747093"/>
            <a:ext cx="3490451" cy="3077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Response.Cookies.</a:t>
            </a:r>
            <a:r>
              <a:rPr lang="nl-BE" sz="1400" dirty="0" err="1">
                <a:solidFill>
                  <a:srgbClr val="74561F"/>
                </a:solidFill>
                <a:latin typeface="Consolas" panose="020B0609020204030204" pitchFamily="49" charset="0"/>
              </a:rPr>
              <a:t>Delete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400" dirty="0">
                <a:solidFill>
                  <a:srgbClr val="A31515"/>
                </a:solidFill>
                <a:latin typeface="Consolas" panose="020B0609020204030204" pitchFamily="49" charset="0"/>
              </a:rPr>
              <a:t>"LANG"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5A8D384-F8A8-42F7-BCAC-7BB56E3123AA}"/>
              </a:ext>
            </a:extLst>
          </p:cNvPr>
          <p:cNvSpPr txBox="1">
            <a:spLocks/>
          </p:cNvSpPr>
          <p:nvPr/>
        </p:nvSpPr>
        <p:spPr>
          <a:xfrm>
            <a:off x="662111" y="3899071"/>
            <a:ext cx="9281274" cy="95653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163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Om de waarde van een cookie te overschrijven, gebruik je opnieuw de </a:t>
            </a:r>
            <a:r>
              <a:rPr lang="nl-BE" sz="2400" dirty="0">
                <a:solidFill>
                  <a:schemeClr val="tx2"/>
                </a:solidFill>
                <a:latin typeface="Consolas" panose="020B0609020204030204" pitchFamily="49" charset="0"/>
              </a:rPr>
              <a:t>Append(...)</a:t>
            </a:r>
            <a:r>
              <a:rPr lang="nl-BE" dirty="0"/>
              <a:t>-methode met dezelfde </a:t>
            </a:r>
            <a:r>
              <a:rPr lang="nl-BE" dirty="0" err="1"/>
              <a:t>key</a:t>
            </a:r>
            <a:r>
              <a:rPr lang="nl-BE" dirty="0"/>
              <a:t> en de nieuwe waarde voor de cookie</a:t>
            </a:r>
          </a:p>
        </p:txBody>
      </p:sp>
    </p:spTree>
    <p:extLst>
      <p:ext uri="{BB962C8B-B14F-4D97-AF65-F5344CB8AC3E}">
        <p14:creationId xmlns:p14="http://schemas.microsoft.com/office/powerpoint/2010/main" val="812724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5C2F1-1264-4651-A61B-BD84348DC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Sessies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DF1C1-0CF6-44CC-936E-F49C59312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3A9A9E-ACE2-4A07-B12F-3BC6751ED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9AB2C-2263-4D3F-BDB8-250CFB24A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13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65F1B32-0BDC-49A8-AF96-8F856CF39F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94485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CF7F7-76C7-4872-9F49-97D3E335F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Wat zijn Sessies</a:t>
            </a:r>
            <a:r>
              <a:rPr lang="nl-BE" sz="2400" dirty="0"/>
              <a:t>?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2D94E-D85B-491D-91AB-4F946CF2F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291" y="1917290"/>
            <a:ext cx="9281274" cy="393290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Bij </a:t>
            </a:r>
            <a:r>
              <a:rPr lang="nl-BE" b="1" dirty="0">
                <a:solidFill>
                  <a:schemeClr val="accent6"/>
                </a:solidFill>
              </a:rPr>
              <a:t>cookies</a:t>
            </a:r>
            <a:r>
              <a:rPr lang="nl-BE" dirty="0"/>
              <a:t> wordt data </a:t>
            </a:r>
            <a:r>
              <a:rPr lang="nl-BE" b="1" dirty="0" err="1">
                <a:solidFill>
                  <a:schemeClr val="accent6"/>
                </a:solidFill>
              </a:rPr>
              <a:t>client</a:t>
            </a:r>
            <a:r>
              <a:rPr lang="nl-BE" b="1" dirty="0">
                <a:solidFill>
                  <a:schemeClr val="accent6"/>
                </a:solidFill>
              </a:rPr>
              <a:t>-side</a:t>
            </a:r>
            <a:r>
              <a:rPr lang="nl-BE" dirty="0"/>
              <a:t> (browser) bewaard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Data in cookie kan door gebruiker </a:t>
            </a:r>
            <a:r>
              <a:rPr lang="nl-BE" b="1" dirty="0">
                <a:solidFill>
                  <a:schemeClr val="accent6"/>
                </a:solidFill>
              </a:rPr>
              <a:t>gewijzigd</a:t>
            </a:r>
            <a:r>
              <a:rPr lang="nl-BE" dirty="0"/>
              <a:t> worden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b="1" dirty="0"/>
              <a:t>DAAROM: </a:t>
            </a:r>
            <a:r>
              <a:rPr lang="nl-BE" dirty="0"/>
              <a:t>niet geschikt voor stockeren van </a:t>
            </a:r>
            <a:r>
              <a:rPr lang="nl-BE" b="1" dirty="0">
                <a:solidFill>
                  <a:schemeClr val="accent6"/>
                </a:solidFill>
              </a:rPr>
              <a:t>gevoelige data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 err="1"/>
              <a:t>Id</a:t>
            </a:r>
            <a:r>
              <a:rPr lang="nl-BE" sz="2400" dirty="0"/>
              <a:t>/username van ingelogde gebruiker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Creditcardnummer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Items in shopping-cart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...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548D8-4D06-4D6A-9A40-1BEC10798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12A012-EACC-42DB-A44E-8D21B6A14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14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DD1D109-3787-4453-959F-804BEF90AB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58618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CF7F7-76C7-4872-9F49-97D3E335F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Wat zijn Sessies</a:t>
            </a:r>
            <a:r>
              <a:rPr lang="nl-BE" sz="2400" dirty="0"/>
              <a:t>?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2D94E-D85B-491D-91AB-4F946CF2F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291" y="1813653"/>
            <a:ext cx="9281274" cy="393290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Bij </a:t>
            </a:r>
            <a:r>
              <a:rPr lang="nl-BE" b="1" dirty="0">
                <a:solidFill>
                  <a:schemeClr val="accent6"/>
                </a:solidFill>
              </a:rPr>
              <a:t>sessies</a:t>
            </a:r>
            <a:r>
              <a:rPr lang="nl-BE" dirty="0"/>
              <a:t> wordt data op de </a:t>
            </a:r>
            <a:r>
              <a:rPr lang="nl-BE" b="1" dirty="0">
                <a:solidFill>
                  <a:schemeClr val="accent6"/>
                </a:solidFill>
              </a:rPr>
              <a:t>server</a:t>
            </a:r>
            <a:r>
              <a:rPr lang="nl-BE" dirty="0"/>
              <a:t> bewaard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Kan dus </a:t>
            </a:r>
            <a:r>
              <a:rPr lang="nl-BE" sz="2400" b="1" dirty="0"/>
              <a:t>niet</a:t>
            </a:r>
            <a:r>
              <a:rPr lang="nl-BE" sz="2400" dirty="0"/>
              <a:t> rechtstreeks door gebruiker aangepast worden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Daardoor wél geschikt om </a:t>
            </a:r>
            <a:r>
              <a:rPr lang="nl-BE" sz="2400" b="1" dirty="0">
                <a:solidFill>
                  <a:schemeClr val="accent6"/>
                </a:solidFill>
              </a:rPr>
              <a:t>gevoelige data </a:t>
            </a:r>
            <a:r>
              <a:rPr lang="nl-BE" sz="2400" dirty="0"/>
              <a:t>te bewaren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Data wordt geassocieerd met specifieke gebruiker (</a:t>
            </a:r>
            <a:r>
              <a:rPr lang="nl-BE" b="1" dirty="0" err="1">
                <a:solidFill>
                  <a:schemeClr val="accent6"/>
                </a:solidFill>
              </a:rPr>
              <a:t>SessieId</a:t>
            </a:r>
            <a:r>
              <a:rPr lang="nl-BE" dirty="0"/>
              <a:t>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Server genereert willekeurig </a:t>
            </a:r>
            <a:r>
              <a:rPr lang="nl-BE" sz="2400" b="1" dirty="0" err="1">
                <a:solidFill>
                  <a:schemeClr val="accent6"/>
                </a:solidFill>
              </a:rPr>
              <a:t>sessionId</a:t>
            </a:r>
            <a:endParaRPr lang="nl-BE" sz="2400" b="1" dirty="0">
              <a:solidFill>
                <a:schemeClr val="accent6"/>
              </a:solidFill>
            </a:endParaRP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 err="1"/>
              <a:t>SessionId</a:t>
            </a:r>
            <a:r>
              <a:rPr lang="nl-BE" sz="2400" dirty="0"/>
              <a:t> wordt in </a:t>
            </a:r>
            <a:r>
              <a:rPr lang="nl-BE" sz="2400" b="1" dirty="0">
                <a:solidFill>
                  <a:schemeClr val="accent6"/>
                </a:solidFill>
              </a:rPr>
              <a:t>cookie</a:t>
            </a:r>
            <a:r>
              <a:rPr lang="nl-BE" sz="2400" dirty="0"/>
              <a:t> naar </a:t>
            </a:r>
            <a:r>
              <a:rPr lang="nl-BE" sz="2400" dirty="0" err="1"/>
              <a:t>client</a:t>
            </a:r>
            <a:r>
              <a:rPr lang="nl-BE" sz="2400" dirty="0"/>
              <a:t> gestuurd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Bij elke volgende </a:t>
            </a:r>
            <a:r>
              <a:rPr lang="nl-BE" sz="2400" dirty="0" err="1"/>
              <a:t>request</a:t>
            </a:r>
            <a:r>
              <a:rPr lang="nl-BE" sz="2400" dirty="0"/>
              <a:t>: </a:t>
            </a:r>
            <a:r>
              <a:rPr lang="nl-BE" sz="2400" dirty="0" err="1"/>
              <a:t>client</a:t>
            </a:r>
            <a:r>
              <a:rPr lang="nl-BE" sz="2400" dirty="0"/>
              <a:t> stuurt cookie met </a:t>
            </a:r>
            <a:r>
              <a:rPr lang="nl-BE" sz="2400" dirty="0" err="1"/>
              <a:t>SessionId</a:t>
            </a:r>
            <a:r>
              <a:rPr lang="nl-BE" sz="2400" dirty="0"/>
              <a:t> mee naar server </a:t>
            </a:r>
            <a:r>
              <a:rPr lang="nl-BE" sz="2400" dirty="0">
                <a:sym typeface="Wingdings" panose="05000000000000000000" pitchFamily="2" charset="2"/>
              </a:rPr>
              <a:t> server weet over welke </a:t>
            </a:r>
            <a:r>
              <a:rPr lang="nl-BE" sz="2400" dirty="0" err="1">
                <a:sym typeface="Wingdings" panose="05000000000000000000" pitchFamily="2" charset="2"/>
              </a:rPr>
              <a:t>client</a:t>
            </a:r>
            <a:r>
              <a:rPr lang="nl-BE" sz="2400" dirty="0">
                <a:sym typeface="Wingdings" panose="05000000000000000000" pitchFamily="2" charset="2"/>
              </a:rPr>
              <a:t> het gaat</a:t>
            </a:r>
            <a:endParaRPr lang="nl-BE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sz="24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548D8-4D06-4D6A-9A40-1BEC10798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12A012-EACC-42DB-A44E-8D21B6A14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DD1D109-3787-4453-959F-804BEF90AB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556534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4F373-3E66-45AC-B80A-F000D8F1D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Hoe werken </a:t>
            </a:r>
            <a:r>
              <a:rPr lang="nl-BE" dirty="0" err="1"/>
              <a:t>Sessions</a:t>
            </a:r>
            <a:r>
              <a:rPr lang="nl-BE" dirty="0"/>
              <a:t>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6B8A0B-74B1-4899-9DCA-CCCF53964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2853EB-8F46-4844-BCAC-94EC8D77F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16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DE38F01-E770-49C9-B3B1-5377AD8273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2769AAB-DC19-4E1A-9984-C2E86D7A15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291" y="2659779"/>
            <a:ext cx="5762406" cy="1538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5BD9E8-8B0B-4835-B2CD-75DBE616A385}"/>
              </a:ext>
            </a:extLst>
          </p:cNvPr>
          <p:cNvSpPr txBox="1"/>
          <p:nvPr/>
        </p:nvSpPr>
        <p:spPr>
          <a:xfrm>
            <a:off x="7112716" y="2204316"/>
            <a:ext cx="421803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nl-BE" dirty="0"/>
              <a:t>Client stuurt HTTP-</a:t>
            </a:r>
            <a:r>
              <a:rPr lang="nl-BE" dirty="0" err="1"/>
              <a:t>request</a:t>
            </a:r>
            <a:r>
              <a:rPr lang="nl-BE" dirty="0"/>
              <a:t> naar server</a:t>
            </a:r>
          </a:p>
          <a:p>
            <a:pPr marL="342900" indent="-342900">
              <a:buFont typeface="+mj-lt"/>
              <a:buAutoNum type="arabicPeriod"/>
            </a:pPr>
            <a:r>
              <a:rPr lang="nl-BE" dirty="0"/>
              <a:t>Indien </a:t>
            </a:r>
            <a:r>
              <a:rPr lang="nl-BE" dirty="0" err="1"/>
              <a:t>request</a:t>
            </a:r>
            <a:r>
              <a:rPr lang="nl-BE" dirty="0"/>
              <a:t> nog geen </a:t>
            </a:r>
            <a:r>
              <a:rPr lang="nl-BE" dirty="0" err="1"/>
              <a:t>SessionId</a:t>
            </a:r>
            <a:r>
              <a:rPr lang="nl-BE" dirty="0"/>
              <a:t>-cookie bevat: server genereert willekeurige </a:t>
            </a:r>
            <a:r>
              <a:rPr lang="nl-BE" dirty="0" err="1"/>
              <a:t>SessionId</a:t>
            </a:r>
            <a:endParaRPr lang="nl-BE" dirty="0"/>
          </a:p>
          <a:p>
            <a:pPr marL="342900" indent="-342900">
              <a:buFont typeface="+mj-lt"/>
              <a:buAutoNum type="arabicPeriod"/>
            </a:pPr>
            <a:r>
              <a:rPr lang="nl-BE" dirty="0"/>
              <a:t>Server stuurt </a:t>
            </a:r>
            <a:r>
              <a:rPr lang="nl-BE" dirty="0" err="1"/>
              <a:t>SessionId</a:t>
            </a:r>
            <a:r>
              <a:rPr lang="nl-BE" dirty="0"/>
              <a:t> mee naar </a:t>
            </a:r>
            <a:r>
              <a:rPr lang="nl-BE" dirty="0" err="1"/>
              <a:t>client</a:t>
            </a:r>
            <a:r>
              <a:rPr lang="nl-BE" dirty="0"/>
              <a:t> in de vorm van een cookie</a:t>
            </a:r>
          </a:p>
          <a:p>
            <a:pPr marL="342900" indent="-342900">
              <a:buFont typeface="+mj-lt"/>
              <a:buAutoNum type="arabicPeriod"/>
            </a:pPr>
            <a:r>
              <a:rPr lang="nl-BE" dirty="0"/>
              <a:t>Bij elke volgende </a:t>
            </a:r>
            <a:r>
              <a:rPr lang="nl-BE" dirty="0" err="1"/>
              <a:t>request</a:t>
            </a:r>
            <a:r>
              <a:rPr lang="nl-BE" dirty="0"/>
              <a:t> stuurt </a:t>
            </a:r>
            <a:r>
              <a:rPr lang="nl-BE" dirty="0" err="1"/>
              <a:t>client</a:t>
            </a:r>
            <a:r>
              <a:rPr lang="nl-BE" dirty="0"/>
              <a:t> cookie met </a:t>
            </a:r>
            <a:r>
              <a:rPr lang="nl-BE" dirty="0" err="1"/>
              <a:t>SessionId</a:t>
            </a:r>
            <a:r>
              <a:rPr lang="nl-BE" dirty="0"/>
              <a:t> mee naar server</a:t>
            </a:r>
          </a:p>
          <a:p>
            <a:pPr marL="342900" indent="-342900">
              <a:buFont typeface="+mj-lt"/>
              <a:buAutoNum type="arabicPeriod"/>
            </a:pPr>
            <a:r>
              <a:rPr lang="nl-BE" dirty="0"/>
              <a:t>Server kan gebruiker “identificeren” </a:t>
            </a:r>
            <a:r>
              <a:rPr lang="nl-BE" dirty="0" err="1"/>
              <a:t>adhv</a:t>
            </a:r>
            <a:r>
              <a:rPr lang="nl-BE" dirty="0"/>
              <a:t> </a:t>
            </a:r>
            <a:r>
              <a:rPr lang="nl-BE" dirty="0" err="1"/>
              <a:t>SessionId</a:t>
            </a:r>
            <a:r>
              <a:rPr lang="nl-BE" dirty="0"/>
              <a:t> in cookie</a:t>
            </a:r>
          </a:p>
        </p:txBody>
      </p:sp>
    </p:spTree>
    <p:extLst>
      <p:ext uri="{BB962C8B-B14F-4D97-AF65-F5344CB8AC3E}">
        <p14:creationId xmlns:p14="http://schemas.microsoft.com/office/powerpoint/2010/main" val="997265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2C9FF-0497-480E-90AF-C8A587673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Gebruik van Sessies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2BC28-8E84-4172-A018-5C414EA96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163" y="2096903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Waarom sessies gebruiken?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Tijdelijk bewaren van gegevens voor gebruiker:</a:t>
            </a:r>
          </a:p>
          <a:p>
            <a:pPr marL="1177200" lvl="2" indent="-457200">
              <a:buFont typeface="Wingdings" panose="05000000000000000000" pitchFamily="2" charset="2"/>
              <a:buChar char="ü"/>
            </a:pPr>
            <a:r>
              <a:rPr lang="nl-BE" sz="2400" dirty="0"/>
              <a:t>Items in winkelmandje</a:t>
            </a:r>
          </a:p>
          <a:p>
            <a:pPr marL="1177200" lvl="2" indent="-457200">
              <a:buFont typeface="Wingdings" panose="05000000000000000000" pitchFamily="2" charset="2"/>
              <a:buChar char="ü"/>
            </a:pPr>
            <a:r>
              <a:rPr lang="nl-BE" sz="2400" dirty="0"/>
              <a:t>Lijst met recent bezochte artikelen</a:t>
            </a:r>
          </a:p>
          <a:p>
            <a:pPr marL="1177200" lvl="2" indent="-457200">
              <a:buFont typeface="Wingdings" panose="05000000000000000000" pitchFamily="2" charset="2"/>
              <a:buChar char="ü"/>
            </a:pPr>
            <a:r>
              <a:rPr lang="nl-BE" sz="2400" dirty="0"/>
              <a:t>Gegevens van ingelogde gebruiker</a:t>
            </a:r>
          </a:p>
          <a:p>
            <a:pPr marL="1177200" lvl="2" indent="-457200">
              <a:buFont typeface="Wingdings" panose="05000000000000000000" pitchFamily="2" charset="2"/>
              <a:buChar char="ü"/>
            </a:pPr>
            <a:r>
              <a:rPr lang="nl-BE" sz="2400" dirty="0"/>
              <a:t>...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F28545-2526-48AE-B556-C9F38D772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C3DA1F-D52E-4C29-93E9-72513A195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17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2A3584-EDED-4C5F-8A35-9681034AEB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935326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9B592-B57E-41E6-B89E-001073E83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Sessie Configureren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08AD5-F2DC-4341-90D0-78C4B8DAF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178" y="1383434"/>
            <a:ext cx="4735799" cy="1693950"/>
          </a:xfrm>
        </p:spPr>
        <p:txBody>
          <a:bodyPr/>
          <a:lstStyle/>
          <a:p>
            <a:r>
              <a:rPr lang="nl-BE" sz="2400" dirty="0"/>
              <a:t>Sessie configureren in </a:t>
            </a:r>
            <a:r>
              <a:rPr lang="nl-BE" sz="2400" b="1" i="1" dirty="0" err="1"/>
              <a:t>Program.cs</a:t>
            </a:r>
            <a:r>
              <a:rPr lang="nl-BE" sz="2400" dirty="0"/>
              <a:t>:</a:t>
            </a:r>
          </a:p>
          <a:p>
            <a:pPr marL="815363" lvl="1" indent="-457200">
              <a:buFont typeface="+mj-lt"/>
              <a:buAutoNum type="arabicPeriod"/>
            </a:pPr>
            <a:r>
              <a:rPr lang="nl-BE" sz="2000" dirty="0" err="1"/>
              <a:t>Dependency</a:t>
            </a:r>
            <a:r>
              <a:rPr lang="nl-BE" sz="2000" dirty="0"/>
              <a:t> toevoegen aan Services</a:t>
            </a:r>
          </a:p>
          <a:p>
            <a:pPr marL="815363" lvl="1" indent="-457200">
              <a:buFont typeface="+mj-lt"/>
              <a:buAutoNum type="arabicPeriod"/>
            </a:pPr>
            <a:r>
              <a:rPr lang="nl-BE" sz="2000" dirty="0"/>
              <a:t>Sessie toevoegen aan middleware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D7C63-5391-4AB6-A654-44DAD07FF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9310B4-B474-453A-8145-5712C5631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18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15BAF1-F936-486C-90F7-34EF410084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DE004C4-641B-4738-ACBB-5C8407CC6BA7}"/>
              </a:ext>
            </a:extLst>
          </p:cNvPr>
          <p:cNvSpPr/>
          <p:nvPr/>
        </p:nvSpPr>
        <p:spPr>
          <a:xfrm>
            <a:off x="8180438" y="1508162"/>
            <a:ext cx="259200" cy="259675"/>
          </a:xfrm>
          <a:prstGeom prst="ellipse">
            <a:avLst/>
          </a:prstGeom>
          <a:solidFill>
            <a:schemeClr val="accent6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nl-BE" sz="1200" dirty="0">
                <a:solidFill>
                  <a:schemeClr val="bg1"/>
                </a:solidFill>
                <a:latin typeface="+mj-lt"/>
              </a:rPr>
              <a:t>1</a:t>
            </a:r>
            <a:endParaRPr lang="nl-BE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10F829D-C320-4E64-B6F8-64FE0EA97DCD}"/>
              </a:ext>
            </a:extLst>
          </p:cNvPr>
          <p:cNvSpPr/>
          <p:nvPr/>
        </p:nvSpPr>
        <p:spPr>
          <a:xfrm>
            <a:off x="7117770" y="3643649"/>
            <a:ext cx="259200" cy="259675"/>
          </a:xfrm>
          <a:prstGeom prst="ellipse">
            <a:avLst/>
          </a:prstGeom>
          <a:solidFill>
            <a:schemeClr val="accent6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nl-BE" sz="1200" dirty="0">
                <a:solidFill>
                  <a:schemeClr val="bg1"/>
                </a:solidFill>
                <a:latin typeface="+mj-lt"/>
              </a:rPr>
              <a:t>2</a:t>
            </a:r>
            <a:endParaRPr lang="nl-BE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F00EB3-A3D2-429F-9B64-1ACC0C4C72F6}"/>
              </a:ext>
            </a:extLst>
          </p:cNvPr>
          <p:cNvSpPr/>
          <p:nvPr/>
        </p:nvSpPr>
        <p:spPr>
          <a:xfrm>
            <a:off x="5549950" y="954000"/>
            <a:ext cx="6096000" cy="5001369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builder =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WebApplication.CreateBuilder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100" dirty="0">
                <a:solidFill>
                  <a:srgbClr val="008000"/>
                </a:solidFill>
                <a:latin typeface="Cascadia Mono" panose="020B0609020000020004" pitchFamily="49" charset="0"/>
              </a:rPr>
              <a:t>// Add services to the container.</a:t>
            </a:r>
            <a:endParaRPr lang="en-US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builder.Services.AddControllersWithViews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builder.Services.AddSession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app = 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builder.Build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8000"/>
                </a:solidFill>
                <a:latin typeface="Cascadia Mono" panose="020B0609020000020004" pitchFamily="49" charset="0"/>
              </a:rPr>
              <a:t>// Configure the HTTP request pipeline.</a:t>
            </a:r>
            <a:endParaRPr lang="en-US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(!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app.Environment.IsDevelopment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())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app.UseExceptionHandler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"/Home/Error"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app.UseHsts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app.UseHttpsRedirection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app.UseSession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app.UseStaticFiles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app.UseRouting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app.UseAuthorization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app.MapControllerRoute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name: </a:t>
            </a:r>
            <a:r>
              <a:rPr lang="nl-BE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"default"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pattern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nl-BE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"{controller=Home}/{action=Index}/{</a:t>
            </a:r>
            <a:r>
              <a:rPr lang="nl-BE" sz="11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id</a:t>
            </a:r>
            <a:r>
              <a:rPr lang="nl-BE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?}"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app.Run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nl-BE" sz="1100" dirty="0"/>
          </a:p>
        </p:txBody>
      </p:sp>
    </p:spTree>
    <p:extLst>
      <p:ext uri="{BB962C8B-B14F-4D97-AF65-F5344CB8AC3E}">
        <p14:creationId xmlns:p14="http://schemas.microsoft.com/office/powerpoint/2010/main" val="39187291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28F0C-6EA2-4954-BA5A-547E0A46D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Sessie Configureren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DE520-F8EB-4DB8-AC3D-815BE90EB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707321"/>
            <a:ext cx="9281274" cy="197365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Opties voor sessie kunnen verder geconfigureerd worden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Voorbeeld: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b="1" dirty="0" err="1"/>
              <a:t>IdleTimeout</a:t>
            </a:r>
            <a:r>
              <a:rPr lang="nl-BE" sz="2400" dirty="0"/>
              <a:t>: geeft aan hoe lang sessie ongebruikt mag zijn alvorens inhoud gewist wordt. Wordt bij elke </a:t>
            </a:r>
            <a:r>
              <a:rPr lang="nl-BE" sz="2400" dirty="0" err="1"/>
              <a:t>request</a:t>
            </a:r>
            <a:r>
              <a:rPr lang="nl-BE" sz="2400" dirty="0"/>
              <a:t> gereset.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B25E43-3D72-452D-A4C9-684F36830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7CDF78-55C2-4B82-B5AE-22F3F6BA6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19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EF1E30E-729D-4384-9C6B-0CD48FA898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CF2342-1EC0-48BA-AB08-D18F85A38369}"/>
              </a:ext>
            </a:extLst>
          </p:cNvPr>
          <p:cNvSpPr txBox="1"/>
          <p:nvPr/>
        </p:nvSpPr>
        <p:spPr>
          <a:xfrm>
            <a:off x="1853632" y="3869406"/>
            <a:ext cx="7600336" cy="83099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</a:t>
            </a:r>
            <a:r>
              <a:rPr lang="nl-BE" sz="1600" dirty="0" err="1">
                <a:solidFill>
                  <a:srgbClr val="74561F"/>
                </a:solidFill>
                <a:latin typeface="Cascadia Mono" panose="020B0609020000020004" pitchFamily="49" charset="0"/>
              </a:rPr>
              <a:t>AddSession</a:t>
            </a:r>
            <a:r>
              <a:rPr lang="nl-BE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(options =&gt; 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options.IdleTimeout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6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TimeSpan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</a:t>
            </a:r>
            <a:r>
              <a:rPr lang="en-US" sz="1600" dirty="0" err="1">
                <a:solidFill>
                  <a:srgbClr val="74561F"/>
                </a:solidFill>
                <a:latin typeface="Cascadia Mono" panose="020B0609020000020004" pitchFamily="49" charset="0"/>
              </a:rPr>
              <a:t>FromSeconds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(30);</a:t>
            </a:r>
          </a:p>
          <a:p>
            <a:r>
              <a:rPr lang="nl-BE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});</a:t>
            </a:r>
            <a:endParaRPr lang="nl-BE" sz="1600" dirty="0"/>
          </a:p>
        </p:txBody>
      </p:sp>
    </p:spTree>
    <p:extLst>
      <p:ext uri="{BB962C8B-B14F-4D97-AF65-F5344CB8AC3E}">
        <p14:creationId xmlns:p14="http://schemas.microsoft.com/office/powerpoint/2010/main" val="20602446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65606-3DF9-458E-9876-E32FCB2D1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Gegevens bewaren in een Sessie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78B08-108B-41D3-BB13-0958DA1A6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291" y="2028079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Gegevens bewaren in een sessie is gelijkaardig aan het gebruik van cookies: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Ook hier worden gegevens opgeslagen als </a:t>
            </a:r>
            <a:r>
              <a:rPr lang="nl-BE" sz="2400" b="1" dirty="0" err="1">
                <a:solidFill>
                  <a:schemeClr val="accent6"/>
                </a:solidFill>
              </a:rPr>
              <a:t>key-value</a:t>
            </a:r>
            <a:r>
              <a:rPr lang="nl-BE" sz="2400" b="1" dirty="0">
                <a:solidFill>
                  <a:schemeClr val="accent6"/>
                </a:solidFill>
              </a:rPr>
              <a:t> paren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8D36D1-BE20-45FA-BE2A-57F5D0E01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CA5FBF-5831-4A06-A647-64B034813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20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160FAE7-54D6-415D-8108-92CBE3FE12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FAF196-1337-4F64-9ED4-ED09956FE684}"/>
              </a:ext>
            </a:extLst>
          </p:cNvPr>
          <p:cNvSpPr txBox="1"/>
          <p:nvPr/>
        </p:nvSpPr>
        <p:spPr>
          <a:xfrm>
            <a:off x="1637994" y="4278278"/>
            <a:ext cx="6676103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dirty="0" err="1">
                <a:solidFill>
                  <a:srgbClr val="000000"/>
                </a:solidFill>
                <a:latin typeface="Consolas" panose="020B0609020204030204" pitchFamily="49" charset="0"/>
              </a:rPr>
              <a:t>HttpContext.Session.</a:t>
            </a:r>
            <a:r>
              <a:rPr lang="nl-BE" dirty="0" err="1">
                <a:solidFill>
                  <a:srgbClr val="74561F"/>
                </a:solidFill>
                <a:latin typeface="Consolas" panose="020B0609020204030204" pitchFamily="49" charset="0"/>
              </a:rPr>
              <a:t>SetString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"user"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dirty="0" err="1">
                <a:solidFill>
                  <a:srgbClr val="A31515"/>
                </a:solidFill>
                <a:latin typeface="Consolas" panose="020B0609020204030204" pitchFamily="49" charset="0"/>
              </a:rPr>
              <a:t>sam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nl-B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986202-DF95-4F1D-B31A-02B065DC87F3}"/>
              </a:ext>
            </a:extLst>
          </p:cNvPr>
          <p:cNvSpPr txBox="1"/>
          <p:nvPr/>
        </p:nvSpPr>
        <p:spPr>
          <a:xfrm>
            <a:off x="1637994" y="3864449"/>
            <a:ext cx="2635046" cy="367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u="sng" dirty="0"/>
              <a:t>Voorbeeld (in controller):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8F60A4-A1C1-44EC-87AF-6DC32D8B454C}"/>
              </a:ext>
            </a:extLst>
          </p:cNvPr>
          <p:cNvSpPr txBox="1"/>
          <p:nvPr/>
        </p:nvSpPr>
        <p:spPr>
          <a:xfrm>
            <a:off x="5171444" y="4795141"/>
            <a:ext cx="639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dirty="0" err="1"/>
              <a:t>key</a:t>
            </a:r>
            <a:endParaRPr lang="nl-BE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52553A-FAB4-4058-877F-50984E78E2C6}"/>
              </a:ext>
            </a:extLst>
          </p:cNvPr>
          <p:cNvSpPr txBox="1"/>
          <p:nvPr/>
        </p:nvSpPr>
        <p:spPr>
          <a:xfrm>
            <a:off x="6891832" y="4795141"/>
            <a:ext cx="993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dirty="0" err="1"/>
              <a:t>value</a:t>
            </a:r>
            <a:endParaRPr lang="nl-BE" b="1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29A8B27-4C3A-480C-B8A3-0DCB7DAE0228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5491154" y="4596776"/>
            <a:ext cx="319710" cy="19836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90A4974-3D21-4328-9B69-5075959B5662}"/>
              </a:ext>
            </a:extLst>
          </p:cNvPr>
          <p:cNvCxnSpPr>
            <a:cxnSpLocks/>
          </p:cNvCxnSpPr>
          <p:nvPr/>
        </p:nvCxnSpPr>
        <p:spPr>
          <a:xfrm flipH="1" flipV="1">
            <a:off x="6813756" y="4622194"/>
            <a:ext cx="314631" cy="17294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41531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0910B-70D2-4028-A7F0-B4184D55A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Gegevens ophalen uit Sessie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B6F39-94FA-461A-B49E-E84A68A60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291" y="1932122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Op basis van de </a:t>
            </a:r>
            <a:r>
              <a:rPr lang="nl-BE" b="1" i="1" dirty="0" err="1">
                <a:solidFill>
                  <a:schemeClr val="accent6"/>
                </a:solidFill>
              </a:rPr>
              <a:t>key</a:t>
            </a:r>
            <a:r>
              <a:rPr lang="nl-BE" dirty="0">
                <a:solidFill>
                  <a:schemeClr val="accent6"/>
                </a:solidFill>
              </a:rPr>
              <a:t> </a:t>
            </a:r>
            <a:r>
              <a:rPr lang="nl-BE" dirty="0"/>
              <a:t>kan de bijhorende waarde vervolgens opgehaald worden uit de sessie:</a:t>
            </a:r>
            <a:endParaRPr lang="nl-BE" b="1" i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1FDCBA-2C38-4D20-B99E-0E64E4F6A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E53FF4-7AC3-4AE4-84A1-5DFCF19E3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21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D911FB2-13F1-45DF-9021-71C1284900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6CF1F4-92D7-40DB-BE17-78FBD6E21A56}"/>
              </a:ext>
            </a:extLst>
          </p:cNvPr>
          <p:cNvSpPr txBox="1"/>
          <p:nvPr/>
        </p:nvSpPr>
        <p:spPr>
          <a:xfrm>
            <a:off x="1130710" y="3053090"/>
            <a:ext cx="7315200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username = </a:t>
            </a:r>
            <a:r>
              <a:rPr lang="nl-BE" dirty="0" err="1">
                <a:solidFill>
                  <a:srgbClr val="000000"/>
                </a:solidFill>
                <a:latin typeface="Consolas" panose="020B0609020204030204" pitchFamily="49" charset="0"/>
              </a:rPr>
              <a:t>HttpContext.Session.</a:t>
            </a:r>
            <a:r>
              <a:rPr lang="nl-BE" dirty="0" err="1">
                <a:solidFill>
                  <a:srgbClr val="74561F"/>
                </a:solidFill>
                <a:latin typeface="Consolas" panose="020B0609020204030204" pitchFamily="49" charset="0"/>
              </a:rPr>
              <a:t>GetString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"user"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nl-B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567633-FA51-4C55-8D9C-91502F02DD97}"/>
              </a:ext>
            </a:extLst>
          </p:cNvPr>
          <p:cNvSpPr txBox="1"/>
          <p:nvPr/>
        </p:nvSpPr>
        <p:spPr>
          <a:xfrm>
            <a:off x="678291" y="4920203"/>
            <a:ext cx="100977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000" b="1" dirty="0"/>
              <a:t>Opgelet:</a:t>
            </a:r>
            <a:r>
              <a:rPr lang="nl-BE" sz="2000" dirty="0"/>
              <a:t> de methode </a:t>
            </a:r>
            <a:r>
              <a:rPr lang="nl-BE" dirty="0" err="1">
                <a:latin typeface="Consolas" panose="020B0609020204030204" pitchFamily="49" charset="0"/>
              </a:rPr>
              <a:t>GetString</a:t>
            </a:r>
            <a:r>
              <a:rPr lang="nl-BE" dirty="0">
                <a:latin typeface="Consolas" panose="020B0609020204030204" pitchFamily="49" charset="0"/>
              </a:rPr>
              <a:t>() </a:t>
            </a:r>
            <a:r>
              <a:rPr lang="nl-BE" sz="2000" dirty="0"/>
              <a:t>is een extension-</a:t>
            </a:r>
            <a:r>
              <a:rPr lang="nl-BE" sz="2000" dirty="0" err="1"/>
              <a:t>method</a:t>
            </a:r>
            <a:r>
              <a:rPr lang="nl-BE" sz="2000" dirty="0"/>
              <a:t>. </a:t>
            </a:r>
            <a:br>
              <a:rPr lang="nl-BE" sz="2000" dirty="0"/>
            </a:br>
            <a:r>
              <a:rPr lang="nl-BE" sz="2000" dirty="0"/>
              <a:t>Om deze te kunnen gebruiken, dien je de </a:t>
            </a:r>
            <a:r>
              <a:rPr lang="nl-BE" sz="2000" dirty="0" err="1"/>
              <a:t>namespace</a:t>
            </a:r>
            <a:r>
              <a:rPr lang="nl-BE" sz="2000" dirty="0"/>
              <a:t> </a:t>
            </a:r>
            <a:r>
              <a:rPr lang="nl-BE" sz="2000" b="1" i="1" dirty="0" err="1"/>
              <a:t>Microsoft.AspNetCore.Http</a:t>
            </a:r>
            <a:r>
              <a:rPr lang="nl-BE" sz="2000" dirty="0"/>
              <a:t> te importeren</a:t>
            </a:r>
          </a:p>
        </p:txBody>
      </p:sp>
    </p:spTree>
    <p:extLst>
      <p:ext uri="{BB962C8B-B14F-4D97-AF65-F5344CB8AC3E}">
        <p14:creationId xmlns:p14="http://schemas.microsoft.com/office/powerpoint/2010/main" val="30928413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22BAC-DBEF-41FE-935E-5F2B6B747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Complexe objecten bewaren/ophalen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879FC-3790-4717-9EB2-27A3FFCF3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178" y="1314721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De data in een sessie is string-gebaseerd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Wat met complexe </a:t>
            </a:r>
            <a:r>
              <a:rPr lang="nl-BE" sz="2400" dirty="0" err="1"/>
              <a:t>klasses</a:t>
            </a:r>
            <a:r>
              <a:rPr lang="nl-BE" sz="2400" dirty="0"/>
              <a:t>?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b="1" dirty="0"/>
              <a:t>Oplossing:</a:t>
            </a:r>
            <a:r>
              <a:rPr lang="nl-BE" sz="2400" dirty="0"/>
              <a:t> object omzetten naar JSON-string (</a:t>
            </a:r>
            <a:r>
              <a:rPr lang="nl-BE" sz="2400" b="1" dirty="0" err="1"/>
              <a:t>serialisatie</a:t>
            </a:r>
            <a:r>
              <a:rPr lang="nl-BE" sz="2400" dirty="0"/>
              <a:t>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D0E6EE-8E18-409E-AB7F-63BA6C153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824ECE-4089-4B8E-AE5A-A55E15F2D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22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8F41F7-CB0A-4537-80ED-8AAC698E3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10B4C9-1A80-4088-80E6-FB6BB706E412}"/>
              </a:ext>
            </a:extLst>
          </p:cNvPr>
          <p:cNvSpPr txBox="1"/>
          <p:nvPr/>
        </p:nvSpPr>
        <p:spPr>
          <a:xfrm>
            <a:off x="1225040" y="3120717"/>
            <a:ext cx="6414625" cy="83099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ShoppingCart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cart =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ShoppingCart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cart.</a:t>
            </a:r>
            <a:r>
              <a:rPr lang="nl-BE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AddItem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CartItem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() {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ProductId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= 1,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Quantity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= 3 });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HttpContext.Session.</a:t>
            </a:r>
            <a:r>
              <a:rPr lang="en-US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SetString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"cart"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b="1" dirty="0" err="1">
                <a:solidFill>
                  <a:srgbClr val="4F8291"/>
                </a:solidFill>
                <a:latin typeface="Consolas" panose="020B0609020204030204" pitchFamily="49" charset="0"/>
              </a:rPr>
              <a:t>JsonSerializer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200" b="1" dirty="0" err="1">
                <a:solidFill>
                  <a:srgbClr val="74561F"/>
                </a:solidFill>
                <a:latin typeface="Consolas" panose="020B0609020204030204" pitchFamily="49" charset="0"/>
              </a:rPr>
              <a:t>Serialize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(cart)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nl-BE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E928C4-D670-486D-A5FB-724514569CB5}"/>
              </a:ext>
            </a:extLst>
          </p:cNvPr>
          <p:cNvSpPr txBox="1"/>
          <p:nvPr/>
        </p:nvSpPr>
        <p:spPr>
          <a:xfrm>
            <a:off x="1146675" y="2716491"/>
            <a:ext cx="2402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u="sng" dirty="0"/>
              <a:t>Voorbeeld bewaren: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7BAD1E-54E7-4D79-AC7A-B84F7876A69D}"/>
              </a:ext>
            </a:extLst>
          </p:cNvPr>
          <p:cNvSpPr txBox="1"/>
          <p:nvPr/>
        </p:nvSpPr>
        <p:spPr>
          <a:xfrm>
            <a:off x="1303405" y="4529282"/>
            <a:ext cx="8961472" cy="27699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ShoppingCart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cart = </a:t>
            </a:r>
            <a:r>
              <a:rPr lang="nl-BE" sz="1200" b="1" dirty="0" err="1">
                <a:solidFill>
                  <a:srgbClr val="4F8291"/>
                </a:solidFill>
                <a:latin typeface="Consolas" panose="020B0609020204030204" pitchFamily="49" charset="0"/>
              </a:rPr>
              <a:t>JsonSerializer</a:t>
            </a:r>
            <a:r>
              <a:rPr lang="nl-BE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nl-BE" sz="1200" b="1" dirty="0" err="1">
                <a:solidFill>
                  <a:srgbClr val="74561F"/>
                </a:solidFill>
                <a:latin typeface="Consolas" panose="020B0609020204030204" pitchFamily="49" charset="0"/>
              </a:rPr>
              <a:t>Deserialize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200" b="1" dirty="0" err="1">
                <a:solidFill>
                  <a:srgbClr val="4F8291"/>
                </a:solidFill>
                <a:latin typeface="Consolas" panose="020B0609020204030204" pitchFamily="49" charset="0"/>
              </a:rPr>
              <a:t>ShoppingCart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&gt;(</a:t>
            </a:r>
            <a:r>
              <a:rPr lang="nl-BE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HttpContext.Session.</a:t>
            </a:r>
            <a:r>
              <a:rPr lang="nl-BE" sz="1200" b="1" dirty="0" err="1">
                <a:solidFill>
                  <a:srgbClr val="74561F"/>
                </a:solidFill>
                <a:latin typeface="Consolas" panose="020B0609020204030204" pitchFamily="49" charset="0"/>
              </a:rPr>
              <a:t>GetString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b="1" dirty="0">
                <a:solidFill>
                  <a:srgbClr val="A31515"/>
                </a:solidFill>
                <a:latin typeface="Consolas" panose="020B0609020204030204" pitchFamily="49" charset="0"/>
              </a:rPr>
              <a:t>"cart"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  <a:endParaRPr lang="nl-BE" sz="1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0A64CD-5C55-40F9-B9F4-2CE5990BB100}"/>
              </a:ext>
            </a:extLst>
          </p:cNvPr>
          <p:cNvSpPr txBox="1"/>
          <p:nvPr/>
        </p:nvSpPr>
        <p:spPr>
          <a:xfrm>
            <a:off x="1225040" y="4125056"/>
            <a:ext cx="2402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u="sng" dirty="0"/>
              <a:t>Voorbeeld ophalen: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9F9574-69B6-4CE3-9DA0-2DFF792374A1}"/>
              </a:ext>
            </a:extLst>
          </p:cNvPr>
          <p:cNvSpPr txBox="1"/>
          <p:nvPr/>
        </p:nvSpPr>
        <p:spPr>
          <a:xfrm>
            <a:off x="678291" y="5358613"/>
            <a:ext cx="8371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i="1" dirty="0"/>
              <a:t>Opgelet: </a:t>
            </a:r>
            <a:r>
              <a:rPr lang="nl-BE" i="1" dirty="0"/>
              <a:t>enkel </a:t>
            </a:r>
            <a:r>
              <a:rPr lang="nl-BE" i="1" dirty="0" err="1"/>
              <a:t>property’s</a:t>
            </a:r>
            <a:r>
              <a:rPr lang="nl-BE" i="1" dirty="0"/>
              <a:t> worden </a:t>
            </a:r>
            <a:r>
              <a:rPr lang="nl-BE" i="1" dirty="0" err="1"/>
              <a:t>geserialiseerd</a:t>
            </a:r>
            <a:r>
              <a:rPr lang="nl-BE" i="1" dirty="0"/>
              <a:t>/</a:t>
            </a:r>
            <a:r>
              <a:rPr lang="nl-BE" i="1" dirty="0" err="1"/>
              <a:t>gedeserialiseerd</a:t>
            </a:r>
            <a:r>
              <a:rPr lang="nl-BE" i="1" dirty="0"/>
              <a:t> (geen private-fields!)</a:t>
            </a:r>
          </a:p>
        </p:txBody>
      </p:sp>
    </p:spTree>
    <p:extLst>
      <p:ext uri="{BB962C8B-B14F-4D97-AF65-F5344CB8AC3E}">
        <p14:creationId xmlns:p14="http://schemas.microsoft.com/office/powerpoint/2010/main" val="8294302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F2F7-AF3C-49F6-9638-CA810B199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Complexe objecten bewaren/ophalen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222C0-9B81-4A5D-A2C2-BF9891257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291" y="1296000"/>
            <a:ext cx="10088032" cy="3090532"/>
          </a:xfrm>
        </p:spPr>
        <p:txBody>
          <a:bodyPr/>
          <a:lstStyle/>
          <a:p>
            <a:r>
              <a:rPr lang="nl-BE" sz="2400" b="1" dirty="0"/>
              <a:t>Tip: </a:t>
            </a:r>
            <a:r>
              <a:rPr lang="nl-BE" sz="2400" dirty="0"/>
              <a:t>maak extension-</a:t>
            </a:r>
            <a:r>
              <a:rPr lang="nl-BE" sz="2400" dirty="0" err="1"/>
              <a:t>methods</a:t>
            </a:r>
            <a:r>
              <a:rPr lang="nl-BE" sz="2400" dirty="0"/>
              <a:t> om (de-)</a:t>
            </a:r>
            <a:r>
              <a:rPr lang="nl-BE" sz="2400" dirty="0" err="1"/>
              <a:t>serialisatie</a:t>
            </a:r>
            <a:r>
              <a:rPr lang="nl-BE" sz="2400" dirty="0"/>
              <a:t> transparant te laten gebeuren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02A06E-4EF7-4668-ABBB-9416424B2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125D2B-8DFB-491B-97FB-3A874A9A9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23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2ABB6E-F411-4CF8-A599-9DB564F25B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0F8D98-4A4E-4B84-B309-8F364C9D42CE}"/>
              </a:ext>
            </a:extLst>
          </p:cNvPr>
          <p:cNvSpPr txBox="1"/>
          <p:nvPr/>
        </p:nvSpPr>
        <p:spPr>
          <a:xfrm>
            <a:off x="973394" y="2487561"/>
            <a:ext cx="9938206" cy="224676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SessionHelper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SetObjectAsJson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4F8291"/>
                </a:solidFill>
                <a:latin typeface="Consolas" panose="020B0609020204030204" pitchFamily="49" charset="0"/>
              </a:rPr>
              <a:t>ISession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session,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key,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value) 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session.</a:t>
            </a:r>
            <a:r>
              <a:rPr lang="en-US" sz="1400" dirty="0" err="1">
                <a:solidFill>
                  <a:srgbClr val="74561F"/>
                </a:solidFill>
                <a:latin typeface="Consolas" panose="020B0609020204030204" pitchFamily="49" charset="0"/>
              </a:rPr>
              <a:t>SetString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(key, </a:t>
            </a:r>
            <a:r>
              <a:rPr lang="en-US" sz="1400" dirty="0" err="1">
                <a:solidFill>
                  <a:srgbClr val="4F8291"/>
                </a:solidFill>
                <a:latin typeface="Consolas" panose="020B0609020204030204" pitchFamily="49" charset="0"/>
              </a:rPr>
              <a:t>JsonSerializer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61F"/>
                </a:solidFill>
                <a:latin typeface="Consolas" panose="020B0609020204030204" pitchFamily="49" charset="0"/>
              </a:rPr>
              <a:t>Serialize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(value));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endParaRPr lang="nl-BE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4F8291"/>
                </a:solidFill>
                <a:latin typeface="Consolas" panose="020B0609020204030204" pitchFamily="49" charset="0"/>
              </a:rPr>
              <a:t>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GetObjectFromJson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&gt;(</a:t>
            </a:r>
            <a:r>
              <a:rPr lang="en-US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4F8291"/>
                </a:solidFill>
                <a:latin typeface="Consolas" panose="020B0609020204030204" pitchFamily="49" charset="0"/>
              </a:rPr>
              <a:t>ISession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session,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key) 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value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session.</a:t>
            </a:r>
            <a:r>
              <a:rPr lang="nl-BE" sz="1400" dirty="0" err="1">
                <a:solidFill>
                  <a:srgbClr val="74561F"/>
                </a:solidFill>
                <a:latin typeface="Consolas" panose="020B0609020204030204" pitchFamily="49" charset="0"/>
              </a:rPr>
              <a:t>GetString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key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value ==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?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4F8291"/>
                </a:solidFill>
                <a:latin typeface="Consolas" panose="020B0609020204030204" pitchFamily="49" charset="0"/>
              </a:rPr>
              <a:t>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: </a:t>
            </a:r>
            <a:r>
              <a:rPr lang="en-US" sz="1400" dirty="0" err="1">
                <a:solidFill>
                  <a:srgbClr val="4F8291"/>
                </a:solidFill>
                <a:latin typeface="Consolas" panose="020B0609020204030204" pitchFamily="49" charset="0"/>
              </a:rPr>
              <a:t>JsonSerializer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61F"/>
                </a:solidFill>
                <a:latin typeface="Consolas" panose="020B0609020204030204" pitchFamily="49" charset="0"/>
              </a:rPr>
              <a:t>Deserialize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4F8291"/>
                </a:solidFill>
                <a:latin typeface="Consolas" panose="020B0609020204030204" pitchFamily="49" charset="0"/>
              </a:rPr>
              <a:t>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&gt;(value);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400" dirty="0"/>
          </a:p>
        </p:txBody>
      </p:sp>
    </p:spTree>
    <p:extLst>
      <p:ext uri="{BB962C8B-B14F-4D97-AF65-F5344CB8AC3E}">
        <p14:creationId xmlns:p14="http://schemas.microsoft.com/office/powerpoint/2010/main" val="38879536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6860C-B5F0-465D-895F-3ACF17722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Complexe objecten bewaren/ophalen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EDA883-7898-4099-AF91-C5616F37F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9FEA61-567E-4BD9-A7FD-4818F9123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24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B3C7F8D-A02C-4FBE-970A-CC3709E5F8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12F5F6-9600-458C-A741-10A74673E091}"/>
              </a:ext>
            </a:extLst>
          </p:cNvPr>
          <p:cNvSpPr txBox="1"/>
          <p:nvPr/>
        </p:nvSpPr>
        <p:spPr>
          <a:xfrm>
            <a:off x="751106" y="2520949"/>
            <a:ext cx="6414625" cy="95410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 err="1">
                <a:solidFill>
                  <a:srgbClr val="4F8291"/>
                </a:solidFill>
                <a:latin typeface="Consolas" panose="020B0609020204030204" pitchFamily="49" charset="0"/>
              </a:rPr>
              <a:t>ShoppingCart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cart = 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 err="1">
                <a:solidFill>
                  <a:srgbClr val="4F8291"/>
                </a:solidFill>
                <a:latin typeface="Consolas" panose="020B0609020204030204" pitchFamily="49" charset="0"/>
              </a:rPr>
              <a:t>ShoppingCart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cart.</a:t>
            </a:r>
            <a:r>
              <a:rPr lang="nl-BE" sz="1400" dirty="0" err="1">
                <a:solidFill>
                  <a:srgbClr val="74561F"/>
                </a:solidFill>
                <a:latin typeface="Consolas" panose="020B0609020204030204" pitchFamily="49" charset="0"/>
              </a:rPr>
              <a:t>AddItem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 err="1">
                <a:solidFill>
                  <a:srgbClr val="4F8291"/>
                </a:solidFill>
                <a:latin typeface="Consolas" panose="020B0609020204030204" pitchFamily="49" charset="0"/>
              </a:rPr>
              <a:t>CartItem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() { 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ProductId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= 1, 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Quantity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= 3 });</a:t>
            </a:r>
          </a:p>
          <a:p>
            <a:endParaRPr lang="nl-BE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HttpContext.Session.</a:t>
            </a:r>
            <a:r>
              <a:rPr lang="fr-FR" sz="1400" b="1" dirty="0" err="1">
                <a:solidFill>
                  <a:srgbClr val="74561F"/>
                </a:solidFill>
                <a:latin typeface="Consolas" panose="020B0609020204030204" pitchFamily="49" charset="0"/>
              </a:rPr>
              <a:t>SetObjectAsJson</a:t>
            </a:r>
            <a:r>
              <a:rPr lang="fr-F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fr-FR" sz="14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cart</a:t>
            </a:r>
            <a:r>
              <a:rPr lang="fr-FR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fr-F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cart</a:t>
            </a:r>
            <a:r>
              <a:rPr lang="fr-F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nl-BE" sz="1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40306E-449B-46EC-8F45-585EFE9B5417}"/>
              </a:ext>
            </a:extLst>
          </p:cNvPr>
          <p:cNvSpPr txBox="1"/>
          <p:nvPr/>
        </p:nvSpPr>
        <p:spPr>
          <a:xfrm>
            <a:off x="751106" y="4506383"/>
            <a:ext cx="8210070" cy="3077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 err="1">
                <a:solidFill>
                  <a:srgbClr val="4F8291"/>
                </a:solidFill>
                <a:latin typeface="Consolas" panose="020B0609020204030204" pitchFamily="49" charset="0"/>
              </a:rPr>
              <a:t>ShoppingCart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cart = </a:t>
            </a:r>
            <a:r>
              <a:rPr lang="nl-BE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HttpContext.Session.</a:t>
            </a:r>
            <a:r>
              <a:rPr lang="nl-BE" sz="1400" b="1" dirty="0" err="1">
                <a:solidFill>
                  <a:srgbClr val="74561F"/>
                </a:solidFill>
                <a:latin typeface="Consolas" panose="020B0609020204030204" pitchFamily="49" charset="0"/>
              </a:rPr>
              <a:t>GetObjectFromJson</a:t>
            </a:r>
            <a:r>
              <a:rPr lang="nl-BE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400" b="1" dirty="0" err="1">
                <a:solidFill>
                  <a:srgbClr val="4F8291"/>
                </a:solidFill>
                <a:latin typeface="Consolas" panose="020B0609020204030204" pitchFamily="49" charset="0"/>
              </a:rPr>
              <a:t>ShoppingCart</a:t>
            </a:r>
            <a:r>
              <a:rPr lang="nl-BE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&gt;(</a:t>
            </a:r>
            <a:r>
              <a:rPr lang="nl-BE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"cart"</a:t>
            </a:r>
            <a:r>
              <a:rPr lang="nl-BE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nl-BE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331898-849C-4723-9A2B-343256452E07}"/>
              </a:ext>
            </a:extLst>
          </p:cNvPr>
          <p:cNvSpPr txBox="1"/>
          <p:nvPr/>
        </p:nvSpPr>
        <p:spPr>
          <a:xfrm>
            <a:off x="689047" y="2149783"/>
            <a:ext cx="3590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u="sng" dirty="0"/>
              <a:t>Voorbeeld gebruik (data bewaren):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171467-B03D-47EA-90D1-9F6E8B77FD66}"/>
              </a:ext>
            </a:extLst>
          </p:cNvPr>
          <p:cNvSpPr txBox="1"/>
          <p:nvPr/>
        </p:nvSpPr>
        <p:spPr>
          <a:xfrm>
            <a:off x="689048" y="4113923"/>
            <a:ext cx="3590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u="sng" dirty="0"/>
              <a:t>Voorbeeld gebruik (data ophalen):</a:t>
            </a:r>
          </a:p>
        </p:txBody>
      </p:sp>
    </p:spTree>
    <p:extLst>
      <p:ext uri="{BB962C8B-B14F-4D97-AF65-F5344CB8AC3E}">
        <p14:creationId xmlns:p14="http://schemas.microsoft.com/office/powerpoint/2010/main" val="24753612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2E607-3A5F-44FE-80E1-5A23A6BC4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Waarde uit sessie verwijderen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1B5A7-AD71-4D43-9C84-34FE3D031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178" y="1767948"/>
            <a:ext cx="9281274" cy="92609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Gebruik de methode </a:t>
            </a:r>
            <a:r>
              <a:rPr lang="nl-BE" sz="2400" dirty="0" err="1">
                <a:solidFill>
                  <a:schemeClr val="tx2"/>
                </a:solidFill>
                <a:latin typeface="Consolas" panose="020B0609020204030204" pitchFamily="49" charset="0"/>
              </a:rPr>
              <a:t>Remove</a:t>
            </a:r>
            <a:r>
              <a:rPr lang="nl-BE" sz="24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nl-BE" sz="2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nl-BE" sz="2400" dirty="0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nl-BE" sz="2400" dirty="0" err="1">
                <a:solidFill>
                  <a:schemeClr val="tx2"/>
                </a:solidFill>
                <a:latin typeface="Consolas" panose="020B0609020204030204" pitchFamily="49" charset="0"/>
              </a:rPr>
              <a:t>key</a:t>
            </a:r>
            <a:r>
              <a:rPr lang="nl-BE" sz="2400" dirty="0">
                <a:solidFill>
                  <a:schemeClr val="tx2"/>
                </a:solidFill>
                <a:latin typeface="Consolas" panose="020B0609020204030204" pitchFamily="49" charset="0"/>
              </a:rPr>
              <a:t>)</a:t>
            </a:r>
            <a:r>
              <a:rPr lang="nl-BE" dirty="0">
                <a:solidFill>
                  <a:schemeClr val="tx2"/>
                </a:solidFill>
              </a:rPr>
              <a:t> </a:t>
            </a:r>
            <a:r>
              <a:rPr lang="nl-BE" dirty="0"/>
              <a:t>om de waarde met de betreffende </a:t>
            </a:r>
            <a:r>
              <a:rPr lang="nl-BE" dirty="0" err="1"/>
              <a:t>key</a:t>
            </a:r>
            <a:r>
              <a:rPr lang="nl-BE" dirty="0"/>
              <a:t> uit de sessie te verwijderen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EA064C-C489-4FFC-8B9D-3547ED467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EBF72B-CEE7-417D-A929-31B58CFE2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C1744D5-0447-42A9-8BB4-EF7A465690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397500-10A4-4CA0-BB95-C0083255603C}"/>
              </a:ext>
            </a:extLst>
          </p:cNvPr>
          <p:cNvSpPr txBox="1"/>
          <p:nvPr/>
        </p:nvSpPr>
        <p:spPr>
          <a:xfrm>
            <a:off x="861246" y="2880851"/>
            <a:ext cx="4987732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dirty="0" err="1">
                <a:solidFill>
                  <a:srgbClr val="000000"/>
                </a:solidFill>
                <a:latin typeface="Consolas" panose="020B0609020204030204" pitchFamily="49" charset="0"/>
              </a:rPr>
              <a:t>HttpContext.Session.</a:t>
            </a:r>
            <a:r>
              <a:rPr lang="nl-BE" dirty="0" err="1">
                <a:solidFill>
                  <a:srgbClr val="74561F"/>
                </a:solidFill>
                <a:latin typeface="Consolas" panose="020B0609020204030204" pitchFamily="49" charset="0"/>
              </a:rPr>
              <a:t>Remove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"cart"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nl-BE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6B2FCA6-48B9-4204-8A9A-157857E8E513}"/>
              </a:ext>
            </a:extLst>
          </p:cNvPr>
          <p:cNvSpPr txBox="1">
            <a:spLocks/>
          </p:cNvSpPr>
          <p:nvPr/>
        </p:nvSpPr>
        <p:spPr>
          <a:xfrm>
            <a:off x="534291" y="3886857"/>
            <a:ext cx="9281274" cy="9260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163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Met de methode </a:t>
            </a:r>
            <a:r>
              <a:rPr lang="nl-BE" sz="2400" dirty="0" err="1">
                <a:solidFill>
                  <a:schemeClr val="tx2"/>
                </a:solidFill>
                <a:latin typeface="Consolas" panose="020B0609020204030204" pitchFamily="49" charset="0"/>
              </a:rPr>
              <a:t>Clear</a:t>
            </a:r>
            <a:r>
              <a:rPr lang="nl-BE" sz="2400" dirty="0">
                <a:solidFill>
                  <a:schemeClr val="tx2"/>
                </a:solidFill>
                <a:latin typeface="Consolas" panose="020B0609020204030204" pitchFamily="49" charset="0"/>
              </a:rPr>
              <a:t>()</a:t>
            </a:r>
            <a:r>
              <a:rPr lang="nl-BE" dirty="0"/>
              <a:t> verwijder je </a:t>
            </a:r>
            <a:r>
              <a:rPr lang="nl-BE" b="1" dirty="0"/>
              <a:t>alle gegevens </a:t>
            </a:r>
            <a:r>
              <a:rPr lang="nl-BE" dirty="0"/>
              <a:t>binnen de sessie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9D9F86-FDF7-49A2-AECF-BCCCD2B739A2}"/>
              </a:ext>
            </a:extLst>
          </p:cNvPr>
          <p:cNvSpPr txBox="1"/>
          <p:nvPr/>
        </p:nvSpPr>
        <p:spPr>
          <a:xfrm>
            <a:off x="985359" y="4999760"/>
            <a:ext cx="4987732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dirty="0" err="1">
                <a:solidFill>
                  <a:srgbClr val="000000"/>
                </a:solidFill>
                <a:latin typeface="Consolas" panose="020B0609020204030204" pitchFamily="49" charset="0"/>
              </a:rPr>
              <a:t>HttpContext.Session.</a:t>
            </a:r>
            <a:r>
              <a:rPr lang="nl-BE" dirty="0" err="1">
                <a:solidFill>
                  <a:srgbClr val="74561F"/>
                </a:solidFill>
                <a:latin typeface="Consolas" panose="020B0609020204030204" pitchFamily="49" charset="0"/>
              </a:rPr>
              <a:t>Clear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9296722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DB36A-BCFB-4334-98C2-CCE6637BE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Authenticatie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F504F-47E3-4293-91E4-D0725AEDE2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670D25-D00F-4513-8E3E-CEA96CDF3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05929A-51B2-4D22-930B-AEF450F54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26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709EEDE-0692-47FA-9FC0-D0F830BEA4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983196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B52A2-B7EB-4446-AB79-6AB9E0142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Wat is Authenticatie?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EEE03-3527-4CF7-83BE-DA71D9F05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291" y="1683948"/>
            <a:ext cx="9281274" cy="387754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b="1" dirty="0">
                <a:solidFill>
                  <a:schemeClr val="accent6"/>
                </a:solidFill>
              </a:rPr>
              <a:t>Authenticatie</a:t>
            </a:r>
            <a:r>
              <a:rPr lang="nl-BE" dirty="0"/>
              <a:t> = proces waarbij nagegaan wordt of gebruiker/systeem/... is wij hij beweert te zijn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Voorbeeld: werken met </a:t>
            </a:r>
            <a:r>
              <a:rPr lang="nl-BE" b="1" dirty="0">
                <a:solidFill>
                  <a:schemeClr val="accent6"/>
                </a:solidFill>
              </a:rPr>
              <a:t>login-systeem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Typisch a.d.h.v. combinatie gebruikersnaam + wachtwoord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Authenticatie-code is vaak ingewikkeld en foutgevoelig</a:t>
            </a:r>
          </a:p>
          <a:p>
            <a:pPr marL="701063" lvl="1" indent="-342900">
              <a:buFont typeface="Wingdings" panose="05000000000000000000" pitchFamily="2" charset="2"/>
              <a:buChar char="à"/>
            </a:pPr>
            <a:r>
              <a:rPr lang="nl-BE" sz="2400" dirty="0">
                <a:sym typeface="Wingdings" panose="05000000000000000000" pitchFamily="2" charset="2"/>
              </a:rPr>
              <a:t>Gebruik maken van </a:t>
            </a:r>
            <a:r>
              <a:rPr lang="nl-BE" sz="2400" dirty="0" err="1">
                <a:sym typeface="Wingdings" panose="05000000000000000000" pitchFamily="2" charset="2"/>
              </a:rPr>
              <a:t>framework</a:t>
            </a:r>
            <a:r>
              <a:rPr lang="nl-BE" sz="2400" dirty="0">
                <a:sym typeface="Wingdings" panose="05000000000000000000" pitchFamily="2" charset="2"/>
              </a:rPr>
              <a:t> (</a:t>
            </a:r>
            <a:r>
              <a:rPr lang="nl-BE" sz="2400" b="1" dirty="0">
                <a:solidFill>
                  <a:schemeClr val="accent6"/>
                </a:solidFill>
                <a:sym typeface="Wingdings" panose="05000000000000000000" pitchFamily="2" charset="2"/>
              </a:rPr>
              <a:t>ASP.NET </a:t>
            </a:r>
            <a:r>
              <a:rPr lang="nl-BE" sz="2400" b="1" dirty="0" err="1">
                <a:solidFill>
                  <a:schemeClr val="accent6"/>
                </a:solidFill>
                <a:sym typeface="Wingdings" panose="05000000000000000000" pitchFamily="2" charset="2"/>
              </a:rPr>
              <a:t>Core</a:t>
            </a:r>
            <a:r>
              <a:rPr lang="nl-BE" sz="2400" b="1" dirty="0">
                <a:solidFill>
                  <a:schemeClr val="accent6"/>
                </a:solidFill>
                <a:sym typeface="Wingdings" panose="05000000000000000000" pitchFamily="2" charset="2"/>
              </a:rPr>
              <a:t> Identity</a:t>
            </a:r>
            <a:r>
              <a:rPr lang="nl-BE" sz="2400" dirty="0">
                <a:sym typeface="Wingdings" panose="05000000000000000000" pitchFamily="2" charset="2"/>
              </a:rPr>
              <a:t>)</a:t>
            </a:r>
          </a:p>
          <a:p>
            <a:pPr marL="701063" lvl="1" indent="-342900">
              <a:buFont typeface="Wingdings" panose="05000000000000000000" pitchFamily="2" charset="2"/>
              <a:buChar char="à"/>
            </a:pPr>
            <a:r>
              <a:rPr lang="nl-BE" sz="2400" dirty="0">
                <a:sym typeface="Wingdings" panose="05000000000000000000" pitchFamily="2" charset="2"/>
              </a:rPr>
              <a:t>Handelt authenticatie en autorisatie af</a:t>
            </a:r>
            <a:endParaRPr lang="nl-BE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A704A3-87F8-4C24-A9FE-1FF389C7A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CF4027-0E37-4405-B2D7-0E69644CD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27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763F9F-FC04-4C9F-B270-0802FE37C9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35791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66E80-26E8-440B-B546-5F9AF3BBC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Users en Claims in ASP.NET </a:t>
            </a:r>
            <a:r>
              <a:rPr lang="nl-BE" dirty="0" err="1"/>
              <a:t>Core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1A0E2-8A71-4F36-960C-68572D2C6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290" y="1314721"/>
            <a:ext cx="11061425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Concept van </a:t>
            </a:r>
            <a:r>
              <a:rPr lang="nl-BE" b="1" dirty="0">
                <a:solidFill>
                  <a:schemeClr val="accent6"/>
                </a:solidFill>
              </a:rPr>
              <a:t>gebruikers</a:t>
            </a:r>
            <a:r>
              <a:rPr lang="nl-BE" dirty="0"/>
              <a:t> zit “ingebakken” in ASP.NET </a:t>
            </a:r>
            <a:r>
              <a:rPr lang="nl-BE" dirty="0" err="1"/>
              <a:t>Core</a:t>
            </a:r>
            <a:endParaRPr lang="nl-BE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Via </a:t>
            </a:r>
            <a:r>
              <a:rPr lang="nl-BE" sz="2400" b="1" dirty="0" err="1">
                <a:latin typeface="Consolas" panose="020B0609020204030204" pitchFamily="49" charset="0"/>
              </a:rPr>
              <a:t>HttpContext.User</a:t>
            </a:r>
            <a:r>
              <a:rPr lang="nl-BE" dirty="0"/>
              <a:t> </a:t>
            </a:r>
            <a:r>
              <a:rPr lang="nl-BE" b="1" dirty="0" err="1">
                <a:solidFill>
                  <a:schemeClr val="accent6"/>
                </a:solidFill>
              </a:rPr>
              <a:t>principal</a:t>
            </a:r>
            <a:r>
              <a:rPr lang="nl-BE" dirty="0"/>
              <a:t> van </a:t>
            </a:r>
            <a:r>
              <a:rPr lang="nl-BE" dirty="0" err="1"/>
              <a:t>request</a:t>
            </a:r>
            <a:r>
              <a:rPr lang="nl-BE" dirty="0"/>
              <a:t> opvragen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b="1" dirty="0" err="1">
                <a:solidFill>
                  <a:schemeClr val="accent6"/>
                </a:solidFill>
              </a:rPr>
              <a:t>Principal</a:t>
            </a:r>
            <a:r>
              <a:rPr lang="nl-BE" sz="2400" dirty="0"/>
              <a:t> </a:t>
            </a:r>
            <a:r>
              <a:rPr lang="nl-BE" sz="2400"/>
              <a:t>= huidige </a:t>
            </a:r>
            <a:r>
              <a:rPr lang="nl-BE" sz="2400" dirty="0"/>
              <a:t>gebruiker van applicatie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 err="1"/>
              <a:t>Principals</a:t>
            </a:r>
            <a:r>
              <a:rPr lang="nl-BE" dirty="0"/>
              <a:t> zijn geïmplementeerd als </a:t>
            </a:r>
            <a:r>
              <a:rPr lang="nl-BE" sz="2400" dirty="0" err="1">
                <a:latin typeface="Consolas" panose="020B0609020204030204" pitchFamily="49" charset="0"/>
              </a:rPr>
              <a:t>ClaimPrincipal</a:t>
            </a:r>
            <a:r>
              <a:rPr lang="nl-BE" dirty="0" err="1"/>
              <a:t>s</a:t>
            </a:r>
            <a:endParaRPr lang="nl-BE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Bevat een collectie van geassocieerde </a:t>
            </a:r>
            <a:r>
              <a:rPr lang="nl-BE" sz="2400" b="1" dirty="0">
                <a:solidFill>
                  <a:schemeClr val="accent6"/>
                </a:solidFill>
              </a:rPr>
              <a:t>claims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Claim = soort van “property” (informatie) over gebruiker</a:t>
            </a:r>
          </a:p>
          <a:p>
            <a:pPr marL="1177200" lvl="2" indent="-457200">
              <a:buFont typeface="Arial" panose="020B0604020202020204" pitchFamily="34" charset="0"/>
              <a:buChar char="•"/>
            </a:pPr>
            <a:r>
              <a:rPr lang="nl-BE" sz="2000" dirty="0"/>
              <a:t>Voorbeeld: </a:t>
            </a:r>
            <a:r>
              <a:rPr lang="nl-BE" sz="2000" i="1" dirty="0"/>
              <a:t>Email, Name, </a:t>
            </a:r>
            <a:r>
              <a:rPr lang="nl-BE" sz="2000" i="1" dirty="0" err="1"/>
              <a:t>BirthDate</a:t>
            </a:r>
            <a:r>
              <a:rPr lang="nl-BE" sz="2000" i="1" dirty="0"/>
              <a:t>, ...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Claim in de vorm van </a:t>
            </a:r>
            <a:r>
              <a:rPr lang="nl-BE" sz="2400" b="1" dirty="0" err="1">
                <a:solidFill>
                  <a:schemeClr val="accent6"/>
                </a:solidFill>
              </a:rPr>
              <a:t>key-value</a:t>
            </a:r>
            <a:r>
              <a:rPr lang="nl-BE" sz="2400" dirty="0"/>
              <a:t> pairs:</a:t>
            </a:r>
          </a:p>
          <a:p>
            <a:pPr marL="1177200" lvl="2" indent="-457200">
              <a:buFont typeface="Arial" panose="020B0604020202020204" pitchFamily="34" charset="0"/>
              <a:buChar char="•"/>
            </a:pPr>
            <a:r>
              <a:rPr lang="nl-BE" sz="2000" dirty="0"/>
              <a:t>Voorbeeld: </a:t>
            </a:r>
            <a:r>
              <a:rPr lang="nl-BE" sz="2000" i="1" dirty="0"/>
              <a:t>Email=john.doe@foo.bar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Claims kunnen ook </a:t>
            </a:r>
            <a:r>
              <a:rPr lang="nl-BE" sz="2400" b="1" dirty="0">
                <a:solidFill>
                  <a:schemeClr val="accent6"/>
                </a:solidFill>
              </a:rPr>
              <a:t>permissie-gebaseerd</a:t>
            </a:r>
            <a:r>
              <a:rPr lang="nl-BE" sz="2400" dirty="0"/>
              <a:t> zijn (bv.: </a:t>
            </a:r>
            <a:r>
              <a:rPr lang="nl-BE" sz="2400" i="1" dirty="0" err="1"/>
              <a:t>HasAdminAccess</a:t>
            </a:r>
            <a:r>
              <a:rPr lang="nl-BE" sz="2400" i="1" dirty="0"/>
              <a:t>, </a:t>
            </a:r>
            <a:r>
              <a:rPr lang="nl-BE" sz="2400" i="1" dirty="0" err="1"/>
              <a:t>IsVipUser</a:t>
            </a:r>
            <a:r>
              <a:rPr lang="nl-BE" sz="2400" i="1" dirty="0"/>
              <a:t>,</a:t>
            </a:r>
            <a:r>
              <a:rPr lang="nl-BE" sz="2400" dirty="0"/>
              <a:t> ...)</a:t>
            </a:r>
          </a:p>
          <a:p>
            <a:pPr marL="1177200" lvl="2" indent="-45720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C6F268-6450-4201-82F0-F20E4A564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E99B5E-4A39-4E1D-A4B9-B64FEB3FF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28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B0AEB06-1729-4DBA-8134-0C04509EEE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499368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14892-A96B-466B-9A6D-91830E112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ASP.NET </a:t>
            </a:r>
            <a:r>
              <a:rPr lang="nl-BE" dirty="0" err="1"/>
              <a:t>Core</a:t>
            </a:r>
            <a:r>
              <a:rPr lang="nl-BE" dirty="0"/>
              <a:t> Identity gebruiken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5D2A7-EBFB-4B5E-8075-771C62A7D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524000"/>
            <a:ext cx="9281274" cy="272937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Om Identity in je project te gebruiken, selecteer je bij het aanmaken ervan de optie </a:t>
            </a:r>
            <a:r>
              <a:rPr lang="nl-BE" sz="2400" i="1" dirty="0" err="1"/>
              <a:t>Authentication</a:t>
            </a:r>
            <a:r>
              <a:rPr lang="nl-BE" sz="2400" i="1" dirty="0"/>
              <a:t> Type &gt; </a:t>
            </a:r>
            <a:r>
              <a:rPr lang="nl-BE" sz="2400" i="1" dirty="0" err="1"/>
              <a:t>Individual</a:t>
            </a:r>
            <a:r>
              <a:rPr lang="nl-BE" sz="2400" i="1" dirty="0"/>
              <a:t> Accounts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DC283F-441B-4020-9E29-F7548AE44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CC86EC-EE59-424B-8D0C-B2A2C0DC3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29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C45305-D65C-40EA-BF71-6970584B67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5F0F13-E197-472D-B1ED-05EA30FD0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00" y="3019253"/>
            <a:ext cx="6654291" cy="22395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C94AEC-4BFF-49BE-B54D-126C30BE87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5367" y="3017505"/>
            <a:ext cx="4667363" cy="247172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DDD5D18-8F62-4793-8332-308EBE8CED95}"/>
              </a:ext>
            </a:extLst>
          </p:cNvPr>
          <p:cNvSpPr/>
          <p:nvPr/>
        </p:nvSpPr>
        <p:spPr>
          <a:xfrm>
            <a:off x="7305367" y="3903406"/>
            <a:ext cx="1366685" cy="577964"/>
          </a:xfrm>
          <a:prstGeom prst="rect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837750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783DA-BE64-42A8-A144-0F11F9651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Gegenereerde code: </a:t>
            </a:r>
            <a:r>
              <a:rPr lang="nl-BE" dirty="0" err="1"/>
              <a:t>DbContext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18141-4469-4DEA-BD12-054BD0BDD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314721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Automatisch </a:t>
            </a:r>
            <a:r>
              <a:rPr lang="nl-BE" sz="2400" dirty="0" err="1"/>
              <a:t>DbContext</a:t>
            </a:r>
            <a:r>
              <a:rPr lang="nl-BE" sz="2400" dirty="0"/>
              <a:t>-klasse gegenereerd voor bewaren van gebruikers (a.d.h.v. </a:t>
            </a:r>
            <a:r>
              <a:rPr lang="nl-BE" sz="2400" dirty="0" err="1"/>
              <a:t>Entity</a:t>
            </a:r>
            <a:r>
              <a:rPr lang="nl-BE" sz="2400" dirty="0"/>
              <a:t> Framework </a:t>
            </a:r>
            <a:r>
              <a:rPr lang="nl-BE" sz="2400" dirty="0" err="1"/>
              <a:t>Core</a:t>
            </a:r>
            <a:r>
              <a:rPr lang="nl-BE" sz="24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Erft over van </a:t>
            </a:r>
            <a:r>
              <a:rPr lang="nl-BE" sz="2400" dirty="0" err="1"/>
              <a:t>IdentityDbContext</a:t>
            </a:r>
            <a:endParaRPr lang="nl-BE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1F98A5-2BA8-4FA5-B6B5-42D1A01CC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E7172D-78FC-426D-BE77-E96DF725D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30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1E99D4B-4CA5-4AD9-972E-73ECF8FC45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29476C-A0E1-4A76-8B92-410487D495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748"/>
          <a:stretch/>
        </p:blipFill>
        <p:spPr>
          <a:xfrm>
            <a:off x="861246" y="2819167"/>
            <a:ext cx="2619425" cy="28147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612340-7DF6-4CC5-912F-3F51340E60BB}"/>
              </a:ext>
            </a:extLst>
          </p:cNvPr>
          <p:cNvSpPr txBox="1"/>
          <p:nvPr/>
        </p:nvSpPr>
        <p:spPr>
          <a:xfrm>
            <a:off x="4237703" y="3736258"/>
            <a:ext cx="7266038" cy="101566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ApplicationDbContext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: </a:t>
            </a:r>
            <a:r>
              <a:rPr lang="nl-BE" sz="1200" b="1" dirty="0" err="1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IdentityDbContext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fr-F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fr-FR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fr-F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ApplicationDbContext</a:t>
            </a:r>
            <a:r>
              <a:rPr lang="fr-FR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DbContextOptions</a:t>
            </a:r>
            <a:r>
              <a:rPr lang="fr-FR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fr-FR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ApplicationDbContext</a:t>
            </a:r>
            <a:r>
              <a:rPr lang="fr-FR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 options)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: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base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(options)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/>
          </a:p>
        </p:txBody>
      </p:sp>
    </p:spTree>
    <p:extLst>
      <p:ext uri="{BB962C8B-B14F-4D97-AF65-F5344CB8AC3E}">
        <p14:creationId xmlns:p14="http://schemas.microsoft.com/office/powerpoint/2010/main" val="16712211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23F7E-2AB7-43DB-B034-DE571F9DB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Gegenereerde code: Connection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E6E74-D0F1-4FC7-9109-E35D2AE6E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212000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Connection string wordt gegenereerd in </a:t>
            </a:r>
            <a:r>
              <a:rPr lang="nl-BE" sz="2400" b="1" i="1" dirty="0" err="1"/>
              <a:t>appsettings.json</a:t>
            </a:r>
            <a:endParaRPr lang="nl-BE" sz="2400" b="1" i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Hier wijzigen (bv.: duidelijke database-naam kiezen)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B503D6-391B-48FB-85BB-C282C6789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2C5234-0B08-4337-B134-2701F2B66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31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AA2A329-1770-4332-8C1E-CECC3A4B43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101A0F-5008-40C5-9918-CEC7EB73BBE4}"/>
              </a:ext>
            </a:extLst>
          </p:cNvPr>
          <p:cNvSpPr txBox="1"/>
          <p:nvPr/>
        </p:nvSpPr>
        <p:spPr>
          <a:xfrm>
            <a:off x="678291" y="2990436"/>
            <a:ext cx="10713812" cy="229293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l-BE" sz="1100" dirty="0">
                <a:solidFill>
                  <a:srgbClr val="2E75B6"/>
                </a:solidFill>
                <a:latin typeface="Consolas" panose="020B0609020204030204" pitchFamily="49" charset="0"/>
              </a:rPr>
              <a:t>"</a:t>
            </a:r>
            <a:r>
              <a:rPr lang="nl-BE" sz="1100" dirty="0" err="1">
                <a:solidFill>
                  <a:srgbClr val="2E75B6"/>
                </a:solidFill>
                <a:latin typeface="Consolas" panose="020B0609020204030204" pitchFamily="49" charset="0"/>
              </a:rPr>
              <a:t>ConnectionStrings</a:t>
            </a:r>
            <a:r>
              <a:rPr lang="nl-BE" sz="1100" dirty="0">
                <a:solidFill>
                  <a:srgbClr val="2E75B6"/>
                </a:solidFill>
                <a:latin typeface="Consolas" panose="020B0609020204030204" pitchFamily="49" charset="0"/>
              </a:rPr>
              <a:t>"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: 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100" b="1" dirty="0">
                <a:solidFill>
                  <a:srgbClr val="2E75B6"/>
                </a:solidFill>
                <a:latin typeface="Consolas" panose="020B0609020204030204" pitchFamily="49" charset="0"/>
              </a:rPr>
              <a:t>"</a:t>
            </a:r>
            <a:r>
              <a:rPr lang="nl-BE" sz="1100" b="1" dirty="0" err="1">
                <a:solidFill>
                  <a:srgbClr val="2E75B6"/>
                </a:solidFill>
                <a:latin typeface="Consolas" panose="020B0609020204030204" pitchFamily="49" charset="0"/>
              </a:rPr>
              <a:t>DefaultConnection</a:t>
            </a:r>
            <a:r>
              <a:rPr lang="nl-BE" sz="1100" b="1" dirty="0">
                <a:solidFill>
                  <a:srgbClr val="2E75B6"/>
                </a:solidFill>
                <a:latin typeface="Consolas" panose="020B0609020204030204" pitchFamily="49" charset="0"/>
              </a:rPr>
              <a:t>"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nl-BE" sz="1100" b="1" dirty="0">
                <a:solidFill>
                  <a:srgbClr val="A31515"/>
                </a:solidFill>
                <a:latin typeface="Consolas" panose="020B0609020204030204" pitchFamily="49" charset="0"/>
              </a:rPr>
              <a:t>"Server=(</a:t>
            </a:r>
            <a:r>
              <a:rPr lang="nl-BE" sz="11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localdb</a:t>
            </a:r>
            <a:r>
              <a:rPr lang="nl-BE" sz="1100" b="1" dirty="0">
                <a:solidFill>
                  <a:srgbClr val="A31515"/>
                </a:solidFill>
                <a:latin typeface="Consolas" panose="020B0609020204030204" pitchFamily="49" charset="0"/>
              </a:rPr>
              <a:t>)\\</a:t>
            </a:r>
            <a:r>
              <a:rPr lang="nl-BE" sz="11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mssqllocaldb;</a:t>
            </a:r>
            <a:r>
              <a:rPr lang="nl-BE" sz="1100" b="1" dirty="0" err="1">
                <a:solidFill>
                  <a:srgbClr val="A3151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Database</a:t>
            </a:r>
            <a:r>
              <a:rPr lang="nl-BE" sz="1100" b="1" dirty="0">
                <a:solidFill>
                  <a:srgbClr val="A3151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nl-BE" sz="1100" b="1" dirty="0" err="1">
                <a:solidFill>
                  <a:srgbClr val="A3151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DemoIdentity</a:t>
            </a:r>
            <a:r>
              <a:rPr lang="nl-BE" sz="11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;Trusted_Connection</a:t>
            </a:r>
            <a:r>
              <a:rPr lang="nl-BE" sz="1100" b="1" dirty="0">
                <a:solidFill>
                  <a:srgbClr val="A31515"/>
                </a:solidFill>
                <a:latin typeface="Consolas" panose="020B0609020204030204" pitchFamily="49" charset="0"/>
              </a:rPr>
              <a:t>=</a:t>
            </a:r>
            <a:r>
              <a:rPr lang="nl-BE" sz="11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True;MultipleActiveResultSets</a:t>
            </a:r>
            <a:r>
              <a:rPr lang="nl-BE" sz="1100" b="1" dirty="0">
                <a:solidFill>
                  <a:srgbClr val="A31515"/>
                </a:solidFill>
                <a:latin typeface="Consolas" panose="020B0609020204030204" pitchFamily="49" charset="0"/>
              </a:rPr>
              <a:t>=</a:t>
            </a:r>
            <a:r>
              <a:rPr lang="nl-BE" sz="11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true</a:t>
            </a:r>
            <a:r>
              <a:rPr lang="nl-BE" sz="11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nl-BE" sz="11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},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l-BE" sz="1100" dirty="0">
                <a:solidFill>
                  <a:srgbClr val="2E75B6"/>
                </a:solidFill>
                <a:latin typeface="Consolas" panose="020B0609020204030204" pitchFamily="49" charset="0"/>
              </a:rPr>
              <a:t>"</a:t>
            </a:r>
            <a:r>
              <a:rPr lang="nl-BE" sz="1100" dirty="0" err="1">
                <a:solidFill>
                  <a:srgbClr val="2E75B6"/>
                </a:solidFill>
                <a:latin typeface="Consolas" panose="020B0609020204030204" pitchFamily="49" charset="0"/>
              </a:rPr>
              <a:t>Logging</a:t>
            </a:r>
            <a:r>
              <a:rPr lang="nl-BE" sz="1100" dirty="0">
                <a:solidFill>
                  <a:srgbClr val="2E75B6"/>
                </a:solidFill>
                <a:latin typeface="Consolas" panose="020B0609020204030204" pitchFamily="49" charset="0"/>
              </a:rPr>
              <a:t>"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: 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100" dirty="0">
                <a:solidFill>
                  <a:srgbClr val="2E75B6"/>
                </a:solidFill>
                <a:latin typeface="Consolas" panose="020B0609020204030204" pitchFamily="49" charset="0"/>
              </a:rPr>
              <a:t>"</a:t>
            </a:r>
            <a:r>
              <a:rPr lang="nl-BE" sz="1100" dirty="0" err="1">
                <a:solidFill>
                  <a:srgbClr val="2E75B6"/>
                </a:solidFill>
                <a:latin typeface="Consolas" panose="020B0609020204030204" pitchFamily="49" charset="0"/>
              </a:rPr>
              <a:t>LogLevel</a:t>
            </a:r>
            <a:r>
              <a:rPr lang="nl-BE" sz="1100" dirty="0">
                <a:solidFill>
                  <a:srgbClr val="2E75B6"/>
                </a:solidFill>
                <a:latin typeface="Consolas" panose="020B0609020204030204" pitchFamily="49" charset="0"/>
              </a:rPr>
              <a:t>"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: 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nl-BE" sz="1100" dirty="0">
                <a:solidFill>
                  <a:srgbClr val="2E75B6"/>
                </a:solidFill>
                <a:latin typeface="Consolas" panose="020B0609020204030204" pitchFamily="49" charset="0"/>
              </a:rPr>
              <a:t>"Default"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nl-BE" sz="1100" dirty="0">
                <a:solidFill>
                  <a:srgbClr val="A31515"/>
                </a:solidFill>
                <a:latin typeface="Consolas" panose="020B0609020204030204" pitchFamily="49" charset="0"/>
              </a:rPr>
              <a:t>"Information"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nl-BE" sz="1100" dirty="0">
                <a:solidFill>
                  <a:srgbClr val="2E75B6"/>
                </a:solidFill>
                <a:latin typeface="Consolas" panose="020B0609020204030204" pitchFamily="49" charset="0"/>
              </a:rPr>
              <a:t>"Microsoft"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nl-BE" sz="1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100" dirty="0" err="1">
                <a:solidFill>
                  <a:srgbClr val="A31515"/>
                </a:solidFill>
                <a:latin typeface="Consolas" panose="020B0609020204030204" pitchFamily="49" charset="0"/>
              </a:rPr>
              <a:t>Warning</a:t>
            </a:r>
            <a:r>
              <a:rPr lang="nl-BE" sz="1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nl-BE" sz="1100" dirty="0">
                <a:solidFill>
                  <a:srgbClr val="2E75B6"/>
                </a:solidFill>
                <a:latin typeface="Consolas" panose="020B0609020204030204" pitchFamily="49" charset="0"/>
              </a:rPr>
              <a:t>"</a:t>
            </a:r>
            <a:r>
              <a:rPr lang="nl-BE" sz="1100" dirty="0" err="1">
                <a:solidFill>
                  <a:srgbClr val="2E75B6"/>
                </a:solidFill>
                <a:latin typeface="Consolas" panose="020B0609020204030204" pitchFamily="49" charset="0"/>
              </a:rPr>
              <a:t>Microsoft.Hosting.Lifetime</a:t>
            </a:r>
            <a:r>
              <a:rPr lang="nl-BE" sz="1100" dirty="0">
                <a:solidFill>
                  <a:srgbClr val="2E75B6"/>
                </a:solidFill>
                <a:latin typeface="Consolas" panose="020B0609020204030204" pitchFamily="49" charset="0"/>
              </a:rPr>
              <a:t>"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nl-BE" sz="1100" dirty="0">
                <a:solidFill>
                  <a:srgbClr val="A31515"/>
                </a:solidFill>
                <a:latin typeface="Consolas" panose="020B0609020204030204" pitchFamily="49" charset="0"/>
              </a:rPr>
              <a:t>"Information"</a:t>
            </a:r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},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l-BE" sz="1100" dirty="0">
                <a:solidFill>
                  <a:srgbClr val="2E75B6"/>
                </a:solidFill>
                <a:latin typeface="Consolas" panose="020B0609020204030204" pitchFamily="49" charset="0"/>
              </a:rPr>
              <a:t>"</a:t>
            </a:r>
            <a:r>
              <a:rPr lang="nl-BE" sz="1100" dirty="0" err="1">
                <a:solidFill>
                  <a:srgbClr val="2E75B6"/>
                </a:solidFill>
                <a:latin typeface="Consolas" panose="020B0609020204030204" pitchFamily="49" charset="0"/>
              </a:rPr>
              <a:t>AllowedHosts</a:t>
            </a:r>
            <a:r>
              <a:rPr lang="nl-BE" sz="1100" dirty="0">
                <a:solidFill>
                  <a:srgbClr val="2E75B6"/>
                </a:solidFill>
                <a:latin typeface="Consolas" panose="020B0609020204030204" pitchFamily="49" charset="0"/>
              </a:rPr>
              <a:t>"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nl-BE" sz="1100" dirty="0">
                <a:solidFill>
                  <a:srgbClr val="A31515"/>
                </a:solidFill>
                <a:latin typeface="Consolas" panose="020B0609020204030204" pitchFamily="49" charset="0"/>
              </a:rPr>
              <a:t>"*"</a:t>
            </a:r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0E31EC-A062-48F2-9F79-19EC2E9B586A}"/>
              </a:ext>
            </a:extLst>
          </p:cNvPr>
          <p:cNvSpPr txBox="1"/>
          <p:nvPr/>
        </p:nvSpPr>
        <p:spPr>
          <a:xfrm>
            <a:off x="678291" y="2507226"/>
            <a:ext cx="3166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u="sng" dirty="0" err="1"/>
              <a:t>appsettings.json</a:t>
            </a:r>
            <a:r>
              <a:rPr lang="nl-BE" b="1" u="sng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8426590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27EEA-1ACC-4F84-B1A7-A66D2284A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Gegenereerde code: configuratie (</a:t>
            </a:r>
            <a:r>
              <a:rPr lang="nl-BE" dirty="0" err="1"/>
              <a:t>Program.cs</a:t>
            </a:r>
            <a:r>
              <a:rPr lang="nl-BE" dirty="0"/>
              <a:t>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7874F1-9B54-41A6-9F3D-2E11B8B3A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B0F9E1-2A17-4446-BCC8-010D7E334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32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A6A78E-C010-46DC-AE47-1E517E5CFB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3CE3FA-BEC5-4456-BE4C-632A3FE3AD2C}"/>
              </a:ext>
            </a:extLst>
          </p:cNvPr>
          <p:cNvSpPr txBox="1"/>
          <p:nvPr/>
        </p:nvSpPr>
        <p:spPr>
          <a:xfrm>
            <a:off x="608462" y="1859339"/>
            <a:ext cx="11141085" cy="161582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8000"/>
                </a:solidFill>
                <a:latin typeface="Cascadia Mono" panose="020B0609020000020004" pitchFamily="49" charset="0"/>
              </a:rPr>
              <a:t>// Add services to the container.</a:t>
            </a:r>
            <a:endParaRPr lang="en-US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connectionString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builder.Configuration.</a:t>
            </a:r>
            <a:r>
              <a:rPr lang="en-US" sz="1100" dirty="0" err="1">
                <a:solidFill>
                  <a:srgbClr val="74561F"/>
                </a:solidFill>
                <a:latin typeface="Cascadia Mono" panose="020B0609020000020004" pitchFamily="49" charset="0"/>
              </a:rPr>
              <a:t>GetConnectionString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1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DefaultConnection</a:t>
            </a:r>
            <a:r>
              <a:rPr lang="en-US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</a:t>
            </a:r>
            <a:r>
              <a:rPr lang="nl-BE" sz="1100" dirty="0" err="1">
                <a:solidFill>
                  <a:srgbClr val="74561F"/>
                </a:solidFill>
                <a:latin typeface="Cascadia Mono" panose="020B0609020000020004" pitchFamily="49" charset="0"/>
              </a:rPr>
              <a:t>AddDbContext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nl-BE" sz="11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ApplicationDbContext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&gt;(options =&gt;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options.</a:t>
            </a:r>
            <a:r>
              <a:rPr lang="nl-BE" sz="1100" dirty="0" err="1">
                <a:solidFill>
                  <a:srgbClr val="74561F"/>
                </a:solidFill>
                <a:latin typeface="Cascadia Mono" panose="020B0609020000020004" pitchFamily="49" charset="0"/>
              </a:rPr>
              <a:t>UseSqlServer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connectionString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</a:p>
          <a:p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</a:t>
            </a:r>
            <a:r>
              <a:rPr lang="nl-BE" sz="1100" dirty="0" err="1">
                <a:solidFill>
                  <a:srgbClr val="74561F"/>
                </a:solidFill>
                <a:latin typeface="Cascadia Mono" panose="020B0609020000020004" pitchFamily="49" charset="0"/>
              </a:rPr>
              <a:t>AddDatabaseDeveloperPageExceptionFilter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</a:t>
            </a:r>
            <a:r>
              <a:rPr lang="nl-BE" sz="1100" dirty="0" err="1">
                <a:solidFill>
                  <a:srgbClr val="74561F"/>
                </a:solidFill>
                <a:latin typeface="Cascadia Mono" panose="020B0609020000020004" pitchFamily="49" charset="0"/>
              </a:rPr>
              <a:t>AddDefaultIdentity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nl-BE" sz="11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IdentityUser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&gt;(options =&gt; 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options.SignIn.RequireConfirmedAccount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nl-BE" sz="1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.</a:t>
            </a:r>
            <a:r>
              <a:rPr lang="nl-BE" sz="1100" dirty="0" err="1">
                <a:solidFill>
                  <a:srgbClr val="74561F"/>
                </a:solidFill>
                <a:latin typeface="Cascadia Mono" panose="020B0609020000020004" pitchFamily="49" charset="0"/>
              </a:rPr>
              <a:t>AddEntityFrameworkStores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nl-BE" sz="11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ApplicationDbContext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</a:p>
          <a:p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</a:t>
            </a:r>
            <a:r>
              <a:rPr lang="nl-BE" sz="1100" dirty="0" err="1">
                <a:solidFill>
                  <a:srgbClr val="74561F"/>
                </a:solidFill>
                <a:latin typeface="Cascadia Mono" panose="020B0609020000020004" pitchFamily="49" charset="0"/>
              </a:rPr>
              <a:t>AddControllersWithViews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nl-BE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E85B8A-F908-48FD-AE89-A1B9BDE79B67}"/>
              </a:ext>
            </a:extLst>
          </p:cNvPr>
          <p:cNvSpPr txBox="1"/>
          <p:nvPr/>
        </p:nvSpPr>
        <p:spPr>
          <a:xfrm>
            <a:off x="608462" y="1519952"/>
            <a:ext cx="50734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u="sng" dirty="0" err="1"/>
              <a:t>Program.cs</a:t>
            </a:r>
            <a:r>
              <a:rPr lang="nl-BE" sz="1600" b="1" u="sng" dirty="0"/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650CD1-D33F-4525-A3E5-81B1B223EE85}"/>
              </a:ext>
            </a:extLst>
          </p:cNvPr>
          <p:cNvSpPr txBox="1"/>
          <p:nvPr/>
        </p:nvSpPr>
        <p:spPr>
          <a:xfrm>
            <a:off x="534291" y="3770388"/>
            <a:ext cx="1098911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/>
              <a:t>Configuratie Connection string (wordt uit </a:t>
            </a:r>
            <a:r>
              <a:rPr lang="nl-BE" i="1" dirty="0" err="1"/>
              <a:t>appsettings.json</a:t>
            </a:r>
            <a:r>
              <a:rPr lang="nl-BE" i="1" dirty="0"/>
              <a:t> </a:t>
            </a:r>
            <a:r>
              <a:rPr lang="nl-BE" dirty="0"/>
              <a:t>gehaald op basis van de naam </a:t>
            </a:r>
            <a:r>
              <a:rPr lang="nl-BE" i="1" dirty="0"/>
              <a:t>(“</a:t>
            </a:r>
            <a:r>
              <a:rPr lang="nl-BE" i="1" dirty="0" err="1"/>
              <a:t>DefaultConnection</a:t>
            </a:r>
            <a:r>
              <a:rPr lang="nl-BE" i="1" dirty="0"/>
              <a:t>”)</a:t>
            </a:r>
            <a:r>
              <a:rPr lang="nl-BE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 err="1">
                <a:solidFill>
                  <a:srgbClr val="000000"/>
                </a:solidFill>
                <a:latin typeface="Consolas" panose="020B0609020204030204" pitchFamily="49" charset="0"/>
              </a:rPr>
              <a:t>Services.</a:t>
            </a:r>
            <a:r>
              <a:rPr lang="nl-BE" dirty="0" err="1">
                <a:solidFill>
                  <a:srgbClr val="74561F"/>
                </a:solidFill>
                <a:latin typeface="Consolas" panose="020B0609020204030204" pitchFamily="49" charset="0"/>
              </a:rPr>
              <a:t>AddDefaultIdentity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dirty="0" err="1">
                <a:solidFill>
                  <a:srgbClr val="4F8291"/>
                </a:solidFill>
                <a:latin typeface="Consolas" panose="020B0609020204030204" pitchFamily="49" charset="0"/>
              </a:rPr>
              <a:t>IdentityUser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&gt;: </a:t>
            </a:r>
            <a:r>
              <a:rPr lang="nl-BE" dirty="0"/>
              <a:t>type (klasse) dat gebruiker voorstelt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dirty="0" err="1">
                <a:latin typeface="Consolas" panose="020B0609020204030204" pitchFamily="49" charset="0"/>
              </a:rPr>
              <a:t>Add</a:t>
            </a:r>
            <a:r>
              <a:rPr lang="nl-BE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Default</a:t>
            </a:r>
            <a:r>
              <a:rPr lang="nl-BE" dirty="0" err="1">
                <a:latin typeface="Consolas" panose="020B0609020204030204" pitchFamily="49" charset="0"/>
              </a:rPr>
              <a:t>Identity</a:t>
            </a:r>
            <a:r>
              <a:rPr lang="nl-BE" dirty="0">
                <a:latin typeface="Consolas" panose="020B0609020204030204" pitchFamily="49" charset="0"/>
              </a:rPr>
              <a:t>: </a:t>
            </a:r>
            <a:r>
              <a:rPr lang="nl-BE" dirty="0"/>
              <a:t>standaard authenticatie-flow (code + views)  van </a:t>
            </a:r>
            <a:r>
              <a:rPr lang="nl-BE" dirty="0" err="1"/>
              <a:t>framework</a:t>
            </a:r>
            <a:r>
              <a:rPr lang="nl-BE" dirty="0"/>
              <a:t> wordt toegepast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dirty="0" err="1">
                <a:latin typeface="Consolas" panose="020B0609020204030204" pitchFamily="49" charset="0"/>
              </a:rPr>
              <a:t>IdentityUser</a:t>
            </a:r>
            <a:r>
              <a:rPr lang="nl-BE" dirty="0"/>
              <a:t> is klasse die meegeleverd wordt met </a:t>
            </a:r>
            <a:r>
              <a:rPr lang="nl-BE" dirty="0" err="1"/>
              <a:t>framework</a:t>
            </a:r>
            <a:endParaRPr lang="nl-BE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nl-BE" dirty="0"/>
              <a:t>Kan overschreven worden door eigen gebruiker-klasse </a:t>
            </a:r>
            <a:r>
              <a:rPr lang="nl-BE" i="1" dirty="0"/>
              <a:t>(zie later)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536366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27EEA-1ACC-4F84-B1A7-A66D2284A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Gegenereerde code: configuratie (</a:t>
            </a:r>
            <a:r>
              <a:rPr lang="nl-BE" dirty="0" err="1"/>
              <a:t>Program.cs</a:t>
            </a:r>
            <a:r>
              <a:rPr lang="nl-BE" dirty="0"/>
              <a:t>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7874F1-9B54-41A6-9F3D-2E11B8B3A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B0F9E1-2A17-4446-BCC8-010D7E334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33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A6A78E-C010-46DC-AE47-1E517E5CFB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3CE3FA-BEC5-4456-BE4C-632A3FE3AD2C}"/>
              </a:ext>
            </a:extLst>
          </p:cNvPr>
          <p:cNvSpPr txBox="1"/>
          <p:nvPr/>
        </p:nvSpPr>
        <p:spPr>
          <a:xfrm>
            <a:off x="550714" y="1874728"/>
            <a:ext cx="6240135" cy="31085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</a:t>
            </a:r>
            <a:r>
              <a:rPr lang="nl-BE" sz="1400" dirty="0" err="1">
                <a:solidFill>
                  <a:srgbClr val="74561F"/>
                </a:solidFill>
                <a:latin typeface="Cascadia Mono" panose="020B0609020000020004" pitchFamily="49" charset="0"/>
              </a:rPr>
              <a:t>UseHttpsRedirection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</a:t>
            </a:r>
            <a:r>
              <a:rPr lang="nl-BE" sz="1400" dirty="0" err="1">
                <a:solidFill>
                  <a:srgbClr val="74561F"/>
                </a:solidFill>
                <a:latin typeface="Cascadia Mono" panose="020B0609020000020004" pitchFamily="49" charset="0"/>
              </a:rPr>
              <a:t>UseStaticFiles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nl-BE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</a:t>
            </a:r>
            <a:r>
              <a:rPr lang="nl-BE" sz="1400" dirty="0" err="1">
                <a:solidFill>
                  <a:srgbClr val="74561F"/>
                </a:solidFill>
                <a:latin typeface="Cascadia Mono" panose="020B0609020000020004" pitchFamily="49" charset="0"/>
              </a:rPr>
              <a:t>UseRouting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nl-BE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4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app.</a:t>
            </a:r>
            <a:r>
              <a:rPr lang="nl-BE" sz="1400" dirty="0" err="1">
                <a:solidFill>
                  <a:srgbClr val="74561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UseAuthentication</a:t>
            </a:r>
            <a:r>
              <a:rPr lang="nl-BE" sz="14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</a:t>
            </a:r>
            <a:r>
              <a:rPr lang="nl-BE" sz="1400" dirty="0" err="1">
                <a:solidFill>
                  <a:srgbClr val="74561F"/>
                </a:solidFill>
                <a:latin typeface="Cascadia Mono" panose="020B0609020000020004" pitchFamily="49" charset="0"/>
              </a:rPr>
              <a:t>UseAuthorization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nl-BE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</a:t>
            </a:r>
            <a:r>
              <a:rPr lang="nl-BE" sz="1400" dirty="0" err="1">
                <a:solidFill>
                  <a:srgbClr val="74561F"/>
                </a:solidFill>
                <a:latin typeface="Cascadia Mono" panose="020B0609020000020004" pitchFamily="49" charset="0"/>
              </a:rPr>
              <a:t>MapControllerRoute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name: </a:t>
            </a:r>
            <a:r>
              <a:rPr lang="nl-BE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"default"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pattern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nl-BE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"{controller=Home}/{action=Index}/{</a:t>
            </a:r>
            <a:r>
              <a:rPr lang="nl-BE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id</a:t>
            </a:r>
            <a:r>
              <a:rPr lang="nl-BE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?}"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</a:t>
            </a:r>
            <a:r>
              <a:rPr lang="nl-BE" sz="1400" dirty="0" err="1">
                <a:solidFill>
                  <a:srgbClr val="74561F"/>
                </a:solidFill>
                <a:latin typeface="Cascadia Mono" panose="020B0609020000020004" pitchFamily="49" charset="0"/>
              </a:rPr>
              <a:t>MapRazorPages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nl-BE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</a:t>
            </a:r>
            <a:r>
              <a:rPr lang="nl-BE" sz="1400" dirty="0" err="1">
                <a:solidFill>
                  <a:srgbClr val="74561F"/>
                </a:solidFill>
                <a:latin typeface="Cascadia Mono" panose="020B0609020000020004" pitchFamily="49" charset="0"/>
              </a:rPr>
              <a:t>Run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nl-BE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E85B8A-F908-48FD-AE89-A1B9BDE79B67}"/>
              </a:ext>
            </a:extLst>
          </p:cNvPr>
          <p:cNvSpPr txBox="1"/>
          <p:nvPr/>
        </p:nvSpPr>
        <p:spPr>
          <a:xfrm>
            <a:off x="534291" y="1456393"/>
            <a:ext cx="50734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u="sng" dirty="0" err="1"/>
              <a:t>Program.cs</a:t>
            </a:r>
            <a:r>
              <a:rPr lang="nl-BE" sz="1600" b="1" u="sng" dirty="0"/>
              <a:t> (vervolg):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3DAE08-FAED-4A24-95DD-5FBD6770E7AE}"/>
              </a:ext>
            </a:extLst>
          </p:cNvPr>
          <p:cNvSpPr txBox="1"/>
          <p:nvPr/>
        </p:nvSpPr>
        <p:spPr>
          <a:xfrm>
            <a:off x="6892412" y="1794947"/>
            <a:ext cx="48669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 err="1">
                <a:latin typeface="Consolas" panose="020B0609020204030204" pitchFamily="49" charset="0"/>
              </a:rPr>
              <a:t>UseAuthentication</a:t>
            </a:r>
            <a:r>
              <a:rPr lang="nl-BE" sz="2000" dirty="0"/>
              <a:t>: voegt authenticatie-middleware toe aan pipeline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000" dirty="0"/>
              <a:t>Handelt authenticatie van inkomende </a:t>
            </a:r>
            <a:r>
              <a:rPr lang="nl-BE" sz="2000" dirty="0" err="1"/>
              <a:t>requests</a:t>
            </a:r>
            <a:r>
              <a:rPr lang="nl-BE" sz="2000" dirty="0"/>
              <a:t> af</a:t>
            </a:r>
          </a:p>
        </p:txBody>
      </p:sp>
    </p:spTree>
    <p:extLst>
      <p:ext uri="{BB962C8B-B14F-4D97-AF65-F5344CB8AC3E}">
        <p14:creationId xmlns:p14="http://schemas.microsoft.com/office/powerpoint/2010/main" val="15811136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8208A-5F0B-4E7A-8DD9-F9BD882D9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Gegenereerde code: </a:t>
            </a:r>
            <a:r>
              <a:rPr lang="nl-BE" dirty="0" err="1"/>
              <a:t>partial</a:t>
            </a:r>
            <a:r>
              <a:rPr lang="nl-BE" dirty="0"/>
              <a:t> view navigatiebalk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AC1E2-E949-48BE-A799-875522D9E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961031"/>
            <a:ext cx="9281274" cy="118240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Views/Shared/_</a:t>
            </a:r>
            <a:r>
              <a:rPr lang="nl-BE" sz="2400" dirty="0" err="1"/>
              <a:t>LoginPartial.cshtml</a:t>
            </a:r>
            <a:r>
              <a:rPr lang="nl-BE" sz="2400" dirty="0"/>
              <a:t>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 err="1"/>
              <a:t>Partial</a:t>
            </a:r>
            <a:r>
              <a:rPr lang="nl-BE" sz="2000" dirty="0"/>
              <a:t> view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Bevat login/</a:t>
            </a:r>
            <a:r>
              <a:rPr lang="nl-BE" sz="2000" dirty="0" err="1"/>
              <a:t>logout</a:t>
            </a:r>
            <a:r>
              <a:rPr lang="nl-BE" sz="2000" dirty="0"/>
              <a:t> knoppen afhankelijk of gebruiker aangemeld is of niet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CE0BF1-3E34-4AF4-B37B-EE75C2E98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77AB2-244C-4B56-981B-534F67801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34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B15FCE-AD42-4EBD-B313-9B28C65D2D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4946E0-EBF4-49E8-A57C-EA9EB19C0242}"/>
              </a:ext>
            </a:extLst>
          </p:cNvPr>
          <p:cNvSpPr txBox="1"/>
          <p:nvPr/>
        </p:nvSpPr>
        <p:spPr>
          <a:xfrm>
            <a:off x="410178" y="2277232"/>
            <a:ext cx="11523406" cy="380873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05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nl-BE" sz="1050" dirty="0" err="1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Microsoft.AspNetCore.Identity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nl-BE" sz="105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inject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 err="1">
                <a:solidFill>
                  <a:srgbClr val="4F8291"/>
                </a:solidFill>
                <a:latin typeface="Consolas" panose="020B0609020204030204" pitchFamily="49" charset="0"/>
              </a:rPr>
              <a:t>SignInManager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050" dirty="0" err="1">
                <a:solidFill>
                  <a:srgbClr val="4F8291"/>
                </a:solidFill>
                <a:latin typeface="Consolas" panose="020B0609020204030204" pitchFamily="49" charset="0"/>
              </a:rPr>
              <a:t>IdentityUser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nl-BE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SignInManager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nl-BE" sz="105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inject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 err="1">
                <a:solidFill>
                  <a:srgbClr val="4F8291"/>
                </a:solidFill>
                <a:latin typeface="Consolas" panose="020B0609020204030204" pitchFamily="49" charset="0"/>
              </a:rPr>
              <a:t>UserManager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050" dirty="0" err="1">
                <a:solidFill>
                  <a:srgbClr val="4F8291"/>
                </a:solidFill>
                <a:latin typeface="Consolas" panose="020B0609020204030204" pitchFamily="49" charset="0"/>
              </a:rPr>
              <a:t>IdentityUser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nl-BE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UserManager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050" dirty="0" err="1">
                <a:solidFill>
                  <a:srgbClr val="800000"/>
                </a:solidFill>
                <a:latin typeface="Consolas" panose="020B0609020204030204" pitchFamily="49" charset="0"/>
              </a:rPr>
              <a:t>ul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nl-BE" sz="1050" dirty="0" err="1">
                <a:solidFill>
                  <a:srgbClr val="0000FF"/>
                </a:solidFill>
                <a:latin typeface="Consolas" panose="020B0609020204030204" pitchFamily="49" charset="0"/>
              </a:rPr>
              <a:t>navbar-nav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nl-BE" sz="105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nl-BE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l-BE" sz="105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SignInManager.</a:t>
            </a:r>
            <a:r>
              <a:rPr lang="nl-BE" sz="1050" b="1" dirty="0" err="1">
                <a:solidFill>
                  <a:srgbClr val="74561F"/>
                </a:solidFill>
                <a:latin typeface="Consolas" panose="020B0609020204030204" pitchFamily="49" charset="0"/>
              </a:rPr>
              <a:t>IsSignedIn</a:t>
            </a:r>
            <a:r>
              <a:rPr lang="nl-BE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(User)) {</a:t>
            </a: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05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nl-BE" sz="1050" dirty="0" err="1">
                <a:solidFill>
                  <a:srgbClr val="0000FF"/>
                </a:solidFill>
                <a:latin typeface="Consolas" panose="020B0609020204030204" pitchFamily="49" charset="0"/>
              </a:rPr>
              <a:t>nav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-item"&gt;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="nav-link text-dark"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800080"/>
                </a:solidFill>
                <a:latin typeface="Consolas" panose="020B0609020204030204" pitchFamily="49" charset="0"/>
              </a:rPr>
              <a:t>asp-area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="Identity"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800080"/>
                </a:solidFill>
                <a:latin typeface="Consolas" panose="020B0609020204030204" pitchFamily="49" charset="0"/>
              </a:rPr>
              <a:t>asp-page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="/Account/Manage/Index"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title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="Manage"&gt;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Hello </a:t>
            </a:r>
            <a:r>
              <a:rPr lang="en-US" sz="105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User.Identity.Name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!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05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05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nl-BE" sz="1050" dirty="0" err="1">
                <a:solidFill>
                  <a:srgbClr val="0000FF"/>
                </a:solidFill>
                <a:latin typeface="Consolas" panose="020B0609020204030204" pitchFamily="49" charset="0"/>
              </a:rPr>
              <a:t>nav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-item"&gt;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form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="form-inline"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800080"/>
                </a:solidFill>
                <a:latin typeface="Consolas" panose="020B0609020204030204" pitchFamily="49" charset="0"/>
              </a:rPr>
              <a:t>asp-area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="Identity"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800080"/>
                </a:solidFill>
                <a:latin typeface="Consolas" panose="020B0609020204030204" pitchFamily="49" charset="0"/>
              </a:rPr>
              <a:t>asp-page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="/Account/Logout"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800080"/>
                </a:solidFill>
                <a:latin typeface="Consolas" panose="020B0609020204030204" pitchFamily="49" charset="0"/>
              </a:rPr>
              <a:t>asp-route-</a:t>
            </a:r>
            <a:r>
              <a:rPr lang="en-US" sz="1050" b="1" dirty="0" err="1">
                <a:solidFill>
                  <a:srgbClr val="800080"/>
                </a:solidFill>
                <a:latin typeface="Consolas" panose="020B0609020204030204" pitchFamily="49" charset="0"/>
              </a:rPr>
              <a:t>returnUrl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05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Url.Action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"Index"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"Home"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{ area = 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})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050" dirty="0">
                <a:solidFill>
                  <a:srgbClr val="800000"/>
                </a:solidFill>
                <a:latin typeface="Consolas" panose="020B0609020204030204" pitchFamily="49" charset="0"/>
              </a:rPr>
              <a:t>button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nl-BE" sz="105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nl-BE" sz="1050" dirty="0" err="1">
                <a:solidFill>
                  <a:srgbClr val="0000FF"/>
                </a:solidFill>
                <a:latin typeface="Consolas" panose="020B0609020204030204" pitchFamily="49" charset="0"/>
              </a:rPr>
              <a:t>submit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nl-BE" sz="1050" dirty="0" err="1">
                <a:solidFill>
                  <a:srgbClr val="0000FF"/>
                </a:solidFill>
                <a:latin typeface="Consolas" panose="020B0609020204030204" pitchFamily="49" charset="0"/>
              </a:rPr>
              <a:t>nav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-link </a:t>
            </a:r>
            <a:r>
              <a:rPr lang="nl-BE" sz="1050" dirty="0" err="1">
                <a:solidFill>
                  <a:srgbClr val="0000FF"/>
                </a:solidFill>
                <a:latin typeface="Consolas" panose="020B0609020204030204" pitchFamily="49" charset="0"/>
              </a:rPr>
              <a:t>btn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 err="1">
                <a:solidFill>
                  <a:srgbClr val="0000FF"/>
                </a:solidFill>
                <a:latin typeface="Consolas" panose="020B0609020204030204" pitchFamily="49" charset="0"/>
              </a:rPr>
              <a:t>btn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-link </a:t>
            </a:r>
            <a:r>
              <a:rPr lang="nl-BE" sz="1050" dirty="0" err="1">
                <a:solidFill>
                  <a:srgbClr val="0000FF"/>
                </a:solidFill>
                <a:latin typeface="Consolas" panose="020B0609020204030204" pitchFamily="49" charset="0"/>
              </a:rPr>
              <a:t>text-dark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r>
              <a:rPr lang="nl-BE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Logout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050" dirty="0">
                <a:solidFill>
                  <a:srgbClr val="800000"/>
                </a:solidFill>
                <a:latin typeface="Consolas" panose="020B0609020204030204" pitchFamily="49" charset="0"/>
              </a:rPr>
              <a:t>button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050" dirty="0">
                <a:solidFill>
                  <a:srgbClr val="800000"/>
                </a:solidFill>
                <a:latin typeface="Consolas" panose="020B0609020204030204" pitchFamily="49" charset="0"/>
              </a:rPr>
              <a:t>form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05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nl-BE" sz="1050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05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nl-BE" sz="1050" dirty="0" err="1">
                <a:solidFill>
                  <a:srgbClr val="0000FF"/>
                </a:solidFill>
                <a:latin typeface="Consolas" panose="020B0609020204030204" pitchFamily="49" charset="0"/>
              </a:rPr>
              <a:t>nav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-item"&gt;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="nav-link text-dark"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800080"/>
                </a:solidFill>
                <a:latin typeface="Consolas" panose="020B0609020204030204" pitchFamily="49" charset="0"/>
              </a:rPr>
              <a:t>asp-area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="Identity"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800080"/>
                </a:solidFill>
                <a:latin typeface="Consolas" panose="020B0609020204030204" pitchFamily="49" charset="0"/>
              </a:rPr>
              <a:t>asp-page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="/Account/Register"&gt;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Register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05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05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nl-BE" sz="1050" dirty="0" err="1">
                <a:solidFill>
                  <a:srgbClr val="0000FF"/>
                </a:solidFill>
                <a:latin typeface="Consolas" panose="020B0609020204030204" pitchFamily="49" charset="0"/>
              </a:rPr>
              <a:t>nav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-item"&gt;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="nav-link text-dark"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800080"/>
                </a:solidFill>
                <a:latin typeface="Consolas" panose="020B0609020204030204" pitchFamily="49" charset="0"/>
              </a:rPr>
              <a:t>asp-area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="Identity"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800080"/>
                </a:solidFill>
                <a:latin typeface="Consolas" panose="020B0609020204030204" pitchFamily="49" charset="0"/>
              </a:rPr>
              <a:t>asp-page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="/Account/Login"&gt;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Login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05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050" dirty="0" err="1">
                <a:solidFill>
                  <a:srgbClr val="800000"/>
                </a:solidFill>
                <a:latin typeface="Consolas" panose="020B0609020204030204" pitchFamily="49" charset="0"/>
              </a:rPr>
              <a:t>ul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5042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5A093-C6FC-448A-B341-3CEB866EB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CCD96-9087-4AC1-A903-80C6643D0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133342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Template bevat reeds Migration-folder met gegenereerde migratie-code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Migratie moet echter eerst uitgevoerd worden in databank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Via package-manager console: </a:t>
            </a:r>
            <a:r>
              <a:rPr lang="nl-BE" sz="2000" dirty="0">
                <a:latin typeface="Consolas" panose="020B0609020204030204" pitchFamily="49" charset="0"/>
              </a:rPr>
              <a:t>Update-Database</a:t>
            </a:r>
            <a:endParaRPr lang="nl-BE" sz="2400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20BF37-A551-4F26-9CE3-4D41E24F5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87EFF7-13EA-4DBF-A3B7-29EAB5DBB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6BA61F-6F10-4008-BCDE-181C9E872F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1B9AED-D291-4C84-855C-5BF2B5EB6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508" y="2556355"/>
            <a:ext cx="3414056" cy="35740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9D9FF9-CF71-41E9-AF59-1A35515355F6}"/>
              </a:ext>
            </a:extLst>
          </p:cNvPr>
          <p:cNvSpPr txBox="1"/>
          <p:nvPr/>
        </p:nvSpPr>
        <p:spPr>
          <a:xfrm>
            <a:off x="4777852" y="3208211"/>
            <a:ext cx="63976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b="1" dirty="0" err="1"/>
              <a:t>AspNetUsers</a:t>
            </a:r>
            <a:r>
              <a:rPr lang="nl-BE" b="1" dirty="0"/>
              <a:t>:</a:t>
            </a:r>
            <a:r>
              <a:rPr lang="nl-BE" dirty="0"/>
              <a:t> tabel die informatie van gebruikers bevat (email, wachtwoord, ...)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b="1" dirty="0" err="1"/>
              <a:t>AspNetUserClaims</a:t>
            </a:r>
            <a:r>
              <a:rPr lang="nl-BE" b="1" dirty="0"/>
              <a:t>:</a:t>
            </a:r>
            <a:r>
              <a:rPr lang="nl-BE" dirty="0"/>
              <a:t> de claims die bij een gebruiker horen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b="1" dirty="0" err="1"/>
              <a:t>AspNetUserLogins</a:t>
            </a:r>
            <a:r>
              <a:rPr lang="nl-BE" dirty="0"/>
              <a:t> en </a:t>
            </a:r>
            <a:r>
              <a:rPr lang="nl-BE" b="1" dirty="0" err="1"/>
              <a:t>AspNetUserTokens</a:t>
            </a:r>
            <a:r>
              <a:rPr lang="nl-BE" dirty="0"/>
              <a:t>: gebruikt voor </a:t>
            </a:r>
            <a:r>
              <a:rPr lang="nl-BE" dirty="0" err="1"/>
              <a:t>third</a:t>
            </a:r>
            <a:r>
              <a:rPr lang="nl-BE" dirty="0"/>
              <a:t>-party authenticatie (bv.: Facebook, Google, ...)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b="1" dirty="0" err="1"/>
              <a:t>AspNetUserRoles</a:t>
            </a:r>
            <a:r>
              <a:rPr lang="nl-BE" dirty="0"/>
              <a:t>, </a:t>
            </a:r>
            <a:r>
              <a:rPr lang="nl-BE" b="1" dirty="0" err="1"/>
              <a:t>AspNetRoles</a:t>
            </a:r>
            <a:r>
              <a:rPr lang="nl-BE" dirty="0"/>
              <a:t> en </a:t>
            </a:r>
            <a:r>
              <a:rPr lang="nl-BE" b="1" dirty="0" err="1"/>
              <a:t>AspNetRoleClaims</a:t>
            </a:r>
            <a:r>
              <a:rPr lang="nl-BE" dirty="0"/>
              <a:t>:  </a:t>
            </a:r>
            <a:r>
              <a:rPr lang="nl-BE" dirty="0" err="1"/>
              <a:t>legacy</a:t>
            </a:r>
            <a:r>
              <a:rPr lang="nl-BE" dirty="0"/>
              <a:t> (gebruikt voor compatibiliteit met oude rol-gebaseerde systeem)</a:t>
            </a:r>
          </a:p>
        </p:txBody>
      </p:sp>
    </p:spTree>
    <p:extLst>
      <p:ext uri="{BB962C8B-B14F-4D97-AF65-F5344CB8AC3E}">
        <p14:creationId xmlns:p14="http://schemas.microsoft.com/office/powerpoint/2010/main" val="15278316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CAE4D-F507-4A4D-8198-EB1F898FE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Template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DD93FE-AD25-4B6F-BCDC-E7B168A74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66F400-4319-4E17-A534-FBD23DD30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36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3B62B0A-E9B1-4A89-AB0C-ACBBB6DC97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6141A9-21DA-4235-8EB8-0EDCFC1F3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23" y="1525769"/>
            <a:ext cx="4747323" cy="3806461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1CC751-C7F3-4942-AD2D-41ED832EB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3507" y="2398159"/>
            <a:ext cx="4456142" cy="3400062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4E1C1D-E16D-4EF3-90E2-E7542D963D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277" y="1824036"/>
            <a:ext cx="5715000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749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6BB11-9B21-4B41-B5B5-4B19E64C3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Customizing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849444-188D-4B6C-96FC-F6B0D1FFF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7A0D18-B9BA-45DC-828E-C56CD14AE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3FD7BF-738B-4B36-B80C-ED69ACE58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37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5EE5048-1EF0-4DDC-968A-5ACF834717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840025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D3A6F-A60B-41CC-BA57-276031CFF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Instellingen in </a:t>
            </a:r>
            <a:r>
              <a:rPr lang="nl-BE" dirty="0" err="1"/>
              <a:t>ConfigureServices</a:t>
            </a:r>
            <a:r>
              <a:rPr lang="nl-BE" dirty="0"/>
              <a:t> (</a:t>
            </a:r>
            <a:r>
              <a:rPr lang="nl-BE" dirty="0" err="1"/>
              <a:t>Program.cs</a:t>
            </a:r>
            <a:r>
              <a:rPr lang="nl-BE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7EE18-E879-49DC-AFD5-9216A122A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178" y="1447976"/>
            <a:ext cx="8704325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Opties voor Identity kunnen geconfigureerd worden in </a:t>
            </a:r>
            <a:r>
              <a:rPr lang="nl-BE" sz="2000" dirty="0" err="1">
                <a:latin typeface="Consolas" panose="020B0609020204030204" pitchFamily="49" charset="0"/>
              </a:rPr>
              <a:t>ConfigureServices</a:t>
            </a:r>
            <a:r>
              <a:rPr lang="nl-BE" sz="2400" dirty="0"/>
              <a:t>-methode in </a:t>
            </a:r>
            <a:r>
              <a:rPr lang="nl-BE" sz="2400" b="1" i="1" dirty="0" err="1"/>
              <a:t>Program.cs</a:t>
            </a:r>
            <a:r>
              <a:rPr lang="nl-BE" sz="2400" b="1" i="1" dirty="0"/>
              <a:t>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i="1" dirty="0"/>
              <a:t>Voorbeeld: Wachtwoord-restricties, user, </a:t>
            </a:r>
            <a:r>
              <a:rPr lang="nl-BE" sz="2000" i="1" dirty="0" err="1"/>
              <a:t>lockout</a:t>
            </a:r>
            <a:endParaRPr lang="nl-BE" sz="2000" i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F31794-DF27-43DC-A292-520472439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A8A60C-8308-4C0B-8F69-53B37AA48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38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AFEAC6-9CAB-4140-81E8-DC718DD726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7E7A53-7CA1-415E-B0BF-E4FD8834B44A}"/>
              </a:ext>
            </a:extLst>
          </p:cNvPr>
          <p:cNvSpPr txBox="1"/>
          <p:nvPr/>
        </p:nvSpPr>
        <p:spPr>
          <a:xfrm>
            <a:off x="1225413" y="2744054"/>
            <a:ext cx="8108255" cy="230832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</a:t>
            </a:r>
            <a:r>
              <a:rPr lang="nl-BE" sz="1600" dirty="0" err="1">
                <a:solidFill>
                  <a:srgbClr val="74561F"/>
                </a:solidFill>
                <a:latin typeface="Cascadia Mono" panose="020B0609020000020004" pitchFamily="49" charset="0"/>
              </a:rPr>
              <a:t>AddDefaultIdentity</a:t>
            </a:r>
            <a:r>
              <a:rPr lang="nl-BE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nl-BE" sz="16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IdentityUser</a:t>
            </a:r>
            <a:r>
              <a:rPr lang="nl-BE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&gt;(options =&gt;</a:t>
            </a:r>
          </a:p>
          <a:p>
            <a:r>
              <a:rPr lang="nl-BE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nl-BE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6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options.Password.RequireDigit</a:t>
            </a:r>
            <a:r>
              <a:rPr lang="nl-BE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nl-BE" sz="1600" b="1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nl-BE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nl-BE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6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options.Password.RequireLowercase</a:t>
            </a:r>
            <a:r>
              <a:rPr lang="nl-BE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nl-BE" sz="1600" b="1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nl-BE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nl-BE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6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options.Password.RequireNonAlphanumeric</a:t>
            </a:r>
            <a:r>
              <a:rPr lang="nl-BE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nl-BE" sz="1600" b="1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nl-BE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nl-BE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6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options.Password.RequireUppercase</a:t>
            </a:r>
            <a:r>
              <a:rPr lang="nl-BE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nl-BE" sz="1600" b="1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nl-BE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nl-BE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6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options.Password.RequiredLength</a:t>
            </a:r>
            <a:r>
              <a:rPr lang="nl-BE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= 6;</a:t>
            </a:r>
          </a:p>
          <a:p>
            <a:r>
              <a:rPr lang="nl-BE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6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options.Password.RequiredUniqueChars</a:t>
            </a:r>
            <a:r>
              <a:rPr lang="nl-BE" sz="16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= 1;</a:t>
            </a:r>
          </a:p>
          <a:p>
            <a:r>
              <a:rPr lang="nl-BE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}).</a:t>
            </a:r>
            <a:r>
              <a:rPr lang="nl-BE" sz="1600" dirty="0" err="1">
                <a:solidFill>
                  <a:srgbClr val="74561F"/>
                </a:solidFill>
                <a:latin typeface="Cascadia Mono" panose="020B0609020000020004" pitchFamily="49" charset="0"/>
              </a:rPr>
              <a:t>AddEntityFrameworkStores</a:t>
            </a:r>
            <a:r>
              <a:rPr lang="nl-BE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nl-BE" sz="16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ApplicationDbContext</a:t>
            </a:r>
            <a:r>
              <a:rPr lang="nl-BE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  <a:endParaRPr lang="nl-BE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04D5BB-3480-4607-8C22-29517F0E8D36}"/>
              </a:ext>
            </a:extLst>
          </p:cNvPr>
          <p:cNvSpPr txBox="1"/>
          <p:nvPr/>
        </p:nvSpPr>
        <p:spPr>
          <a:xfrm>
            <a:off x="534291" y="5642390"/>
            <a:ext cx="98780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i="1" dirty="0"/>
              <a:t>Zie </a:t>
            </a:r>
            <a:r>
              <a:rPr lang="nl-BE" sz="1600" i="1" dirty="0">
                <a:hlinkClick r:id="rId2"/>
              </a:rPr>
              <a:t>https://docs.microsoft.com/en-us/aspnet/core/security/authentication/identity-configuration?view=aspnetcore-5.0</a:t>
            </a:r>
            <a:r>
              <a:rPr lang="nl-BE" sz="1600" i="1" dirty="0"/>
              <a:t> voor alle opties</a:t>
            </a:r>
          </a:p>
        </p:txBody>
      </p:sp>
    </p:spTree>
    <p:extLst>
      <p:ext uri="{BB962C8B-B14F-4D97-AF65-F5344CB8AC3E}">
        <p14:creationId xmlns:p14="http://schemas.microsoft.com/office/powerpoint/2010/main" val="37358663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BF396-54EB-45DB-BB77-AEC087C58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Custom</a:t>
            </a:r>
            <a:r>
              <a:rPr lang="nl-BE" dirty="0"/>
              <a:t> User-klasse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A0041-C69A-437F-9F6D-55B73D811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291" y="1296000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Gebruiker wordt voorgesteld door ingebouwde klasse </a:t>
            </a:r>
            <a:r>
              <a:rPr lang="nl-BE" sz="2000" dirty="0" err="1">
                <a:latin typeface="Consolas" panose="020B0609020204030204" pitchFamily="49" charset="0"/>
              </a:rPr>
              <a:t>IdentityUser</a:t>
            </a:r>
            <a:endParaRPr lang="nl-BE" sz="2400" dirty="0">
              <a:latin typeface="Consolas" panose="020B06090202040302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Bevat slechts beperkt aantal </a:t>
            </a:r>
            <a:r>
              <a:rPr lang="nl-BE" sz="2400" dirty="0" err="1"/>
              <a:t>property’s</a:t>
            </a:r>
            <a:endParaRPr lang="nl-BE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Indien extra </a:t>
            </a:r>
            <a:r>
              <a:rPr lang="nl-BE" sz="2400" dirty="0" err="1"/>
              <a:t>property’s</a:t>
            </a:r>
            <a:r>
              <a:rPr lang="nl-BE" sz="2400" dirty="0"/>
              <a:t> nodig </a:t>
            </a:r>
            <a:r>
              <a:rPr lang="nl-BE" sz="2400" dirty="0">
                <a:sym typeface="Wingdings" panose="05000000000000000000" pitchFamily="2" charset="2"/>
              </a:rPr>
              <a:t> eigen user-klasse aanmaken die overerft van </a:t>
            </a:r>
            <a:r>
              <a:rPr lang="nl-BE" sz="2000" dirty="0" err="1">
                <a:latin typeface="Consolas" panose="020B0609020204030204" pitchFamily="49" charset="0"/>
                <a:sym typeface="Wingdings" panose="05000000000000000000" pitchFamily="2" charset="2"/>
              </a:rPr>
              <a:t>IdentityUser</a:t>
            </a:r>
            <a:endParaRPr lang="nl-BE" sz="2400" dirty="0"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 err="1">
                <a:sym typeface="Wingdings" panose="05000000000000000000" pitchFamily="2" charset="2"/>
              </a:rPr>
              <a:t>Property’s</a:t>
            </a:r>
            <a:r>
              <a:rPr lang="nl-BE" sz="2400" dirty="0">
                <a:sym typeface="Wingdings" panose="05000000000000000000" pitchFamily="2" charset="2"/>
              </a:rPr>
              <a:t> decoreren met </a:t>
            </a:r>
            <a:r>
              <a:rPr lang="nl-BE" sz="2000" dirty="0">
                <a:latin typeface="Consolas" panose="020B0609020204030204" pitchFamily="49" charset="0"/>
                <a:sym typeface="Wingdings" panose="05000000000000000000" pitchFamily="2" charset="2"/>
              </a:rPr>
              <a:t>[</a:t>
            </a:r>
            <a:r>
              <a:rPr lang="nl-BE" sz="2000" dirty="0" err="1">
                <a:latin typeface="Consolas" panose="020B0609020204030204" pitchFamily="49" charset="0"/>
                <a:sym typeface="Wingdings" panose="05000000000000000000" pitchFamily="2" charset="2"/>
              </a:rPr>
              <a:t>PersonalData</a:t>
            </a:r>
            <a:r>
              <a:rPr lang="nl-BE" sz="2000" dirty="0">
                <a:latin typeface="Consolas" panose="020B0609020204030204" pitchFamily="49" charset="0"/>
                <a:sym typeface="Wingdings" panose="05000000000000000000" pitchFamily="2" charset="2"/>
              </a:rPr>
              <a:t>]</a:t>
            </a:r>
            <a:r>
              <a:rPr lang="nl-BE" sz="2400" dirty="0">
                <a:sym typeface="Wingdings" panose="05000000000000000000" pitchFamily="2" charset="2"/>
              </a:rPr>
              <a:t>-attribuut</a:t>
            </a:r>
            <a:endParaRPr lang="nl-BE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733471-5069-4B4C-A0E0-7E4D6FFF1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E2CCC1-F77C-4E78-87CE-DB15EE621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39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E6D97AF-46F1-4D6E-821E-5F71560E42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B04318-1B30-40E0-AC4D-A8160009EE05}"/>
              </a:ext>
            </a:extLst>
          </p:cNvPr>
          <p:cNvSpPr txBox="1"/>
          <p:nvPr/>
        </p:nvSpPr>
        <p:spPr>
          <a:xfrm>
            <a:off x="1288026" y="3913239"/>
            <a:ext cx="4404851" cy="156966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CustomUser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nl-BE" sz="1200" b="1" dirty="0" err="1">
                <a:solidFill>
                  <a:srgbClr val="4F8291"/>
                </a:solidFill>
                <a:latin typeface="Consolas" panose="020B0609020204030204" pitchFamily="49" charset="0"/>
              </a:rPr>
              <a:t>IdentityUser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nl-BE" sz="1200" b="1" dirty="0" err="1">
                <a:solidFill>
                  <a:srgbClr val="4F8291"/>
                </a:solidFill>
                <a:latin typeface="Consolas" panose="020B0609020204030204" pitchFamily="49" charset="0"/>
              </a:rPr>
              <a:t>PersonalData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FirstName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nl-BE" sz="1200" b="1" dirty="0" err="1">
                <a:solidFill>
                  <a:srgbClr val="4F8291"/>
                </a:solidFill>
                <a:latin typeface="Consolas" panose="020B0609020204030204" pitchFamily="49" charset="0"/>
              </a:rPr>
              <a:t>PersonalData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/>
          </a:p>
        </p:txBody>
      </p:sp>
    </p:spTree>
    <p:extLst>
      <p:ext uri="{BB962C8B-B14F-4D97-AF65-F5344CB8AC3E}">
        <p14:creationId xmlns:p14="http://schemas.microsoft.com/office/powerpoint/2010/main" val="14167377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19660-DF7D-4080-A702-5FB91CD4B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Custom</a:t>
            </a:r>
            <a:r>
              <a:rPr lang="nl-BE" dirty="0"/>
              <a:t> User-klasse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AAA8A-FFFD-488B-93D1-609874547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674116"/>
            <a:ext cx="9281274" cy="49881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b="1" dirty="0"/>
              <a:t>Stap 1: </a:t>
            </a:r>
            <a:r>
              <a:rPr lang="nl-BE" sz="2400" dirty="0"/>
              <a:t>geef type mee aan </a:t>
            </a:r>
            <a:r>
              <a:rPr lang="nl-BE" sz="2400" dirty="0" err="1"/>
              <a:t>generics</a:t>
            </a:r>
            <a:r>
              <a:rPr lang="nl-BE" sz="2400" dirty="0"/>
              <a:t> van </a:t>
            </a:r>
            <a:r>
              <a:rPr lang="nl-BE" sz="2400" dirty="0" err="1"/>
              <a:t>DbContext</a:t>
            </a:r>
            <a:r>
              <a:rPr lang="nl-BE" sz="2400" dirty="0"/>
              <a:t>-klasse: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D83DC-DB71-41D3-B005-9BB82620A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A1F6C6-79F6-4BA1-B74E-0E9A269C2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40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586F07-BD3D-4DAA-96D5-246D00944B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A2D99B-977F-4975-BA64-E0398FC70FF2}"/>
              </a:ext>
            </a:extLst>
          </p:cNvPr>
          <p:cNvSpPr txBox="1"/>
          <p:nvPr/>
        </p:nvSpPr>
        <p:spPr>
          <a:xfrm>
            <a:off x="1089174" y="2227985"/>
            <a:ext cx="7199420" cy="120032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ApplicationDbContext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IdentityDbContext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200" b="1" dirty="0" err="1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CustomUser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fr-F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fr-FR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fr-F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ApplicationDbContext</a:t>
            </a:r>
            <a:r>
              <a:rPr lang="fr-FR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DbContextOptions</a:t>
            </a:r>
            <a:r>
              <a:rPr lang="fr-FR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fr-FR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ApplicationDbContext</a:t>
            </a:r>
            <a:r>
              <a:rPr lang="fr-FR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 options)</a:t>
            </a:r>
          </a:p>
          <a:p>
            <a:r>
              <a:rPr lang="fr-F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base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(options)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1A2787D-72E0-4A46-A707-E5E97ED6BC24}"/>
              </a:ext>
            </a:extLst>
          </p:cNvPr>
          <p:cNvSpPr txBox="1">
            <a:spLocks/>
          </p:cNvSpPr>
          <p:nvPr/>
        </p:nvSpPr>
        <p:spPr>
          <a:xfrm>
            <a:off x="534291" y="3945899"/>
            <a:ext cx="9281274" cy="4988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163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b="1" dirty="0"/>
              <a:t>Stap 2: </a:t>
            </a:r>
            <a:r>
              <a:rPr lang="nl-BE" sz="2400" dirty="0"/>
              <a:t>update </a:t>
            </a:r>
            <a:r>
              <a:rPr lang="nl-BE" sz="2400" i="1" dirty="0"/>
              <a:t>Views/Shared/_</a:t>
            </a:r>
            <a:r>
              <a:rPr lang="nl-BE" sz="2400" i="1" dirty="0" err="1"/>
              <a:t>LoginPartial.cshtml</a:t>
            </a:r>
            <a:r>
              <a:rPr lang="nl-BE" sz="2400" dirty="0"/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FE00A1-05D1-46F9-9BF6-F45F7F1B1C17}"/>
              </a:ext>
            </a:extLst>
          </p:cNvPr>
          <p:cNvSpPr txBox="1"/>
          <p:nvPr/>
        </p:nvSpPr>
        <p:spPr>
          <a:xfrm>
            <a:off x="1089174" y="4601120"/>
            <a:ext cx="7199420" cy="83099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Microsoft.AspNetCore.Identity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WebApplication6.Data</a:t>
            </a: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nl-BE" sz="12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inject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SignInManager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200" b="1" dirty="0" err="1">
                <a:solidFill>
                  <a:srgbClr val="4F8291"/>
                </a:solidFill>
                <a:latin typeface="Consolas" panose="020B0609020204030204" pitchFamily="49" charset="0"/>
              </a:rPr>
              <a:t>CustomUser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SignInManager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nl-BE" sz="12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inject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UserManager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200" b="1" dirty="0" err="1">
                <a:solidFill>
                  <a:srgbClr val="4F8291"/>
                </a:solidFill>
                <a:latin typeface="Consolas" panose="020B0609020204030204" pitchFamily="49" charset="0"/>
              </a:rPr>
              <a:t>CustomUser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UserManager</a:t>
            </a:r>
            <a:endParaRPr lang="nl-BE" sz="1200" dirty="0"/>
          </a:p>
        </p:txBody>
      </p:sp>
    </p:spTree>
    <p:extLst>
      <p:ext uri="{BB962C8B-B14F-4D97-AF65-F5344CB8AC3E}">
        <p14:creationId xmlns:p14="http://schemas.microsoft.com/office/powerpoint/2010/main" val="157681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97D3E-F010-412D-A572-0DD03F3D9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Custom</a:t>
            </a:r>
            <a:r>
              <a:rPr lang="nl-BE" dirty="0"/>
              <a:t> User-klasse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1C41A-8C68-4A54-9A68-450636A70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409258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b="1" dirty="0"/>
              <a:t>Stap 3: </a:t>
            </a:r>
            <a:r>
              <a:rPr lang="nl-BE" sz="2400" dirty="0"/>
              <a:t>wijzig configuratie in </a:t>
            </a:r>
            <a:r>
              <a:rPr lang="nl-BE" sz="2400" i="1" dirty="0" err="1"/>
              <a:t>Program.cs</a:t>
            </a:r>
            <a:r>
              <a:rPr lang="nl-BE" sz="2400" i="1" dirty="0"/>
              <a:t>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92E645-BB8F-4BBA-B1EA-157E63438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2B591F-14D7-4811-9832-8B374DF7F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41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BF7AD42-9722-44D2-9D08-3707A5021D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5020B0-4FA8-4268-BA05-4145F0AA2172}"/>
              </a:ext>
            </a:extLst>
          </p:cNvPr>
          <p:cNvSpPr txBox="1"/>
          <p:nvPr/>
        </p:nvSpPr>
        <p:spPr>
          <a:xfrm>
            <a:off x="1018562" y="1850551"/>
            <a:ext cx="7914968" cy="73866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</a:t>
            </a:r>
            <a:r>
              <a:rPr lang="en-US" sz="1400" dirty="0" err="1">
                <a:solidFill>
                  <a:srgbClr val="74561F"/>
                </a:solidFill>
                <a:latin typeface="Cascadia Mono" panose="020B0609020000020004" pitchFamily="49" charset="0"/>
              </a:rPr>
              <a:t>AddDefaultIdentity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CustomUser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&gt;(options =&gt;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options.SignIn.RequireConfirmedAccount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.</a:t>
            </a:r>
            <a:r>
              <a:rPr lang="nl-BE" sz="1400" dirty="0" err="1">
                <a:solidFill>
                  <a:srgbClr val="74561F"/>
                </a:solidFill>
                <a:latin typeface="Cascadia Mono" panose="020B0609020000020004" pitchFamily="49" charset="0"/>
              </a:rPr>
              <a:t>AddEntityFrameworkStores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nl-BE" sz="14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ApplicationDbContext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  <a:endParaRPr lang="nl-BE" sz="14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D97405C-ED8F-4830-9A12-82CBEDFE6EC8}"/>
              </a:ext>
            </a:extLst>
          </p:cNvPr>
          <p:cNvSpPr txBox="1">
            <a:spLocks/>
          </p:cNvSpPr>
          <p:nvPr/>
        </p:nvSpPr>
        <p:spPr>
          <a:xfrm>
            <a:off x="534291" y="3229932"/>
            <a:ext cx="9281274" cy="540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163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b="1" dirty="0"/>
              <a:t>Stap 4: </a:t>
            </a:r>
            <a:r>
              <a:rPr lang="nl-BE" sz="2400" dirty="0"/>
              <a:t>creëer </a:t>
            </a:r>
            <a:r>
              <a:rPr lang="nl-BE" sz="2400" dirty="0" err="1"/>
              <a:t>migration</a:t>
            </a:r>
            <a:r>
              <a:rPr lang="nl-BE" sz="2400" dirty="0"/>
              <a:t> en update database: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sz="2400" i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09BA9A-D8D5-422B-8712-5FEE67C18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723" y="3745386"/>
            <a:ext cx="4778154" cy="2133785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036CD57-A9B8-4781-AFF8-1DF1D482A4F2}"/>
              </a:ext>
            </a:extLst>
          </p:cNvPr>
          <p:cNvCxnSpPr>
            <a:cxnSpLocks/>
          </p:cNvCxnSpPr>
          <p:nvPr/>
        </p:nvCxnSpPr>
        <p:spPr>
          <a:xfrm flipH="1">
            <a:off x="5791200" y="1571268"/>
            <a:ext cx="481782" cy="3654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72438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2D006-FB7A-449C-A95D-A7902B24B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Views en logica aanpassen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F9ED0-F15D-4DD9-92C8-3F305BAC9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291" y="1184020"/>
            <a:ext cx="9783232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b="1" dirty="0"/>
              <a:t>Stap 5: </a:t>
            </a:r>
            <a:r>
              <a:rPr lang="nl-BE" sz="2400" dirty="0"/>
              <a:t>registratieformulier uitbreiden met extra velden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b="1" dirty="0"/>
              <a:t>MAAR: </a:t>
            </a:r>
            <a:r>
              <a:rPr lang="nl-BE" sz="2000" dirty="0"/>
              <a:t>code voor registratieformulier is afkomstig van Identity </a:t>
            </a:r>
            <a:r>
              <a:rPr lang="nl-BE" sz="2000" dirty="0" err="1"/>
              <a:t>framework</a:t>
            </a:r>
            <a:endParaRPr lang="nl-BE" sz="20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Views en logica zitten in </a:t>
            </a:r>
            <a:r>
              <a:rPr lang="nl-BE" sz="2000" b="1" dirty="0"/>
              <a:t>Class Library </a:t>
            </a:r>
            <a:r>
              <a:rPr lang="nl-BE" sz="2000" dirty="0"/>
              <a:t>en kunnen niet rechtstreeks aangepast worden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b="1" dirty="0"/>
              <a:t>Oplossing: </a:t>
            </a:r>
            <a:r>
              <a:rPr lang="nl-BE" sz="2000" dirty="0"/>
              <a:t>views laten </a:t>
            </a:r>
            <a:r>
              <a:rPr lang="nl-BE" sz="2000" dirty="0" err="1"/>
              <a:t>scaffolden</a:t>
            </a:r>
            <a:r>
              <a:rPr lang="nl-BE" sz="2000" dirty="0"/>
              <a:t> uit Class Library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dirty="0"/>
          </a:p>
          <a:p>
            <a:pPr marL="815363" lvl="1" indent="-457200">
              <a:buFont typeface="+mj-lt"/>
              <a:buAutoNum type="arabicPeriod"/>
            </a:pPr>
            <a:r>
              <a:rPr lang="nl-BE" sz="2000" i="1" dirty="0"/>
              <a:t>Rechtermuisknop op project &gt; </a:t>
            </a:r>
            <a:r>
              <a:rPr lang="nl-BE" sz="2000" i="1" dirty="0" err="1"/>
              <a:t>Add</a:t>
            </a:r>
            <a:r>
              <a:rPr lang="nl-BE" sz="2000" i="1" dirty="0"/>
              <a:t> &gt; New </a:t>
            </a:r>
            <a:r>
              <a:rPr lang="nl-BE" sz="2000" i="1" dirty="0" err="1"/>
              <a:t>Scaffolded</a:t>
            </a:r>
            <a:r>
              <a:rPr lang="nl-BE" sz="2000" i="1" dirty="0"/>
              <a:t> Item...</a:t>
            </a:r>
          </a:p>
          <a:p>
            <a:pPr marL="815363" lvl="1" indent="-457200">
              <a:buFont typeface="+mj-lt"/>
              <a:buAutoNum type="arabicPeriod"/>
            </a:pPr>
            <a:r>
              <a:rPr lang="nl-BE" sz="2000" i="1" dirty="0"/>
              <a:t>Selecteer Identity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3725FA-0312-49C0-8660-8BB00C2C8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38B5C4-0526-48F2-9BBE-F2AAD4151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42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A88F7E1-56E2-4AFA-B91D-4FAB45616E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61604-4F79-4CBD-9DA2-74D53A7A2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477" y="3993667"/>
            <a:ext cx="8984759" cy="235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3966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EA1D8-C72D-416E-8018-4D9FC6F12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Views en logica aanpassen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E66C3-D5EE-407B-97A2-B8F202E97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123510"/>
            <a:ext cx="9281274" cy="48898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Selecteer view(s) om te “</a:t>
            </a:r>
            <a:r>
              <a:rPr lang="nl-BE" sz="2400" dirty="0" err="1"/>
              <a:t>overriden</a:t>
            </a:r>
            <a:r>
              <a:rPr lang="nl-BE" sz="2400" dirty="0"/>
              <a:t>”: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8ABF9D-D60F-4282-A7B6-B425D5DBD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9ECD76-F3C3-4511-99D7-C0909A339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43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28FBD20-1907-417D-A3BC-4F5785715D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22A7A8-A6FF-4AE2-8615-987A49595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314" y="1807510"/>
            <a:ext cx="6375372" cy="429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3778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E1CFA-F519-4D5C-8015-BACBEE2C9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Views en logica aanpassen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A51E8-72ED-40F4-AB01-FBE9C3224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221833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Geselecteerde pagina(s) worden gegenereerd in </a:t>
            </a:r>
            <a:r>
              <a:rPr lang="nl-BE" sz="2400" i="1" dirty="0" err="1"/>
              <a:t>Areas</a:t>
            </a:r>
            <a:r>
              <a:rPr lang="nl-BE" sz="2400" i="1" dirty="0"/>
              <a:t>/Identity/Pages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D56D57-A761-4312-92EC-52129F976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17CFA4-6649-4122-97B0-FB3213A90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44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06C1F9-29C3-445F-804D-B2779952B4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BD6716-8D43-43D6-87AB-6C007BD7B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90" y="1905833"/>
            <a:ext cx="3679129" cy="38910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38FAA0-42FE-4BD8-A149-BA91353ABDC5}"/>
              </a:ext>
            </a:extLst>
          </p:cNvPr>
          <p:cNvSpPr txBox="1"/>
          <p:nvPr/>
        </p:nvSpPr>
        <p:spPr>
          <a:xfrm>
            <a:off x="5102942" y="2428568"/>
            <a:ext cx="56611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000" dirty="0"/>
              <a:t>Pagina’s van Identity </a:t>
            </a:r>
            <a:r>
              <a:rPr lang="nl-BE" sz="2000" dirty="0" err="1"/>
              <a:t>framework</a:t>
            </a:r>
            <a:r>
              <a:rPr lang="nl-BE" sz="2000" dirty="0"/>
              <a:t> zijn </a:t>
            </a:r>
            <a:r>
              <a:rPr lang="nl-BE" sz="2000" dirty="0" err="1"/>
              <a:t>geïplementeerd</a:t>
            </a:r>
            <a:r>
              <a:rPr lang="nl-BE" sz="2000" dirty="0"/>
              <a:t> als </a:t>
            </a:r>
            <a:r>
              <a:rPr lang="nl-BE" sz="2000" dirty="0" err="1"/>
              <a:t>Razor</a:t>
            </a:r>
            <a:r>
              <a:rPr lang="nl-BE" sz="2000" dirty="0"/>
              <a:t> pages: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sz="2000" dirty="0"/>
              <a:t>Bevat View-code: </a:t>
            </a:r>
            <a:r>
              <a:rPr lang="nl-BE" sz="2000" i="1" dirty="0" err="1"/>
              <a:t>Register</a:t>
            </a:r>
            <a:r>
              <a:rPr lang="nl-BE" sz="2000" b="1" i="1" dirty="0" err="1">
                <a:solidFill>
                  <a:srgbClr val="C00000"/>
                </a:solidFill>
              </a:rPr>
              <a:t>.cshtml</a:t>
            </a:r>
            <a:endParaRPr lang="nl-BE" sz="2000" b="1" i="1" dirty="0">
              <a:solidFill>
                <a:srgbClr val="C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sz="2000" dirty="0"/>
              <a:t>En “code </a:t>
            </a:r>
            <a:r>
              <a:rPr lang="nl-BE" sz="2000" dirty="0" err="1"/>
              <a:t>behind</a:t>
            </a:r>
            <a:r>
              <a:rPr lang="nl-BE" sz="2000" dirty="0"/>
              <a:t>”: </a:t>
            </a:r>
            <a:r>
              <a:rPr lang="nl-BE" sz="2000" i="1" dirty="0" err="1"/>
              <a:t>Register</a:t>
            </a:r>
            <a:r>
              <a:rPr lang="nl-BE" sz="2000" b="1" i="1" dirty="0" err="1">
                <a:solidFill>
                  <a:srgbClr val="C00000"/>
                </a:solidFill>
              </a:rPr>
              <a:t>.cshtml.cs</a:t>
            </a:r>
            <a:endParaRPr lang="nl-BE" sz="2000" b="1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28160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D58D4-B6AC-413E-90AA-D1600CC78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Views en logica aanpassen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EAE64-EDCA-4C32-B71A-9064D0ABF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182503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b="1" dirty="0">
                <a:solidFill>
                  <a:srgbClr val="C00000"/>
                </a:solidFill>
              </a:rPr>
              <a:t>.</a:t>
            </a:r>
            <a:r>
              <a:rPr lang="nl-BE" sz="2400" b="1" dirty="0" err="1">
                <a:solidFill>
                  <a:srgbClr val="C00000"/>
                </a:solidFill>
              </a:rPr>
              <a:t>cshtml.cs</a:t>
            </a:r>
            <a:r>
              <a:rPr lang="nl-BE" sz="2400" dirty="0"/>
              <a:t>-bestand bevat logica van de pagina (afhandelen </a:t>
            </a:r>
            <a:r>
              <a:rPr lang="nl-BE" sz="2400" dirty="0" err="1"/>
              <a:t>GET-en</a:t>
            </a:r>
            <a:r>
              <a:rPr lang="nl-BE" sz="2400" dirty="0"/>
              <a:t> POST-</a:t>
            </a:r>
            <a:r>
              <a:rPr lang="nl-BE" sz="2400" dirty="0" err="1"/>
              <a:t>request</a:t>
            </a:r>
            <a:r>
              <a:rPr lang="nl-BE" sz="24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Om extra velden bij registratieformulier toe te voegen:</a:t>
            </a:r>
          </a:p>
          <a:p>
            <a:pPr marL="815363" lvl="1" indent="-457200">
              <a:buFont typeface="+mj-lt"/>
              <a:buAutoNum type="arabicPeriod"/>
            </a:pPr>
            <a:r>
              <a:rPr lang="nl-BE" sz="2000" dirty="0"/>
              <a:t>Extra inputvelden toevoegen aan binding-model (</a:t>
            </a:r>
            <a:r>
              <a:rPr lang="nl-BE" sz="2000" dirty="0" err="1"/>
              <a:t>innerclass</a:t>
            </a:r>
            <a:r>
              <a:rPr lang="nl-BE" sz="2000" dirty="0"/>
              <a:t> </a:t>
            </a:r>
            <a:r>
              <a:rPr lang="nl-BE" sz="1800" dirty="0" err="1">
                <a:latin typeface="Consolas" panose="020B0609020204030204" pitchFamily="49" charset="0"/>
              </a:rPr>
              <a:t>InputModel</a:t>
            </a:r>
            <a:r>
              <a:rPr lang="nl-BE" sz="2000" dirty="0"/>
              <a:t>)</a:t>
            </a:r>
          </a:p>
          <a:p>
            <a:pPr marL="815363" lvl="1" indent="-457200">
              <a:buFont typeface="+mj-lt"/>
              <a:buAutoNum type="arabicPeriod"/>
            </a:pPr>
            <a:r>
              <a:rPr lang="nl-BE" sz="1800" dirty="0" err="1">
                <a:latin typeface="Consolas" panose="020B0609020204030204" pitchFamily="49" charset="0"/>
              </a:rPr>
              <a:t>OnPostAsync</a:t>
            </a:r>
            <a:r>
              <a:rPr lang="nl-BE" sz="2000" dirty="0"/>
              <a:t>-methode wijzigen (creatie gebruiker)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92FAB8-1494-4DEC-916E-7F4C59B50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BA05F8-8EFD-4689-A53D-919E2E338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45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8322519-1062-414B-818E-9A16D4473A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416335-3998-4635-A7EE-2D86BE99BDAF}"/>
              </a:ext>
            </a:extLst>
          </p:cNvPr>
          <p:cNvSpPr txBox="1"/>
          <p:nvPr/>
        </p:nvSpPr>
        <p:spPr>
          <a:xfrm>
            <a:off x="840069" y="3350263"/>
            <a:ext cx="4114800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2B91AF"/>
                </a:solidFill>
                <a:latin typeface="Consolas" panose="020B0609020204030204" pitchFamily="49" charset="0"/>
              </a:rPr>
              <a:t>RegisterModel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nl-BE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PageModel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</a:p>
          <a:p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    public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2B91AF"/>
                </a:solidFill>
                <a:latin typeface="Consolas" panose="020B0609020204030204" pitchFamily="49" charset="0"/>
              </a:rPr>
              <a:t>InputModel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[</a:t>
            </a:r>
            <a:r>
              <a:rPr lang="nl-BE" sz="1100" b="1" dirty="0" err="1">
                <a:solidFill>
                  <a:srgbClr val="4F8291"/>
                </a:solidFill>
                <a:latin typeface="Consolas" panose="020B0609020204030204" pitchFamily="49" charset="0"/>
              </a:rPr>
              <a:t>Required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[</a:t>
            </a:r>
            <a:r>
              <a:rPr lang="nl-BE" sz="1100" b="1" dirty="0">
                <a:solidFill>
                  <a:srgbClr val="4F8291"/>
                </a:solidFill>
                <a:latin typeface="Consolas" panose="020B0609020204030204" pitchFamily="49" charset="0"/>
              </a:rPr>
              <a:t>Display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(Name = </a:t>
            </a:r>
            <a:r>
              <a:rPr lang="nl-BE" sz="1100" b="1" dirty="0">
                <a:solidFill>
                  <a:srgbClr val="A31515"/>
                </a:solidFill>
                <a:latin typeface="Consolas" panose="020B0609020204030204" pitchFamily="49" charset="0"/>
              </a:rPr>
              <a:t>"First Name"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FirstName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[</a:t>
            </a:r>
            <a:r>
              <a:rPr lang="nl-BE" sz="1100" b="1" dirty="0" err="1">
                <a:solidFill>
                  <a:srgbClr val="4F8291"/>
                </a:solidFill>
                <a:latin typeface="Consolas" panose="020B0609020204030204" pitchFamily="49" charset="0"/>
              </a:rPr>
              <a:t>Required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[</a:t>
            </a:r>
            <a:r>
              <a:rPr lang="nl-BE" sz="1100" b="1" dirty="0">
                <a:solidFill>
                  <a:srgbClr val="4F8291"/>
                </a:solidFill>
                <a:latin typeface="Consolas" panose="020B0609020204030204" pitchFamily="49" charset="0"/>
              </a:rPr>
              <a:t>Display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(Name = </a:t>
            </a:r>
            <a:r>
              <a:rPr lang="nl-BE" sz="1100" b="1" dirty="0">
                <a:solidFill>
                  <a:srgbClr val="A31515"/>
                </a:solidFill>
                <a:latin typeface="Consolas" panose="020B0609020204030204" pitchFamily="49" charset="0"/>
              </a:rPr>
              <a:t>"Last Name"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LastName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[</a:t>
            </a:r>
            <a:r>
              <a:rPr lang="nl-BE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Required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[</a:t>
            </a:r>
            <a:r>
              <a:rPr lang="nl-BE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EmailAddress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[</a:t>
            </a:r>
            <a:r>
              <a:rPr lang="nl-BE" sz="1100" dirty="0">
                <a:solidFill>
                  <a:srgbClr val="4F8291"/>
                </a:solidFill>
                <a:latin typeface="Consolas" panose="020B0609020204030204" pitchFamily="49" charset="0"/>
              </a:rPr>
              <a:t>Display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(Name = </a:t>
            </a:r>
            <a:r>
              <a:rPr lang="nl-BE" sz="1100" dirty="0">
                <a:solidFill>
                  <a:srgbClr val="A31515"/>
                </a:solidFill>
                <a:latin typeface="Consolas" panose="020B0609020204030204" pitchFamily="49" charset="0"/>
              </a:rPr>
              <a:t>"Email"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Email {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>
                <a:solidFill>
                  <a:srgbClr val="008000"/>
                </a:solidFill>
                <a:latin typeface="Consolas" panose="020B0609020204030204" pitchFamily="49" charset="0"/>
              </a:rPr>
              <a:t>//...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nl-BE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F6E253-FAB2-439D-B4A8-DFD0593DE0B1}"/>
              </a:ext>
            </a:extLst>
          </p:cNvPr>
          <p:cNvSpPr txBox="1"/>
          <p:nvPr/>
        </p:nvSpPr>
        <p:spPr>
          <a:xfrm>
            <a:off x="5174928" y="3357637"/>
            <a:ext cx="6864221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2B91AF"/>
                </a:solidFill>
                <a:latin typeface="Consolas" panose="020B0609020204030204" pitchFamily="49" charset="0"/>
              </a:rPr>
              <a:t>RegisterModel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nl-BE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PageModel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async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Task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OnPostAsync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returnUrl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returnUrl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returnUrl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??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Url.</a:t>
            </a:r>
            <a:r>
              <a:rPr lang="nl-BE" sz="1100" dirty="0" err="1">
                <a:solidFill>
                  <a:srgbClr val="74561F"/>
                </a:solidFill>
                <a:latin typeface="Consolas" panose="020B0609020204030204" pitchFamily="49" charset="0"/>
              </a:rPr>
              <a:t>Content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dirty="0">
                <a:solidFill>
                  <a:srgbClr val="A31515"/>
                </a:solidFill>
                <a:latin typeface="Consolas" panose="020B0609020204030204" pitchFamily="49" charset="0"/>
              </a:rPr>
              <a:t>"~/"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ExternalLogins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b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(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await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signInManager.</a:t>
            </a:r>
            <a:r>
              <a:rPr lang="en-US" sz="1100" dirty="0" err="1">
                <a:solidFill>
                  <a:srgbClr val="74561F"/>
                </a:solidFill>
                <a:latin typeface="Consolas" panose="020B0609020204030204" pitchFamily="49" charset="0"/>
              </a:rPr>
              <a:t>GetExternalAuthenticationSchemesAsync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()).</a:t>
            </a:r>
            <a:r>
              <a:rPr lang="en-US" sz="1100" dirty="0" err="1">
                <a:solidFill>
                  <a:srgbClr val="74561F"/>
                </a:solidFill>
                <a:latin typeface="Consolas" panose="020B0609020204030204" pitchFamily="49" charset="0"/>
              </a:rPr>
              <a:t>ToList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ModelState.IsValid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user =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CustomUser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UserName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Input.Email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Email =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Input.Email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</a:p>
          <a:p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</a:t>
            </a:r>
            <a:r>
              <a:rPr lang="nl-BE" sz="11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FirstName</a:t>
            </a:r>
            <a:r>
              <a:rPr lang="nl-BE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nl-BE" sz="11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Input.FirstName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</a:p>
          <a:p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</a:t>
            </a:r>
            <a:r>
              <a:rPr lang="nl-BE" sz="11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LastName</a:t>
            </a:r>
            <a:r>
              <a:rPr lang="nl-BE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nl-BE" sz="11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Input.LastName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};            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result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await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userManager.</a:t>
            </a:r>
            <a:r>
              <a:rPr lang="nl-BE" sz="1100" dirty="0" err="1">
                <a:solidFill>
                  <a:srgbClr val="74561F"/>
                </a:solidFill>
                <a:latin typeface="Consolas" panose="020B0609020204030204" pitchFamily="49" charset="0"/>
              </a:rPr>
              <a:t>CreateAsync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(user,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Input.Password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//...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nl-BE" sz="1100" dirty="0"/>
          </a:p>
        </p:txBody>
      </p:sp>
    </p:spTree>
    <p:extLst>
      <p:ext uri="{BB962C8B-B14F-4D97-AF65-F5344CB8AC3E}">
        <p14:creationId xmlns:p14="http://schemas.microsoft.com/office/powerpoint/2010/main" val="405439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CEA5A-2949-4CBB-B61D-5063046FB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Views en logica aanpassen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590ED-EAB1-4CD6-89FF-EB0435B82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296000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b="1" dirty="0">
                <a:solidFill>
                  <a:srgbClr val="C00000"/>
                </a:solidFill>
              </a:rPr>
              <a:t>.</a:t>
            </a:r>
            <a:r>
              <a:rPr lang="nl-BE" sz="2400" b="1" dirty="0" err="1">
                <a:solidFill>
                  <a:srgbClr val="C00000"/>
                </a:solidFill>
              </a:rPr>
              <a:t>cshtml</a:t>
            </a:r>
            <a:r>
              <a:rPr lang="nl-BE" sz="2400" dirty="0"/>
              <a:t>-bestand bevat </a:t>
            </a:r>
            <a:r>
              <a:rPr lang="nl-BE" sz="2400" dirty="0" err="1"/>
              <a:t>Razor</a:t>
            </a:r>
            <a:r>
              <a:rPr lang="nl-BE" sz="2400" dirty="0"/>
              <a:t>-template voor view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Input-velden toevoegen voor </a:t>
            </a:r>
            <a:r>
              <a:rPr lang="nl-BE" sz="2400" dirty="0" err="1"/>
              <a:t>custom</a:t>
            </a:r>
            <a:r>
              <a:rPr lang="nl-BE" sz="2400" dirty="0"/>
              <a:t> fields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53C166-8F04-4C96-A9A2-45B98923B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FABF4D-CD4F-4329-8733-98CB94FAC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46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2CF34C3-52F1-45EF-A25C-4A13F6C0FD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2DEE1E-2633-4301-B7C9-6FAEEF71889A}"/>
              </a:ext>
            </a:extLst>
          </p:cNvPr>
          <p:cNvSpPr txBox="1"/>
          <p:nvPr/>
        </p:nvSpPr>
        <p:spPr>
          <a:xfrm>
            <a:off x="975523" y="2315932"/>
            <a:ext cx="8078955" cy="3816429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100" dirty="0">
                <a:solidFill>
                  <a:srgbClr val="800000"/>
                </a:solidFill>
                <a:latin typeface="Consolas" panose="020B0609020204030204" pitchFamily="49" charset="0"/>
              </a:rPr>
              <a:t>form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b="1" dirty="0" err="1">
                <a:solidFill>
                  <a:srgbClr val="800080"/>
                </a:solidFill>
                <a:latin typeface="Consolas" panose="020B0609020204030204" pitchFamily="49" charset="0"/>
              </a:rPr>
              <a:t>asp</a:t>
            </a:r>
            <a:r>
              <a:rPr lang="nl-BE" sz="1100" b="1" dirty="0">
                <a:solidFill>
                  <a:srgbClr val="800080"/>
                </a:solidFill>
                <a:latin typeface="Consolas" panose="020B0609020204030204" pitchFamily="49" charset="0"/>
              </a:rPr>
              <a:t>-route-</a:t>
            </a:r>
            <a:r>
              <a:rPr lang="nl-BE" sz="1100" b="1" dirty="0" err="1">
                <a:solidFill>
                  <a:srgbClr val="800080"/>
                </a:solidFill>
                <a:latin typeface="Consolas" panose="020B0609020204030204" pitchFamily="49" charset="0"/>
              </a:rPr>
              <a:t>returnUrl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nl-BE" sz="11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Model.ReturnUrl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FF0000"/>
                </a:solidFill>
                <a:latin typeface="Consolas" panose="020B0609020204030204" pitchFamily="49" charset="0"/>
              </a:rPr>
              <a:t>method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="post"&gt;</a:t>
            </a:r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100" dirty="0">
                <a:solidFill>
                  <a:srgbClr val="800000"/>
                </a:solidFill>
                <a:latin typeface="Consolas" panose="020B0609020204030204" pitchFamily="49" charset="0"/>
              </a:rPr>
              <a:t>h4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Create a new account.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US" sz="1100" dirty="0">
                <a:solidFill>
                  <a:srgbClr val="800000"/>
                </a:solidFill>
                <a:latin typeface="Consolas" panose="020B0609020204030204" pitchFamily="49" charset="0"/>
              </a:rPr>
              <a:t>h4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100" dirty="0" err="1">
                <a:solidFill>
                  <a:srgbClr val="800000"/>
                </a:solidFill>
                <a:latin typeface="Consolas" panose="020B0609020204030204" pitchFamily="49" charset="0"/>
              </a:rPr>
              <a:t>hr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1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rgbClr val="800080"/>
                </a:solidFill>
                <a:latin typeface="Consolas" panose="020B0609020204030204" pitchFamily="49" charset="0"/>
              </a:rPr>
              <a:t>asp-validation-summary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All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="text-danger"&gt;&lt;/</a:t>
            </a:r>
            <a:r>
              <a:rPr lang="en-US" sz="11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1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b="1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nl-BE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="form-</a:t>
            </a:r>
            <a:r>
              <a:rPr lang="nl-BE" sz="11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nl-BE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nl-BE" sz="11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100" b="1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rgbClr val="800080"/>
                </a:solidFill>
                <a:latin typeface="Consolas" panose="020B0609020204030204" pitchFamily="49" charset="0"/>
              </a:rPr>
              <a:t>asp-for</a:t>
            </a:r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1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Input.FirstName</a:t>
            </a:r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"&gt;&lt;/</a:t>
            </a:r>
            <a:r>
              <a:rPr lang="en-US" sz="1100" b="1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1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100" b="1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rgbClr val="800080"/>
                </a:solidFill>
                <a:latin typeface="Consolas" panose="020B0609020204030204" pitchFamily="49" charset="0"/>
              </a:rPr>
              <a:t>asp-for</a:t>
            </a:r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1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Input.FirstName</a:t>
            </a:r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="form-control"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US" sz="11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100" b="1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rgbClr val="800080"/>
                </a:solidFill>
                <a:latin typeface="Consolas" panose="020B0609020204030204" pitchFamily="49" charset="0"/>
              </a:rPr>
              <a:t>asp-validation-for</a:t>
            </a:r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1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Input.FirstName</a:t>
            </a:r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="text-danger"&gt;&lt;/</a:t>
            </a:r>
            <a:r>
              <a:rPr lang="en-US" sz="1100" b="1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1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1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nl-BE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1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1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b="1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nl-BE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="form-</a:t>
            </a:r>
            <a:r>
              <a:rPr lang="nl-BE" sz="11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nl-BE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nl-BE" sz="11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100" b="1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b="1" dirty="0" err="1">
                <a:solidFill>
                  <a:srgbClr val="800080"/>
                </a:solidFill>
                <a:latin typeface="Consolas" panose="020B0609020204030204" pitchFamily="49" charset="0"/>
              </a:rPr>
              <a:t>asp-for</a:t>
            </a:r>
            <a:r>
              <a:rPr lang="nl-BE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nl-BE" sz="11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Input.LastName</a:t>
            </a:r>
            <a:r>
              <a:rPr lang="nl-BE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"&gt;&lt;/</a:t>
            </a:r>
            <a:r>
              <a:rPr lang="nl-BE" sz="1100" b="1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nl-BE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1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100" b="1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rgbClr val="800080"/>
                </a:solidFill>
                <a:latin typeface="Consolas" panose="020B0609020204030204" pitchFamily="49" charset="0"/>
              </a:rPr>
              <a:t>asp-for</a:t>
            </a:r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1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Input.LastName</a:t>
            </a:r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="form-control"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US" sz="11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100" b="1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rgbClr val="800080"/>
                </a:solidFill>
                <a:latin typeface="Consolas" panose="020B0609020204030204" pitchFamily="49" charset="0"/>
              </a:rPr>
              <a:t>asp-validation-for</a:t>
            </a:r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1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Input.LastName</a:t>
            </a:r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="text-danger"&gt;&lt;/</a:t>
            </a:r>
            <a:r>
              <a:rPr lang="en-US" sz="1100" b="1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1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1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nl-BE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1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1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="form-</a:t>
            </a:r>
            <a:r>
              <a:rPr lang="nl-BE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100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b="1" dirty="0" err="1">
                <a:solidFill>
                  <a:srgbClr val="800080"/>
                </a:solidFill>
                <a:latin typeface="Consolas" panose="020B0609020204030204" pitchFamily="49" charset="0"/>
              </a:rPr>
              <a:t>asp-for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Input.Email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"&gt;&lt;/</a:t>
            </a:r>
            <a:r>
              <a:rPr lang="nl-BE" sz="1100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1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rgbClr val="800080"/>
                </a:solidFill>
                <a:latin typeface="Consolas" panose="020B0609020204030204" pitchFamily="49" charset="0"/>
              </a:rPr>
              <a:t>asp-for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Input.Email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="form-control"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10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rgbClr val="800080"/>
                </a:solidFill>
                <a:latin typeface="Consolas" panose="020B0609020204030204" pitchFamily="49" charset="0"/>
              </a:rPr>
              <a:t>asp-validation-for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Input.Email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="text-danger"&gt;&lt;/</a:t>
            </a:r>
            <a:r>
              <a:rPr lang="en-US" sz="110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1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nl-BE" sz="1100" dirty="0">
                <a:solidFill>
                  <a:srgbClr val="008000"/>
                </a:solidFill>
                <a:latin typeface="Consolas" panose="020B0609020204030204" pitchFamily="49" charset="0"/>
              </a:rPr>
              <a:t>    &lt;!–- rest van het formulier --&gt;</a:t>
            </a:r>
          </a:p>
          <a:p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100" dirty="0">
                <a:solidFill>
                  <a:srgbClr val="800000"/>
                </a:solidFill>
                <a:latin typeface="Consolas" panose="020B0609020204030204" pitchFamily="49" charset="0"/>
              </a:rPr>
              <a:t>form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1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88D672-AE48-45FB-AE5C-3B89942ED206}"/>
              </a:ext>
            </a:extLst>
          </p:cNvPr>
          <p:cNvSpPr/>
          <p:nvPr/>
        </p:nvSpPr>
        <p:spPr>
          <a:xfrm>
            <a:off x="1307690" y="3028335"/>
            <a:ext cx="5760000" cy="1692000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385177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69EFC-BEAF-4EE4-84A7-175588549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Views en logica aanpassen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E1E1D-5E96-4141-886B-0EAC6E9AC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178" y="1162839"/>
            <a:ext cx="9281274" cy="109858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Opmerking: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Op dezelfde manier managen van account wijzigen </a:t>
            </a:r>
            <a:r>
              <a:rPr lang="nl-BE" sz="2000" i="1" dirty="0"/>
              <a:t>(Account/Manage/Index)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82CB3F-3DB9-47E3-9FCA-C5DDC25A3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1B25F6-2838-4D32-ABBA-484368E4C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47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5612518-0E59-4D82-92BD-430B68E430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B8B76B-41B6-4584-91A8-B7C43E4BF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381" y="2111858"/>
            <a:ext cx="4492098" cy="451747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548B84B-A07D-4C7A-858C-E1E0451C386E}"/>
              </a:ext>
            </a:extLst>
          </p:cNvPr>
          <p:cNvSpPr/>
          <p:nvPr/>
        </p:nvSpPr>
        <p:spPr>
          <a:xfrm>
            <a:off x="4213417" y="2340076"/>
            <a:ext cx="1188000" cy="216000"/>
          </a:xfrm>
          <a:prstGeom prst="rect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120466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642AF-4E56-40AE-8180-80B9B14DF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Views en logica aanpassen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42896-F1A2-4C7C-831F-8828D1876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178" y="1137740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b="1" dirty="0"/>
              <a:t>Opmerking:</a:t>
            </a:r>
            <a:r>
              <a:rPr lang="nl-BE" sz="2400" dirty="0"/>
              <a:t> zelfde principe om overbodige tekst bij login-pagina en registratie-pagina te verwijderen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b="1" dirty="0"/>
              <a:t>Login: </a:t>
            </a:r>
            <a:r>
              <a:rPr lang="nl-BE" sz="2000" dirty="0"/>
              <a:t>Account/Login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b="1" dirty="0"/>
              <a:t>Registratie</a:t>
            </a:r>
            <a:r>
              <a:rPr lang="nl-BE" sz="2000" dirty="0"/>
              <a:t>: Account/Register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246053-707D-4856-9C8E-4F4035D49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73F51A-D937-49DF-8E68-19CD52E9C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48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C637C3C-1C30-4957-BA6E-FB4A1AB37C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1EE13E-0042-4472-BC6B-643B19438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781" y="2859987"/>
            <a:ext cx="7329478" cy="3723598"/>
          </a:xfrm>
          <a:prstGeom prst="rect">
            <a:avLst/>
          </a:prstGeom>
        </p:spPr>
      </p:pic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F81BAA75-26FD-495F-B002-FEF47154004D}"/>
              </a:ext>
            </a:extLst>
          </p:cNvPr>
          <p:cNvSpPr/>
          <p:nvPr/>
        </p:nvSpPr>
        <p:spPr>
          <a:xfrm>
            <a:off x="5331097" y="3060406"/>
            <a:ext cx="4542252" cy="1693606"/>
          </a:xfrm>
          <a:prstGeom prst="mathMultiply">
            <a:avLst/>
          </a:prstGeom>
          <a:solidFill>
            <a:srgbClr val="C00000"/>
          </a:solidFill>
        </p:spPr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196898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8734E-BA51-4E0B-8BC2-D9AF4BDC9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Lock-out </a:t>
            </a:r>
            <a:r>
              <a:rPr lang="nl-BE" dirty="0" err="1"/>
              <a:t>enablen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04F8B-C213-4097-B4FA-1A62D0AF4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113678"/>
            <a:ext cx="9229141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Vermijden dat hacker alle mogelijkheden voor wachtwoord kan raden (= </a:t>
            </a:r>
            <a:r>
              <a:rPr lang="nl-BE" sz="2400" b="1" dirty="0">
                <a:solidFill>
                  <a:schemeClr val="accent6"/>
                </a:solidFill>
              </a:rPr>
              <a:t>brute force-attack</a:t>
            </a:r>
            <a:r>
              <a:rPr lang="nl-BE" sz="24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b="1" dirty="0"/>
              <a:t>Oplossing: </a:t>
            </a:r>
            <a:r>
              <a:rPr lang="nl-BE" sz="2400" dirty="0"/>
              <a:t>na x-aantal foutieve pogingen wordt account voor bepaalde tijd geblokkeerd (= </a:t>
            </a:r>
            <a:r>
              <a:rPr lang="nl-BE" sz="2400" b="1" dirty="0">
                <a:solidFill>
                  <a:schemeClr val="accent6"/>
                </a:solidFill>
              </a:rPr>
              <a:t>Lock-out</a:t>
            </a:r>
            <a:r>
              <a:rPr lang="nl-BE" sz="24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Vereist wijziging in logica van login-pagina (</a:t>
            </a:r>
            <a:r>
              <a:rPr lang="nl-BE" sz="2400" i="1" dirty="0"/>
              <a:t>Account/Login</a:t>
            </a:r>
            <a:r>
              <a:rPr lang="nl-BE" sz="2400" dirty="0"/>
              <a:t>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DB2C43-20B2-49C9-B9E7-D8448AE5F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DD77B-8F38-4425-ADA0-754875AF1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49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AEC8B4C-37BC-4806-B319-A2A8BD3B20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89638D-9E5A-4F86-949A-075E7F2D5B2F}"/>
              </a:ext>
            </a:extLst>
          </p:cNvPr>
          <p:cNvSpPr txBox="1"/>
          <p:nvPr/>
        </p:nvSpPr>
        <p:spPr>
          <a:xfrm>
            <a:off x="534291" y="3867278"/>
            <a:ext cx="10654819" cy="212365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async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Task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OnPostAsync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returnUrl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returnUrl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returnUrl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??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Url.</a:t>
            </a:r>
            <a:r>
              <a:rPr lang="nl-BE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Content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dirty="0">
                <a:solidFill>
                  <a:srgbClr val="A31515"/>
                </a:solidFill>
                <a:latin typeface="Consolas" panose="020B0609020204030204" pitchFamily="49" charset="0"/>
              </a:rPr>
              <a:t>"~/"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ModelState.IsValid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>
                <a:solidFill>
                  <a:srgbClr val="008000"/>
                </a:solidFill>
                <a:latin typeface="Consolas" panose="020B0609020204030204" pitchFamily="49" charset="0"/>
              </a:rPr>
              <a:t>// This doesn't count login failures towards account lockout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>
                <a:solidFill>
                  <a:srgbClr val="008000"/>
                </a:solidFill>
                <a:latin typeface="Consolas" panose="020B0609020204030204" pitchFamily="49" charset="0"/>
              </a:rPr>
              <a:t>// To enable password failures to trigger account lockout, set </a:t>
            </a:r>
            <a:r>
              <a:rPr lang="en-US" sz="1100" dirty="0" err="1">
                <a:solidFill>
                  <a:srgbClr val="008000"/>
                </a:solidFill>
                <a:latin typeface="Consolas" panose="020B0609020204030204" pitchFamily="49" charset="0"/>
              </a:rPr>
              <a:t>lockoutOnFailure</a:t>
            </a:r>
            <a:r>
              <a:rPr lang="en-US" sz="1100" dirty="0">
                <a:solidFill>
                  <a:srgbClr val="008000"/>
                </a:solidFill>
                <a:latin typeface="Consolas" panose="020B0609020204030204" pitchFamily="49" charset="0"/>
              </a:rPr>
              <a:t>: true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result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await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signInManager.</a:t>
            </a:r>
            <a:r>
              <a:rPr lang="nl-BE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PasswordSignInAsync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Input.Email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Input.Password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Input.RememberMe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sz="11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lockoutOnFailure</a:t>
            </a:r>
            <a:r>
              <a:rPr lang="nl-BE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: </a:t>
            </a:r>
            <a:r>
              <a:rPr lang="nl-BE" sz="1100" b="1" dirty="0" err="1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result.Succeeded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100" dirty="0">
                <a:solidFill>
                  <a:srgbClr val="008000"/>
                </a:solidFill>
                <a:latin typeface="Consolas" panose="020B0609020204030204" pitchFamily="49" charset="0"/>
              </a:rPr>
              <a:t>// ...</a:t>
            </a:r>
          </a:p>
          <a:p>
            <a:r>
              <a:rPr lang="en-US" sz="1100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endParaRPr lang="nl-BE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8F65F5-5A55-4ADD-BA98-E42D1D641435}"/>
              </a:ext>
            </a:extLst>
          </p:cNvPr>
          <p:cNvSpPr txBox="1"/>
          <p:nvPr/>
        </p:nvSpPr>
        <p:spPr>
          <a:xfrm>
            <a:off x="534291" y="3478862"/>
            <a:ext cx="28711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u="sng" dirty="0"/>
              <a:t>Account/</a:t>
            </a:r>
            <a:r>
              <a:rPr lang="nl-BE" sz="1600" b="1" u="sng" dirty="0" err="1"/>
              <a:t>Login.cshtml</a:t>
            </a:r>
            <a:r>
              <a:rPr lang="nl-BE" sz="1600" b="1" u="sng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5036919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DEF11-21E5-492B-A7EB-A5B906B8F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Lock-out configureren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F6374-FF8A-4C14-BCE6-EF43138FE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1733110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Opties voor lock-out kunnen geconfigureerd worden in </a:t>
            </a:r>
            <a:r>
              <a:rPr lang="nl-BE" sz="2400" b="1" i="1" dirty="0" err="1"/>
              <a:t>Program.cs</a:t>
            </a:r>
            <a:endParaRPr lang="nl-BE" sz="2400" b="1" i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B4BF9E-0C96-4F6B-91FF-F2ED38487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710512-F599-4756-B152-75EC7895A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50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D1B3794-F6C0-4DA8-A9AD-32B2D839E0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B69091-02EE-43CC-B9EE-6BB009A6BF83}"/>
              </a:ext>
            </a:extLst>
          </p:cNvPr>
          <p:cNvSpPr txBox="1"/>
          <p:nvPr/>
        </p:nvSpPr>
        <p:spPr>
          <a:xfrm>
            <a:off x="861246" y="3221865"/>
            <a:ext cx="8816028" cy="181588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</a:t>
            </a:r>
            <a:r>
              <a:rPr lang="nl-BE" sz="1400" dirty="0" err="1">
                <a:solidFill>
                  <a:srgbClr val="74561F"/>
                </a:solidFill>
                <a:latin typeface="Cascadia Mono" panose="020B0609020000020004" pitchFamily="49" charset="0"/>
              </a:rPr>
              <a:t>AddDefaultIdentity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nl-BE" sz="14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IdentityUser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&gt;(options =&gt; {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options.SignIn.RequireConfirmedAccount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nl-BE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nl-BE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// Default </a:t>
            </a:r>
            <a:r>
              <a:rPr lang="nl-BE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Lockout</a:t>
            </a:r>
            <a:r>
              <a:rPr lang="nl-BE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settings</a:t>
            </a:r>
            <a:r>
              <a:rPr lang="nl-BE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.</a:t>
            </a:r>
            <a:endParaRPr lang="nl-BE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options.Lockout.DefaultLockoutTimeSpan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nl-BE" sz="14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TimeSpan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</a:t>
            </a:r>
            <a:r>
              <a:rPr lang="nl-BE" sz="1400" dirty="0" err="1">
                <a:solidFill>
                  <a:srgbClr val="74561F"/>
                </a:solidFill>
                <a:latin typeface="Cascadia Mono" panose="020B0609020000020004" pitchFamily="49" charset="0"/>
              </a:rPr>
              <a:t>FromMinutes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(5);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options.Lockout.MaxFailedAccessAttempts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5;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options.Lockout.AllowedForNewUsers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nl-BE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}).</a:t>
            </a:r>
            <a:r>
              <a:rPr lang="nl-BE" sz="1400" dirty="0" err="1">
                <a:solidFill>
                  <a:srgbClr val="74561F"/>
                </a:solidFill>
                <a:latin typeface="Cascadia Mono" panose="020B0609020000020004" pitchFamily="49" charset="0"/>
              </a:rPr>
              <a:t>AddEntityFrameworkStores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nl-BE" sz="14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ApplicationDbContext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  <a:endParaRPr lang="nl-BE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3B4845-3B93-41B7-8D6F-9969E6A4CF2C}"/>
              </a:ext>
            </a:extLst>
          </p:cNvPr>
          <p:cNvSpPr txBox="1"/>
          <p:nvPr/>
        </p:nvSpPr>
        <p:spPr>
          <a:xfrm>
            <a:off x="861246" y="2790161"/>
            <a:ext cx="24875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u="sng" dirty="0" err="1"/>
              <a:t>Program.cs</a:t>
            </a:r>
            <a:r>
              <a:rPr lang="nl-BE" sz="1600" b="1" u="sng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0593794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0D323-BC98-4931-B417-E26AFFD25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User gebruiken in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283EF-D193-498B-8C64-A07259AC2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655927"/>
            <a:ext cx="9281274" cy="55233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In Controller ID van gebruiker opvragen: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7F5137-0BCB-4CAF-9506-CA5A18C65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43E12-D198-4182-9209-504206901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51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713813-808D-46D5-A8A7-15C91472CD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D05215-F26D-4CD8-8C72-C9DE5EE052C5}"/>
              </a:ext>
            </a:extLst>
          </p:cNvPr>
          <p:cNvSpPr txBox="1"/>
          <p:nvPr/>
        </p:nvSpPr>
        <p:spPr>
          <a:xfrm>
            <a:off x="1008730" y="2568188"/>
            <a:ext cx="6676102" cy="286232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HomeController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nl-BE" sz="1200" dirty="0">
                <a:solidFill>
                  <a:srgbClr val="4F8291"/>
                </a:solidFill>
                <a:latin typeface="Consolas" panose="020B0609020204030204" pitchFamily="49" charset="0"/>
              </a:rPr>
              <a:t>Controller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readonly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4F8291"/>
                </a:solidFill>
                <a:latin typeface="Consolas" panose="020B0609020204030204" pitchFamily="49" charset="0"/>
              </a:rPr>
              <a:t>UserManager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200" b="1" dirty="0" err="1">
                <a:solidFill>
                  <a:srgbClr val="4F8291"/>
                </a:solidFill>
                <a:latin typeface="Consolas" panose="020B0609020204030204" pitchFamily="49" charset="0"/>
              </a:rPr>
              <a:t>CustomUser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&gt; _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userManager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HomeController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b="1" dirty="0" err="1">
                <a:solidFill>
                  <a:srgbClr val="4F8291"/>
                </a:solidFill>
                <a:latin typeface="Consolas" panose="020B0609020204030204" pitchFamily="49" charset="0"/>
              </a:rPr>
              <a:t>UserManager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200" b="1" dirty="0" err="1">
                <a:solidFill>
                  <a:srgbClr val="4F8291"/>
                </a:solidFill>
                <a:latin typeface="Consolas" panose="020B0609020204030204" pitchFamily="49" charset="0"/>
              </a:rPr>
              <a:t>CustomUser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userManager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_</a:t>
            </a:r>
            <a:r>
              <a:rPr lang="nl-BE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userManager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userManager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async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Task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sz="1200" b="1" dirty="0" err="1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IActionResult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&gt;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Index() 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HttpContext.User.Identity.IsAuthenticated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             </a:t>
            </a:r>
            <a:r>
              <a:rPr lang="nl-BE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nl-BE" sz="12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userId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= _</a:t>
            </a:r>
            <a:r>
              <a:rPr lang="nl-BE" sz="12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userManager.</a:t>
            </a:r>
            <a:r>
              <a:rPr lang="nl-BE" sz="1200" b="1" dirty="0" err="1">
                <a:solidFill>
                  <a:srgbClr val="74561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GetUserId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(User);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74561F"/>
                </a:solidFill>
                <a:latin typeface="Consolas" panose="020B0609020204030204" pitchFamily="49" charset="0"/>
              </a:rPr>
              <a:t>View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nl-BE" sz="1000" dirty="0"/>
          </a:p>
        </p:txBody>
      </p:sp>
    </p:spTree>
    <p:extLst>
      <p:ext uri="{BB962C8B-B14F-4D97-AF65-F5344CB8AC3E}">
        <p14:creationId xmlns:p14="http://schemas.microsoft.com/office/powerpoint/2010/main" val="19717293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0D323-BC98-4931-B417-E26AFFD25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User gebruiken in Controller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7F5137-0BCB-4CAF-9506-CA5A18C65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43E12-D198-4182-9209-504206901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52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713813-808D-46D5-A8A7-15C91472CD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57A072-1641-473C-9F72-6A3485716610}"/>
              </a:ext>
            </a:extLst>
          </p:cNvPr>
          <p:cNvSpPr txBox="1"/>
          <p:nvPr/>
        </p:nvSpPr>
        <p:spPr>
          <a:xfrm>
            <a:off x="534291" y="1632983"/>
            <a:ext cx="10006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400" dirty="0"/>
              <a:t>Gebruik </a:t>
            </a:r>
            <a:r>
              <a:rPr lang="nl-BE" sz="2000" dirty="0" err="1">
                <a:latin typeface="Consolas" panose="020B0609020204030204" pitchFamily="49" charset="0"/>
              </a:rPr>
              <a:t>UserManager</a:t>
            </a:r>
            <a:r>
              <a:rPr lang="nl-BE" sz="2000" dirty="0">
                <a:latin typeface="Consolas" panose="020B0609020204030204" pitchFamily="49" charset="0"/>
              </a:rPr>
              <a:t>&lt;&gt;</a:t>
            </a:r>
            <a:r>
              <a:rPr lang="nl-BE" sz="2400" dirty="0"/>
              <a:t> om gegevens van gebruiker op te vragen/te wijzigen: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C63EC0-4ACF-48C9-B9D0-964C4879A432}"/>
              </a:ext>
            </a:extLst>
          </p:cNvPr>
          <p:cNvSpPr txBox="1"/>
          <p:nvPr/>
        </p:nvSpPr>
        <p:spPr>
          <a:xfrm>
            <a:off x="786877" y="2893298"/>
            <a:ext cx="6676102" cy="263149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2B91AF"/>
                </a:solidFill>
                <a:latin typeface="Consolas" panose="020B0609020204030204" pitchFamily="49" charset="0"/>
              </a:rPr>
              <a:t>HomeController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nl-BE" sz="1100" dirty="0">
                <a:solidFill>
                  <a:srgbClr val="4F8291"/>
                </a:solidFill>
                <a:latin typeface="Consolas" panose="020B0609020204030204" pitchFamily="49" charset="0"/>
              </a:rPr>
              <a:t>Controller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readonly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b="1" dirty="0" err="1">
                <a:solidFill>
                  <a:srgbClr val="4F8291"/>
                </a:solidFill>
                <a:latin typeface="Consolas" panose="020B0609020204030204" pitchFamily="49" charset="0"/>
              </a:rPr>
              <a:t>UserManager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100" b="1" dirty="0" err="1">
                <a:solidFill>
                  <a:srgbClr val="4F8291"/>
                </a:solidFill>
                <a:latin typeface="Consolas" panose="020B0609020204030204" pitchFamily="49" charset="0"/>
              </a:rPr>
              <a:t>CustomUser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&gt; _</a:t>
            </a:r>
            <a:r>
              <a:rPr lang="en-US" sz="11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userManager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HomeController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b="1" dirty="0" err="1">
                <a:solidFill>
                  <a:srgbClr val="4F8291"/>
                </a:solidFill>
                <a:latin typeface="Consolas" panose="020B0609020204030204" pitchFamily="49" charset="0"/>
              </a:rPr>
              <a:t>UserManager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100" b="1" dirty="0" err="1">
                <a:solidFill>
                  <a:srgbClr val="4F8291"/>
                </a:solidFill>
                <a:latin typeface="Consolas" panose="020B0609020204030204" pitchFamily="49" charset="0"/>
              </a:rPr>
              <a:t>CustomUser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11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userManager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_</a:t>
            </a:r>
            <a:r>
              <a:rPr lang="nl-BE" sz="11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userManager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1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userManager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async</a:t>
            </a:r>
            <a:r>
              <a:rPr lang="en-US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Task</a:t>
            </a:r>
            <a:r>
              <a:rPr lang="en-US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sz="1100" b="1" dirty="0" err="1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IActionResult</a:t>
            </a:r>
            <a:r>
              <a:rPr lang="en-US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&gt; 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Index() 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HttpContext.User.Identity.IsAuthenticated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nl-BE" sz="1100" b="1" dirty="0" err="1">
                <a:solidFill>
                  <a:srgbClr val="4F8291"/>
                </a:solidFill>
                <a:latin typeface="Consolas" panose="020B0609020204030204" pitchFamily="49" charset="0"/>
              </a:rPr>
              <a:t>CustomUser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user = </a:t>
            </a:r>
            <a:r>
              <a:rPr lang="nl-BE" sz="1100" b="1" dirty="0" err="1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await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nl-BE" sz="11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userManager.</a:t>
            </a:r>
            <a:r>
              <a:rPr lang="nl-BE" sz="1100" b="1" dirty="0" err="1">
                <a:solidFill>
                  <a:srgbClr val="74561F"/>
                </a:solidFill>
                <a:latin typeface="Consolas" panose="020B0609020204030204" pitchFamily="49" charset="0"/>
              </a:rPr>
              <a:t>GetUserAsync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HttpContext.User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74561F"/>
                </a:solidFill>
                <a:latin typeface="Consolas" panose="020B0609020204030204" pitchFamily="49" charset="0"/>
              </a:rPr>
              <a:t>View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nl-BE" sz="9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ED9D16-3005-4522-BA8D-AB511D79A54B}"/>
              </a:ext>
            </a:extLst>
          </p:cNvPr>
          <p:cNvSpPr txBox="1"/>
          <p:nvPr/>
        </p:nvSpPr>
        <p:spPr>
          <a:xfrm>
            <a:off x="7636317" y="2893298"/>
            <a:ext cx="4253089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BE" dirty="0"/>
              <a:t>Voorzie </a:t>
            </a:r>
            <a:r>
              <a:rPr lang="nl-BE" dirty="0" err="1"/>
              <a:t>constructor</a:t>
            </a:r>
            <a:r>
              <a:rPr lang="nl-BE" dirty="0"/>
              <a:t> van parameter van type </a:t>
            </a:r>
            <a:r>
              <a:rPr lang="nl-BE" sz="1600" dirty="0" err="1">
                <a:latin typeface="Consolas" panose="020B0609020204030204" pitchFamily="49" charset="0"/>
              </a:rPr>
              <a:t>UserManager</a:t>
            </a:r>
            <a:r>
              <a:rPr lang="nl-BE" sz="1600" dirty="0">
                <a:latin typeface="Consolas" panose="020B0609020204030204" pitchFamily="49" charset="0"/>
              </a:rPr>
              <a:t>&lt;&gt;</a:t>
            </a:r>
            <a:endParaRPr lang="nl-BE" dirty="0">
              <a:latin typeface="Consolas" panose="020B0609020204030204" pitchFamily="49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BE" dirty="0"/>
              <a:t>Deze wordt door </a:t>
            </a:r>
            <a:r>
              <a:rPr lang="nl-BE" dirty="0" err="1"/>
              <a:t>framework</a:t>
            </a:r>
            <a:r>
              <a:rPr lang="nl-BE" dirty="0"/>
              <a:t> automatisch geïnstantieerd bij aanmaken van controller </a:t>
            </a:r>
            <a:r>
              <a:rPr lang="nl-BE" b="1" i="1" dirty="0"/>
              <a:t>(= </a:t>
            </a:r>
            <a:r>
              <a:rPr lang="nl-BE" b="1" i="1" dirty="0" err="1"/>
              <a:t>Dependency</a:t>
            </a:r>
            <a:r>
              <a:rPr lang="nl-BE" b="1" i="1" dirty="0"/>
              <a:t> </a:t>
            </a:r>
            <a:r>
              <a:rPr lang="nl-BE" b="1" i="1" dirty="0" err="1"/>
              <a:t>Injection</a:t>
            </a:r>
            <a:r>
              <a:rPr lang="nl-BE" b="1" i="1" dirty="0"/>
              <a:t>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BE" b="1" i="1" dirty="0"/>
              <a:t>Let op: </a:t>
            </a:r>
            <a:r>
              <a:rPr lang="nl-BE" b="1" i="1" dirty="0" err="1"/>
              <a:t>async</a:t>
            </a:r>
            <a:r>
              <a:rPr lang="nl-BE" b="1" i="1" dirty="0"/>
              <a:t>, </a:t>
            </a:r>
            <a:r>
              <a:rPr lang="nl-BE" b="1" i="1" dirty="0" err="1"/>
              <a:t>Task</a:t>
            </a:r>
            <a:r>
              <a:rPr lang="nl-BE" b="1" i="1" dirty="0"/>
              <a:t> en </a:t>
            </a:r>
            <a:r>
              <a:rPr lang="nl-BE" b="1" i="1" dirty="0" err="1"/>
              <a:t>await</a:t>
            </a:r>
            <a:r>
              <a:rPr lang="nl-BE" b="1" i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839451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E9EE7-E04F-4E91-9F60-8AC597AC5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UserManager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ACFE8-D2F9-4171-AC69-8656215EA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019" y="1611348"/>
            <a:ext cx="10422328" cy="363530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Instantie van </a:t>
            </a:r>
            <a:r>
              <a:rPr lang="nl-BE" sz="2400" b="1" dirty="0" err="1">
                <a:solidFill>
                  <a:schemeClr val="accent6"/>
                </a:solidFill>
              </a:rPr>
              <a:t>UserManager</a:t>
            </a:r>
            <a:r>
              <a:rPr lang="nl-BE" sz="2400" dirty="0"/>
              <a:t>-klasse wordt automatisch aangemaakt en “geïnjecteerd” in Controller-klasse (= </a:t>
            </a:r>
            <a:r>
              <a:rPr lang="nl-BE" sz="2400" b="1" dirty="0" err="1">
                <a:solidFill>
                  <a:schemeClr val="accent6"/>
                </a:solidFill>
              </a:rPr>
              <a:t>Dependency</a:t>
            </a:r>
            <a:r>
              <a:rPr lang="nl-BE" sz="2400" b="1" dirty="0">
                <a:solidFill>
                  <a:schemeClr val="accent6"/>
                </a:solidFill>
              </a:rPr>
              <a:t> </a:t>
            </a:r>
            <a:r>
              <a:rPr lang="nl-BE" sz="2400" b="1" dirty="0" err="1">
                <a:solidFill>
                  <a:schemeClr val="accent6"/>
                </a:solidFill>
              </a:rPr>
              <a:t>Injection</a:t>
            </a:r>
            <a:r>
              <a:rPr lang="nl-BE" sz="24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b="1" dirty="0" err="1">
                <a:solidFill>
                  <a:schemeClr val="accent6"/>
                </a:solidFill>
              </a:rPr>
              <a:t>UserManager</a:t>
            </a:r>
            <a:r>
              <a:rPr lang="nl-BE" sz="2400" dirty="0"/>
              <a:t>-klasse bevat methodes voor opvragen/</a:t>
            </a:r>
            <a:r>
              <a:rPr lang="nl-BE" sz="2400" dirty="0" err="1"/>
              <a:t>editeren</a:t>
            </a:r>
            <a:r>
              <a:rPr lang="nl-BE" sz="2400" dirty="0"/>
              <a:t> van gebruikers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1800" dirty="0" err="1">
                <a:latin typeface="Consolas" panose="020B0609020204030204" pitchFamily="49" charset="0"/>
              </a:rPr>
              <a:t>AddClaimAsync</a:t>
            </a:r>
            <a:endParaRPr lang="nl-BE" sz="2000" dirty="0">
              <a:latin typeface="Consolas" panose="020B0609020204030204" pitchFamily="49" charset="0"/>
            </a:endParaRP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1800" dirty="0" err="1">
                <a:latin typeface="Consolas" panose="020B0609020204030204" pitchFamily="49" charset="0"/>
              </a:rPr>
              <a:t>ChangeEmailAsync</a:t>
            </a:r>
            <a:endParaRPr lang="nl-BE" sz="2000" dirty="0">
              <a:latin typeface="Consolas" panose="020B0609020204030204" pitchFamily="49" charset="0"/>
            </a:endParaRP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1800" dirty="0" err="1">
                <a:latin typeface="Consolas" panose="020B0609020204030204" pitchFamily="49" charset="0"/>
              </a:rPr>
              <a:t>ChangePasswordAsync</a:t>
            </a:r>
            <a:endParaRPr lang="nl-BE" sz="2000" dirty="0">
              <a:latin typeface="Consolas" panose="020B0609020204030204" pitchFamily="49" charset="0"/>
            </a:endParaRP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1800" dirty="0" err="1">
                <a:latin typeface="Consolas" panose="020B0609020204030204" pitchFamily="49" charset="0"/>
              </a:rPr>
              <a:t>CreateAsync</a:t>
            </a:r>
            <a:r>
              <a:rPr lang="nl-BE" sz="2000" dirty="0"/>
              <a:t> (nieuwe gebruiker bewaren)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1800" dirty="0" err="1">
                <a:latin typeface="Consolas" panose="020B0609020204030204" pitchFamily="49" charset="0"/>
              </a:rPr>
              <a:t>UpdateUserAsync</a:t>
            </a:r>
            <a:endParaRPr lang="nl-BE" sz="2000" dirty="0">
              <a:latin typeface="Consolas" panose="020B0609020204030204" pitchFamily="49" charset="0"/>
            </a:endParaRP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...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558F5C-D03C-4097-A540-38FEC338B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5A8CFE-FE35-4310-9462-5CEFA23AC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53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A22EF6-DE84-48B0-90B1-2C9569E076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68F9E3-628B-4E56-B343-D6CF207DB19A}"/>
              </a:ext>
            </a:extLst>
          </p:cNvPr>
          <p:cNvSpPr txBox="1"/>
          <p:nvPr/>
        </p:nvSpPr>
        <p:spPr>
          <a:xfrm>
            <a:off x="410178" y="5564153"/>
            <a:ext cx="11349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i="1" dirty="0"/>
              <a:t>Volledige lijst, zie</a:t>
            </a:r>
            <a:r>
              <a:rPr lang="nl-BE" sz="1600" i="1" dirty="0"/>
              <a:t>: </a:t>
            </a:r>
            <a:r>
              <a:rPr lang="nl-BE" sz="1600" i="1" dirty="0">
                <a:hlinkClick r:id="rId2"/>
              </a:rPr>
              <a:t>https://docs.microsoft.com/en-us/dotnet/api/microsoft.aspnetcore.identity.usermanager-1?view=aspnetcore-5.0</a:t>
            </a:r>
            <a:r>
              <a:rPr lang="nl-BE" sz="1600" i="1" dirty="0"/>
              <a:t> </a:t>
            </a:r>
            <a:endParaRPr lang="nl-BE" i="1" dirty="0"/>
          </a:p>
        </p:txBody>
      </p:sp>
    </p:spTree>
    <p:extLst>
      <p:ext uri="{BB962C8B-B14F-4D97-AF65-F5344CB8AC3E}">
        <p14:creationId xmlns:p14="http://schemas.microsoft.com/office/powerpoint/2010/main" val="27973975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26469-3A57-44B8-B1AB-7C75FE8D3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Autorisatie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D59D63-7AF0-4014-8E82-C84CA87598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7E4213-20F6-4583-A4F2-8316BE5C6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414CBB-ADCE-48F9-9186-1681FA614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54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E3732AE-24B5-439E-BBAE-6AE1D7317D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663122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662E6-0200-4A94-97A8-A1108A660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Authenticatie </a:t>
            </a:r>
            <a:r>
              <a:rPr lang="nl-BE" dirty="0" err="1"/>
              <a:t>vs</a:t>
            </a:r>
            <a:r>
              <a:rPr lang="nl-BE" dirty="0"/>
              <a:t> Autorisatie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352F5-3EC5-46D5-BEF2-D0BE8C39B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163" y="1860929"/>
            <a:ext cx="9281274" cy="419574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b="1" dirty="0">
                <a:solidFill>
                  <a:schemeClr val="accent6"/>
                </a:solidFill>
              </a:rPr>
              <a:t>Authenticatie</a:t>
            </a:r>
            <a:r>
              <a:rPr lang="nl-BE" dirty="0"/>
              <a:t> = nagaan </a:t>
            </a:r>
            <a:r>
              <a:rPr lang="nl-BE" b="1" dirty="0"/>
              <a:t>wie</a:t>
            </a:r>
            <a:r>
              <a:rPr lang="nl-BE" dirty="0"/>
              <a:t> </a:t>
            </a:r>
            <a:r>
              <a:rPr lang="nl-BE" dirty="0" err="1"/>
              <a:t>request</a:t>
            </a:r>
            <a:r>
              <a:rPr lang="nl-BE" dirty="0"/>
              <a:t> gedaan heeft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b="1" dirty="0">
                <a:solidFill>
                  <a:schemeClr val="accent6"/>
                </a:solidFill>
              </a:rPr>
              <a:t>Autorisatie</a:t>
            </a:r>
            <a:r>
              <a:rPr lang="nl-BE" dirty="0"/>
              <a:t> = nagaan of </a:t>
            </a:r>
            <a:r>
              <a:rPr lang="nl-BE" dirty="0" err="1"/>
              <a:t>request</a:t>
            </a:r>
            <a:r>
              <a:rPr lang="nl-BE" dirty="0"/>
              <a:t> </a:t>
            </a:r>
            <a:r>
              <a:rPr lang="nl-BE" b="1" dirty="0"/>
              <a:t>toegelaten</a:t>
            </a:r>
            <a:r>
              <a:rPr lang="nl-BE" dirty="0"/>
              <a:t> 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Voorbeeld autorisatie: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Context webshop:</a:t>
            </a:r>
          </a:p>
          <a:p>
            <a:pPr marL="1177200" lvl="2" indent="-457200">
              <a:buFont typeface="Arial" panose="020B0604020202020204" pitchFamily="34" charset="0"/>
              <a:buChar char="•"/>
            </a:pPr>
            <a:r>
              <a:rPr lang="nl-BE" sz="2000" b="1" dirty="0"/>
              <a:t>Administrator</a:t>
            </a:r>
            <a:r>
              <a:rPr lang="nl-BE" sz="2000" dirty="0"/>
              <a:t> mag producten beheren (toevoegen, verwijderen, </a:t>
            </a:r>
            <a:r>
              <a:rPr lang="nl-BE" sz="2000" dirty="0" err="1"/>
              <a:t>editeren</a:t>
            </a:r>
            <a:r>
              <a:rPr lang="nl-BE" sz="2000" dirty="0"/>
              <a:t>)</a:t>
            </a:r>
          </a:p>
          <a:p>
            <a:pPr marL="1177200" lvl="2" indent="-457200">
              <a:buFont typeface="Arial" panose="020B0604020202020204" pitchFamily="34" charset="0"/>
              <a:buChar char="•"/>
            </a:pPr>
            <a:r>
              <a:rPr lang="nl-BE" sz="2000" b="1" dirty="0"/>
              <a:t>Ingelogde (geauthentiseerde)  </a:t>
            </a:r>
            <a:r>
              <a:rPr lang="nl-BE" sz="2000" dirty="0"/>
              <a:t>gebruiker kan producten bestellen</a:t>
            </a:r>
          </a:p>
          <a:p>
            <a:pPr marL="1177200" lvl="2" indent="-457200">
              <a:buFont typeface="Arial" panose="020B0604020202020204" pitchFamily="34" charset="0"/>
              <a:buChar char="•"/>
            </a:pPr>
            <a:r>
              <a:rPr lang="nl-BE" sz="2000" b="1" dirty="0"/>
              <a:t>Alle</a:t>
            </a:r>
            <a:r>
              <a:rPr lang="nl-BE" sz="2000" dirty="0"/>
              <a:t> gebruikers kunnen producten bekijken en opzoeken</a:t>
            </a:r>
          </a:p>
          <a:p>
            <a:pPr marL="1177200" lvl="2" indent="-45720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7BEC54-865C-48AB-9885-8A1C0A75E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0C0126-6400-455C-B684-08B773A5E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55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2815267-C71C-481B-A6A1-BC3A966767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018188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D7AB3-6035-4E69-896A-7ABB41381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Restrictie: ingelogde gebruikers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20D0D-3436-4035-AE9B-9BAC185F4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998582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Aangeven dat action-</a:t>
            </a:r>
            <a:r>
              <a:rPr lang="nl-BE" sz="2400" dirty="0" err="1"/>
              <a:t>method</a:t>
            </a:r>
            <a:r>
              <a:rPr lang="nl-BE" sz="2400" dirty="0"/>
              <a:t> enkel mag uitgevoerd worden indien gebruiker geauthentiseerd is via </a:t>
            </a:r>
            <a:r>
              <a:rPr lang="nl-BE" sz="2000" dirty="0">
                <a:latin typeface="Consolas" panose="020B0609020204030204" pitchFamily="49" charset="0"/>
              </a:rPr>
              <a:t>[</a:t>
            </a:r>
            <a:r>
              <a:rPr lang="nl-BE" sz="2000" dirty="0" err="1">
                <a:latin typeface="Consolas" panose="020B0609020204030204" pitchFamily="49" charset="0"/>
              </a:rPr>
              <a:t>Authorize</a:t>
            </a:r>
            <a:r>
              <a:rPr lang="nl-BE" sz="2000" dirty="0">
                <a:latin typeface="Consolas" panose="020B0609020204030204" pitchFamily="49" charset="0"/>
              </a:rPr>
              <a:t>]</a:t>
            </a:r>
            <a:r>
              <a:rPr lang="nl-BE" sz="2400" dirty="0"/>
              <a:t>-attribuut: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41C98-5B06-4E16-89DB-2FFFB725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863BB6-E572-4EA8-B9B7-A0DFCED03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56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2EC0F5-790A-4007-A76D-4E0E679FD5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20D844-A197-4730-8C2C-44661CAA8358}"/>
              </a:ext>
            </a:extLst>
          </p:cNvPr>
          <p:cNvSpPr txBox="1"/>
          <p:nvPr/>
        </p:nvSpPr>
        <p:spPr>
          <a:xfrm>
            <a:off x="953730" y="3274143"/>
            <a:ext cx="5722374" cy="17543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OrderController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nl-BE" sz="1200" dirty="0">
                <a:solidFill>
                  <a:srgbClr val="4F8291"/>
                </a:solidFill>
                <a:latin typeface="Consolas" panose="020B0609020204030204" pitchFamily="49" charset="0"/>
              </a:rPr>
              <a:t>Controller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</a:p>
          <a:p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[</a:t>
            </a:r>
            <a:r>
              <a:rPr lang="nl-BE" sz="1200" b="1" dirty="0" err="1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Authorize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]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ShowOrders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200" dirty="0">
                <a:solidFill>
                  <a:srgbClr val="008000"/>
                </a:solidFill>
                <a:latin typeface="Consolas" panose="020B0609020204030204" pitchFamily="49" charset="0"/>
              </a:rPr>
              <a:t>//logica om bestellingen op te halen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200" dirty="0">
                <a:solidFill>
                  <a:srgbClr val="008000"/>
                </a:solidFill>
                <a:latin typeface="Consolas" panose="020B0609020204030204" pitchFamily="49" charset="0"/>
              </a:rPr>
              <a:t>//...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74561F"/>
                </a:solidFill>
                <a:latin typeface="Consolas" panose="020B0609020204030204" pitchFamily="49" charset="0"/>
              </a:rPr>
              <a:t>View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(orders);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1088B7-4EAB-4EC0-B74E-3EB1E1068A45}"/>
              </a:ext>
            </a:extLst>
          </p:cNvPr>
          <p:cNvSpPr txBox="1"/>
          <p:nvPr/>
        </p:nvSpPr>
        <p:spPr>
          <a:xfrm>
            <a:off x="6960780" y="3408939"/>
            <a:ext cx="4424516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BE" dirty="0"/>
              <a:t>Restrictie op niveau van Action-</a:t>
            </a:r>
            <a:r>
              <a:rPr lang="nl-BE" dirty="0" err="1"/>
              <a:t>method</a:t>
            </a:r>
            <a:endParaRPr lang="nl-BE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BE" dirty="0"/>
              <a:t>Indien niet-geauthentiseerde gebruiker action uitvoert, wordt deze </a:t>
            </a:r>
            <a:r>
              <a:rPr lang="nl-BE" dirty="0" err="1"/>
              <a:t>geredirect</a:t>
            </a:r>
            <a:r>
              <a:rPr lang="nl-BE" dirty="0"/>
              <a:t> naar de login-pagina</a:t>
            </a:r>
          </a:p>
        </p:txBody>
      </p:sp>
    </p:spTree>
    <p:extLst>
      <p:ext uri="{BB962C8B-B14F-4D97-AF65-F5344CB8AC3E}">
        <p14:creationId xmlns:p14="http://schemas.microsoft.com/office/powerpoint/2010/main" val="235270785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364A0-A7F8-4B28-B762-80CA0355A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Restrictie: ingelogde gebruikers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109F5-E35D-4126-B1D4-8A50E6C5F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644620"/>
            <a:ext cx="9281274" cy="85277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b="1" dirty="0"/>
              <a:t>Opgelet: </a:t>
            </a:r>
            <a:r>
              <a:rPr lang="nl-BE" sz="2400" dirty="0"/>
              <a:t>zowel GET-action als POST-actions afschermen met </a:t>
            </a:r>
            <a:r>
              <a:rPr lang="nl-BE" sz="2000" dirty="0">
                <a:latin typeface="Consolas" panose="020B0609020204030204" pitchFamily="49" charset="0"/>
              </a:rPr>
              <a:t>[</a:t>
            </a:r>
            <a:r>
              <a:rPr lang="nl-BE" sz="2000" dirty="0" err="1">
                <a:latin typeface="Consolas" panose="020B0609020204030204" pitchFamily="49" charset="0"/>
              </a:rPr>
              <a:t>Authorize</a:t>
            </a:r>
            <a:r>
              <a:rPr lang="nl-BE" sz="2000" dirty="0">
                <a:latin typeface="Consolas" panose="020B0609020204030204" pitchFamily="49" charset="0"/>
              </a:rPr>
              <a:t>]</a:t>
            </a:r>
            <a:r>
              <a:rPr lang="nl-BE" sz="2400" dirty="0"/>
              <a:t>-attribuut!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8C5976-D85E-4610-9D91-3C394515A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D35544-3BDF-42D2-A5CA-7BF697300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57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51C4888-5A56-4769-A387-47E34E42FF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312AA97-DB64-489B-B292-41D86CD118D1}"/>
              </a:ext>
            </a:extLst>
          </p:cNvPr>
          <p:cNvGrpSpPr/>
          <p:nvPr/>
        </p:nvGrpSpPr>
        <p:grpSpPr>
          <a:xfrm>
            <a:off x="1002890" y="2831692"/>
            <a:ext cx="6125497" cy="2677656"/>
            <a:chOff x="1002890" y="2349910"/>
            <a:chExt cx="6125497" cy="267765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2AA3EA8-4500-4103-9449-8B045D222CC2}"/>
                </a:ext>
              </a:extLst>
            </p:cNvPr>
            <p:cNvSpPr txBox="1"/>
            <p:nvPr/>
          </p:nvSpPr>
          <p:spPr>
            <a:xfrm>
              <a:off x="1002890" y="2349910"/>
              <a:ext cx="5879691" cy="2677656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nl-BE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public</a:t>
              </a:r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nl-BE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class</a:t>
              </a:r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nl-BE" sz="1200" dirty="0" err="1">
                  <a:solidFill>
                    <a:srgbClr val="2B91AF"/>
                  </a:solidFill>
                  <a:latin typeface="Consolas" panose="020B0609020204030204" pitchFamily="49" charset="0"/>
                </a:rPr>
                <a:t>ProductController</a:t>
              </a:r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: </a:t>
              </a:r>
              <a:r>
                <a:rPr lang="nl-BE" sz="1200" dirty="0">
                  <a:solidFill>
                    <a:srgbClr val="4F8291"/>
                  </a:solidFill>
                  <a:latin typeface="Consolas" panose="020B0609020204030204" pitchFamily="49" charset="0"/>
                </a:rPr>
                <a:t>Controller</a:t>
              </a:r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{</a:t>
              </a:r>
            </a:p>
            <a:p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 </a:t>
              </a:r>
              <a:r>
                <a:rPr lang="nl-BE" sz="1200" b="1" dirty="0">
                  <a:solidFill>
                    <a:srgbClr val="000000"/>
                  </a:solidFill>
                  <a:highlight>
                    <a:srgbClr val="FFFF00"/>
                  </a:highlight>
                  <a:latin typeface="Consolas" panose="020B0609020204030204" pitchFamily="49" charset="0"/>
                </a:rPr>
                <a:t>[</a:t>
              </a:r>
              <a:r>
                <a:rPr lang="nl-BE" sz="1200" b="1" dirty="0" err="1">
                  <a:solidFill>
                    <a:srgbClr val="4F8291"/>
                  </a:solidFill>
                  <a:highlight>
                    <a:srgbClr val="FFFF00"/>
                  </a:highlight>
                  <a:latin typeface="Consolas" panose="020B0609020204030204" pitchFamily="49" charset="0"/>
                </a:rPr>
                <a:t>Authorize</a:t>
              </a:r>
              <a:r>
                <a:rPr lang="nl-BE" sz="1200" b="1" dirty="0">
                  <a:solidFill>
                    <a:srgbClr val="000000"/>
                  </a:solidFill>
                  <a:highlight>
                    <a:srgbClr val="FFFF00"/>
                  </a:highlight>
                  <a:latin typeface="Consolas" panose="020B0609020204030204" pitchFamily="49" charset="0"/>
                </a:rPr>
                <a:t>]</a:t>
              </a:r>
            </a:p>
            <a:p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 </a:t>
              </a:r>
              <a:r>
                <a:rPr lang="nl-BE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public</a:t>
              </a:r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nl-BE" sz="1200" dirty="0" err="1">
                  <a:solidFill>
                    <a:srgbClr val="4F8291"/>
                  </a:solidFill>
                  <a:latin typeface="Consolas" panose="020B0609020204030204" pitchFamily="49" charset="0"/>
                </a:rPr>
                <a:t>IActionResult</a:t>
              </a:r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nl-BE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Create</a:t>
              </a:r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() {</a:t>
              </a:r>
            </a:p>
            <a:p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     </a:t>
              </a:r>
              <a:r>
                <a:rPr lang="nl-BE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return</a:t>
              </a:r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nl-BE" sz="1200" dirty="0">
                  <a:solidFill>
                    <a:srgbClr val="74561F"/>
                  </a:solidFill>
                  <a:latin typeface="Consolas" panose="020B0609020204030204" pitchFamily="49" charset="0"/>
                </a:rPr>
                <a:t>View</a:t>
              </a:r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();</a:t>
              </a:r>
            </a:p>
            <a:p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 }</a:t>
              </a:r>
            </a:p>
            <a:p>
              <a:endParaRPr lang="nl-BE" sz="12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 [</a:t>
              </a:r>
              <a:r>
                <a:rPr lang="nl-BE" sz="1200" dirty="0" err="1">
                  <a:solidFill>
                    <a:srgbClr val="4F8291"/>
                  </a:solidFill>
                  <a:latin typeface="Consolas" panose="020B0609020204030204" pitchFamily="49" charset="0"/>
                </a:rPr>
                <a:t>HttpPost</a:t>
              </a:r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]</a:t>
              </a:r>
            </a:p>
            <a:p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 [</a:t>
              </a:r>
              <a:r>
                <a:rPr lang="nl-BE" sz="1200" dirty="0" err="1">
                  <a:solidFill>
                    <a:srgbClr val="4F8291"/>
                  </a:solidFill>
                  <a:latin typeface="Consolas" panose="020B0609020204030204" pitchFamily="49" charset="0"/>
                </a:rPr>
                <a:t>ValidateAntiForgeryToken</a:t>
              </a:r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]</a:t>
              </a:r>
            </a:p>
            <a:p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 </a:t>
              </a:r>
              <a:r>
                <a:rPr lang="nl-BE" sz="1200" b="1" dirty="0">
                  <a:solidFill>
                    <a:srgbClr val="000000"/>
                  </a:solidFill>
                  <a:highlight>
                    <a:srgbClr val="FFFF00"/>
                  </a:highlight>
                  <a:latin typeface="Consolas" panose="020B0609020204030204" pitchFamily="49" charset="0"/>
                </a:rPr>
                <a:t>[</a:t>
              </a:r>
              <a:r>
                <a:rPr lang="nl-BE" sz="1200" b="1" dirty="0" err="1">
                  <a:solidFill>
                    <a:srgbClr val="4F8291"/>
                  </a:solidFill>
                  <a:highlight>
                    <a:srgbClr val="FFFF00"/>
                  </a:highlight>
                  <a:latin typeface="Consolas" panose="020B0609020204030204" pitchFamily="49" charset="0"/>
                </a:rPr>
                <a:t>Authorize</a:t>
              </a:r>
              <a:r>
                <a:rPr lang="nl-BE" sz="1200" b="1" dirty="0">
                  <a:solidFill>
                    <a:srgbClr val="000000"/>
                  </a:solidFill>
                  <a:highlight>
                    <a:srgbClr val="FFFF00"/>
                  </a:highlight>
                  <a:latin typeface="Consolas" panose="020B0609020204030204" pitchFamily="49" charset="0"/>
                </a:rPr>
                <a:t>]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 </a:t>
              </a:r>
              <a:r>
                <a:rPr lang="en-US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public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200" dirty="0" err="1">
                  <a:solidFill>
                    <a:srgbClr val="4F8291"/>
                  </a:solidFill>
                  <a:latin typeface="Consolas" panose="020B0609020204030204" pitchFamily="49" charset="0"/>
                </a:rPr>
                <a:t>IActionResult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Create(</a:t>
              </a:r>
              <a:r>
                <a:rPr lang="en-US" sz="1200" dirty="0">
                  <a:solidFill>
                    <a:srgbClr val="4F8291"/>
                  </a:solidFill>
                  <a:latin typeface="Consolas" panose="020B0609020204030204" pitchFamily="49" charset="0"/>
                </a:rPr>
                <a:t>Product</a:t>
              </a:r>
              <a:r>
                <a:rPr lang="en-US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product) </a:t>
              </a:r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{</a:t>
              </a:r>
            </a:p>
            <a:p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     </a:t>
              </a:r>
              <a:r>
                <a:rPr lang="nl-BE" sz="1200" dirty="0">
                  <a:solidFill>
                    <a:srgbClr val="008000"/>
                  </a:solidFill>
                  <a:latin typeface="Consolas" panose="020B0609020204030204" pitchFamily="49" charset="0"/>
                </a:rPr>
                <a:t>//...</a:t>
              </a:r>
              <a:endParaRPr lang="nl-BE" sz="12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     </a:t>
              </a:r>
              <a:r>
                <a:rPr lang="nl-BE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return</a:t>
              </a:r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nl-BE" sz="1200" dirty="0">
                  <a:solidFill>
                    <a:srgbClr val="74561F"/>
                  </a:solidFill>
                  <a:latin typeface="Consolas" panose="020B0609020204030204" pitchFamily="49" charset="0"/>
                </a:rPr>
                <a:t>View</a:t>
              </a:r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(product);</a:t>
              </a:r>
            </a:p>
            <a:p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 }</a:t>
              </a:r>
            </a:p>
            <a:p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  <a:endParaRPr lang="nl-BE" sz="1200" dirty="0"/>
            </a:p>
          </p:txBody>
        </p:sp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5BFEC88D-76DA-438E-867B-42019578B4EB}"/>
                </a:ext>
              </a:extLst>
            </p:cNvPr>
            <p:cNvSpPr/>
            <p:nvPr/>
          </p:nvSpPr>
          <p:spPr>
            <a:xfrm>
              <a:off x="4395019" y="2753032"/>
              <a:ext cx="137652" cy="499226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94D6299-F97A-4BC0-AF7C-18FE83324D4A}"/>
                </a:ext>
              </a:extLst>
            </p:cNvPr>
            <p:cNvSpPr txBox="1"/>
            <p:nvPr/>
          </p:nvSpPr>
          <p:spPr>
            <a:xfrm>
              <a:off x="4680155" y="2848756"/>
              <a:ext cx="8947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sz="1400" b="1" dirty="0"/>
                <a:t>HTTP GET</a:t>
              </a:r>
            </a:p>
          </p:txBody>
        </p:sp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4E4C6290-641E-440E-9298-B726C0307E3C}"/>
                </a:ext>
              </a:extLst>
            </p:cNvPr>
            <p:cNvSpPr/>
            <p:nvPr/>
          </p:nvSpPr>
          <p:spPr>
            <a:xfrm>
              <a:off x="5648632" y="4026309"/>
              <a:ext cx="137652" cy="720000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AC58C42-A631-42AA-80C5-86BA2A14B302}"/>
                </a:ext>
              </a:extLst>
            </p:cNvPr>
            <p:cNvSpPr txBox="1"/>
            <p:nvPr/>
          </p:nvSpPr>
          <p:spPr>
            <a:xfrm>
              <a:off x="5933768" y="4232420"/>
              <a:ext cx="11946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sz="1400" b="1" dirty="0"/>
                <a:t>HTTP POST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434249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477E7-4B8C-454B-A12F-566EA9411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Restrictie: ingelogde gebruikers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D2F8D-6964-41C1-BC40-9516EA46C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291" y="1123509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000" dirty="0">
                <a:latin typeface="Consolas" panose="020B0609020204030204" pitchFamily="49" charset="0"/>
              </a:rPr>
              <a:t>[</a:t>
            </a:r>
            <a:r>
              <a:rPr lang="nl-BE" sz="2000" dirty="0" err="1">
                <a:latin typeface="Consolas" panose="020B0609020204030204" pitchFamily="49" charset="0"/>
              </a:rPr>
              <a:t>Authorize</a:t>
            </a:r>
            <a:r>
              <a:rPr lang="nl-BE" sz="2000" dirty="0">
                <a:latin typeface="Consolas" panose="020B0609020204030204" pitchFamily="49" charset="0"/>
              </a:rPr>
              <a:t>]</a:t>
            </a:r>
            <a:r>
              <a:rPr lang="nl-BE" sz="2400" dirty="0"/>
              <a:t>-attribuut op Controller-niveau: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Van toepassing op alle Action-</a:t>
            </a:r>
            <a:r>
              <a:rPr lang="nl-BE" sz="2000" dirty="0" err="1"/>
              <a:t>methods</a:t>
            </a:r>
            <a:r>
              <a:rPr lang="nl-BE" sz="2000" dirty="0"/>
              <a:t> in controller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Afwijken d.m.v. </a:t>
            </a:r>
            <a:r>
              <a:rPr lang="nl-BE" sz="1800" dirty="0">
                <a:latin typeface="Consolas" panose="020B0609020204030204" pitchFamily="49" charset="0"/>
              </a:rPr>
              <a:t>[</a:t>
            </a:r>
            <a:r>
              <a:rPr lang="nl-BE" sz="1800" dirty="0" err="1">
                <a:latin typeface="Consolas" panose="020B0609020204030204" pitchFamily="49" charset="0"/>
              </a:rPr>
              <a:t>AllowAnonymous</a:t>
            </a:r>
            <a:r>
              <a:rPr lang="nl-BE" sz="1800" dirty="0">
                <a:latin typeface="Consolas" panose="020B0609020204030204" pitchFamily="49" charset="0"/>
              </a:rPr>
              <a:t>]</a:t>
            </a:r>
            <a:r>
              <a:rPr lang="nl-BE" sz="2000" dirty="0"/>
              <a:t>-attribuut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8C48E9-FC83-4B5D-8276-6E1E0C3AC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B16D6D-2330-4011-B745-5663FB110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58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E3C42A3-1723-44A5-806B-912186CDA5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C4560D-698F-4107-99BE-35A96A516252}"/>
              </a:ext>
            </a:extLst>
          </p:cNvPr>
          <p:cNvSpPr txBox="1"/>
          <p:nvPr/>
        </p:nvSpPr>
        <p:spPr>
          <a:xfrm>
            <a:off x="1120877" y="2511871"/>
            <a:ext cx="6017342" cy="360098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[</a:t>
            </a:r>
            <a:r>
              <a:rPr lang="nl-BE" sz="1200" b="1" dirty="0" err="1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Authorize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]</a:t>
            </a:r>
          </a:p>
          <a:p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ProductController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nl-BE" sz="1200" dirty="0">
                <a:solidFill>
                  <a:srgbClr val="4F8291"/>
                </a:solidFill>
                <a:latin typeface="Consolas" panose="020B0609020204030204" pitchFamily="49" charset="0"/>
              </a:rPr>
              <a:t>Controller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[</a:t>
            </a:r>
            <a:r>
              <a:rPr lang="nl-BE" sz="1200" b="1" dirty="0" err="1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AllowAnonymous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]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List()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View(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Create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200" dirty="0">
                <a:solidFill>
                  <a:srgbClr val="008000"/>
                </a:solidFill>
                <a:latin typeface="Consolas" panose="020B0609020204030204" pitchFamily="49" charset="0"/>
              </a:rPr>
              <a:t>//...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Edit(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id) 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200" dirty="0">
                <a:solidFill>
                  <a:srgbClr val="008000"/>
                </a:solidFill>
                <a:latin typeface="Consolas" panose="020B0609020204030204" pitchFamily="49" charset="0"/>
              </a:rPr>
              <a:t>//...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Delete(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id) 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200" dirty="0">
                <a:solidFill>
                  <a:srgbClr val="008000"/>
                </a:solidFill>
                <a:latin typeface="Consolas" panose="020B0609020204030204" pitchFamily="49" charset="0"/>
              </a:rPr>
              <a:t>//...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nl-BE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EE5F43-781B-4731-B086-D08D664FE6BE}"/>
              </a:ext>
            </a:extLst>
          </p:cNvPr>
          <p:cNvSpPr txBox="1"/>
          <p:nvPr/>
        </p:nvSpPr>
        <p:spPr>
          <a:xfrm>
            <a:off x="7354664" y="2511871"/>
            <a:ext cx="41590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b="1" dirty="0" err="1"/>
              <a:t>Create</a:t>
            </a:r>
            <a:r>
              <a:rPr lang="nl-BE" dirty="0"/>
              <a:t>, </a:t>
            </a:r>
            <a:r>
              <a:rPr lang="nl-BE" b="1" dirty="0" err="1"/>
              <a:t>Edit</a:t>
            </a:r>
            <a:r>
              <a:rPr lang="nl-BE" dirty="0"/>
              <a:t> en </a:t>
            </a:r>
            <a:r>
              <a:rPr lang="nl-BE" b="1" dirty="0"/>
              <a:t>Delete</a:t>
            </a:r>
            <a:r>
              <a:rPr lang="nl-BE" dirty="0"/>
              <a:t> action enkel toegankelijk voor geauthentiseerde gebruikers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b="1" dirty="0"/>
              <a:t>List-action</a:t>
            </a:r>
            <a:r>
              <a:rPr lang="nl-BE" dirty="0"/>
              <a:t> voor iedereen toegankelijk (</a:t>
            </a:r>
            <a:r>
              <a:rPr lang="nl-BE" dirty="0" err="1"/>
              <a:t>AllowAnonymous</a:t>
            </a:r>
            <a:r>
              <a:rPr lang="nl-BE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9667912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BFFE5-C8A8-4D7E-9805-7CBD457D1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Claim-</a:t>
            </a:r>
            <a:r>
              <a:rPr lang="nl-BE" dirty="0" err="1"/>
              <a:t>based</a:t>
            </a:r>
            <a:r>
              <a:rPr lang="nl-BE" dirty="0"/>
              <a:t> autorisatie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4278F-914A-4227-97B3-6372EFB7F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291" y="1690213"/>
            <a:ext cx="10515599" cy="387127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Vaak is autorisatie fijnmaziger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Voorbeeld: administrators kunnen producten beheren, andere gebruikers </a:t>
            </a:r>
            <a:br>
              <a:rPr lang="nl-BE" sz="2400" dirty="0"/>
            </a:br>
            <a:r>
              <a:rPr lang="nl-BE" sz="2400" dirty="0"/>
              <a:t>enkel bestellen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b="1" dirty="0"/>
              <a:t>Vroeger:</a:t>
            </a:r>
            <a:r>
              <a:rPr lang="nl-BE" dirty="0"/>
              <a:t> autorisatie op basis van </a:t>
            </a:r>
            <a:r>
              <a:rPr lang="nl-BE" b="1" dirty="0">
                <a:solidFill>
                  <a:schemeClr val="accent6"/>
                </a:solidFill>
              </a:rPr>
              <a:t>rollen</a:t>
            </a:r>
            <a:r>
              <a:rPr lang="nl-BE" dirty="0"/>
              <a:t> (bv.: “</a:t>
            </a:r>
            <a:r>
              <a:rPr lang="nl-BE" dirty="0" err="1"/>
              <a:t>admin</a:t>
            </a:r>
            <a:r>
              <a:rPr lang="nl-BE" dirty="0"/>
              <a:t>”, “user”, “HR”, ...)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b="1" dirty="0"/>
              <a:t>MAAR: </a:t>
            </a:r>
            <a:r>
              <a:rPr lang="nl-BE" sz="2400" dirty="0"/>
              <a:t>ook rollen zijn soms niet precies genoeg </a:t>
            </a:r>
            <a:br>
              <a:rPr lang="nl-BE" sz="2400" dirty="0"/>
            </a:br>
            <a:r>
              <a:rPr lang="nl-BE" sz="2400" dirty="0"/>
              <a:t>(bv.: niet elke </a:t>
            </a:r>
            <a:r>
              <a:rPr lang="nl-BE" sz="2400" dirty="0" err="1"/>
              <a:t>admin</a:t>
            </a:r>
            <a:r>
              <a:rPr lang="nl-BE" sz="2400" dirty="0"/>
              <a:t> mag accounts verwijderen)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b="1" dirty="0"/>
              <a:t>Oplossing: </a:t>
            </a:r>
            <a:r>
              <a:rPr lang="nl-BE" b="1" dirty="0">
                <a:solidFill>
                  <a:schemeClr val="accent6"/>
                </a:solidFill>
              </a:rPr>
              <a:t>Claim-</a:t>
            </a:r>
            <a:r>
              <a:rPr lang="nl-BE" b="1" dirty="0" err="1">
                <a:solidFill>
                  <a:schemeClr val="accent6"/>
                </a:solidFill>
              </a:rPr>
              <a:t>based</a:t>
            </a:r>
            <a:r>
              <a:rPr lang="nl-BE" b="1" dirty="0">
                <a:solidFill>
                  <a:schemeClr val="accent6"/>
                </a:solidFill>
              </a:rPr>
              <a:t> </a:t>
            </a:r>
            <a:r>
              <a:rPr lang="nl-BE" dirty="0"/>
              <a:t>autorisatie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6ED01E-ED8E-4DA3-93F0-A520C6B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141AB-ACA5-4ADF-BA94-8B105761F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59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C8899F9-E61A-4947-B95C-AF1673CA1B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9705262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A40F7-98B6-49CC-8C89-7F8B42AB7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Claim-</a:t>
            </a:r>
            <a:r>
              <a:rPr lang="nl-BE" dirty="0" err="1"/>
              <a:t>based</a:t>
            </a:r>
            <a:r>
              <a:rPr lang="nl-BE" dirty="0"/>
              <a:t> autorisatie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9E8F7-D137-44B1-82EC-6BA63D6F5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246" y="2008412"/>
            <a:ext cx="10050354" cy="355307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Claims zijn kleine stukjes </a:t>
            </a:r>
            <a:r>
              <a:rPr lang="nl-BE" b="1" dirty="0">
                <a:solidFill>
                  <a:schemeClr val="accent6"/>
                </a:solidFill>
              </a:rPr>
              <a:t>informatie</a:t>
            </a:r>
            <a:r>
              <a:rPr lang="nl-BE" dirty="0"/>
              <a:t> over gebruiker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“</a:t>
            </a:r>
            <a:r>
              <a:rPr lang="nl-BE" sz="2400" dirty="0" err="1"/>
              <a:t>property’s</a:t>
            </a:r>
            <a:r>
              <a:rPr lang="nl-BE" sz="2400" dirty="0"/>
              <a:t>” in de vorm van </a:t>
            </a:r>
            <a:r>
              <a:rPr lang="nl-BE" sz="2400" b="1" dirty="0" err="1">
                <a:solidFill>
                  <a:schemeClr val="accent6"/>
                </a:solidFill>
              </a:rPr>
              <a:t>key-value</a:t>
            </a:r>
            <a:r>
              <a:rPr lang="nl-BE" sz="2400" dirty="0"/>
              <a:t> paren (bv.: </a:t>
            </a:r>
            <a:r>
              <a:rPr lang="nl-BE" sz="2400" i="1" dirty="0" err="1"/>
              <a:t>BirthDate</a:t>
            </a:r>
            <a:r>
              <a:rPr lang="nl-BE" sz="2400" i="1" dirty="0"/>
              <a:t>=3/12/1995</a:t>
            </a:r>
            <a:r>
              <a:rPr lang="nl-BE" sz="24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Gebruik bij autorisatie:</a:t>
            </a:r>
          </a:p>
          <a:p>
            <a:pPr marL="815363" lvl="1" indent="-457200">
              <a:buFont typeface="+mj-lt"/>
              <a:buAutoNum type="arabicPeriod"/>
            </a:pPr>
            <a:r>
              <a:rPr lang="nl-BE" sz="2400" dirty="0"/>
              <a:t>Controle of gebruiker Claim van bepaald </a:t>
            </a:r>
            <a:r>
              <a:rPr lang="nl-BE" sz="2400" b="1" dirty="0">
                <a:solidFill>
                  <a:schemeClr val="accent6"/>
                </a:solidFill>
              </a:rPr>
              <a:t>type</a:t>
            </a:r>
            <a:r>
              <a:rPr lang="nl-BE" sz="2400" dirty="0"/>
              <a:t> (</a:t>
            </a:r>
            <a:r>
              <a:rPr lang="nl-BE" sz="2400" dirty="0" err="1"/>
              <a:t>key</a:t>
            </a:r>
            <a:r>
              <a:rPr lang="nl-BE" sz="2400" dirty="0"/>
              <a:t>) heeft</a:t>
            </a:r>
          </a:p>
          <a:p>
            <a:pPr marL="1177200" lvl="2" indent="-457200">
              <a:buFont typeface="Arial" panose="020B0604020202020204" pitchFamily="34" charset="0"/>
              <a:buChar char="•"/>
            </a:pPr>
            <a:r>
              <a:rPr lang="nl-BE" sz="2000" dirty="0"/>
              <a:t>Bv.: </a:t>
            </a:r>
            <a:r>
              <a:rPr lang="nl-BE" sz="2000" i="1" dirty="0" err="1"/>
              <a:t>IsAdmin</a:t>
            </a:r>
            <a:r>
              <a:rPr lang="nl-BE" sz="2000" i="1" dirty="0"/>
              <a:t>, </a:t>
            </a:r>
            <a:r>
              <a:rPr lang="nl-BE" sz="2000" i="1" dirty="0" err="1"/>
              <a:t>EmployeeNumber</a:t>
            </a:r>
            <a:r>
              <a:rPr lang="nl-BE" sz="2000" i="1" dirty="0"/>
              <a:t>, </a:t>
            </a:r>
            <a:r>
              <a:rPr lang="nl-BE" sz="2000" i="1" dirty="0" err="1"/>
              <a:t>CanCreateProduct</a:t>
            </a:r>
            <a:r>
              <a:rPr lang="nl-BE" sz="2000" i="1" dirty="0"/>
              <a:t>, ...</a:t>
            </a:r>
          </a:p>
          <a:p>
            <a:pPr marL="815363" lvl="1" indent="-457200">
              <a:buFont typeface="+mj-lt"/>
              <a:buAutoNum type="arabicPeriod"/>
            </a:pPr>
            <a:r>
              <a:rPr lang="nl-BE" sz="2400" dirty="0"/>
              <a:t>Controle op </a:t>
            </a:r>
            <a:r>
              <a:rPr lang="nl-BE" sz="2400" b="1" dirty="0">
                <a:solidFill>
                  <a:schemeClr val="accent6"/>
                </a:solidFill>
              </a:rPr>
              <a:t>waarde</a:t>
            </a:r>
            <a:r>
              <a:rPr lang="nl-BE" sz="2400" dirty="0"/>
              <a:t> van Claim</a:t>
            </a:r>
          </a:p>
          <a:p>
            <a:pPr marL="1177200" lvl="2" indent="-457200">
              <a:buFont typeface="Arial" panose="020B0604020202020204" pitchFamily="34" charset="0"/>
              <a:buChar char="•"/>
            </a:pPr>
            <a:r>
              <a:rPr lang="nl-BE" sz="2000" dirty="0"/>
              <a:t>Bv.: </a:t>
            </a:r>
            <a:r>
              <a:rPr lang="nl-BE" sz="2000" i="1" dirty="0" err="1"/>
              <a:t>FrequentFlyerClass</a:t>
            </a:r>
            <a:r>
              <a:rPr lang="nl-BE" sz="2000" dirty="0"/>
              <a:t> moet waarde </a:t>
            </a:r>
            <a:r>
              <a:rPr lang="nl-BE" sz="2000" i="1" dirty="0"/>
              <a:t>“Gold” </a:t>
            </a:r>
            <a:r>
              <a:rPr lang="nl-BE" sz="2000" dirty="0"/>
              <a:t>hebben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B55233-D33E-46E5-8921-504318F90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3CE12-8F82-462E-8919-04759706E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60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C57B4FA-1A5C-43E4-835A-B78362C178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8586437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EAB2F-BF83-4D7A-A757-A0BDFC630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Claim toekennen aan gebruiker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E1E45-D563-4604-8688-A77774AEC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465" y="1807278"/>
            <a:ext cx="3716593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000" dirty="0"/>
              <a:t>Claims toekennen aan gebruiker op twee manieren:</a:t>
            </a:r>
          </a:p>
          <a:p>
            <a:pPr marL="815363" lvl="1" indent="-457200">
              <a:buFont typeface="+mj-lt"/>
              <a:buAutoNum type="arabicPeriod"/>
            </a:pPr>
            <a:r>
              <a:rPr lang="nl-BE" sz="1800" dirty="0"/>
              <a:t>Rechtstreeks via database (cache </a:t>
            </a:r>
            <a:r>
              <a:rPr lang="nl-BE" sz="1800" dirty="0">
                <a:sym typeface="Wingdings" panose="05000000000000000000" pitchFamily="2" charset="2"/>
              </a:rPr>
              <a:t> </a:t>
            </a:r>
            <a:r>
              <a:rPr lang="nl-BE" sz="1800" dirty="0"/>
              <a:t>opnieuw inloggen!)</a:t>
            </a:r>
          </a:p>
          <a:p>
            <a:pPr marL="815363" lvl="1" indent="-457200">
              <a:buFont typeface="+mj-lt"/>
              <a:buAutoNum type="arabicPeriod"/>
            </a:pPr>
            <a:r>
              <a:rPr lang="nl-BE" sz="1800" dirty="0"/>
              <a:t>Toevoegen via code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F04A9D-A1AE-489B-821C-C19B63984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7F8D66-5FA6-4691-B3B7-FFA84CDBF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61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985B9D-8257-42B8-8836-F4FEEBDCA2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426E74-C190-4192-9C38-BF3776FE4C0A}"/>
              </a:ext>
            </a:extLst>
          </p:cNvPr>
          <p:cNvSpPr txBox="1"/>
          <p:nvPr/>
        </p:nvSpPr>
        <p:spPr>
          <a:xfrm>
            <a:off x="4124928" y="1120136"/>
            <a:ext cx="7742607" cy="550920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2B91AF"/>
                </a:solidFill>
                <a:latin typeface="Consolas" panose="020B0609020204030204" pitchFamily="49" charset="0"/>
              </a:rPr>
              <a:t>AccountController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nl-BE" sz="1100" dirty="0">
                <a:solidFill>
                  <a:srgbClr val="4F8291"/>
                </a:solidFill>
                <a:latin typeface="Consolas" panose="020B0609020204030204" pitchFamily="49" charset="0"/>
              </a:rPr>
              <a:t>Controller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readonly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UserManager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IdentityUser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&gt; _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userManager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2B91AF"/>
                </a:solidFill>
                <a:latin typeface="Consolas" panose="020B0609020204030204" pitchFamily="49" charset="0"/>
              </a:rPr>
              <a:t>AccountController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UserManager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IdentityUser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userManager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_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userManager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userManager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[</a:t>
            </a:r>
            <a:r>
              <a:rPr lang="nl-BE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HttpPost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[</a:t>
            </a:r>
            <a:r>
              <a:rPr lang="nl-BE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ValidateAntiForgeryToken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async</a:t>
            </a:r>
            <a:r>
              <a:rPr lang="en-US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Task</a:t>
            </a:r>
            <a:r>
              <a:rPr lang="en-US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sz="1100" b="1" dirty="0" err="1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IActionResult</a:t>
            </a:r>
            <a:r>
              <a:rPr lang="en-US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AddClaim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userId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claimType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claimValue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user = </a:t>
            </a:r>
            <a:r>
              <a:rPr lang="nl-BE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await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userManager.</a:t>
            </a:r>
            <a:r>
              <a:rPr lang="nl-BE" sz="1100" dirty="0" err="1">
                <a:solidFill>
                  <a:srgbClr val="74561F"/>
                </a:solidFill>
                <a:latin typeface="Consolas" panose="020B0609020204030204" pitchFamily="49" charset="0"/>
              </a:rPr>
              <a:t>FindByIdAsync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userId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(user == </a:t>
            </a:r>
            <a:r>
              <a:rPr lang="nl-BE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74561F"/>
                </a:solidFill>
                <a:latin typeface="Consolas" panose="020B0609020204030204" pitchFamily="49" charset="0"/>
              </a:rPr>
              <a:t>NotFound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b="1" dirty="0">
                <a:solidFill>
                  <a:srgbClr val="4F8291"/>
                </a:solidFill>
                <a:latin typeface="Consolas" panose="020B0609020204030204" pitchFamily="49" charset="0"/>
              </a:rPr>
              <a:t>Claim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claim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rgbClr val="4F8291"/>
                </a:solidFill>
                <a:latin typeface="Consolas" panose="020B0609020204030204" pitchFamily="49" charset="0"/>
              </a:rPr>
              <a:t>Claim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claimType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1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claimValue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result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1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await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nl-BE" sz="11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userManager.</a:t>
            </a:r>
            <a:r>
              <a:rPr lang="nl-BE" sz="1100" b="1" dirty="0" err="1">
                <a:solidFill>
                  <a:srgbClr val="74561F"/>
                </a:solidFill>
                <a:latin typeface="Consolas" panose="020B0609020204030204" pitchFamily="49" charset="0"/>
              </a:rPr>
              <a:t>AddClaimAsync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(user, claim);</a:t>
            </a: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result.Succeeded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74561F"/>
                </a:solidFill>
                <a:latin typeface="Consolas" panose="020B0609020204030204" pitchFamily="49" charset="0"/>
              </a:rPr>
              <a:t>RedirectToAction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dirty="0">
                <a:solidFill>
                  <a:srgbClr val="A31515"/>
                </a:solidFill>
                <a:latin typeface="Consolas" panose="020B0609020204030204" pitchFamily="49" charset="0"/>
              </a:rPr>
              <a:t>"Index"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} </a:t>
            </a:r>
            <a:r>
              <a:rPr lang="nl-BE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nl-BE" sz="1100" dirty="0" err="1">
                <a:solidFill>
                  <a:srgbClr val="74561F"/>
                </a:solidFill>
                <a:latin typeface="Consolas" panose="020B0609020204030204" pitchFamily="49" charset="0"/>
              </a:rPr>
              <a:t>Errors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result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74561F"/>
                </a:solidFill>
                <a:latin typeface="Consolas" panose="020B0609020204030204" pitchFamily="49" charset="0"/>
              </a:rPr>
              <a:t>View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Errors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IdentityResult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result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foreach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IdentityError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error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result.Errors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ModelState.</a:t>
            </a:r>
            <a:r>
              <a:rPr lang="nl-BE" sz="1100" dirty="0" err="1">
                <a:solidFill>
                  <a:srgbClr val="74561F"/>
                </a:solidFill>
                <a:latin typeface="Consolas" panose="020B0609020204030204" pitchFamily="49" charset="0"/>
              </a:rPr>
              <a:t>AddModelError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error.Description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nl-BE" sz="1100" dirty="0"/>
          </a:p>
        </p:txBody>
      </p:sp>
    </p:spTree>
    <p:extLst>
      <p:ext uri="{BB962C8B-B14F-4D97-AF65-F5344CB8AC3E}">
        <p14:creationId xmlns:p14="http://schemas.microsoft.com/office/powerpoint/2010/main" val="40196941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4DDF3-3881-47B4-8C39-C6CC0E45D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Claim-</a:t>
            </a:r>
            <a:r>
              <a:rPr lang="nl-BE" dirty="0" err="1"/>
              <a:t>based</a:t>
            </a:r>
            <a:r>
              <a:rPr lang="nl-BE" dirty="0"/>
              <a:t> autorisatie: </a:t>
            </a:r>
            <a:r>
              <a:rPr lang="nl-BE" dirty="0" err="1"/>
              <a:t>Policies</a:t>
            </a: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C799CC-2B52-4100-922E-020295046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188FD-54C2-4A39-9748-63D053805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145" y="2014535"/>
            <a:ext cx="10089309" cy="1265729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b="1" dirty="0">
                <a:solidFill>
                  <a:schemeClr val="accent6"/>
                </a:solidFill>
              </a:rPr>
              <a:t>Regels</a:t>
            </a:r>
            <a:r>
              <a:rPr lang="nl-BE" sz="2400" dirty="0"/>
              <a:t> die bepalen of gebruiker geautoriseerd is om </a:t>
            </a:r>
            <a:r>
              <a:rPr lang="nl-BE" sz="2400" dirty="0" err="1"/>
              <a:t>request</a:t>
            </a:r>
            <a:r>
              <a:rPr lang="nl-BE" sz="2400" dirty="0"/>
              <a:t> uit te voeren worden </a:t>
            </a:r>
            <a:r>
              <a:rPr lang="nl-BE" sz="2400" dirty="0" err="1"/>
              <a:t>geëncapsuleerd</a:t>
            </a:r>
            <a:r>
              <a:rPr lang="nl-BE" sz="2400" dirty="0"/>
              <a:t> in </a:t>
            </a:r>
            <a:r>
              <a:rPr lang="nl-BE" sz="2400" b="1" dirty="0" err="1">
                <a:solidFill>
                  <a:schemeClr val="accent6"/>
                </a:solidFill>
              </a:rPr>
              <a:t>Policies</a:t>
            </a:r>
            <a:endParaRPr lang="nl-BE" sz="2400" b="1" dirty="0">
              <a:solidFill>
                <a:schemeClr val="accent6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 err="1"/>
              <a:t>Policies</a:t>
            </a:r>
            <a:r>
              <a:rPr lang="nl-BE" sz="2400" dirty="0"/>
              <a:t> worden geconfigureerd in </a:t>
            </a:r>
            <a:r>
              <a:rPr lang="nl-BE" sz="2400" i="1" dirty="0" err="1"/>
              <a:t>Program.cs</a:t>
            </a:r>
            <a:r>
              <a:rPr lang="nl-BE" sz="2400" i="1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7B620A-8E81-47C4-A977-552E28FC6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62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888CD9-A002-4D4A-AF04-F201812134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2BD384-BE1E-45D6-8DAD-2D9945C9E07A}"/>
              </a:ext>
            </a:extLst>
          </p:cNvPr>
          <p:cNvSpPr txBox="1"/>
          <p:nvPr/>
        </p:nvSpPr>
        <p:spPr>
          <a:xfrm>
            <a:off x="822291" y="4017858"/>
            <a:ext cx="9876163" cy="73866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</a:t>
            </a:r>
            <a:r>
              <a:rPr lang="nl-BE" sz="1400" dirty="0" err="1">
                <a:solidFill>
                  <a:srgbClr val="74561F"/>
                </a:solidFill>
                <a:latin typeface="Cascadia Mono" panose="020B0609020000020004" pitchFamily="49" charset="0"/>
              </a:rPr>
              <a:t>AddAuthorization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(options =&gt; 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options.</a:t>
            </a:r>
            <a:r>
              <a:rPr lang="en-US" sz="1400" dirty="0" err="1">
                <a:solidFill>
                  <a:srgbClr val="74561F"/>
                </a:solidFill>
                <a:latin typeface="Cascadia Mono" panose="020B0609020000020004" pitchFamily="49" charset="0"/>
              </a:rPr>
              <a:t>AddPolicy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AdminOnly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policyBuilder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=&gt;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policyBuilder.</a:t>
            </a:r>
            <a:r>
              <a:rPr lang="en-US" sz="1400" dirty="0" err="1">
                <a:solidFill>
                  <a:srgbClr val="74561F"/>
                </a:solidFill>
                <a:latin typeface="Cascadia Mono" panose="020B0609020000020004" pitchFamily="49" charset="0"/>
              </a:rPr>
              <a:t>RequireClaim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IsAdmin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});</a:t>
            </a:r>
            <a:endParaRPr lang="nl-BE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177994-06E6-4579-A045-CF6A8AA492AD}"/>
              </a:ext>
            </a:extLst>
          </p:cNvPr>
          <p:cNvSpPr txBox="1"/>
          <p:nvPr/>
        </p:nvSpPr>
        <p:spPr>
          <a:xfrm>
            <a:off x="861246" y="3631673"/>
            <a:ext cx="4241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u="sng" dirty="0"/>
              <a:t>Voorbeeld controle aanwezigheid claim: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21BDAD-D5C6-4922-B731-D53EEA1499FE}"/>
              </a:ext>
            </a:extLst>
          </p:cNvPr>
          <p:cNvSpPr txBox="1"/>
          <p:nvPr/>
        </p:nvSpPr>
        <p:spPr>
          <a:xfrm>
            <a:off x="4503424" y="4756522"/>
            <a:ext cx="2300749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nl-BE" sz="1600" b="1" dirty="0">
                <a:solidFill>
                  <a:schemeClr val="accent6"/>
                </a:solidFill>
              </a:rPr>
              <a:t>naam voor policy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88518FB-7300-4D36-B31B-434B280E4FEA}"/>
              </a:ext>
            </a:extLst>
          </p:cNvPr>
          <p:cNvCxnSpPr>
            <a:cxnSpLocks/>
          </p:cNvCxnSpPr>
          <p:nvPr/>
        </p:nvCxnSpPr>
        <p:spPr>
          <a:xfrm flipH="1" flipV="1">
            <a:off x="4041058" y="4518253"/>
            <a:ext cx="530938" cy="31675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575048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3DE85-C7AE-4019-BF42-55F9A881C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Claim-</a:t>
            </a:r>
            <a:r>
              <a:rPr lang="nl-BE" dirty="0" err="1"/>
              <a:t>based</a:t>
            </a:r>
            <a:r>
              <a:rPr lang="nl-BE" dirty="0"/>
              <a:t> autorisatie: </a:t>
            </a:r>
            <a:r>
              <a:rPr lang="nl-BE" dirty="0" err="1"/>
              <a:t>Policies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43637-777F-4381-908C-BF43321CC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178" y="1806336"/>
            <a:ext cx="9281274" cy="514079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Na configuratie: policy gebruiken in </a:t>
            </a:r>
            <a:r>
              <a:rPr lang="nl-BE" sz="2000" b="1" dirty="0">
                <a:latin typeface="Consolas" panose="020B0609020204030204" pitchFamily="49" charset="0"/>
              </a:rPr>
              <a:t>[</a:t>
            </a:r>
            <a:r>
              <a:rPr lang="nl-BE" sz="2000" b="1" dirty="0" err="1">
                <a:latin typeface="Consolas" panose="020B0609020204030204" pitchFamily="49" charset="0"/>
              </a:rPr>
              <a:t>Authorize</a:t>
            </a:r>
            <a:r>
              <a:rPr lang="nl-BE" sz="2000" b="1" dirty="0">
                <a:latin typeface="Consolas" panose="020B0609020204030204" pitchFamily="49" charset="0"/>
              </a:rPr>
              <a:t>]</a:t>
            </a:r>
            <a:r>
              <a:rPr lang="nl-BE" sz="2400" dirty="0"/>
              <a:t>-attribuut in Controller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3A875-A5C7-4D88-BFC7-DE06680A9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03F048-749E-4266-8C47-3CD182A70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63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C58D5D5-AC5C-4FCA-91AB-3590943C72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A31507-6C9E-45C0-8675-076BD789CE03}"/>
              </a:ext>
            </a:extLst>
          </p:cNvPr>
          <p:cNvSpPr txBox="1"/>
          <p:nvPr/>
        </p:nvSpPr>
        <p:spPr>
          <a:xfrm>
            <a:off x="822291" y="2602262"/>
            <a:ext cx="5018070" cy="17543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[</a:t>
            </a:r>
            <a:r>
              <a:rPr lang="nl-BE" sz="1200" b="1" dirty="0" err="1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Authorize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(Policy = </a:t>
            </a:r>
            <a:r>
              <a:rPr lang="nl-BE" sz="1200" b="1" dirty="0">
                <a:solidFill>
                  <a:srgbClr val="A3151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nl-BE" sz="1200" b="1" dirty="0" err="1">
                <a:solidFill>
                  <a:srgbClr val="A3151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AdminOnly</a:t>
            </a:r>
            <a:r>
              <a:rPr lang="nl-BE" sz="1200" b="1" dirty="0">
                <a:solidFill>
                  <a:srgbClr val="A3151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)]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AdminController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nl-BE" sz="1200" dirty="0">
                <a:solidFill>
                  <a:srgbClr val="4F8291"/>
                </a:solidFill>
                <a:latin typeface="Consolas" panose="020B0609020204030204" pitchFamily="49" charset="0"/>
              </a:rPr>
              <a:t>Controller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Index()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74561F"/>
                </a:solidFill>
                <a:latin typeface="Consolas" panose="020B0609020204030204" pitchFamily="49" charset="0"/>
              </a:rPr>
              <a:t>View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dirty="0">
                <a:solidFill>
                  <a:srgbClr val="008000"/>
                </a:solidFill>
                <a:latin typeface="Consolas" panose="020B0609020204030204" pitchFamily="49" charset="0"/>
              </a:rPr>
              <a:t>//...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B6F611-24A1-4823-A76D-226C3E4656E1}"/>
              </a:ext>
            </a:extLst>
          </p:cNvPr>
          <p:cNvSpPr txBox="1"/>
          <p:nvPr/>
        </p:nvSpPr>
        <p:spPr>
          <a:xfrm>
            <a:off x="6282813" y="2602262"/>
            <a:ext cx="4807974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BE" dirty="0"/>
              <a:t>Action-</a:t>
            </a:r>
            <a:r>
              <a:rPr lang="nl-BE" dirty="0" err="1"/>
              <a:t>methods</a:t>
            </a:r>
            <a:r>
              <a:rPr lang="nl-BE" dirty="0"/>
              <a:t> enkel toegankelijk voor users die voldoen aan </a:t>
            </a:r>
            <a:r>
              <a:rPr lang="nl-BE" i="1" dirty="0" err="1"/>
              <a:t>AdminOnly</a:t>
            </a:r>
            <a:r>
              <a:rPr lang="nl-BE" dirty="0"/>
              <a:t>-policy (“</a:t>
            </a:r>
            <a:r>
              <a:rPr lang="nl-BE" i="1" dirty="0" err="1"/>
              <a:t>AdminOnly</a:t>
            </a:r>
            <a:r>
              <a:rPr lang="nl-BE" i="1" dirty="0"/>
              <a:t>”</a:t>
            </a:r>
            <a:r>
              <a:rPr lang="nl-BE" dirty="0"/>
              <a:t> is naam van policy zoals deze geconfigureerd werd in </a:t>
            </a:r>
            <a:r>
              <a:rPr lang="nl-BE" i="1" dirty="0" err="1"/>
              <a:t>Startup.cs</a:t>
            </a:r>
            <a:r>
              <a:rPr lang="nl-BE" dirty="0"/>
              <a:t>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BE" dirty="0"/>
              <a:t>In dit geval: enkel </a:t>
            </a:r>
            <a:r>
              <a:rPr lang="nl-BE" dirty="0" err="1"/>
              <a:t>user’s</a:t>
            </a:r>
            <a:r>
              <a:rPr lang="nl-BE" dirty="0"/>
              <a:t> die beschikken over de claim </a:t>
            </a:r>
            <a:r>
              <a:rPr lang="nl-BE" i="1" dirty="0"/>
              <a:t>“</a:t>
            </a:r>
            <a:r>
              <a:rPr lang="nl-BE" i="1" dirty="0" err="1"/>
              <a:t>IsAdmin</a:t>
            </a:r>
            <a:r>
              <a:rPr lang="nl-BE" i="1" dirty="0"/>
              <a:t>”</a:t>
            </a:r>
            <a:r>
              <a:rPr lang="nl-BE" dirty="0"/>
              <a:t> (</a:t>
            </a:r>
            <a:r>
              <a:rPr lang="nl-BE" dirty="0" err="1"/>
              <a:t>value</a:t>
            </a:r>
            <a:r>
              <a:rPr lang="nl-BE" dirty="0"/>
              <a:t> wordt genegeerd)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758FFF-6F76-4AAE-A3C7-BA690A235B5C}"/>
              </a:ext>
            </a:extLst>
          </p:cNvPr>
          <p:cNvSpPr txBox="1"/>
          <p:nvPr/>
        </p:nvSpPr>
        <p:spPr>
          <a:xfrm>
            <a:off x="689421" y="5028690"/>
            <a:ext cx="8869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i="1" dirty="0"/>
              <a:t>Opmerking: </a:t>
            </a:r>
            <a:r>
              <a:rPr lang="nl-BE" i="1" dirty="0"/>
              <a:t>kan, net zoals gewone </a:t>
            </a:r>
            <a:r>
              <a:rPr lang="nl-BE" i="1" dirty="0" err="1"/>
              <a:t>Authorize</a:t>
            </a:r>
            <a:r>
              <a:rPr lang="nl-BE" i="1" dirty="0"/>
              <a:t>-attribuut, tevens gebruikt worden om specifieke Action-methodes af te schermen</a:t>
            </a:r>
          </a:p>
        </p:txBody>
      </p:sp>
    </p:spTree>
    <p:extLst>
      <p:ext uri="{BB962C8B-B14F-4D97-AF65-F5344CB8AC3E}">
        <p14:creationId xmlns:p14="http://schemas.microsoft.com/office/powerpoint/2010/main" val="325251562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FA6D7-D07E-4663-A404-42A3FD293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Claim-</a:t>
            </a:r>
            <a:r>
              <a:rPr lang="nl-BE" dirty="0" err="1"/>
              <a:t>based</a:t>
            </a:r>
            <a:r>
              <a:rPr lang="nl-BE" dirty="0"/>
              <a:t> autorisatie: </a:t>
            </a:r>
            <a:r>
              <a:rPr lang="nl-BE" dirty="0" err="1"/>
              <a:t>Policies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2363D-3E0F-4756-B07C-79D3C3C76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0" y="1925408"/>
            <a:ext cx="9769915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Policy kan ook waarde voor bepaalde claim(s) afdwingen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Voorbeeld policy “</a:t>
            </a:r>
            <a:r>
              <a:rPr lang="nl-BE" sz="2400" dirty="0" err="1"/>
              <a:t>CanAccessLounge</a:t>
            </a:r>
            <a:r>
              <a:rPr lang="nl-BE" sz="2400" dirty="0"/>
              <a:t>”:</a:t>
            </a:r>
          </a:p>
          <a:p>
            <a:pPr marL="1177200" lvl="2" indent="-457200">
              <a:buFont typeface="Wingdings" panose="05000000000000000000" pitchFamily="2" charset="2"/>
              <a:buChar char="ü"/>
            </a:pPr>
            <a:r>
              <a:rPr lang="nl-BE" sz="2000" dirty="0"/>
              <a:t>Enkel indien “</a:t>
            </a:r>
            <a:r>
              <a:rPr lang="nl-BE" sz="2000" dirty="0" err="1"/>
              <a:t>FrequencyFlyerClass</a:t>
            </a:r>
            <a:r>
              <a:rPr lang="nl-BE" sz="2000" dirty="0"/>
              <a:t>”-Claim van gebruiker de waarde “Gold” heeft 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C87287-F2A5-45BC-B0EF-1863DC7FD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ECBDA7-F546-42AB-BB27-82EF9D914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64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AE81152-D09B-4415-B0FC-EB2B0B3BB1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4B84B3-A9EA-405C-A07F-AB43764073A1}"/>
              </a:ext>
            </a:extLst>
          </p:cNvPr>
          <p:cNvSpPr txBox="1"/>
          <p:nvPr/>
        </p:nvSpPr>
        <p:spPr>
          <a:xfrm>
            <a:off x="1142111" y="3330851"/>
            <a:ext cx="10515599" cy="64633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builder.Services.</a:t>
            </a:r>
            <a:r>
              <a:rPr lang="nl-BE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AddAuthorization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(options =&gt;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options.</a:t>
            </a:r>
            <a:r>
              <a:rPr lang="nl-BE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AddPolicy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CanAccessLounge</a:t>
            </a:r>
            <a:r>
              <a:rPr lang="nl-BE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policyBuilder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=&gt; </a:t>
            </a:r>
            <a:r>
              <a:rPr lang="nl-BE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policyBuilder.</a:t>
            </a:r>
            <a:r>
              <a:rPr lang="nl-BE" sz="1200" b="1" dirty="0" err="1">
                <a:solidFill>
                  <a:srgbClr val="74561F"/>
                </a:solidFill>
                <a:latin typeface="Consolas" panose="020B0609020204030204" pitchFamily="49" charset="0"/>
              </a:rPr>
              <a:t>RequireClaim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2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FrequentFlyerClass</a:t>
            </a:r>
            <a:r>
              <a:rPr lang="nl-BE" sz="12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sz="1200" b="1" dirty="0">
                <a:solidFill>
                  <a:srgbClr val="A31515"/>
                </a:solidFill>
                <a:latin typeface="Consolas" panose="020B0609020204030204" pitchFamily="49" charset="0"/>
              </a:rPr>
              <a:t>"Gold"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C53A75-DBB4-4C49-840B-4DB84B3FEA3A}"/>
              </a:ext>
            </a:extLst>
          </p:cNvPr>
          <p:cNvSpPr txBox="1"/>
          <p:nvPr/>
        </p:nvSpPr>
        <p:spPr>
          <a:xfrm>
            <a:off x="713762" y="4674102"/>
            <a:ext cx="8524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dirty="0"/>
              <a:t>Opmerking: </a:t>
            </a:r>
            <a:r>
              <a:rPr lang="nl-BE" dirty="0"/>
              <a:t>het is ook mogelijk om meerdere toegelaten waarden te specificeren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289B67-408B-4344-9CE0-781A59CF792E}"/>
              </a:ext>
            </a:extLst>
          </p:cNvPr>
          <p:cNvSpPr txBox="1"/>
          <p:nvPr/>
        </p:nvSpPr>
        <p:spPr>
          <a:xfrm>
            <a:off x="861246" y="5150929"/>
            <a:ext cx="6257309" cy="27699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policyBuilder.</a:t>
            </a:r>
            <a:r>
              <a:rPr lang="nl-BE" sz="1200" b="1" dirty="0" err="1">
                <a:solidFill>
                  <a:srgbClr val="74561F"/>
                </a:solidFill>
                <a:latin typeface="Consolas" panose="020B0609020204030204" pitchFamily="49" charset="0"/>
              </a:rPr>
              <a:t>RequireClaim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2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FrequentFlyerClass</a:t>
            </a:r>
            <a:r>
              <a:rPr lang="nl-BE" sz="12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sz="1200" b="1" dirty="0">
                <a:solidFill>
                  <a:srgbClr val="A3151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"Gold"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,</a:t>
            </a:r>
            <a:r>
              <a:rPr lang="nl-BE" sz="1200" b="1" dirty="0">
                <a:solidFill>
                  <a:srgbClr val="A3151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"Platinum"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700244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7CC2F-0B74-4841-97D3-9F3618AFB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Policies</a:t>
            </a:r>
            <a:r>
              <a:rPr lang="nl-BE" dirty="0"/>
              <a:t>: </a:t>
            </a:r>
            <a:r>
              <a:rPr lang="nl-BE" dirty="0" err="1"/>
              <a:t>requirements</a:t>
            </a:r>
            <a:r>
              <a:rPr lang="nl-BE" dirty="0"/>
              <a:t> &amp; </a:t>
            </a:r>
            <a:r>
              <a:rPr lang="nl-BE" dirty="0" err="1"/>
              <a:t>handlers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F3EFC-9447-44DE-9403-3848476DE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186902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Een policy bestaat uit één of meerdere </a:t>
            </a:r>
            <a:r>
              <a:rPr lang="nl-BE" sz="2400" b="1" dirty="0" err="1">
                <a:solidFill>
                  <a:schemeClr val="accent6"/>
                </a:solidFill>
              </a:rPr>
              <a:t>requirements</a:t>
            </a:r>
            <a:endParaRPr lang="nl-BE" sz="2400" b="1" dirty="0">
              <a:solidFill>
                <a:schemeClr val="accent6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Elke </a:t>
            </a:r>
            <a:r>
              <a:rPr lang="nl-BE" sz="2400" dirty="0" err="1"/>
              <a:t>requirement</a:t>
            </a:r>
            <a:r>
              <a:rPr lang="nl-BE" sz="2400" dirty="0"/>
              <a:t> kan één of meerdere </a:t>
            </a:r>
            <a:r>
              <a:rPr lang="nl-BE" sz="2400" b="1" dirty="0" err="1">
                <a:solidFill>
                  <a:schemeClr val="accent6"/>
                </a:solidFill>
              </a:rPr>
              <a:t>handlers</a:t>
            </a:r>
            <a:r>
              <a:rPr lang="nl-BE" sz="2400" dirty="0"/>
              <a:t> hebben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 err="1"/>
              <a:t>Handler</a:t>
            </a:r>
            <a:r>
              <a:rPr lang="nl-BE" sz="2000" dirty="0"/>
              <a:t> gaat na of aan </a:t>
            </a:r>
            <a:r>
              <a:rPr lang="nl-BE" sz="2000" dirty="0" err="1"/>
              <a:t>requirement</a:t>
            </a:r>
            <a:r>
              <a:rPr lang="nl-BE" sz="2000" dirty="0"/>
              <a:t> voldaan wordt (één is voldoende)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Opdat aan policy zou voldaan zijn, moet aan </a:t>
            </a:r>
            <a:r>
              <a:rPr lang="nl-BE" sz="2400" b="1" dirty="0">
                <a:solidFill>
                  <a:schemeClr val="accent6"/>
                </a:solidFill>
              </a:rPr>
              <a:t>alle</a:t>
            </a:r>
            <a:r>
              <a:rPr lang="nl-BE" sz="2400" dirty="0"/>
              <a:t> </a:t>
            </a:r>
            <a:r>
              <a:rPr lang="nl-BE" sz="2400" dirty="0" err="1"/>
              <a:t>requirements</a:t>
            </a:r>
            <a:r>
              <a:rPr lang="nl-BE" sz="2400" dirty="0"/>
              <a:t> van policy voldaan zijn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CBC4DD-F438-4485-B06F-BC16A530F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9789-5595-4D18-BAFF-8B884268D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65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4FB594-A5AB-4D0B-99BD-C32C266263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228876-5863-49AE-80B9-528BD2260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8152" y="3429000"/>
            <a:ext cx="5815632" cy="26593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BF6D5B-604C-4264-B94E-7E5724B5C479}"/>
              </a:ext>
            </a:extLst>
          </p:cNvPr>
          <p:cNvSpPr txBox="1"/>
          <p:nvPr/>
        </p:nvSpPr>
        <p:spPr>
          <a:xfrm>
            <a:off x="3518152" y="6088322"/>
            <a:ext cx="66710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err="1"/>
              <a:t>Bron</a:t>
            </a:r>
            <a:r>
              <a:rPr lang="en-US" sz="1400" i="1" dirty="0"/>
              <a:t>: Lock, A. (2018b). Asp.net Core in Action. Shelter Island, NY: Manning Publications.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57201760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31CEE-2536-435D-B033-DC81DF6B5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Policies</a:t>
            </a:r>
            <a:r>
              <a:rPr lang="nl-BE" dirty="0"/>
              <a:t>: </a:t>
            </a:r>
            <a:r>
              <a:rPr lang="nl-BE" dirty="0" err="1"/>
              <a:t>requirements</a:t>
            </a:r>
            <a:r>
              <a:rPr lang="nl-BE" dirty="0"/>
              <a:t> &amp; </a:t>
            </a:r>
            <a:r>
              <a:rPr lang="nl-BE" dirty="0" err="1"/>
              <a:t>handlers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1C5C9-3DD4-40E0-9F89-D6D804797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1252283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Om Policy met </a:t>
            </a:r>
            <a:r>
              <a:rPr lang="nl-BE" sz="2400" dirty="0" err="1"/>
              <a:t>custom</a:t>
            </a:r>
            <a:r>
              <a:rPr lang="nl-BE" sz="2400" dirty="0"/>
              <a:t> </a:t>
            </a:r>
            <a:r>
              <a:rPr lang="nl-BE" sz="2400" dirty="0" err="1"/>
              <a:t>requirements</a:t>
            </a:r>
            <a:r>
              <a:rPr lang="nl-BE" sz="2400" dirty="0"/>
              <a:t> en </a:t>
            </a:r>
            <a:r>
              <a:rPr lang="nl-BE" sz="2400" dirty="0" err="1"/>
              <a:t>handlers</a:t>
            </a:r>
            <a:r>
              <a:rPr lang="nl-BE" sz="2400" dirty="0"/>
              <a:t> te maken:</a:t>
            </a:r>
          </a:p>
          <a:p>
            <a:pPr marL="815363" lvl="1" indent="-457200">
              <a:buFont typeface="+mj-lt"/>
              <a:buAutoNum type="arabicPeriod"/>
            </a:pPr>
            <a:r>
              <a:rPr lang="nl-BE" sz="2000" dirty="0"/>
              <a:t>Creëer voor elke </a:t>
            </a:r>
            <a:r>
              <a:rPr lang="nl-BE" sz="2000" dirty="0" err="1"/>
              <a:t>requirement</a:t>
            </a:r>
            <a:r>
              <a:rPr lang="nl-BE" sz="2000" dirty="0"/>
              <a:t> een klasse die interface </a:t>
            </a:r>
            <a:r>
              <a:rPr lang="nl-BE" sz="1800" dirty="0" err="1">
                <a:latin typeface="Consolas" panose="020B0609020204030204" pitchFamily="49" charset="0"/>
              </a:rPr>
              <a:t>IAuthorizationRequirement</a:t>
            </a:r>
            <a:r>
              <a:rPr lang="nl-BE" sz="2000" dirty="0"/>
              <a:t> implementeert</a:t>
            </a:r>
          </a:p>
          <a:p>
            <a:pPr marL="815363" lvl="1" indent="-457200">
              <a:buFont typeface="+mj-lt"/>
              <a:buAutoNum type="arabicPeriod"/>
            </a:pPr>
            <a:r>
              <a:rPr lang="nl-BE" sz="2000" dirty="0"/>
              <a:t>Implementeer </a:t>
            </a:r>
            <a:r>
              <a:rPr lang="nl-BE" sz="2000" dirty="0" err="1"/>
              <a:t>handler</a:t>
            </a:r>
            <a:r>
              <a:rPr lang="nl-BE" sz="2000" dirty="0"/>
              <a:t>(s) die </a:t>
            </a:r>
            <a:r>
              <a:rPr lang="nl-BE" sz="2000" dirty="0" err="1"/>
              <a:t>requirement</a:t>
            </a:r>
            <a:r>
              <a:rPr lang="nl-BE" sz="2000" dirty="0"/>
              <a:t> checken</a:t>
            </a:r>
          </a:p>
          <a:p>
            <a:pPr marL="815363" lvl="1" indent="-457200">
              <a:buFont typeface="+mj-lt"/>
              <a:buAutoNum type="arabicPeriod"/>
            </a:pPr>
            <a:r>
              <a:rPr lang="nl-BE" sz="2000" dirty="0"/>
              <a:t>Registreer </a:t>
            </a:r>
            <a:r>
              <a:rPr lang="nl-BE" sz="2000" dirty="0" err="1"/>
              <a:t>handlers</a:t>
            </a:r>
            <a:r>
              <a:rPr lang="nl-BE" sz="2000" dirty="0"/>
              <a:t> in </a:t>
            </a:r>
            <a:r>
              <a:rPr lang="nl-BE" sz="2000" i="1" dirty="0" err="1"/>
              <a:t>Startup.cs</a:t>
            </a:r>
            <a:endParaRPr lang="nl-BE" sz="2000" i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2A32FF-98FC-456D-B799-3960D25AD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ABA106-4B99-43E3-AA01-58AC4388D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66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41FD244-9961-4DE9-B4CE-4F3785C55E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1D9F01-1FD0-4C29-A3A3-F46A4B88A00D}"/>
              </a:ext>
            </a:extLst>
          </p:cNvPr>
          <p:cNvSpPr txBox="1"/>
          <p:nvPr/>
        </p:nvSpPr>
        <p:spPr>
          <a:xfrm>
            <a:off x="534291" y="3500270"/>
            <a:ext cx="6505606" cy="249299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AllowedInLoungeRequirement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IAuthorizationRequirement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dirty="0">
                <a:solidFill>
                  <a:srgbClr val="008000"/>
                </a:solidFill>
                <a:latin typeface="Consolas" panose="020B0609020204030204" pitchFamily="49" charset="0"/>
              </a:rPr>
              <a:t>//no </a:t>
            </a:r>
            <a:r>
              <a:rPr lang="nl-BE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implementation</a:t>
            </a:r>
            <a:r>
              <a:rPr lang="nl-BE" sz="12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needed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MinimumAgeRequirement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IAuthorizationRequirement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MinimumAgeRequirement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minAge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MinAge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minAge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MinAge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3B7698-317E-43BB-9A54-52391F54B527}"/>
              </a:ext>
            </a:extLst>
          </p:cNvPr>
          <p:cNvSpPr txBox="1"/>
          <p:nvPr/>
        </p:nvSpPr>
        <p:spPr>
          <a:xfrm>
            <a:off x="7481709" y="3622099"/>
            <a:ext cx="4176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dirty="0"/>
              <a:t>Opmerking: </a:t>
            </a:r>
            <a:r>
              <a:rPr lang="nl-BE" sz="1600" dirty="0" err="1">
                <a:latin typeface="Consolas" panose="020B0609020204030204" pitchFamily="49" charset="0"/>
              </a:rPr>
              <a:t>IAuthorizationRequirement</a:t>
            </a:r>
            <a:r>
              <a:rPr lang="nl-BE" dirty="0"/>
              <a:t> is enkel “marker” voor </a:t>
            </a:r>
            <a:r>
              <a:rPr lang="nl-BE" dirty="0" err="1"/>
              <a:t>requirement</a:t>
            </a:r>
            <a:r>
              <a:rPr lang="nl-BE" dirty="0"/>
              <a:t>-klasse (dwingt geen methode af)</a:t>
            </a:r>
          </a:p>
          <a:p>
            <a:endParaRPr lang="nl-BE" dirty="0"/>
          </a:p>
          <a:p>
            <a:r>
              <a:rPr lang="nl-BE" dirty="0"/>
              <a:t>“Generiek” maken </a:t>
            </a:r>
            <a:r>
              <a:rPr lang="nl-BE" dirty="0" err="1"/>
              <a:t>dmv</a:t>
            </a:r>
            <a:r>
              <a:rPr lang="nl-BE" dirty="0"/>
              <a:t> parameters (property kan in </a:t>
            </a:r>
            <a:r>
              <a:rPr lang="nl-BE" dirty="0" err="1"/>
              <a:t>handler</a:t>
            </a:r>
            <a:r>
              <a:rPr lang="nl-BE" dirty="0"/>
              <a:t> opgevraagd worden om controle uit te voeren)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346442-2649-4809-BDB8-BCF60D1BCA75}"/>
              </a:ext>
            </a:extLst>
          </p:cNvPr>
          <p:cNvSpPr txBox="1"/>
          <p:nvPr/>
        </p:nvSpPr>
        <p:spPr>
          <a:xfrm>
            <a:off x="534291" y="3161716"/>
            <a:ext cx="28808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u="sng" dirty="0"/>
              <a:t>Voorbeeld </a:t>
            </a:r>
            <a:r>
              <a:rPr lang="nl-BE" sz="1600" b="1" u="sng" dirty="0" err="1"/>
              <a:t>requirement-klasses</a:t>
            </a:r>
            <a:r>
              <a:rPr lang="nl-BE" sz="1600" b="1" u="sng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25479337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BEE97-8299-4D72-BA0B-D4CAC726A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Policies</a:t>
            </a:r>
            <a:r>
              <a:rPr lang="nl-BE" dirty="0"/>
              <a:t>: </a:t>
            </a:r>
            <a:r>
              <a:rPr lang="nl-BE" dirty="0" err="1"/>
              <a:t>requirements</a:t>
            </a:r>
            <a:r>
              <a:rPr lang="nl-BE" dirty="0"/>
              <a:t> &amp; </a:t>
            </a:r>
            <a:r>
              <a:rPr lang="nl-BE" dirty="0" err="1"/>
              <a:t>handlers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64AD1-98DF-475D-85D9-EC67B6B1B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2011083"/>
            <a:ext cx="9281274" cy="85993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Configuratie in </a:t>
            </a:r>
            <a:r>
              <a:rPr lang="nl-BE" sz="2400" i="1" dirty="0" err="1"/>
              <a:t>Program.cs</a:t>
            </a:r>
            <a:r>
              <a:rPr lang="nl-BE" sz="2400" dirty="0"/>
              <a:t>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 err="1"/>
              <a:t>Requirements</a:t>
            </a:r>
            <a:r>
              <a:rPr lang="nl-BE" sz="2000" dirty="0"/>
              <a:t> definiëren via </a:t>
            </a:r>
            <a:r>
              <a:rPr lang="nl-BE" sz="1800" dirty="0" err="1">
                <a:latin typeface="Consolas" panose="020B0609020204030204" pitchFamily="49" charset="0"/>
              </a:rPr>
              <a:t>AddRequirements</a:t>
            </a:r>
            <a:r>
              <a:rPr lang="nl-BE" sz="2000" dirty="0"/>
              <a:t>-methode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1C2F2A-B982-4E0C-BBA3-237876E15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55ADCC-F43D-4ED0-9B4B-CB2FD126B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67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F41F431-8BBC-41D2-982B-3396940860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2EE0CC-CEFF-43D2-87F4-1DE87C35F251}"/>
              </a:ext>
            </a:extLst>
          </p:cNvPr>
          <p:cNvSpPr txBox="1"/>
          <p:nvPr/>
        </p:nvSpPr>
        <p:spPr>
          <a:xfrm>
            <a:off x="1150626" y="3016975"/>
            <a:ext cx="9448548" cy="138499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</a:t>
            </a:r>
            <a:r>
              <a:rPr lang="nl-BE" sz="1400" dirty="0" err="1">
                <a:solidFill>
                  <a:srgbClr val="74561F"/>
                </a:solidFill>
                <a:latin typeface="Cascadia Mono" panose="020B0609020000020004" pitchFamily="49" charset="0"/>
              </a:rPr>
              <a:t>AddAuthorization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(options =&gt; 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options.</a:t>
            </a:r>
            <a:r>
              <a:rPr lang="en-US" sz="1400" dirty="0" err="1">
                <a:solidFill>
                  <a:srgbClr val="74561F"/>
                </a:solidFill>
                <a:latin typeface="Cascadia Mono" panose="020B0609020000020004" pitchFamily="49" charset="0"/>
              </a:rPr>
              <a:t>AddPolicy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CanAccessLounge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policyBuilder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=&gt;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policyBuilder.</a:t>
            </a:r>
            <a:r>
              <a:rPr lang="en-US" sz="1400" dirty="0" err="1">
                <a:solidFill>
                  <a:srgbClr val="74561F"/>
                </a:solidFill>
                <a:latin typeface="Cascadia Mono" panose="020B0609020000020004" pitchFamily="49" charset="0"/>
              </a:rPr>
              <a:t>AddRequirements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nl-BE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AllowedInLoungeRequirement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(),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nl-BE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MinimumAgeRequirement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(18))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);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});</a:t>
            </a:r>
            <a:endParaRPr lang="nl-BE" sz="1400" dirty="0"/>
          </a:p>
        </p:txBody>
      </p:sp>
    </p:spTree>
    <p:extLst>
      <p:ext uri="{BB962C8B-B14F-4D97-AF65-F5344CB8AC3E}">
        <p14:creationId xmlns:p14="http://schemas.microsoft.com/office/powerpoint/2010/main" val="401605355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4F5C1-1929-4526-9FEE-3D205ED1E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Policies</a:t>
            </a:r>
            <a:r>
              <a:rPr lang="nl-BE" dirty="0"/>
              <a:t>: </a:t>
            </a:r>
            <a:r>
              <a:rPr lang="nl-BE" dirty="0" err="1"/>
              <a:t>requirements</a:t>
            </a:r>
            <a:r>
              <a:rPr lang="nl-BE" dirty="0"/>
              <a:t> &amp; </a:t>
            </a:r>
            <a:r>
              <a:rPr lang="nl-BE" dirty="0" err="1"/>
              <a:t>handlers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0D8B3-EDD8-4D05-902A-779774B8E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16" y="2045538"/>
            <a:ext cx="9868238" cy="276692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Creëer </a:t>
            </a:r>
            <a:r>
              <a:rPr lang="nl-BE" dirty="0" err="1"/>
              <a:t>handlers</a:t>
            </a:r>
            <a:r>
              <a:rPr lang="nl-BE" dirty="0"/>
              <a:t> om </a:t>
            </a:r>
            <a:r>
              <a:rPr lang="nl-BE" dirty="0" err="1"/>
              <a:t>requirements</a:t>
            </a:r>
            <a:r>
              <a:rPr lang="nl-BE" dirty="0"/>
              <a:t> af te toetsen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Implementeer </a:t>
            </a:r>
            <a:r>
              <a:rPr lang="nl-BE" sz="2400" dirty="0" err="1"/>
              <a:t>AuthorizationHandler</a:t>
            </a:r>
            <a:r>
              <a:rPr lang="nl-BE" sz="2400" dirty="0"/>
              <a:t>&lt;&gt;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 err="1"/>
              <a:t>Handler</a:t>
            </a:r>
            <a:r>
              <a:rPr lang="nl-BE" sz="2400" dirty="0"/>
              <a:t> kan drie dingen doen:</a:t>
            </a:r>
          </a:p>
          <a:p>
            <a:pPr marL="1177200" lvl="2" indent="-457200">
              <a:buFont typeface="Arial" panose="020B0604020202020204" pitchFamily="34" charset="0"/>
              <a:buChar char="•"/>
            </a:pPr>
            <a:r>
              <a:rPr lang="nl-BE" sz="2000" dirty="0" err="1"/>
              <a:t>Requirement</a:t>
            </a:r>
            <a:r>
              <a:rPr lang="nl-BE" sz="2000" dirty="0"/>
              <a:t> doen slagen</a:t>
            </a:r>
          </a:p>
          <a:p>
            <a:pPr marL="1177200" lvl="2" indent="-457200">
              <a:buFont typeface="Arial" panose="020B0604020202020204" pitchFamily="34" charset="0"/>
              <a:buChar char="•"/>
            </a:pPr>
            <a:r>
              <a:rPr lang="nl-BE" sz="2000" dirty="0"/>
              <a:t>Niets doen </a:t>
            </a:r>
            <a:r>
              <a:rPr lang="nl-BE" sz="2000" i="1" dirty="0"/>
              <a:t>(andere </a:t>
            </a:r>
            <a:r>
              <a:rPr lang="nl-BE" sz="2000" i="1" dirty="0" err="1"/>
              <a:t>handlers</a:t>
            </a:r>
            <a:r>
              <a:rPr lang="nl-BE" sz="2000" i="1" dirty="0"/>
              <a:t> worden gecontroleerd)</a:t>
            </a:r>
          </a:p>
          <a:p>
            <a:pPr marL="1177200" lvl="2" indent="-457200">
              <a:buFont typeface="Arial" panose="020B0604020202020204" pitchFamily="34" charset="0"/>
              <a:buChar char="•"/>
            </a:pPr>
            <a:r>
              <a:rPr lang="nl-BE" sz="2000" dirty="0" err="1"/>
              <a:t>Requirement</a:t>
            </a:r>
            <a:r>
              <a:rPr lang="nl-BE" sz="2000" dirty="0"/>
              <a:t> expliciet laten falen </a:t>
            </a:r>
            <a:r>
              <a:rPr lang="nl-BE" sz="2000" i="1" dirty="0"/>
              <a:t>(andere </a:t>
            </a:r>
            <a:r>
              <a:rPr lang="nl-BE" sz="2000" i="1" dirty="0" err="1"/>
              <a:t>handlers</a:t>
            </a:r>
            <a:r>
              <a:rPr lang="nl-BE" sz="2000" i="1" dirty="0"/>
              <a:t> worden niet meer gecontroleerd)</a:t>
            </a:r>
            <a:endParaRPr lang="nl-BE" sz="2000" dirty="0"/>
          </a:p>
          <a:p>
            <a:pPr marL="1177200" lvl="2" indent="-45720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1041A2-E18F-4BC3-84EB-F9C0F948A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D1E6F-C79B-4719-97D3-7D7B48B9B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68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C2F802F-3AA3-4223-ACBD-A881D60FFD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4855141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65A07-FDF7-4574-92F6-9A77299AF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Policies</a:t>
            </a:r>
            <a:r>
              <a:rPr lang="nl-BE" dirty="0"/>
              <a:t>: </a:t>
            </a:r>
            <a:r>
              <a:rPr lang="nl-BE" dirty="0" err="1"/>
              <a:t>requirements</a:t>
            </a:r>
            <a:r>
              <a:rPr lang="nl-BE" dirty="0"/>
              <a:t> &amp; </a:t>
            </a:r>
            <a:r>
              <a:rPr lang="nl-BE" dirty="0" err="1"/>
              <a:t>handlers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C799A-AF26-4E0A-9E3A-65A0B503C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884081"/>
            <a:ext cx="10097289" cy="2386607"/>
          </a:xfrm>
          <a:ln>
            <a:solidFill>
              <a:schemeClr val="tx2"/>
            </a:solidFill>
          </a:ln>
        </p:spPr>
        <p:txBody>
          <a:bodyPr lIns="72000" tIns="72000"/>
          <a:lstStyle/>
          <a:p>
            <a:pPr>
              <a:spcBef>
                <a:spcPts val="600"/>
              </a:spcBef>
            </a:pP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 panose="020B0609020204030204" pitchFamily="49" charset="0"/>
              </a:rPr>
              <a:t>FrequentFlyerHandler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AuthorizationHandler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AllowedInLoungeRequirement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spcBef>
                <a:spcPts val="0"/>
              </a:spcBef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pPr>
              <a:spcBef>
                <a:spcPts val="0"/>
              </a:spcBef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protected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4F8291"/>
                </a:solidFill>
                <a:latin typeface="Consolas" panose="020B0609020204030204" pitchFamily="49" charset="0"/>
              </a:rPr>
              <a:t>Task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HandleRequirementAsync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AuthorizationHandlerContext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context, </a:t>
            </a:r>
            <a:r>
              <a:rPr lang="en-US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AllowedInLoungeRequirement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requirement) 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spcBef>
                <a:spcPts val="0"/>
              </a:spcBef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context.User.</a:t>
            </a:r>
            <a:r>
              <a:rPr lang="en-US" sz="1100" dirty="0" err="1">
                <a:solidFill>
                  <a:srgbClr val="74561F"/>
                </a:solidFill>
                <a:latin typeface="Consolas" panose="020B0609020204030204" pitchFamily="49" charset="0"/>
              </a:rPr>
              <a:t>HasClaim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100" dirty="0" err="1">
                <a:solidFill>
                  <a:srgbClr val="A31515"/>
                </a:solidFill>
                <a:latin typeface="Consolas" panose="020B0609020204030204" pitchFamily="49" charset="0"/>
              </a:rPr>
              <a:t>FrequentFlyerClass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"Gold"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)) 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spcBef>
                <a:spcPts val="0"/>
              </a:spcBef>
            </a:pP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l-BE" sz="1100" dirty="0">
                <a:solidFill>
                  <a:srgbClr val="008000"/>
                </a:solidFill>
                <a:latin typeface="Consolas" panose="020B0609020204030204" pitchFamily="49" charset="0"/>
              </a:rPr>
              <a:t>//Er wordt aan </a:t>
            </a:r>
            <a:r>
              <a:rPr lang="nl-BE" sz="1100" dirty="0" err="1">
                <a:solidFill>
                  <a:srgbClr val="008000"/>
                </a:solidFill>
                <a:latin typeface="Consolas" panose="020B0609020204030204" pitchFamily="49" charset="0"/>
              </a:rPr>
              <a:t>requirement</a:t>
            </a:r>
            <a:r>
              <a:rPr lang="nl-BE" sz="1100" dirty="0">
                <a:solidFill>
                  <a:srgbClr val="008000"/>
                </a:solidFill>
                <a:latin typeface="Consolas" panose="020B0609020204030204" pitchFamily="49" charset="0"/>
              </a:rPr>
              <a:t> voldaan</a:t>
            </a:r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context.</a:t>
            </a:r>
            <a:r>
              <a:rPr lang="nl-BE" sz="1100" dirty="0" err="1">
                <a:solidFill>
                  <a:srgbClr val="74561F"/>
                </a:solidFill>
                <a:latin typeface="Consolas" panose="020B0609020204030204" pitchFamily="49" charset="0"/>
              </a:rPr>
              <a:t>Succeed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requirement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pPr>
              <a:spcBef>
                <a:spcPts val="0"/>
              </a:spcBef>
            </a:pP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>
              <a:spcBef>
                <a:spcPts val="0"/>
              </a:spcBef>
            </a:pPr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100" dirty="0">
                <a:solidFill>
                  <a:srgbClr val="008000"/>
                </a:solidFill>
                <a:latin typeface="Consolas" panose="020B0609020204030204" pitchFamily="49" charset="0"/>
              </a:rPr>
              <a:t>//Niet aan </a:t>
            </a:r>
            <a:r>
              <a:rPr lang="nl-BE" sz="1100" dirty="0" err="1">
                <a:solidFill>
                  <a:srgbClr val="008000"/>
                </a:solidFill>
                <a:latin typeface="Consolas" panose="020B0609020204030204" pitchFamily="49" charset="0"/>
              </a:rPr>
              <a:t>requirement</a:t>
            </a:r>
            <a:r>
              <a:rPr lang="nl-BE" sz="1100" dirty="0">
                <a:solidFill>
                  <a:srgbClr val="008000"/>
                </a:solidFill>
                <a:latin typeface="Consolas" panose="020B0609020204030204" pitchFamily="49" charset="0"/>
              </a:rPr>
              <a:t> voldaan -&gt; check andere </a:t>
            </a:r>
            <a:r>
              <a:rPr lang="nl-BE" sz="1100" dirty="0" err="1">
                <a:solidFill>
                  <a:srgbClr val="008000"/>
                </a:solidFill>
                <a:latin typeface="Consolas" panose="020B0609020204030204" pitchFamily="49" charset="0"/>
              </a:rPr>
              <a:t>handlers</a:t>
            </a:r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100" dirty="0">
                <a:solidFill>
                  <a:srgbClr val="008000"/>
                </a:solidFill>
                <a:latin typeface="Consolas" panose="020B0609020204030204" pitchFamily="49" charset="0"/>
              </a:rPr>
              <a:t>//return heeft geen betekenis, enkel nodig voor </a:t>
            </a:r>
            <a:r>
              <a:rPr lang="nl-BE" sz="1100" dirty="0" err="1">
                <a:solidFill>
                  <a:srgbClr val="008000"/>
                </a:solidFill>
                <a:latin typeface="Consolas" panose="020B0609020204030204" pitchFamily="49" charset="0"/>
              </a:rPr>
              <a:t>method</a:t>
            </a:r>
            <a:r>
              <a:rPr lang="nl-BE" sz="1100" dirty="0">
                <a:solidFill>
                  <a:srgbClr val="008000"/>
                </a:solidFill>
                <a:latin typeface="Consolas" panose="020B0609020204030204" pitchFamily="49" charset="0"/>
              </a:rPr>
              <a:t>-signatuur</a:t>
            </a:r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Task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.CompletedTask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spcBef>
                <a:spcPts val="0"/>
              </a:spcBef>
            </a:pP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>
              <a:spcBef>
                <a:spcPts val="0"/>
              </a:spcBef>
            </a:pP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1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5B7071-46C1-4953-8C89-83C3F5D0A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8B7BD7-A8F8-423D-A926-0583B9EF1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69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3BB662C-C493-4331-902D-210BF03A27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D303ED-50AC-4D7D-A63C-7B0046DA65B7}"/>
              </a:ext>
            </a:extLst>
          </p:cNvPr>
          <p:cNvSpPr txBox="1"/>
          <p:nvPr/>
        </p:nvSpPr>
        <p:spPr>
          <a:xfrm>
            <a:off x="534291" y="1386348"/>
            <a:ext cx="39393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u="sng" dirty="0"/>
              <a:t>Voorbeeld </a:t>
            </a:r>
            <a:r>
              <a:rPr lang="nl-BE" sz="1600" b="1" u="sng" dirty="0" err="1"/>
              <a:t>FrequentFlyerHandler</a:t>
            </a:r>
            <a:r>
              <a:rPr lang="nl-BE" sz="1600" b="1" u="sng" dirty="0"/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FF8F3D-0B70-4EC8-82E3-A63A7D5D7758}"/>
              </a:ext>
            </a:extLst>
          </p:cNvPr>
          <p:cNvSpPr txBox="1"/>
          <p:nvPr/>
        </p:nvSpPr>
        <p:spPr>
          <a:xfrm>
            <a:off x="534291" y="4548322"/>
            <a:ext cx="69120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/>
              <a:t>Controle op Claim “</a:t>
            </a:r>
            <a:r>
              <a:rPr lang="nl-BE" dirty="0" err="1"/>
              <a:t>FrequentFlyerClass</a:t>
            </a:r>
            <a:r>
              <a:rPr lang="nl-BE" dirty="0"/>
              <a:t>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/>
              <a:t>Indien waarde van claim geldig is </a:t>
            </a:r>
            <a:r>
              <a:rPr lang="nl-BE" dirty="0">
                <a:sym typeface="Wingdings" panose="05000000000000000000" pitchFamily="2" charset="2"/>
              </a:rPr>
              <a:t> aan </a:t>
            </a:r>
            <a:r>
              <a:rPr lang="nl-BE" dirty="0" err="1">
                <a:sym typeface="Wingdings" panose="05000000000000000000" pitchFamily="2" charset="2"/>
              </a:rPr>
              <a:t>requirement</a:t>
            </a:r>
            <a:r>
              <a:rPr lang="nl-BE" dirty="0">
                <a:sym typeface="Wingdings" panose="05000000000000000000" pitchFamily="2" charset="2"/>
              </a:rPr>
              <a:t> voldaan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>
                <a:sym typeface="Wingdings" panose="05000000000000000000" pitchFamily="2" charset="2"/>
              </a:rPr>
              <a:t>Indien niet  doe niets (return </a:t>
            </a:r>
            <a:r>
              <a:rPr lang="nl-BE" dirty="0" err="1">
                <a:sym typeface="Wingdings" panose="05000000000000000000" pitchFamily="2" charset="2"/>
              </a:rPr>
              <a:t>Task.CompledTask</a:t>
            </a:r>
            <a:r>
              <a:rPr lang="nl-BE" dirty="0">
                <a:sym typeface="Wingdings" panose="05000000000000000000" pitchFamily="2" charset="2"/>
              </a:rPr>
              <a:t>)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77256158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5D571-5643-4E1A-AE59-B5BFE1AB4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Policies</a:t>
            </a:r>
            <a:r>
              <a:rPr lang="nl-BE" dirty="0"/>
              <a:t>: </a:t>
            </a:r>
            <a:r>
              <a:rPr lang="nl-BE" dirty="0" err="1"/>
              <a:t>requirements</a:t>
            </a:r>
            <a:r>
              <a:rPr lang="nl-BE" dirty="0"/>
              <a:t> &amp; </a:t>
            </a:r>
            <a:r>
              <a:rPr lang="nl-BE" dirty="0" err="1"/>
              <a:t>handlers</a:t>
            </a: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A689E5-C4A8-49BF-970E-B3DB9D4AD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15393F-73AE-44F7-8BD8-6777F70A7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70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C708B7-1552-4192-8FC5-22D7DAA9CD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1120D2-30EC-48D5-BDEA-A92CA2CC0995}"/>
              </a:ext>
            </a:extLst>
          </p:cNvPr>
          <p:cNvSpPr txBox="1"/>
          <p:nvPr/>
        </p:nvSpPr>
        <p:spPr>
          <a:xfrm>
            <a:off x="396000" y="1702613"/>
            <a:ext cx="11579051" cy="415498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IsAirportEmployeeHandler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AuthorizationHandler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AllowedInLoungeRequirement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protected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4F8291"/>
                </a:solidFill>
                <a:latin typeface="Consolas" panose="020B0609020204030204" pitchFamily="49" charset="0"/>
              </a:rPr>
              <a:t>Task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HandleRequirementAsync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AuthorizationHandlerContext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context, 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AllowedInLoungeRequirement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requirement) 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context.User.</a:t>
            </a:r>
            <a:r>
              <a:rPr lang="en-US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HasClaim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(x =&gt;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x.Type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EmployeeNumber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)) 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context.</a:t>
            </a:r>
            <a:r>
              <a:rPr lang="nl-BE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Succeed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requirement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Task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.CompletedTask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BannedFromLoungeHandler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AuthorizationHandler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AllowedInLoungeRequirement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protected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4F8291"/>
                </a:solidFill>
                <a:latin typeface="Consolas" panose="020B0609020204030204" pitchFamily="49" charset="0"/>
              </a:rPr>
              <a:t>Task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HandleRequirementAsync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AuthorizationHandlerContext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context, 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AllowedInLoungeRequirement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requirement)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context.User.</a:t>
            </a:r>
            <a:r>
              <a:rPr lang="en-US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HasClaim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(x =&gt;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x.Type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IsBanned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)) 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nl-BE" sz="1200" b="1" dirty="0">
                <a:solidFill>
                  <a:srgbClr val="008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//gebruiker is gebannen --&gt; </a:t>
            </a:r>
            <a:r>
              <a:rPr lang="nl-BE" sz="1200" b="1" dirty="0" err="1">
                <a:solidFill>
                  <a:srgbClr val="008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requirement</a:t>
            </a:r>
            <a:r>
              <a:rPr lang="nl-BE" sz="1200" b="1" dirty="0">
                <a:solidFill>
                  <a:srgbClr val="008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faalt, ongeacht andere </a:t>
            </a:r>
            <a:r>
              <a:rPr lang="nl-BE" sz="1200" b="1" dirty="0" err="1">
                <a:solidFill>
                  <a:srgbClr val="008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handlers</a:t>
            </a:r>
            <a:r>
              <a:rPr lang="nl-BE" sz="1200" b="1" dirty="0">
                <a:solidFill>
                  <a:srgbClr val="008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!</a:t>
            </a:r>
            <a:endParaRPr lang="nl-BE" sz="1200" b="1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nl-BE" sz="12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context.</a:t>
            </a:r>
            <a:r>
              <a:rPr lang="nl-BE" sz="1200" b="1" dirty="0" err="1">
                <a:solidFill>
                  <a:srgbClr val="74561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Fail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Task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.CompletedTask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nl-BE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7C04C1-E07C-4F63-90C0-BA361B28BB92}"/>
              </a:ext>
            </a:extLst>
          </p:cNvPr>
          <p:cNvSpPr txBox="1"/>
          <p:nvPr/>
        </p:nvSpPr>
        <p:spPr>
          <a:xfrm>
            <a:off x="410178" y="1314721"/>
            <a:ext cx="39393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u="sng" dirty="0"/>
              <a:t>Voorbeeld </a:t>
            </a:r>
            <a:r>
              <a:rPr lang="nl-BE" sz="1600" b="1" u="sng" dirty="0" err="1"/>
              <a:t>handlers</a:t>
            </a:r>
            <a:r>
              <a:rPr lang="nl-BE" sz="1600" b="1" u="sng" dirty="0"/>
              <a:t> (vervolg):</a:t>
            </a:r>
          </a:p>
        </p:txBody>
      </p:sp>
    </p:spTree>
    <p:extLst>
      <p:ext uri="{BB962C8B-B14F-4D97-AF65-F5344CB8AC3E}">
        <p14:creationId xmlns:p14="http://schemas.microsoft.com/office/powerpoint/2010/main" val="317885587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27847-8675-415D-A3E0-BDB447026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Policies</a:t>
            </a:r>
            <a:r>
              <a:rPr lang="nl-BE" dirty="0"/>
              <a:t>: </a:t>
            </a:r>
            <a:r>
              <a:rPr lang="nl-BE" dirty="0" err="1"/>
              <a:t>requirements</a:t>
            </a:r>
            <a:r>
              <a:rPr lang="nl-BE" dirty="0"/>
              <a:t> &amp; </a:t>
            </a:r>
            <a:r>
              <a:rPr lang="nl-BE" dirty="0" err="1"/>
              <a:t>handlers</a:t>
            </a: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9F0970-9EB6-497E-812D-39591140E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0DABC3-4D86-4A50-945C-EB90D1975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71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74D92E-65CC-416C-BD99-1C994FE321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9DE97D-C7FA-4F17-B90A-FA934280FAB8}"/>
              </a:ext>
            </a:extLst>
          </p:cNvPr>
          <p:cNvSpPr txBox="1"/>
          <p:nvPr/>
        </p:nvSpPr>
        <p:spPr>
          <a:xfrm>
            <a:off x="396000" y="2243389"/>
            <a:ext cx="11294555" cy="34163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MinimumAgeHandler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AuthorizationHandler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MinimumAgeRequirement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protected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4F8291"/>
                </a:solidFill>
                <a:latin typeface="Consolas" panose="020B0609020204030204" pitchFamily="49" charset="0"/>
              </a:rPr>
              <a:t>Task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HandleRequirementAsync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AuthorizationHandlerContext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context, 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MinimumAgeRequirement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requirement) 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dateOfBirthClaim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context.User.</a:t>
            </a:r>
            <a:r>
              <a:rPr lang="nl-BE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FindFirstValue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ClaimTypes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.DateOfBirth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dateOfBirthClaim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Task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.CompletedTask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dateOfBirth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Convert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nl-BE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ToDateTime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dateOfBirthClaim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cutoff 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dateOfBirth.</a:t>
            </a:r>
            <a:r>
              <a:rPr lang="en-US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AddYears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requirement.MinAge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(cutoff &lt;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DateTime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.Today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context.</a:t>
            </a:r>
            <a:r>
              <a:rPr lang="nl-BE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Succeed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requirement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Task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.CompletedTask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nl-BE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7CFDD8-27BC-4E5C-8618-05875AEADE36}"/>
              </a:ext>
            </a:extLst>
          </p:cNvPr>
          <p:cNvSpPr txBox="1"/>
          <p:nvPr/>
        </p:nvSpPr>
        <p:spPr>
          <a:xfrm>
            <a:off x="410178" y="1855497"/>
            <a:ext cx="39393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u="sng" dirty="0"/>
              <a:t>Voorbeeld </a:t>
            </a:r>
            <a:r>
              <a:rPr lang="nl-BE" sz="1600" b="1" u="sng" dirty="0" err="1"/>
              <a:t>handlers</a:t>
            </a:r>
            <a:r>
              <a:rPr lang="nl-BE" sz="1600" b="1" u="sng" dirty="0"/>
              <a:t> (vervolg):</a:t>
            </a:r>
          </a:p>
        </p:txBody>
      </p:sp>
    </p:spTree>
    <p:extLst>
      <p:ext uri="{BB962C8B-B14F-4D97-AF65-F5344CB8AC3E}">
        <p14:creationId xmlns:p14="http://schemas.microsoft.com/office/powerpoint/2010/main" val="69976784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B8B07-B1BD-40AC-9C94-F596CC019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Policies</a:t>
            </a:r>
            <a:r>
              <a:rPr lang="nl-BE" dirty="0"/>
              <a:t>: </a:t>
            </a:r>
            <a:r>
              <a:rPr lang="nl-BE" dirty="0" err="1"/>
              <a:t>requirements</a:t>
            </a:r>
            <a:r>
              <a:rPr lang="nl-BE" dirty="0"/>
              <a:t> &amp; </a:t>
            </a:r>
            <a:r>
              <a:rPr lang="nl-BE" dirty="0" err="1"/>
              <a:t>handlers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5DC7B-02B8-476C-8FED-191E84D54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363881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Nadien </a:t>
            </a:r>
            <a:r>
              <a:rPr lang="nl-BE" sz="2400" dirty="0" err="1"/>
              <a:t>handlers</a:t>
            </a:r>
            <a:r>
              <a:rPr lang="nl-BE" sz="2400" dirty="0"/>
              <a:t> registreren in </a:t>
            </a:r>
            <a:r>
              <a:rPr lang="nl-BE" sz="2400" i="1" dirty="0" err="1"/>
              <a:t>Program.cs</a:t>
            </a:r>
            <a:r>
              <a:rPr lang="nl-BE" sz="2400" dirty="0"/>
              <a:t>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4B2BAF-91BE-40D9-8E89-D3D02AEA2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F3C21E-595C-48C6-90A8-F8693D2C0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72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745FCF-0792-4F90-BCCF-13060F7C8B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5C540C-013B-4BEA-9AF5-C97B044ECCAD}"/>
              </a:ext>
            </a:extLst>
          </p:cNvPr>
          <p:cNvSpPr txBox="1"/>
          <p:nvPr/>
        </p:nvSpPr>
        <p:spPr>
          <a:xfrm>
            <a:off x="861246" y="2016595"/>
            <a:ext cx="7270031" cy="101566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8000"/>
                </a:solidFill>
                <a:latin typeface="Consolas" panose="020B0609020204030204" pitchFamily="49" charset="0"/>
              </a:rPr>
              <a:t>//register </a:t>
            </a:r>
            <a:r>
              <a:rPr lang="nl-BE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handlers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builder.Services.</a:t>
            </a:r>
            <a:r>
              <a:rPr lang="nl-BE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AddSingleton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IAuthorizationHandler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MinimumAgeHandler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&gt;();</a:t>
            </a:r>
          </a:p>
          <a:p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builder.Services.</a:t>
            </a:r>
            <a:r>
              <a:rPr lang="nl-BE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AddSingleton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IAuthorizationHandler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FrequentFlyerHandler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&gt;();</a:t>
            </a:r>
          </a:p>
          <a:p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builder.Services.</a:t>
            </a:r>
            <a:r>
              <a:rPr lang="nl-BE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AddSingleton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IAuthorizationHandler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IsAirportEmployeeHandler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&gt;();</a:t>
            </a:r>
          </a:p>
          <a:p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builder.Services.</a:t>
            </a:r>
            <a:r>
              <a:rPr lang="nl-BE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AddSingleton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IAuthorizationHandler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BannedFromLoungeHandler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&gt;();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60380B-F6D8-4994-989A-E8E1B02DFC38}"/>
              </a:ext>
            </a:extLst>
          </p:cNvPr>
          <p:cNvSpPr txBox="1"/>
          <p:nvPr/>
        </p:nvSpPr>
        <p:spPr>
          <a:xfrm>
            <a:off x="678291" y="3706096"/>
            <a:ext cx="89543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000" dirty="0"/>
              <a:t>Registratie =  configuratie van </a:t>
            </a:r>
            <a:r>
              <a:rPr lang="nl-BE" sz="2000" dirty="0" err="1"/>
              <a:t>Dependency</a:t>
            </a:r>
            <a:r>
              <a:rPr lang="nl-BE" sz="2000" dirty="0"/>
              <a:t> </a:t>
            </a:r>
            <a:r>
              <a:rPr lang="nl-BE" sz="2000" dirty="0" err="1"/>
              <a:t>Injection</a:t>
            </a:r>
            <a:r>
              <a:rPr lang="nl-BE" sz="2000" dirty="0"/>
              <a:t> (DI)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000" dirty="0" err="1"/>
              <a:t>AddSingleton</a:t>
            </a:r>
            <a:r>
              <a:rPr lang="nl-BE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sz="2000" dirty="0"/>
              <a:t>Singleton </a:t>
            </a:r>
            <a:r>
              <a:rPr lang="nl-BE" sz="2000" dirty="0">
                <a:sym typeface="Wingdings" panose="05000000000000000000" pitchFamily="2" charset="2"/>
              </a:rPr>
              <a:t> slechts één instantie van klasse aangemaakt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sz="2000" i="1" dirty="0">
                <a:sym typeface="Wingdings" panose="05000000000000000000" pitchFamily="2" charset="2"/>
              </a:rPr>
              <a:t>Zie Singleton design-</a:t>
            </a:r>
            <a:r>
              <a:rPr lang="nl-BE" sz="2000" i="1" dirty="0" err="1">
                <a:sym typeface="Wingdings" panose="05000000000000000000" pitchFamily="2" charset="2"/>
              </a:rPr>
              <a:t>pattern</a:t>
            </a:r>
            <a:r>
              <a:rPr lang="nl-BE" sz="2000" i="1" dirty="0">
                <a:sym typeface="Wingdings" panose="05000000000000000000" pitchFamily="2" charset="2"/>
              </a:rPr>
              <a:t> (</a:t>
            </a:r>
            <a:r>
              <a:rPr lang="nl-BE" sz="2000" i="1" dirty="0">
                <a:sym typeface="Wingdings" panose="05000000000000000000" pitchFamily="2" charset="2"/>
                <a:hlinkClick r:id="rId2"/>
              </a:rPr>
              <a:t>https://en.wikipedia.org/wiki/Singleton_pattern</a:t>
            </a:r>
            <a:r>
              <a:rPr lang="nl-BE" sz="2000" i="1" dirty="0">
                <a:sym typeface="Wingdings" panose="05000000000000000000" pitchFamily="2" charset="2"/>
              </a:rPr>
              <a:t>) </a:t>
            </a:r>
            <a:endParaRPr lang="nl-BE" sz="2000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384EEA-F3C8-4867-ABE3-EEE60F35505D}"/>
              </a:ext>
            </a:extLst>
          </p:cNvPr>
          <p:cNvSpPr txBox="1"/>
          <p:nvPr/>
        </p:nvSpPr>
        <p:spPr>
          <a:xfrm>
            <a:off x="749098" y="5343874"/>
            <a:ext cx="6857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000" b="1" dirty="0">
                <a:solidFill>
                  <a:srgbClr val="C00000"/>
                </a:solidFill>
              </a:rPr>
              <a:t>Policy is nu klaar om te gebruiken in [</a:t>
            </a:r>
            <a:r>
              <a:rPr lang="nl-BE" sz="2000" b="1" dirty="0" err="1">
                <a:solidFill>
                  <a:srgbClr val="C00000"/>
                </a:solidFill>
              </a:rPr>
              <a:t>Authorize</a:t>
            </a:r>
            <a:r>
              <a:rPr lang="nl-BE" sz="2000" b="1" dirty="0">
                <a:solidFill>
                  <a:srgbClr val="C00000"/>
                </a:solidFill>
              </a:rPr>
              <a:t>]-attribuut </a:t>
            </a:r>
            <a:r>
              <a:rPr lang="nl-BE" sz="2000" b="1" dirty="0">
                <a:solidFill>
                  <a:srgbClr val="C00000"/>
                </a:solidFill>
                <a:sym typeface="Wingdings" panose="05000000000000000000" pitchFamily="2" charset="2"/>
              </a:rPr>
              <a:t></a:t>
            </a:r>
            <a:endParaRPr lang="nl-BE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4640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A48B5-4D82-4FE0-94BD-9EAC78BBE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Resource-</a:t>
            </a:r>
            <a:r>
              <a:rPr lang="nl-BE" dirty="0" err="1"/>
              <a:t>based</a:t>
            </a:r>
            <a:r>
              <a:rPr lang="nl-BE" dirty="0"/>
              <a:t> </a:t>
            </a:r>
            <a:r>
              <a:rPr lang="nl-BE" dirty="0" err="1"/>
              <a:t>authorization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D1130-FC06-45F8-B38A-7400A67C9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291" y="1978915"/>
            <a:ext cx="9875206" cy="328134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Soms is autorisatie nodig op niveau van </a:t>
            </a:r>
            <a:r>
              <a:rPr lang="nl-BE" sz="2400" b="1" dirty="0">
                <a:solidFill>
                  <a:schemeClr val="accent6"/>
                </a:solidFill>
              </a:rPr>
              <a:t>data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Voorbeeld: enkel gebruiker die Post aangemaakt heeft mag deze wijzigen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Deze vorm van autorisatie wordt </a:t>
            </a:r>
            <a:r>
              <a:rPr lang="nl-BE" sz="2400" b="1" dirty="0">
                <a:solidFill>
                  <a:schemeClr val="accent6"/>
                </a:solidFill>
              </a:rPr>
              <a:t>resource-</a:t>
            </a:r>
            <a:r>
              <a:rPr lang="nl-BE" sz="2400" b="1" dirty="0" err="1">
                <a:solidFill>
                  <a:schemeClr val="accent6"/>
                </a:solidFill>
              </a:rPr>
              <a:t>based</a:t>
            </a:r>
            <a:r>
              <a:rPr lang="nl-BE" sz="2400" b="1" dirty="0">
                <a:solidFill>
                  <a:schemeClr val="accent6"/>
                </a:solidFill>
              </a:rPr>
              <a:t> </a:t>
            </a:r>
            <a:r>
              <a:rPr lang="nl-BE" sz="2400" b="1" dirty="0" err="1">
                <a:solidFill>
                  <a:schemeClr val="accent6"/>
                </a:solidFill>
              </a:rPr>
              <a:t>authorization</a:t>
            </a:r>
            <a:r>
              <a:rPr lang="nl-BE" sz="2400" dirty="0"/>
              <a:t> genoemd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Stappen zijn quasi gelijk aan die van policy-</a:t>
            </a:r>
            <a:r>
              <a:rPr lang="nl-BE" sz="2400" dirty="0" err="1"/>
              <a:t>based</a:t>
            </a:r>
            <a:r>
              <a:rPr lang="nl-BE" sz="2400" dirty="0"/>
              <a:t> </a:t>
            </a:r>
            <a:r>
              <a:rPr lang="nl-BE" sz="2400" dirty="0" err="1"/>
              <a:t>authorization</a:t>
            </a:r>
            <a:r>
              <a:rPr lang="nl-BE" sz="2400" dirty="0"/>
              <a:t>:</a:t>
            </a:r>
            <a:endParaRPr lang="nl-BE" sz="2000" dirty="0"/>
          </a:p>
          <a:p>
            <a:pPr marL="815363" lvl="1" indent="-457200">
              <a:buFont typeface="+mj-lt"/>
              <a:buAutoNum type="arabicPeriod"/>
            </a:pPr>
            <a:r>
              <a:rPr lang="nl-BE" sz="2000" dirty="0"/>
              <a:t>Definieer één of meerdere </a:t>
            </a:r>
            <a:r>
              <a:rPr lang="nl-BE" sz="2000" dirty="0" err="1"/>
              <a:t>requirements</a:t>
            </a:r>
            <a:r>
              <a:rPr lang="nl-BE" sz="2000" dirty="0"/>
              <a:t> voor policy</a:t>
            </a:r>
          </a:p>
          <a:p>
            <a:pPr marL="815363" lvl="1" indent="-457200">
              <a:buFont typeface="+mj-lt"/>
              <a:buAutoNum type="arabicPeriod"/>
            </a:pPr>
            <a:r>
              <a:rPr lang="nl-BE" sz="2000" dirty="0"/>
              <a:t>Voeg nieuwe policy toe in </a:t>
            </a:r>
            <a:r>
              <a:rPr lang="nl-BE" sz="2000" i="1" dirty="0" err="1"/>
              <a:t>Program.cs</a:t>
            </a:r>
            <a:endParaRPr lang="nl-BE" sz="2000" i="1" dirty="0">
              <a:latin typeface="Consolas" panose="020B0609020204030204" pitchFamily="49" charset="0"/>
            </a:endParaRPr>
          </a:p>
          <a:p>
            <a:pPr marL="815363" lvl="1" indent="-457200">
              <a:buFont typeface="+mj-lt"/>
              <a:buAutoNum type="arabicPeriod"/>
            </a:pPr>
            <a:r>
              <a:rPr lang="nl-BE" sz="2000" dirty="0"/>
              <a:t>Definieer één of meerdere </a:t>
            </a:r>
            <a:r>
              <a:rPr lang="nl-BE" sz="2000" dirty="0" err="1"/>
              <a:t>handlers</a:t>
            </a:r>
            <a:r>
              <a:rPr lang="nl-BE" sz="2000" dirty="0"/>
              <a:t> voor controle van </a:t>
            </a:r>
            <a:r>
              <a:rPr lang="nl-BE" sz="2000" dirty="0" err="1"/>
              <a:t>requirements</a:t>
            </a:r>
            <a:endParaRPr lang="nl-BE" sz="2000" dirty="0"/>
          </a:p>
          <a:p>
            <a:pPr marL="815363" lvl="1" indent="-457200">
              <a:buFont typeface="+mj-lt"/>
              <a:buAutoNum type="arabicPeriod"/>
            </a:pPr>
            <a:r>
              <a:rPr lang="nl-BE" sz="2000" dirty="0"/>
              <a:t>Registreer </a:t>
            </a:r>
            <a:r>
              <a:rPr lang="nl-BE" sz="2000" dirty="0" err="1"/>
              <a:t>handlers</a:t>
            </a:r>
            <a:r>
              <a:rPr lang="nl-BE" sz="2000" dirty="0"/>
              <a:t> in </a:t>
            </a:r>
            <a:r>
              <a:rPr lang="nl-BE" sz="2000" i="1" dirty="0" err="1"/>
              <a:t>Program.cs</a:t>
            </a:r>
            <a:endParaRPr lang="nl-BE" sz="2000" i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6CBD1A-0216-4A7A-B3E6-23F6FBC03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98399A-2C30-48D2-BFAD-13B7CE265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73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F4653B1-B25F-4D2C-BA87-A27D8F4E9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3122672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25975-E927-4BB4-B335-9D423C07C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Resource-</a:t>
            </a:r>
            <a:r>
              <a:rPr lang="nl-BE" dirty="0" err="1"/>
              <a:t>based</a:t>
            </a:r>
            <a:r>
              <a:rPr lang="nl-BE" dirty="0"/>
              <a:t> </a:t>
            </a:r>
            <a:r>
              <a:rPr lang="nl-BE" dirty="0" err="1"/>
              <a:t>authorization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7AA63-EAF8-450F-9E1D-D1C64B4CB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3401356"/>
            <a:ext cx="9281274" cy="522968"/>
          </a:xfrm>
        </p:spPr>
        <p:txBody>
          <a:bodyPr/>
          <a:lstStyle/>
          <a:p>
            <a:r>
              <a:rPr lang="nl-BE" sz="2400" b="1" dirty="0"/>
              <a:t>Stap 2: </a:t>
            </a:r>
            <a:r>
              <a:rPr lang="nl-BE" sz="2400" dirty="0"/>
              <a:t>Policy toevoegen met nodige </a:t>
            </a:r>
            <a:r>
              <a:rPr lang="nl-BE" sz="2400" dirty="0" err="1"/>
              <a:t>requirements</a:t>
            </a:r>
            <a:r>
              <a:rPr lang="nl-BE" sz="2400" dirty="0"/>
              <a:t>:</a:t>
            </a:r>
          </a:p>
          <a:p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378EF-5C47-4AE6-9F68-6153FB31F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C6CDF-EACE-4C64-8E96-75CD368BA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74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4DA133E-F04A-4973-B50C-6A1FCE82BE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87895C-4FEB-4545-8D49-0865859EA22D}"/>
              </a:ext>
            </a:extLst>
          </p:cNvPr>
          <p:cNvSpPr txBox="1"/>
          <p:nvPr/>
        </p:nvSpPr>
        <p:spPr>
          <a:xfrm>
            <a:off x="534291" y="2145886"/>
            <a:ext cx="7016883" cy="3077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IsPostAuthorRequirement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nl-BE" sz="1400" dirty="0" err="1">
                <a:solidFill>
                  <a:srgbClr val="4F8291"/>
                </a:solidFill>
                <a:latin typeface="Consolas" panose="020B0609020204030204" pitchFamily="49" charset="0"/>
              </a:rPr>
              <a:t>IAuthorizationRequirement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{ }</a:t>
            </a:r>
            <a:endParaRPr lang="nl-BE" sz="14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466BF29-E565-4AFE-8F90-FAAE8B9E14AC}"/>
              </a:ext>
            </a:extLst>
          </p:cNvPr>
          <p:cNvSpPr txBox="1">
            <a:spLocks/>
          </p:cNvSpPr>
          <p:nvPr/>
        </p:nvSpPr>
        <p:spPr>
          <a:xfrm>
            <a:off x="534291" y="1707860"/>
            <a:ext cx="9281274" cy="3077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163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sz="2400" b="1" dirty="0"/>
              <a:t>Stap 1: </a:t>
            </a:r>
            <a:r>
              <a:rPr lang="nl-BE" sz="2400" dirty="0" err="1"/>
              <a:t>Requirement-klasses</a:t>
            </a:r>
            <a:r>
              <a:rPr lang="nl-BE" sz="2400" dirty="0"/>
              <a:t> definiëren:</a:t>
            </a:r>
          </a:p>
          <a:p>
            <a:endParaRPr lang="nl-B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CE69A2-BF66-4630-B77E-3FF815F5DB2E}"/>
              </a:ext>
            </a:extLst>
          </p:cNvPr>
          <p:cNvSpPr txBox="1"/>
          <p:nvPr/>
        </p:nvSpPr>
        <p:spPr>
          <a:xfrm>
            <a:off x="534290" y="4042807"/>
            <a:ext cx="7852625" cy="101566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builder.Services.</a:t>
            </a:r>
            <a:r>
              <a:rPr lang="nl-BE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AddAuthorization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(options =&gt; {</a:t>
            </a:r>
          </a:p>
          <a:p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options.</a:t>
            </a:r>
            <a:r>
              <a:rPr lang="en-US" sz="1200" b="1" dirty="0" err="1">
                <a:solidFill>
                  <a:srgbClr val="74561F"/>
                </a:solidFill>
                <a:latin typeface="Consolas" panose="020B0609020204030204" pitchFamily="49" charset="0"/>
              </a:rPr>
              <a:t>AddPolicy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2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CanEditPost</a:t>
            </a:r>
            <a:r>
              <a:rPr lang="en-US" sz="12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policyBuilder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=&gt;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policyBuilder.</a:t>
            </a:r>
            <a:r>
              <a:rPr lang="en-US" sz="1200" b="1" dirty="0" err="1">
                <a:solidFill>
                  <a:srgbClr val="74561F"/>
                </a:solidFill>
                <a:latin typeface="Consolas" panose="020B0609020204030204" pitchFamily="49" charset="0"/>
              </a:rPr>
              <a:t>AddRequirements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l-BE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b="1" dirty="0" err="1">
                <a:solidFill>
                  <a:srgbClr val="4F8291"/>
                </a:solidFill>
                <a:latin typeface="Consolas" panose="020B0609020204030204" pitchFamily="49" charset="0"/>
              </a:rPr>
              <a:t>IsPostAuthorRequirement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);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});</a:t>
            </a:r>
            <a:endParaRPr lang="nl-BE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727011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B1782-45E2-47DD-B61F-E8A39BDD1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Resource-</a:t>
            </a:r>
            <a:r>
              <a:rPr lang="nl-BE" dirty="0" err="1"/>
              <a:t>based</a:t>
            </a:r>
            <a:r>
              <a:rPr lang="nl-BE" dirty="0"/>
              <a:t> </a:t>
            </a:r>
            <a:r>
              <a:rPr lang="nl-BE" dirty="0" err="1"/>
              <a:t>authorization</a:t>
            </a: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4CAFAA-D874-4293-A6B5-2C3A8C464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FE1C44-A428-4473-A83B-75B4AB842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75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D08DF9-5F51-46CD-84EF-5571B5A570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491155B-C54B-4657-9913-39A27607B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178" y="1387877"/>
            <a:ext cx="9281274" cy="522968"/>
          </a:xfrm>
        </p:spPr>
        <p:txBody>
          <a:bodyPr/>
          <a:lstStyle/>
          <a:p>
            <a:r>
              <a:rPr lang="nl-BE" sz="2400" b="1" dirty="0"/>
              <a:t>Stap 3: </a:t>
            </a:r>
            <a:r>
              <a:rPr lang="nl-BE" sz="2400" dirty="0"/>
              <a:t>definieer </a:t>
            </a:r>
            <a:r>
              <a:rPr lang="nl-BE" sz="2400" dirty="0" err="1"/>
              <a:t>handler</a:t>
            </a:r>
            <a:r>
              <a:rPr lang="nl-BE" sz="2400" dirty="0"/>
              <a:t>(s) om </a:t>
            </a:r>
            <a:r>
              <a:rPr lang="nl-BE" sz="2400" dirty="0" err="1"/>
              <a:t>requirement</a:t>
            </a:r>
            <a:r>
              <a:rPr lang="nl-BE" sz="2400" dirty="0"/>
              <a:t>(s) te controleren:</a:t>
            </a:r>
          </a:p>
          <a:p>
            <a:endParaRPr lang="nl-B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BA6F54-5C26-42CC-92BA-656DA57502F7}"/>
              </a:ext>
            </a:extLst>
          </p:cNvPr>
          <p:cNvSpPr txBox="1"/>
          <p:nvPr/>
        </p:nvSpPr>
        <p:spPr>
          <a:xfrm>
            <a:off x="534290" y="2035277"/>
            <a:ext cx="11480729" cy="330859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 panose="020B0609020204030204" pitchFamily="49" charset="0"/>
              </a:rPr>
              <a:t>IsPostAuthorHandler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AuthorizationHandler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IsPostAuthorRequirement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100" b="1" dirty="0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Post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readonly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b="1" dirty="0" err="1">
                <a:solidFill>
                  <a:srgbClr val="4F8291"/>
                </a:solidFill>
                <a:latin typeface="Consolas" panose="020B0609020204030204" pitchFamily="49" charset="0"/>
              </a:rPr>
              <a:t>UserManager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100" b="1" dirty="0" err="1">
                <a:solidFill>
                  <a:srgbClr val="4F8291"/>
                </a:solidFill>
                <a:latin typeface="Consolas" panose="020B0609020204030204" pitchFamily="49" charset="0"/>
              </a:rPr>
              <a:t>IdentityUser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&gt; _</a:t>
            </a:r>
            <a:r>
              <a:rPr lang="nl-BE" sz="11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userManager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2B91AF"/>
                </a:solidFill>
                <a:latin typeface="Consolas" panose="020B0609020204030204" pitchFamily="49" charset="0"/>
              </a:rPr>
              <a:t>IsPostAuthorHandler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b="1" dirty="0" err="1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UserManager</a:t>
            </a:r>
            <a:r>
              <a:rPr lang="nl-BE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nl-BE" sz="1100" b="1" dirty="0" err="1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IdentityUser</a:t>
            </a:r>
            <a:r>
              <a:rPr lang="nl-BE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&gt; </a:t>
            </a:r>
            <a:r>
              <a:rPr lang="nl-BE" sz="11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userManager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_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userManager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userManager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protected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b="1" dirty="0" err="1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async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Task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HandleRequirementAsync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AuthorizationHandlerContext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context, </a:t>
            </a:r>
            <a:r>
              <a:rPr lang="nl-BE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IsPostAuthorRequirement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requirement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sz="1100" dirty="0">
                <a:solidFill>
                  <a:srgbClr val="4F8291"/>
                </a:solidFill>
                <a:latin typeface="Consolas" panose="020B0609020204030204" pitchFamily="49" charset="0"/>
              </a:rPr>
              <a:t>Post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resource) 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user = </a:t>
            </a:r>
            <a:r>
              <a:rPr lang="nl-BE" sz="1100" b="1" dirty="0" err="1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await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userManager.</a:t>
            </a:r>
            <a:r>
              <a:rPr lang="nl-BE" sz="1100" dirty="0" err="1">
                <a:solidFill>
                  <a:srgbClr val="74561F"/>
                </a:solidFill>
                <a:latin typeface="Consolas" panose="020B0609020204030204" pitchFamily="49" charset="0"/>
              </a:rPr>
              <a:t>GetUserAsync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context.User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(user == </a:t>
            </a:r>
            <a:r>
              <a:rPr lang="nl-BE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resource.CreatedBy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user.Id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context.</a:t>
            </a:r>
            <a:r>
              <a:rPr lang="nl-BE" sz="1100" dirty="0" err="1">
                <a:solidFill>
                  <a:srgbClr val="74561F"/>
                </a:solidFill>
                <a:latin typeface="Consolas" panose="020B0609020204030204" pitchFamily="49" charset="0"/>
              </a:rPr>
              <a:t>Succeed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requirement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022158-D151-4249-9BEC-8BD577F18354}"/>
              </a:ext>
            </a:extLst>
          </p:cNvPr>
          <p:cNvSpPr/>
          <p:nvPr/>
        </p:nvSpPr>
        <p:spPr>
          <a:xfrm>
            <a:off x="10667998" y="3245078"/>
            <a:ext cx="1008000" cy="215444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lIns="0" tIns="0" rIns="0" bIns="0" rtlCol="0" anchor="ctr">
            <a:spAutoFit/>
          </a:bodyPr>
          <a:lstStyle/>
          <a:p>
            <a:pPr algn="l"/>
            <a:endParaRPr lang="nl-BE" sz="1400" b="1" dirty="0" err="1">
              <a:latin typeface="+mj-lt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1BB95F4-A088-4E50-9E1F-1464DB59FB13}"/>
              </a:ext>
            </a:extLst>
          </p:cNvPr>
          <p:cNvCxnSpPr/>
          <p:nvPr/>
        </p:nvCxnSpPr>
        <p:spPr>
          <a:xfrm flipH="1">
            <a:off x="5378245" y="2352573"/>
            <a:ext cx="894736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E7AE3FA-C35B-4FF8-8061-25FB1D8B023B}"/>
              </a:ext>
            </a:extLst>
          </p:cNvPr>
          <p:cNvSpPr txBox="1"/>
          <p:nvPr/>
        </p:nvSpPr>
        <p:spPr>
          <a:xfrm>
            <a:off x="6272981" y="2218455"/>
            <a:ext cx="411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400" b="1" dirty="0">
                <a:solidFill>
                  <a:srgbClr val="C00000"/>
                </a:solidFill>
              </a:rPr>
              <a:t>Automatisch meegegeven via </a:t>
            </a:r>
            <a:r>
              <a:rPr lang="nl-BE" sz="1400" b="1" dirty="0" err="1">
                <a:solidFill>
                  <a:srgbClr val="C00000"/>
                </a:solidFill>
              </a:rPr>
              <a:t>dependency</a:t>
            </a:r>
            <a:r>
              <a:rPr lang="nl-BE" sz="1400" b="1" dirty="0">
                <a:solidFill>
                  <a:srgbClr val="C00000"/>
                </a:solidFill>
              </a:rPr>
              <a:t> </a:t>
            </a:r>
            <a:r>
              <a:rPr lang="nl-BE" sz="1400" b="1" dirty="0" err="1">
                <a:solidFill>
                  <a:srgbClr val="C00000"/>
                </a:solidFill>
              </a:rPr>
              <a:t>injection</a:t>
            </a:r>
            <a:endParaRPr lang="nl-BE" sz="1400" b="1" dirty="0">
              <a:solidFill>
                <a:srgbClr val="C0000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9FEDBED-7799-42C6-9058-BFBA79B0CEFF}"/>
              </a:ext>
            </a:extLst>
          </p:cNvPr>
          <p:cNvCxnSpPr>
            <a:cxnSpLocks/>
          </p:cNvCxnSpPr>
          <p:nvPr/>
        </p:nvCxnSpPr>
        <p:spPr>
          <a:xfrm flipH="1">
            <a:off x="5530645" y="2372344"/>
            <a:ext cx="742336" cy="13262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EDAAA3F-08E2-4100-B406-6307F478D1D6}"/>
              </a:ext>
            </a:extLst>
          </p:cNvPr>
          <p:cNvSpPr txBox="1"/>
          <p:nvPr/>
        </p:nvSpPr>
        <p:spPr>
          <a:xfrm>
            <a:off x="534290" y="5515897"/>
            <a:ext cx="10035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b="1" dirty="0"/>
              <a:t>Opgelet: </a:t>
            </a:r>
            <a:r>
              <a:rPr lang="nl-BE" dirty="0"/>
              <a:t>overerven van klasse </a:t>
            </a:r>
            <a:r>
              <a:rPr lang="en-US" sz="1600" dirty="0" err="1">
                <a:solidFill>
                  <a:schemeClr val="tx2"/>
                </a:solidFill>
                <a:latin typeface="Consolas" panose="020B0609020204030204" pitchFamily="49" charset="0"/>
              </a:rPr>
              <a:t>AuthorizationHandler</a:t>
            </a:r>
            <a:r>
              <a:rPr lang="en-US" sz="1600" dirty="0">
                <a:solidFill>
                  <a:schemeClr val="tx2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chemeClr val="tx2"/>
                </a:solidFill>
                <a:latin typeface="Consolas" panose="020B0609020204030204" pitchFamily="49" charset="0"/>
              </a:rPr>
              <a:t>TRequirement</a:t>
            </a:r>
            <a:r>
              <a:rPr lang="en-US" sz="1600" dirty="0">
                <a:solidFill>
                  <a:schemeClr val="tx2"/>
                </a:solidFill>
                <a:latin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chemeClr val="tx2"/>
                </a:solidFill>
                <a:latin typeface="Consolas" panose="020B0609020204030204" pitchFamily="49" charset="0"/>
              </a:rPr>
              <a:t>TResource</a:t>
            </a:r>
            <a:r>
              <a:rPr lang="en-US" sz="1600" dirty="0">
                <a:solidFill>
                  <a:schemeClr val="tx2"/>
                </a:solidFill>
                <a:latin typeface="Consolas" panose="020B0609020204030204" pitchFamily="49" charset="0"/>
              </a:rPr>
              <a:t>&gt;</a:t>
            </a:r>
            <a:r>
              <a:rPr lang="nl-BE" sz="1600" dirty="0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endParaRPr lang="nl-BE" dirty="0">
              <a:solidFill>
                <a:schemeClr val="tx2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01577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F6E14-DCD6-4F7F-B56D-E23527829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Resource-</a:t>
            </a:r>
            <a:r>
              <a:rPr lang="nl-BE" dirty="0" err="1"/>
              <a:t>based</a:t>
            </a:r>
            <a:r>
              <a:rPr lang="nl-BE" dirty="0"/>
              <a:t> </a:t>
            </a:r>
            <a:r>
              <a:rPr lang="nl-BE" dirty="0" err="1"/>
              <a:t>authorization</a:t>
            </a: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0809D4-1037-4125-B2C7-B6DD88FF4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8FDE2A-72B2-4ACA-8300-B54228CF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76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FBEDC4D-B5B5-4852-B72F-94F3E9DFE8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A77106F-D3B3-4D96-8A8F-61E90CA5C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953819"/>
            <a:ext cx="9281274" cy="522968"/>
          </a:xfrm>
        </p:spPr>
        <p:txBody>
          <a:bodyPr/>
          <a:lstStyle/>
          <a:p>
            <a:r>
              <a:rPr lang="nl-BE" sz="2400" b="1" dirty="0"/>
              <a:t>Stap 4: </a:t>
            </a:r>
            <a:r>
              <a:rPr lang="nl-BE" sz="2400" dirty="0"/>
              <a:t>registreer </a:t>
            </a:r>
            <a:r>
              <a:rPr lang="nl-BE" sz="2400" dirty="0" err="1"/>
              <a:t>handlers</a:t>
            </a:r>
            <a:r>
              <a:rPr lang="nl-BE" sz="2400" dirty="0"/>
              <a:t> in </a:t>
            </a:r>
            <a:r>
              <a:rPr lang="nl-BE" sz="2400" i="1" dirty="0" err="1"/>
              <a:t>Program.cs</a:t>
            </a:r>
            <a:r>
              <a:rPr lang="nl-BE" sz="2400" dirty="0"/>
              <a:t>:</a:t>
            </a:r>
          </a:p>
          <a:p>
            <a:endParaRPr lang="nl-B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D30EDF-4DC3-488D-A31E-583FACA277B8}"/>
              </a:ext>
            </a:extLst>
          </p:cNvPr>
          <p:cNvSpPr txBox="1"/>
          <p:nvPr/>
        </p:nvSpPr>
        <p:spPr>
          <a:xfrm>
            <a:off x="678291" y="2625214"/>
            <a:ext cx="7787283" cy="3077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builder.Services.</a:t>
            </a:r>
            <a:r>
              <a:rPr lang="nl-BE" sz="1400" b="1" dirty="0" err="1">
                <a:solidFill>
                  <a:srgbClr val="74561F"/>
                </a:solidFill>
                <a:latin typeface="Consolas" panose="020B0609020204030204" pitchFamily="49" charset="0"/>
              </a:rPr>
              <a:t>AddScoped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400" dirty="0" err="1">
                <a:solidFill>
                  <a:srgbClr val="4F8291"/>
                </a:solidFill>
                <a:latin typeface="Consolas" panose="020B0609020204030204" pitchFamily="49" charset="0"/>
              </a:rPr>
              <a:t>IAuthorizationHandler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sz="1400" dirty="0" err="1">
                <a:solidFill>
                  <a:srgbClr val="4F8291"/>
                </a:solidFill>
                <a:latin typeface="Consolas" panose="020B0609020204030204" pitchFamily="49" charset="0"/>
              </a:rPr>
              <a:t>IsPostAuthorHandler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&gt;();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50DFB4-8DE8-4944-847D-7E73513D3424}"/>
              </a:ext>
            </a:extLst>
          </p:cNvPr>
          <p:cNvSpPr txBox="1"/>
          <p:nvPr/>
        </p:nvSpPr>
        <p:spPr>
          <a:xfrm>
            <a:off x="678291" y="4065260"/>
            <a:ext cx="103240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000" b="1" dirty="0"/>
              <a:t>Opgelet: </a:t>
            </a:r>
            <a:r>
              <a:rPr lang="nl-BE" b="1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AddScoped</a:t>
            </a:r>
            <a:r>
              <a:rPr lang="nl-BE" sz="2000" dirty="0"/>
              <a:t> want klasse heeft andere </a:t>
            </a:r>
            <a:r>
              <a:rPr lang="nl-BE" sz="2000" dirty="0" err="1"/>
              <a:t>dependency</a:t>
            </a:r>
            <a:r>
              <a:rPr lang="nl-BE" sz="2000" dirty="0"/>
              <a:t> nodig </a:t>
            </a:r>
            <a:br>
              <a:rPr lang="nl-BE" sz="2000" dirty="0"/>
            </a:br>
            <a:r>
              <a:rPr lang="nl-BE" sz="2000" dirty="0"/>
              <a:t>(nl.: instantie van </a:t>
            </a:r>
            <a:r>
              <a:rPr lang="nl-BE" dirty="0" err="1">
                <a:latin typeface="Consolas" panose="020B0609020204030204" pitchFamily="49" charset="0"/>
              </a:rPr>
              <a:t>UserManager</a:t>
            </a:r>
            <a:r>
              <a:rPr lang="nl-BE" dirty="0">
                <a:latin typeface="Consolas" panose="020B0609020204030204" pitchFamily="49" charset="0"/>
              </a:rPr>
              <a:t>&lt;&gt;</a:t>
            </a:r>
            <a:r>
              <a:rPr lang="nl-BE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2581972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B6BEF-7544-4711-ADE3-79C8311C9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Resource-</a:t>
            </a:r>
            <a:r>
              <a:rPr lang="nl-BE" dirty="0" err="1"/>
              <a:t>based</a:t>
            </a:r>
            <a:r>
              <a:rPr lang="nl-BE" dirty="0"/>
              <a:t> </a:t>
            </a:r>
            <a:r>
              <a:rPr lang="nl-BE" dirty="0" err="1"/>
              <a:t>authorization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66422-1914-4A2C-AE08-10E31AC91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296000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Vervolgens autorisatie gebruiken in Controller: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DC3ADC-B1EB-412A-ACF4-C6DE2BAE2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9BDCF3-85AF-4444-BB05-67CD2924B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77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303A0F-22DF-4D0B-8012-B1ED7ABEA9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7FD88F-2C20-42CA-8FF7-4C62BE6A9E0D}"/>
              </a:ext>
            </a:extLst>
          </p:cNvPr>
          <p:cNvSpPr txBox="1"/>
          <p:nvPr/>
        </p:nvSpPr>
        <p:spPr>
          <a:xfrm>
            <a:off x="1160206" y="2015613"/>
            <a:ext cx="7973962" cy="378565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BlogController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nl-BE" sz="1200" dirty="0">
                <a:solidFill>
                  <a:srgbClr val="4F8291"/>
                </a:solidFill>
                <a:latin typeface="Consolas" panose="020B0609020204030204" pitchFamily="49" charset="0"/>
              </a:rPr>
              <a:t>Controller 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readonly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IAuthorizationService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authService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readonly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BlogService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blogService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BlogService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BlogController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IAuthorizationService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authService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_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authService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authService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Authorize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async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Task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 Edit(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id) 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post = _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blogService.</a:t>
            </a:r>
            <a:r>
              <a:rPr lang="nl-BE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GetPost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authResult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await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authService.</a:t>
            </a:r>
            <a:r>
              <a:rPr lang="en-US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AuthorizeAsync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(User, post,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CanEditPost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(!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authResult.Succeeded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ForbidResult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74561F"/>
                </a:solidFill>
                <a:latin typeface="Consolas" panose="020B0609020204030204" pitchFamily="49" charset="0"/>
              </a:rPr>
              <a:t>View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(post);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BD58E0E-54AC-400D-80F0-4991BFD6A20A}"/>
              </a:ext>
            </a:extLst>
          </p:cNvPr>
          <p:cNvCxnSpPr>
            <a:cxnSpLocks/>
          </p:cNvCxnSpPr>
          <p:nvPr/>
        </p:nvCxnSpPr>
        <p:spPr>
          <a:xfrm flipH="1" flipV="1">
            <a:off x="6233653" y="3097162"/>
            <a:ext cx="540773" cy="13765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4039507-4CF0-4823-837E-9DCA56AFEE11}"/>
              </a:ext>
            </a:extLst>
          </p:cNvPr>
          <p:cNvSpPr txBox="1"/>
          <p:nvPr/>
        </p:nvSpPr>
        <p:spPr>
          <a:xfrm>
            <a:off x="6774426" y="3065535"/>
            <a:ext cx="20323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dirty="0" err="1">
                <a:solidFill>
                  <a:srgbClr val="C00000"/>
                </a:solidFill>
              </a:rPr>
              <a:t>depedency</a:t>
            </a:r>
            <a:r>
              <a:rPr lang="nl-BE" sz="1600" b="1" dirty="0">
                <a:solidFill>
                  <a:srgbClr val="C00000"/>
                </a:solidFill>
              </a:rPr>
              <a:t> </a:t>
            </a:r>
            <a:r>
              <a:rPr lang="nl-BE" sz="1600" b="1" dirty="0" err="1">
                <a:solidFill>
                  <a:srgbClr val="C00000"/>
                </a:solidFill>
              </a:rPr>
              <a:t>injection</a:t>
            </a:r>
            <a:endParaRPr lang="nl-BE" sz="1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552096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C7C36-A4C0-4B46-A622-60107DDD6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Elementen verbergen in </a:t>
            </a:r>
            <a:r>
              <a:rPr lang="nl-BE" dirty="0" err="1"/>
              <a:t>Razor</a:t>
            </a:r>
            <a:r>
              <a:rPr lang="nl-BE" dirty="0"/>
              <a:t>-view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1E722-0153-4D15-89EB-ACAFCC68D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291" y="1959252"/>
            <a:ext cx="9905077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Indien gebruiker actie niet mag uitvoeren </a:t>
            </a:r>
            <a:r>
              <a:rPr lang="nl-BE" sz="2400" dirty="0">
                <a:sym typeface="Wingdings" panose="05000000000000000000" pitchFamily="2" charset="2"/>
              </a:rPr>
              <a:t> elementen verbergen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>
                <a:sym typeface="Wingdings" panose="05000000000000000000" pitchFamily="2" charset="2"/>
              </a:rPr>
              <a:t>Voorbeeld: indien gebruiker post niet mag bewerken  geen </a:t>
            </a:r>
            <a:r>
              <a:rPr lang="nl-BE" sz="2000" dirty="0" err="1">
                <a:sym typeface="Wingdings" panose="05000000000000000000" pitchFamily="2" charset="2"/>
              </a:rPr>
              <a:t>Edit</a:t>
            </a:r>
            <a:r>
              <a:rPr lang="nl-BE" sz="2000" dirty="0">
                <a:sym typeface="Wingdings" panose="05000000000000000000" pitchFamily="2" charset="2"/>
              </a:rPr>
              <a:t>-knop genereren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>
                <a:sym typeface="Wingdings" panose="05000000000000000000" pitchFamily="2" charset="2"/>
              </a:rPr>
              <a:t>Twee eenvoudige manieren:</a:t>
            </a:r>
          </a:p>
          <a:p>
            <a:pPr marL="815363" lvl="1" indent="-457200">
              <a:buFont typeface="+mj-lt"/>
              <a:buAutoNum type="arabicPeriod"/>
            </a:pPr>
            <a:r>
              <a:rPr lang="nl-BE" sz="2000" dirty="0">
                <a:sym typeface="Wingdings" panose="05000000000000000000" pitchFamily="2" charset="2"/>
              </a:rPr>
              <a:t>Extra property toevoegen in </a:t>
            </a:r>
            <a:r>
              <a:rPr lang="nl-BE" sz="2000" dirty="0" err="1">
                <a:sym typeface="Wingdings" panose="05000000000000000000" pitchFamily="2" charset="2"/>
              </a:rPr>
              <a:t>ViewModel</a:t>
            </a:r>
            <a:r>
              <a:rPr lang="nl-BE" sz="2000" dirty="0">
                <a:sym typeface="Wingdings" panose="05000000000000000000" pitchFamily="2" charset="2"/>
              </a:rPr>
              <a:t> (voorbeeld: </a:t>
            </a:r>
            <a:r>
              <a:rPr lang="nl-BE" sz="2000" dirty="0" err="1">
                <a:sym typeface="Wingdings" panose="05000000000000000000" pitchFamily="2" charset="2"/>
              </a:rPr>
              <a:t>CanEditPost</a:t>
            </a:r>
            <a:r>
              <a:rPr lang="nl-BE" sz="2000" dirty="0">
                <a:sym typeface="Wingdings" panose="05000000000000000000" pitchFamily="2" charset="2"/>
              </a:rPr>
              <a:t>). </a:t>
            </a:r>
            <a:br>
              <a:rPr lang="nl-BE" sz="2000" dirty="0">
                <a:sym typeface="Wingdings" panose="05000000000000000000" pitchFamily="2" charset="2"/>
              </a:rPr>
            </a:br>
            <a:r>
              <a:rPr lang="nl-BE" sz="2000" dirty="0">
                <a:sym typeface="Wingdings" panose="05000000000000000000" pitchFamily="2" charset="2"/>
              </a:rPr>
              <a:t>Nadien in View waarde van property controleren</a:t>
            </a:r>
          </a:p>
          <a:p>
            <a:pPr marL="815363" lvl="1" indent="-457200">
              <a:buFont typeface="+mj-lt"/>
              <a:buAutoNum type="arabicPeriod"/>
            </a:pPr>
            <a:r>
              <a:rPr lang="nl-BE" sz="2000" dirty="0" err="1"/>
              <a:t>IAuthorizationService</a:t>
            </a:r>
            <a:r>
              <a:rPr lang="nl-BE" sz="2000" dirty="0"/>
              <a:t> gebruiken in view (zoals in controller, zie vorige)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C0A4DB-E468-4456-A7C2-697CF264A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C2EDF1-6AEF-48E4-AD14-DF5E3C9C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78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DF5B31D-58D6-4E6D-9D20-469250B198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9281524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55F38-89CA-4AC3-A264-A3296FBA1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Elementen verbergen in </a:t>
            </a:r>
            <a:r>
              <a:rPr lang="nl-BE" dirty="0" err="1"/>
              <a:t>Razor</a:t>
            </a:r>
            <a:r>
              <a:rPr lang="nl-BE" dirty="0"/>
              <a:t>-view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B693D-D34E-4A22-BB2E-35D6224F3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923" y="1508102"/>
            <a:ext cx="9281274" cy="36512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b="1" dirty="0"/>
              <a:t>Optie 1: </a:t>
            </a:r>
            <a:r>
              <a:rPr lang="nl-BE" sz="2400" dirty="0"/>
              <a:t>extra property in </a:t>
            </a:r>
            <a:r>
              <a:rPr lang="nl-BE" sz="2400" dirty="0" err="1"/>
              <a:t>ViewModel</a:t>
            </a:r>
            <a:endParaRPr lang="nl-BE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46A169-8460-45CC-AC13-6F946731E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1C3254-1AEF-440D-BE00-B191791A1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79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73F8DA-9E3C-4695-A4F3-82B859637B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D94BBF-C3AF-4A66-A37B-BCB964648604}"/>
              </a:ext>
            </a:extLst>
          </p:cNvPr>
          <p:cNvSpPr txBox="1"/>
          <p:nvPr/>
        </p:nvSpPr>
        <p:spPr>
          <a:xfrm>
            <a:off x="861246" y="3449574"/>
            <a:ext cx="7315200" cy="193899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async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4F8291"/>
                </a:solidFill>
                <a:latin typeface="Consolas" panose="020B0609020204030204" pitchFamily="49" charset="0"/>
              </a:rPr>
              <a:t>Task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 Edit(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id) 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post = _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blogService.</a:t>
            </a:r>
            <a:r>
              <a:rPr lang="nl-BE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GetPost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authResult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await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authService.</a:t>
            </a:r>
            <a:r>
              <a:rPr lang="en-US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AuthorizeAsync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(User, post,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CanEditPost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PostDetailViewModel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viewModel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PostDetailViewModel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viewModel.Post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= post;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viewModel.CanEdit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nl-BE" sz="12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authResult.Succeeded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74561F"/>
                </a:solidFill>
                <a:latin typeface="Consolas" panose="020B0609020204030204" pitchFamily="49" charset="0"/>
              </a:rPr>
              <a:t>View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viewModel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4E4B83-16A1-4890-902D-0DE0C92FC70F}"/>
              </a:ext>
            </a:extLst>
          </p:cNvPr>
          <p:cNvSpPr txBox="1"/>
          <p:nvPr/>
        </p:nvSpPr>
        <p:spPr>
          <a:xfrm>
            <a:off x="861246" y="2202830"/>
            <a:ext cx="4546496" cy="83099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PostDetailViewModel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4F8291"/>
                </a:solidFill>
                <a:latin typeface="Consolas" panose="020B0609020204030204" pitchFamily="49" charset="0"/>
              </a:rPr>
              <a:t>Post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Post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CanEdit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/>
          </a:p>
        </p:txBody>
      </p:sp>
    </p:spTree>
    <p:extLst>
      <p:ext uri="{BB962C8B-B14F-4D97-AF65-F5344CB8AC3E}">
        <p14:creationId xmlns:p14="http://schemas.microsoft.com/office/powerpoint/2010/main" val="249793222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55F38-89CA-4AC3-A264-A3296FBA1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Elementen verbergen in </a:t>
            </a:r>
            <a:r>
              <a:rPr lang="nl-BE" dirty="0" err="1"/>
              <a:t>Razor</a:t>
            </a:r>
            <a:r>
              <a:rPr lang="nl-BE" dirty="0"/>
              <a:t>-view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B693D-D34E-4A22-BB2E-35D6224F3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923" y="2206194"/>
            <a:ext cx="9281274" cy="36512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b="1" dirty="0"/>
              <a:t>Optie 2: gebruik maken van </a:t>
            </a:r>
            <a:r>
              <a:rPr lang="nl-BE" sz="2400" b="1" dirty="0" err="1"/>
              <a:t>IAuthorizationService</a:t>
            </a:r>
            <a:r>
              <a:rPr lang="nl-BE" sz="2400" b="1" dirty="0"/>
              <a:t> in View</a:t>
            </a:r>
            <a:endParaRPr lang="nl-BE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46A169-8460-45CC-AC13-6F946731E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1C3254-1AEF-440D-BE00-B191791A1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80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73F8DA-9E3C-4695-A4F3-82B859637B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6969E1-ACB3-443F-948A-150D22DFEFB4}"/>
              </a:ext>
            </a:extLst>
          </p:cNvPr>
          <p:cNvSpPr txBox="1"/>
          <p:nvPr/>
        </p:nvSpPr>
        <p:spPr>
          <a:xfrm>
            <a:off x="861246" y="2989009"/>
            <a:ext cx="9938206" cy="138499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nl-BE" sz="1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nl-BE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Microsoft.AspNetCore.Authorization</a:t>
            </a:r>
            <a:endParaRPr lang="nl-BE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4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nl-BE" sz="14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inject</a:t>
            </a:r>
            <a:r>
              <a:rPr lang="nl-BE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b="1" dirty="0" err="1">
                <a:solidFill>
                  <a:srgbClr val="4F8291"/>
                </a:solidFill>
                <a:latin typeface="Consolas" panose="020B0609020204030204" pitchFamily="49" charset="0"/>
              </a:rPr>
              <a:t>IAuthorizationService</a:t>
            </a:r>
            <a:r>
              <a:rPr lang="nl-BE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authService</a:t>
            </a:r>
            <a:endParaRPr lang="nl-BE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nl-BE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await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authService.</a:t>
            </a:r>
            <a:r>
              <a:rPr lang="en-US" sz="1400" b="1" dirty="0" err="1">
                <a:solidFill>
                  <a:srgbClr val="74561F"/>
                </a:solidFill>
                <a:latin typeface="Consolas" panose="020B0609020204030204" pitchFamily="49" charset="0"/>
              </a:rPr>
              <a:t>AuthorizeAsync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(User,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Model.Post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CanEditPost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)).Succeeded) 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800080"/>
                </a:solidFill>
                <a:latin typeface="Consolas" panose="020B0609020204030204" pitchFamily="49" charset="0"/>
              </a:rPr>
              <a:t>asp-action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="Edit"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800080"/>
                </a:solidFill>
                <a:latin typeface="Consolas" panose="020B0609020204030204" pitchFamily="49" charset="0"/>
              </a:rPr>
              <a:t>asp-route-id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Model.Post.Id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“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btn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btn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-primary"&gt;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Edit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US" sz="1400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nl-BE" sz="1400" dirty="0"/>
          </a:p>
        </p:txBody>
      </p:sp>
    </p:spTree>
    <p:extLst>
      <p:ext uri="{BB962C8B-B14F-4D97-AF65-F5344CB8AC3E}">
        <p14:creationId xmlns:p14="http://schemas.microsoft.com/office/powerpoint/2010/main" val="147360841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2F591-B6C3-45BF-8E64-639015AC9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Seeden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BE3C57-6168-42A1-A207-DC78798158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0ECD40-9844-47F9-BE36-199B3CDE0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0E666E-889C-4C16-A30B-DD2A46058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81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013A01-740C-4063-8253-17593090C9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1107844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E7D1B-EB9B-4D46-A69A-D335426AD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Seeden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FF5A3-D8A9-439E-8A29-FF3FB32DA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929752"/>
            <a:ext cx="6102483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Administrator kan nieuwe gebruikers aanmaken 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b="1" dirty="0"/>
              <a:t>MAAR: </a:t>
            </a:r>
            <a:r>
              <a:rPr lang="nl-BE" sz="2000" dirty="0"/>
              <a:t>hoe wordt account van administrator gemaakt?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b="1" dirty="0"/>
              <a:t>Oplossing: </a:t>
            </a:r>
            <a:r>
              <a:rPr lang="nl-BE" sz="2400" dirty="0"/>
              <a:t>aantal standaard gebruikers aanmaken bij opstarten van applicatie </a:t>
            </a:r>
            <a:br>
              <a:rPr lang="nl-BE" sz="2400" dirty="0"/>
            </a:br>
            <a:r>
              <a:rPr lang="nl-BE" sz="2400" dirty="0"/>
              <a:t>(= </a:t>
            </a:r>
            <a:r>
              <a:rPr lang="nl-BE" sz="2400" dirty="0" err="1"/>
              <a:t>seeding</a:t>
            </a:r>
            <a:r>
              <a:rPr lang="nl-BE" sz="2400" dirty="0"/>
              <a:t>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93579D-5697-4FC7-931B-C87DDB0B9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7E6FBD-4134-4506-AFCC-C36E62792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82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E808B9-1BC5-453A-8087-F9B1DDC439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394033-25C7-43BB-9BF5-9311AE527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9400" y="2082551"/>
            <a:ext cx="4788309" cy="269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75244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17B90-D508-499B-86DF-B9FAF655F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Seeden</a:t>
            </a: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FF3475-C3DA-4CBE-96C1-AE0C442A0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authenticatie</a:t>
            </a:r>
            <a:r>
              <a:rPr lang="en-US" dirty="0"/>
              <a:t> &amp; </a:t>
            </a:r>
            <a:r>
              <a:rPr lang="en-US" dirty="0" err="1"/>
              <a:t>autorisatie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45C1BE-941A-41F3-9101-899C5200C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83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858295B-00CD-4D97-8336-DE02D3D648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BB6F0F-EB0F-4046-AD3E-45C2FC67EA4E}"/>
              </a:ext>
            </a:extLst>
          </p:cNvPr>
          <p:cNvSpPr txBox="1"/>
          <p:nvPr/>
        </p:nvSpPr>
        <p:spPr>
          <a:xfrm>
            <a:off x="2575317" y="954000"/>
            <a:ext cx="7816836" cy="517064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scope =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app.Services.CreateScope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())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008000"/>
                </a:solidFill>
                <a:latin typeface="Cascadia Mono" panose="020B0609020000020004" pitchFamily="49" charset="0"/>
              </a:rPr>
              <a:t>//Resolve ASP .NET Core Identity with DI help</a:t>
            </a:r>
            <a:endParaRPr lang="en-US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userManager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scope.ServiceProvider.</a:t>
            </a:r>
            <a:r>
              <a:rPr lang="nl-BE" sz="1100" dirty="0" err="1">
                <a:solidFill>
                  <a:srgbClr val="74561F"/>
                </a:solidFill>
                <a:latin typeface="Cascadia Mono" panose="020B0609020000020004" pitchFamily="49" charset="0"/>
              </a:rPr>
              <a:t>GetService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nl-BE" sz="11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UserManager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nl-BE" sz="11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IdentityUser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&gt;&gt;();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userManager.FindByEmailAsync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"admin@test.be"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).Result ==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nl-BE" sz="1100" dirty="0">
                <a:solidFill>
                  <a:srgbClr val="008000"/>
                </a:solidFill>
                <a:latin typeface="Cascadia Mono" panose="020B0609020000020004" pitchFamily="49" charset="0"/>
              </a:rPr>
              <a:t>//</a:t>
            </a:r>
            <a:r>
              <a:rPr lang="nl-BE" sz="11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Create</a:t>
            </a:r>
            <a:r>
              <a:rPr lang="nl-BE" sz="1100" dirty="0">
                <a:solidFill>
                  <a:srgbClr val="008000"/>
                </a:solidFill>
                <a:latin typeface="Cascadia Mono" panose="020B0609020000020004" pitchFamily="49" charset="0"/>
              </a:rPr>
              <a:t> new user</a:t>
            </a:r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nl-BE" sz="11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IdentityUser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adminUser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nl-BE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1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IdentityUser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adminUser.UserName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nl-BE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"admin@test.be"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adminUser.Email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"admin@test.be"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adminUser.EmailConfirmed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nl-BE" sz="1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nl-BE" sz="1100" dirty="0">
                <a:solidFill>
                  <a:srgbClr val="008000"/>
                </a:solidFill>
                <a:latin typeface="Cascadia Mono" panose="020B0609020000020004" pitchFamily="49" charset="0"/>
              </a:rPr>
              <a:t>//nodig om check te </a:t>
            </a:r>
            <a:r>
              <a:rPr lang="nl-BE" sz="11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bypassen</a:t>
            </a:r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nl-BE" sz="1100" dirty="0">
                <a:solidFill>
                  <a:srgbClr val="008000"/>
                </a:solidFill>
                <a:latin typeface="Cascadia Mono" panose="020B0609020000020004" pitchFamily="49" charset="0"/>
              </a:rPr>
              <a:t>//save user </a:t>
            </a:r>
            <a:r>
              <a:rPr lang="nl-BE" sz="11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with</a:t>
            </a:r>
            <a:r>
              <a:rPr lang="nl-BE" sz="1100" dirty="0">
                <a:solidFill>
                  <a:srgbClr val="008000"/>
                </a:solidFill>
                <a:latin typeface="Cascadia Mono" panose="020B0609020000020004" pitchFamily="49" charset="0"/>
              </a:rPr>
              <a:t> password</a:t>
            </a:r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nl-BE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result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userManager.</a:t>
            </a:r>
            <a:r>
              <a:rPr lang="nl-BE" sz="1100" dirty="0" err="1">
                <a:solidFill>
                  <a:srgbClr val="74561F"/>
                </a:solidFill>
                <a:latin typeface="Cascadia Mono" panose="020B0609020000020004" pitchFamily="49" charset="0"/>
              </a:rPr>
              <a:t>CreateAsync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adminUser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nl-BE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"Admin123!"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).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Result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nl-BE" sz="1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result.Succeeded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nl-BE" sz="1100" dirty="0">
                <a:solidFill>
                  <a:srgbClr val="008000"/>
                </a:solidFill>
                <a:latin typeface="Cascadia Mono" panose="020B0609020000020004" pitchFamily="49" charset="0"/>
              </a:rPr>
              <a:t>//</a:t>
            </a:r>
            <a:r>
              <a:rPr lang="nl-BE" sz="11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define</a:t>
            </a:r>
            <a:r>
              <a:rPr lang="nl-BE" sz="1100" dirty="0">
                <a:solidFill>
                  <a:srgbClr val="008000"/>
                </a:solidFill>
                <a:latin typeface="Cascadia Mono" panose="020B0609020000020004" pitchFamily="49" charset="0"/>
              </a:rPr>
              <a:t> claims </a:t>
            </a:r>
            <a:r>
              <a:rPr lang="nl-BE" sz="11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for</a:t>
            </a:r>
            <a:r>
              <a:rPr lang="nl-BE" sz="1100" dirty="0">
                <a:solidFill>
                  <a:srgbClr val="008000"/>
                </a:solidFill>
                <a:latin typeface="Cascadia Mono" panose="020B0609020000020004" pitchFamily="49" charset="0"/>
              </a:rPr>
              <a:t> user</a:t>
            </a:r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nl-BE" sz="1100" dirty="0">
                <a:solidFill>
                  <a:srgbClr val="4F8291"/>
                </a:solidFill>
                <a:latin typeface="Cascadia Mono" panose="020B0609020000020004" pitchFamily="49" charset="0"/>
              </a:rPr>
              <a:t>Claim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[] claims = </a:t>
            </a:r>
            <a:r>
              <a:rPr lang="nl-BE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100" dirty="0">
                <a:solidFill>
                  <a:srgbClr val="4F8291"/>
                </a:solidFill>
                <a:latin typeface="Cascadia Mono" panose="020B0609020000020004" pitchFamily="49" charset="0"/>
              </a:rPr>
              <a:t>Claim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[] {</a:t>
            </a: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4F8291"/>
                </a:solidFill>
                <a:latin typeface="Cascadia Mono" panose="020B0609020000020004" pitchFamily="49" charset="0"/>
              </a:rPr>
              <a:t>Claim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1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IsAdmin</a:t>
            </a:r>
            <a:r>
              <a:rPr lang="en-US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.Empty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),</a:t>
            </a: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4F8291"/>
                </a:solidFill>
                <a:latin typeface="Cascadia Mono" panose="020B0609020000020004" pitchFamily="49" charset="0"/>
              </a:rPr>
              <a:t>Claim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100" dirty="0" err="1">
                <a:solidFill>
                  <a:srgbClr val="4F8291"/>
                </a:solidFill>
                <a:latin typeface="Cascadia Mono" panose="020B0609020000020004" pitchFamily="49" charset="0"/>
              </a:rPr>
              <a:t>ClaimTypes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.DateOfBirth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"03/12/1995"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};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100" dirty="0">
                <a:solidFill>
                  <a:srgbClr val="008000"/>
                </a:solidFill>
                <a:latin typeface="Cascadia Mono" panose="020B0609020000020004" pitchFamily="49" charset="0"/>
              </a:rPr>
              <a:t>//add array of claims to user</a:t>
            </a:r>
            <a:endParaRPr lang="en-US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userManager.</a:t>
            </a:r>
            <a:r>
              <a:rPr lang="nl-BE" sz="1100" dirty="0" err="1">
                <a:solidFill>
                  <a:srgbClr val="74561F"/>
                </a:solidFill>
                <a:latin typeface="Cascadia Mono" panose="020B0609020000020004" pitchFamily="49" charset="0"/>
              </a:rPr>
              <a:t>AddClaimsAsync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adminUser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, claims).</a:t>
            </a:r>
            <a:r>
              <a:rPr lang="nl-BE" sz="1100" dirty="0" err="1">
                <a:solidFill>
                  <a:srgbClr val="74561F"/>
                </a:solidFill>
                <a:latin typeface="Cascadia Mono" panose="020B0609020000020004" pitchFamily="49" charset="0"/>
              </a:rPr>
              <a:t>Wait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nl-BE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5805B-C4FE-4954-A481-073BED46D516}"/>
              </a:ext>
            </a:extLst>
          </p:cNvPr>
          <p:cNvSpPr txBox="1"/>
          <p:nvPr/>
        </p:nvSpPr>
        <p:spPr>
          <a:xfrm>
            <a:off x="2537646" y="595382"/>
            <a:ext cx="487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Toevoegen aan </a:t>
            </a:r>
            <a:r>
              <a:rPr lang="nl-BE" i="1"/>
              <a:t>Program.</a:t>
            </a:r>
            <a:r>
              <a:rPr lang="nl-BE" i="1" dirty="0" err="1"/>
              <a:t>cs</a:t>
            </a:r>
            <a:r>
              <a:rPr lang="nl-BE" i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011829126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disee_2">
      <a:dk1>
        <a:srgbClr val="1F416B"/>
      </a:dk1>
      <a:lt1>
        <a:srgbClr val="FFFFFF"/>
      </a:lt1>
      <a:dk2>
        <a:srgbClr val="181716"/>
      </a:dk2>
      <a:lt2>
        <a:srgbClr val="E7E6E6"/>
      </a:lt2>
      <a:accent1>
        <a:srgbClr val="00639C"/>
      </a:accent1>
      <a:accent2>
        <a:srgbClr val="E73F16"/>
      </a:accent2>
      <a:accent3>
        <a:srgbClr val="3CB497"/>
      </a:accent3>
      <a:accent4>
        <a:srgbClr val="D3DDF2"/>
      </a:accent4>
      <a:accent5>
        <a:srgbClr val="A3E1D2"/>
      </a:accent5>
      <a:accent6>
        <a:srgbClr val="96280E"/>
      </a:accent6>
      <a:hlink>
        <a:srgbClr val="0563C1"/>
      </a:hlink>
      <a:folHlink>
        <a:srgbClr val="954F72"/>
      </a:folHlink>
    </a:clrScheme>
    <a:fontScheme name="Odisee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</a:spPr>
      <a:bodyPr wrap="square" lIns="0" tIns="0" rIns="0" bIns="0" rtlCol="0" anchor="ctr">
        <a:spAutoFit/>
      </a:bodyPr>
      <a:lstStyle>
        <a:defPPr algn="l">
          <a:defRPr sz="1600" b="1" dirty="0" err="1">
            <a:latin typeface="+mj-lt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15663</TotalTime>
  <Words>6532</Words>
  <Application>Microsoft Office PowerPoint</Application>
  <PresentationFormat>Widescreen</PresentationFormat>
  <Paragraphs>1080</Paragraphs>
  <Slides>83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90" baseType="lpstr">
      <vt:lpstr>Arial</vt:lpstr>
      <vt:lpstr>Calibri</vt:lpstr>
      <vt:lpstr>Calibri Light</vt:lpstr>
      <vt:lpstr>Cascadia Mono</vt:lpstr>
      <vt:lpstr>Consolas</vt:lpstr>
      <vt:lpstr>Wingdings</vt:lpstr>
      <vt:lpstr>Kantoorthema</vt:lpstr>
      <vt:lpstr>PowerPoint Presentation</vt:lpstr>
      <vt:lpstr>Business Application Development</vt:lpstr>
      <vt:lpstr>PowerPoint Presentation</vt:lpstr>
      <vt:lpstr>Cookies</vt:lpstr>
      <vt:lpstr>Wat zijn Cookies?</vt:lpstr>
      <vt:lpstr>Wat zijn Cookies?</vt:lpstr>
      <vt:lpstr>Wat zijn Cookies?</vt:lpstr>
      <vt:lpstr>Cookies instellen</vt:lpstr>
      <vt:lpstr>Cookies instellen</vt:lpstr>
      <vt:lpstr>Cookies instellen</vt:lpstr>
      <vt:lpstr>Cookies uitlezen</vt:lpstr>
      <vt:lpstr>Cookies verwijderen</vt:lpstr>
      <vt:lpstr>Sessies</vt:lpstr>
      <vt:lpstr>Wat zijn Sessies?</vt:lpstr>
      <vt:lpstr>Wat zijn Sessies?</vt:lpstr>
      <vt:lpstr>Hoe werken Sessions?</vt:lpstr>
      <vt:lpstr>Gebruik van Sessies</vt:lpstr>
      <vt:lpstr>Sessie Configureren</vt:lpstr>
      <vt:lpstr>Sessie Configureren</vt:lpstr>
      <vt:lpstr>Gegevens bewaren in een Sessie</vt:lpstr>
      <vt:lpstr>Gegevens ophalen uit Sessie</vt:lpstr>
      <vt:lpstr>Complexe objecten bewaren/ophalen</vt:lpstr>
      <vt:lpstr>Complexe objecten bewaren/ophalen</vt:lpstr>
      <vt:lpstr>Complexe objecten bewaren/ophalen</vt:lpstr>
      <vt:lpstr>Waarde uit sessie verwijderen</vt:lpstr>
      <vt:lpstr>Authenticatie</vt:lpstr>
      <vt:lpstr>Wat is Authenticatie?</vt:lpstr>
      <vt:lpstr>Users en Claims in ASP.NET Core</vt:lpstr>
      <vt:lpstr>ASP.NET Core Identity gebruiken</vt:lpstr>
      <vt:lpstr>Gegenereerde code: DbContext</vt:lpstr>
      <vt:lpstr>Gegenereerde code: Connection string</vt:lpstr>
      <vt:lpstr>Gegenereerde code: configuratie (Program.cs)</vt:lpstr>
      <vt:lpstr>Gegenereerde code: configuratie (Program.cs)</vt:lpstr>
      <vt:lpstr>Gegenereerde code: partial view navigatiebalk</vt:lpstr>
      <vt:lpstr>Database</vt:lpstr>
      <vt:lpstr>Template</vt:lpstr>
      <vt:lpstr>Customizing</vt:lpstr>
      <vt:lpstr>Instellingen in ConfigureServices (Program.cs)</vt:lpstr>
      <vt:lpstr>Custom User-klasse</vt:lpstr>
      <vt:lpstr>Custom User-klasse</vt:lpstr>
      <vt:lpstr>Custom User-klasse</vt:lpstr>
      <vt:lpstr>Views en logica aanpassen</vt:lpstr>
      <vt:lpstr>Views en logica aanpassen</vt:lpstr>
      <vt:lpstr>Views en logica aanpassen</vt:lpstr>
      <vt:lpstr>Views en logica aanpassen</vt:lpstr>
      <vt:lpstr>Views en logica aanpassen</vt:lpstr>
      <vt:lpstr>Views en logica aanpassen</vt:lpstr>
      <vt:lpstr>Views en logica aanpassen</vt:lpstr>
      <vt:lpstr>Lock-out enablen</vt:lpstr>
      <vt:lpstr>Lock-out configureren</vt:lpstr>
      <vt:lpstr>User gebruiken in Controller</vt:lpstr>
      <vt:lpstr>User gebruiken in Controller</vt:lpstr>
      <vt:lpstr>UserManager</vt:lpstr>
      <vt:lpstr>Autorisatie</vt:lpstr>
      <vt:lpstr>Authenticatie vs Autorisatie</vt:lpstr>
      <vt:lpstr>Restrictie: ingelogde gebruikers</vt:lpstr>
      <vt:lpstr>Restrictie: ingelogde gebruikers</vt:lpstr>
      <vt:lpstr>Restrictie: ingelogde gebruikers</vt:lpstr>
      <vt:lpstr>Claim-based autorisatie</vt:lpstr>
      <vt:lpstr>Claim-based autorisatie</vt:lpstr>
      <vt:lpstr>Claim toekennen aan gebruiker</vt:lpstr>
      <vt:lpstr>Claim-based autorisatie: Policies</vt:lpstr>
      <vt:lpstr>Claim-based autorisatie: Policies</vt:lpstr>
      <vt:lpstr>Claim-based autorisatie: Policies</vt:lpstr>
      <vt:lpstr>Policies: requirements &amp; handlers</vt:lpstr>
      <vt:lpstr>Policies: requirements &amp; handlers</vt:lpstr>
      <vt:lpstr>Policies: requirements &amp; handlers</vt:lpstr>
      <vt:lpstr>Policies: requirements &amp; handlers</vt:lpstr>
      <vt:lpstr>Policies: requirements &amp; handlers</vt:lpstr>
      <vt:lpstr>Policies: requirements &amp; handlers</vt:lpstr>
      <vt:lpstr>Policies: requirements &amp; handlers</vt:lpstr>
      <vt:lpstr>Policies: requirements &amp; handlers</vt:lpstr>
      <vt:lpstr>Resource-based authorization</vt:lpstr>
      <vt:lpstr>Resource-based authorization</vt:lpstr>
      <vt:lpstr>Resource-based authorization</vt:lpstr>
      <vt:lpstr>Resource-based authorization</vt:lpstr>
      <vt:lpstr>Resource-based authorization</vt:lpstr>
      <vt:lpstr>Elementen verbergen in Razor-view</vt:lpstr>
      <vt:lpstr>Elementen verbergen in Razor-view</vt:lpstr>
      <vt:lpstr>Elementen verbergen in Razor-view</vt:lpstr>
      <vt:lpstr>Seeden</vt:lpstr>
      <vt:lpstr>Seeden</vt:lpstr>
      <vt:lpstr>Seeden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arn bollen</dc:creator>
  <cp:lastModifiedBy>Sam Van Buggenhout (u0132146)</cp:lastModifiedBy>
  <cp:revision>963</cp:revision>
  <dcterms:created xsi:type="dcterms:W3CDTF">2019-09-02T13:39:39Z</dcterms:created>
  <dcterms:modified xsi:type="dcterms:W3CDTF">2026-03-23T17:31:53Z</dcterms:modified>
</cp:coreProperties>
</file>