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8"/>
  </p:notesMasterIdLst>
  <p:sldIdLst>
    <p:sldId id="261" r:id="rId5"/>
    <p:sldId id="256" r:id="rId6"/>
    <p:sldId id="262" r:id="rId7"/>
    <p:sldId id="263" r:id="rId8"/>
    <p:sldId id="264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297" r:id="rId19"/>
    <p:sldId id="307" r:id="rId20"/>
    <p:sldId id="308" r:id="rId21"/>
    <p:sldId id="310" r:id="rId22"/>
    <p:sldId id="311" r:id="rId23"/>
    <p:sldId id="312" r:id="rId24"/>
    <p:sldId id="314" r:id="rId25"/>
    <p:sldId id="313" r:id="rId26"/>
    <p:sldId id="317" r:id="rId27"/>
    <p:sldId id="333" r:id="rId28"/>
    <p:sldId id="334" r:id="rId29"/>
    <p:sldId id="335" r:id="rId30"/>
    <p:sldId id="315" r:id="rId31"/>
    <p:sldId id="325" r:id="rId32"/>
    <p:sldId id="326" r:id="rId33"/>
    <p:sldId id="327" r:id="rId34"/>
    <p:sldId id="349" r:id="rId35"/>
    <p:sldId id="341" r:id="rId36"/>
    <p:sldId id="348" r:id="rId37"/>
    <p:sldId id="337" r:id="rId38"/>
    <p:sldId id="338" r:id="rId39"/>
    <p:sldId id="339" r:id="rId40"/>
    <p:sldId id="340" r:id="rId41"/>
    <p:sldId id="342" r:id="rId42"/>
    <p:sldId id="343" r:id="rId43"/>
    <p:sldId id="344" r:id="rId44"/>
    <p:sldId id="345" r:id="rId45"/>
    <p:sldId id="346" r:id="rId46"/>
    <p:sldId id="347" r:id="rId47"/>
    <p:sldId id="316" r:id="rId48"/>
    <p:sldId id="329" r:id="rId49"/>
    <p:sldId id="330" r:id="rId50"/>
    <p:sldId id="331" r:id="rId51"/>
    <p:sldId id="350" r:id="rId52"/>
    <p:sldId id="351" r:id="rId53"/>
    <p:sldId id="352" r:id="rId54"/>
    <p:sldId id="353" r:id="rId55"/>
    <p:sldId id="354" r:id="rId56"/>
    <p:sldId id="355" r:id="rId57"/>
    <p:sldId id="356" r:id="rId58"/>
    <p:sldId id="358" r:id="rId59"/>
    <p:sldId id="357" r:id="rId60"/>
    <p:sldId id="336" r:id="rId61"/>
    <p:sldId id="318" r:id="rId62"/>
    <p:sldId id="319" r:id="rId63"/>
    <p:sldId id="320" r:id="rId64"/>
    <p:sldId id="322" r:id="rId65"/>
    <p:sldId id="321" r:id="rId66"/>
    <p:sldId id="323" r:id="rId67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1DFF"/>
    <a:srgbClr val="008000"/>
    <a:srgbClr val="2B91AF"/>
    <a:srgbClr val="E7EAEF"/>
    <a:srgbClr val="CBD3DE"/>
    <a:srgbClr val="78B9CC"/>
    <a:srgbClr val="339933"/>
    <a:srgbClr val="74561F"/>
    <a:srgbClr val="4F8291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7" autoAdjust="0"/>
    <p:restoredTop sz="92839" autoAdjust="0"/>
  </p:normalViewPr>
  <p:slideViewPr>
    <p:cSldViewPr snapToGrid="0">
      <p:cViewPr varScale="1">
        <p:scale>
          <a:sx n="99" d="100"/>
          <a:sy n="99" d="100"/>
        </p:scale>
        <p:origin x="109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Van Buggenhout (u0132146)" userId="77de8a13-220e-4226-a82f-c9f4c6ce0102" providerId="ADAL" clId="{FE8A2003-6204-4F5F-B3DC-4D4150888483}"/>
    <pc:docChg chg="modSld">
      <pc:chgData name="Sam Van Buggenhout (u0132146)" userId="77de8a13-220e-4226-a82f-c9f4c6ce0102" providerId="ADAL" clId="{FE8A2003-6204-4F5F-B3DC-4D4150888483}" dt="2026-03-17T08:42:37.635" v="3" actId="20577"/>
      <pc:docMkLst>
        <pc:docMk/>
      </pc:docMkLst>
      <pc:sldChg chg="modSp mod">
        <pc:chgData name="Sam Van Buggenhout (u0132146)" userId="77de8a13-220e-4226-a82f-c9f4c6ce0102" providerId="ADAL" clId="{FE8A2003-6204-4F5F-B3DC-4D4150888483}" dt="2026-03-17T08:42:37.635" v="3" actId="20577"/>
        <pc:sldMkLst>
          <pc:docMk/>
          <pc:sldMk cId="1410289600" sldId="256"/>
        </pc:sldMkLst>
        <pc:spChg chg="mod">
          <ac:chgData name="Sam Van Buggenhout (u0132146)" userId="77de8a13-220e-4226-a82f-c9f4c6ce0102" providerId="ADAL" clId="{FE8A2003-6204-4F5F-B3DC-4D4150888483}" dt="2026-03-17T08:42:37.635" v="3" actId="20577"/>
          <ac:spMkLst>
            <pc:docMk/>
            <pc:sldMk cId="1410289600" sldId="256"/>
            <ac:spMk id="7" creationId="{38443782-7588-4BA1-A888-94A8DEFEE0F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BF3A7-A7E5-42B6-9154-500A7CB5E3E8}" type="datetimeFigureOut">
              <a:rPr lang="nl-BE" smtClean="0"/>
              <a:t>17/03/2026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6FAF20-346D-4074-B74A-C2F29A046F4B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21578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BRON: https://www.castsoftware.com/glossary/what-is-software-architecture-tools-design-definition-explanation-best</a:t>
            </a:r>
          </a:p>
          <a:p>
            <a:r>
              <a:rPr lang="nl-BE" dirty="0"/>
              <a:t>https://cs.nyu.edu/~jcf/classes/g22.3033-007/slides/session2/g22_3033_011_c23.pdf</a:t>
            </a:r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50505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15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4629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23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65282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24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37093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25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89622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28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91345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29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05838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30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362667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31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133781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33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992122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35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997019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36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412175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37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56711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38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660274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39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074567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40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81462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41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788422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42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270209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43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767289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45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906034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46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380309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47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090951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49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149895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50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029395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51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907335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52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413195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53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122438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54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140192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55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282423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56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177806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58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757755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59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74821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60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4882518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61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746609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62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9018242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6FAF20-346D-4074-B74A-C2F29A046F4B}" type="slidenum">
              <a:rPr lang="nl-BE" smtClean="0"/>
              <a:t>63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0195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>
            <a:extLst>
              <a:ext uri="{FF2B5EF4-FFF2-40B4-BE49-F238E27FC236}">
                <a16:creationId xmlns:a16="http://schemas.microsoft.com/office/drawing/2014/main" id="{AEE442BF-C82A-418E-8E62-533CFEF9E15F}"/>
              </a:ext>
            </a:extLst>
          </p:cNvPr>
          <p:cNvSpPr/>
          <p:nvPr userDrawn="1"/>
        </p:nvSpPr>
        <p:spPr>
          <a:xfrm>
            <a:off x="1" y="6024716"/>
            <a:ext cx="12192000" cy="8332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F5AD292-FAF8-44FC-84B3-0842804A02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"/>
            <a:ext cx="12192000" cy="6857827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7D9DA8C5-1FD2-4AD1-983E-C005AF19C7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74236" y="5516542"/>
            <a:ext cx="1300725" cy="41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65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hoek 14">
            <a:extLst>
              <a:ext uri="{FF2B5EF4-FFF2-40B4-BE49-F238E27FC236}">
                <a16:creationId xmlns:a16="http://schemas.microsoft.com/office/drawing/2014/main" id="{73CF8604-A629-44C9-BC34-FAB18A435DEF}"/>
              </a:ext>
            </a:extLst>
          </p:cNvPr>
          <p:cNvSpPr/>
          <p:nvPr userDrawn="1"/>
        </p:nvSpPr>
        <p:spPr>
          <a:xfrm>
            <a:off x="10164726" y="5684874"/>
            <a:ext cx="2027274" cy="11731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29340FA-55B0-4685-ABAD-FAD25820F9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248" y="1424767"/>
            <a:ext cx="9806754" cy="1447247"/>
          </a:xfrm>
        </p:spPr>
        <p:txBody>
          <a:bodyPr anchor="b"/>
          <a:lstStyle>
            <a:lvl1pPr algn="l">
              <a:defRPr sz="5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AD34407-B861-42C6-BCDB-C4A7F1C446A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61248" y="2793963"/>
            <a:ext cx="9144000" cy="544660"/>
          </a:xfrm>
        </p:spPr>
        <p:txBody>
          <a:bodyPr/>
          <a:lstStyle>
            <a:lvl1pPr marL="0" indent="0" algn="l">
              <a:buNone/>
              <a:defRPr sz="24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C197536-820C-433C-9FB6-7C7030EEC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1CCD3E8-9D74-4800-8114-49569A208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7" name="Gelijkbenige driehoek 6">
            <a:extLst>
              <a:ext uri="{FF2B5EF4-FFF2-40B4-BE49-F238E27FC236}">
                <a16:creationId xmlns:a16="http://schemas.microsoft.com/office/drawing/2014/main" id="{5EFC5DA7-42AD-4163-B81C-BC60400CFDEF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7D9DA8C5-1FD2-4AD1-983E-C005AF19C7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5073" y="6073679"/>
            <a:ext cx="1153603" cy="370306"/>
          </a:xfrm>
          <a:prstGeom prst="rect">
            <a:avLst/>
          </a:prstGeom>
        </p:spPr>
      </p:pic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9D3931E4-AE84-4614-95BF-CFF1449B84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33051" y="3999147"/>
            <a:ext cx="6308725" cy="466613"/>
          </a:xfrm>
        </p:spPr>
        <p:txBody>
          <a:bodyPr anchor="b"/>
          <a:lstStyle>
            <a:lvl1pPr marL="0" indent="0">
              <a:buFontTx/>
              <a:buNone/>
              <a:defRPr sz="22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Naam Achternaam</a:t>
            </a:r>
            <a:endParaRPr lang="nl-BE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3622B796-191D-402D-B39A-CDE2C6DA4F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40603" y="4493298"/>
            <a:ext cx="4662487" cy="1617663"/>
          </a:xfrm>
        </p:spPr>
        <p:txBody>
          <a:bodyPr/>
          <a:lstStyle>
            <a:lvl1pPr marL="0" indent="0">
              <a:buNone/>
              <a:defRPr sz="2200">
                <a:latin typeface="+mj-lt"/>
              </a:defRPr>
            </a:lvl1pPr>
            <a:lvl2pPr marL="358163" indent="0">
              <a:buNone/>
              <a:defRPr sz="2200">
                <a:latin typeface="+mj-lt"/>
              </a:defRPr>
            </a:lvl2pPr>
            <a:lvl3pPr marL="720000" indent="0">
              <a:buNone/>
              <a:defRPr sz="2200">
                <a:latin typeface="+mj-lt"/>
              </a:defRPr>
            </a:lvl3pPr>
            <a:lvl4pPr marL="1080000" indent="0">
              <a:buNone/>
              <a:defRPr sz="2200">
                <a:latin typeface="+mj-lt"/>
              </a:defRPr>
            </a:lvl4pPr>
            <a:lvl5pPr marL="1440000" indent="0">
              <a:buNone/>
              <a:defRPr sz="2200">
                <a:latin typeface="+mj-lt"/>
              </a:defRPr>
            </a:lvl5pPr>
          </a:lstStyle>
          <a:p>
            <a:pPr lvl="0"/>
            <a:r>
              <a:rPr lang="nl-NL" dirty="0"/>
              <a:t>Datum</a:t>
            </a:r>
            <a:endParaRPr lang="nl-BE" dirty="0"/>
          </a:p>
        </p:txBody>
      </p:sp>
      <p:sp>
        <p:nvSpPr>
          <p:cNvPr id="13" name="Rechthoekige driehoek 12">
            <a:extLst>
              <a:ext uri="{FF2B5EF4-FFF2-40B4-BE49-F238E27FC236}">
                <a16:creationId xmlns:a16="http://schemas.microsoft.com/office/drawing/2014/main" id="{2F4CE03C-2446-4EC5-B5DD-A041A68BBF35}"/>
              </a:ext>
            </a:extLst>
          </p:cNvPr>
          <p:cNvSpPr/>
          <p:nvPr userDrawn="1"/>
        </p:nvSpPr>
        <p:spPr>
          <a:xfrm rot="8100000">
            <a:off x="945998" y="4240087"/>
            <a:ext cx="309905" cy="30990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D6C2FF9A-F000-4BFA-9764-458F26D2BEB8}"/>
              </a:ext>
            </a:extLst>
          </p:cNvPr>
          <p:cNvSpPr/>
          <p:nvPr userDrawn="1"/>
        </p:nvSpPr>
        <p:spPr>
          <a:xfrm>
            <a:off x="945193" y="4401743"/>
            <a:ext cx="311510" cy="3115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2258528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CCEBE6B7-490D-4A8D-9B9C-C75E430100F2}"/>
              </a:ext>
            </a:extLst>
          </p:cNvPr>
          <p:cNvSpPr/>
          <p:nvPr userDrawn="1"/>
        </p:nvSpPr>
        <p:spPr>
          <a:xfrm>
            <a:off x="0" y="1"/>
            <a:ext cx="4068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77031" y="1852225"/>
            <a:ext cx="5365733" cy="3090532"/>
          </a:xfrm>
        </p:spPr>
        <p:txBody>
          <a:bodyPr/>
          <a:lstStyle>
            <a:lvl1pPr marL="0" indent="0">
              <a:lnSpc>
                <a:spcPts val="3800"/>
              </a:lnSpc>
              <a:spcBef>
                <a:spcPts val="2200"/>
              </a:spcBef>
              <a:buFont typeface="Arial" panose="020B0604020202020204" pitchFamily="34" charset="0"/>
              <a:buNone/>
              <a:defRPr sz="3200" b="1">
                <a:solidFill>
                  <a:schemeClr val="tx1"/>
                </a:solidFill>
                <a:latin typeface="+mj-lt"/>
              </a:defRPr>
            </a:lvl1pPr>
            <a:lvl2pPr marL="36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2pPr>
            <a:lvl3pPr marL="720000" indent="-180000" defTabSz="14366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3pPr>
            <a:lvl4pPr marL="108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4pPr>
            <a:lvl5pPr marL="144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nl-NL" dirty="0"/>
              <a:t>Hoofdstuktitel</a:t>
            </a:r>
          </a:p>
          <a:p>
            <a:pPr lvl="0"/>
            <a:r>
              <a:rPr lang="nl-NL" dirty="0"/>
              <a:t>Hoofdstuktitel</a:t>
            </a:r>
          </a:p>
          <a:p>
            <a:pPr lvl="0"/>
            <a:r>
              <a:rPr lang="nl-NL" dirty="0"/>
              <a:t>Hoofdstuktitel</a:t>
            </a:r>
          </a:p>
          <a:p>
            <a:pPr lvl="0"/>
            <a:r>
              <a:rPr lang="nl-NL" dirty="0"/>
              <a:t>Hoofdstuktitel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77031" y="6264004"/>
            <a:ext cx="2743200" cy="365125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304FD9A2-98F2-4A5B-A452-66B8C41A893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549883" y="1859599"/>
            <a:ext cx="1345923" cy="3090532"/>
          </a:xfrm>
        </p:spPr>
        <p:txBody>
          <a:bodyPr/>
          <a:lstStyle>
            <a:lvl1pPr marL="0" indent="0" algn="r">
              <a:lnSpc>
                <a:spcPts val="3800"/>
              </a:lnSpc>
              <a:spcBef>
                <a:spcPts val="2200"/>
              </a:spcBef>
              <a:buFont typeface="Arial" panose="020B0604020202020204" pitchFamily="34" charset="0"/>
              <a:buNone/>
              <a:defRPr sz="5400" b="1">
                <a:solidFill>
                  <a:schemeClr val="bg1"/>
                </a:solidFill>
                <a:latin typeface="+mj-lt"/>
              </a:defRPr>
            </a:lvl1pPr>
            <a:lvl2pPr marL="36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2pPr>
            <a:lvl3pPr marL="720000" indent="-180000" defTabSz="1436688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3pPr>
            <a:lvl4pPr marL="108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4pPr>
            <a:lvl5pPr marL="1440000" indent="-180000"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nl-NL" dirty="0"/>
              <a:t>1.</a:t>
            </a:r>
          </a:p>
          <a:p>
            <a:pPr lvl="0"/>
            <a:r>
              <a:rPr lang="nl-NL" dirty="0"/>
              <a:t>2.</a:t>
            </a:r>
          </a:p>
          <a:p>
            <a:pPr lvl="0"/>
            <a:r>
              <a:rPr lang="nl-NL" dirty="0"/>
              <a:t>3.</a:t>
            </a:r>
          </a:p>
          <a:p>
            <a:pPr lvl="0"/>
            <a:r>
              <a:rPr lang="nl-NL" dirty="0"/>
              <a:t>4.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8DC82B8D-FA17-4BE4-A52F-A63703B07994}"/>
              </a:ext>
            </a:extLst>
          </p:cNvPr>
          <p:cNvSpPr txBox="1"/>
          <p:nvPr userDrawn="1"/>
        </p:nvSpPr>
        <p:spPr>
          <a:xfrm>
            <a:off x="532389" y="285502"/>
            <a:ext cx="1846251" cy="30777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nl-BE" sz="1400" b="1" dirty="0">
                <a:solidFill>
                  <a:schemeClr val="bg1"/>
                </a:solidFill>
                <a:latin typeface="+mj-lt"/>
              </a:rPr>
              <a:t>INHOUDSTAFEL</a:t>
            </a:r>
          </a:p>
        </p:txBody>
      </p:sp>
      <p:sp>
        <p:nvSpPr>
          <p:cNvPr id="15" name="Gelijkbenige driehoek 14">
            <a:extLst>
              <a:ext uri="{FF2B5EF4-FFF2-40B4-BE49-F238E27FC236}">
                <a16:creationId xmlns:a16="http://schemas.microsoft.com/office/drawing/2014/main" id="{F826CAAD-37E1-417F-AE93-7A7F7F6D5FE8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12610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00" y="2736000"/>
            <a:ext cx="9281274" cy="3090532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  <a:lvl2pPr marL="358163" indent="0">
              <a:lnSpc>
                <a:spcPct val="100000"/>
              </a:lnSpc>
              <a:buNone/>
              <a:defRPr/>
            </a:lvl2pPr>
            <a:lvl3pPr marL="720000" indent="0">
              <a:lnSpc>
                <a:spcPct val="100000"/>
              </a:lnSpc>
              <a:buNone/>
              <a:defRPr/>
            </a:lvl3pPr>
            <a:lvl4pPr marL="1080000" indent="0">
              <a:lnSpc>
                <a:spcPct val="100000"/>
              </a:lnSpc>
              <a:buNone/>
              <a:defRPr/>
            </a:lvl4pPr>
            <a:lvl5pPr marL="1440000" indent="0">
              <a:lnSpc>
                <a:spcPct val="100000"/>
              </a:lnSpc>
              <a:buNone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6181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00" y="1908000"/>
            <a:ext cx="9291600" cy="31320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360000" indent="-180000">
              <a:buFont typeface="Arial" panose="020B0604020202020204" pitchFamily="34" charset="0"/>
              <a:buChar char="•"/>
              <a:defRPr/>
            </a:lvl2pPr>
            <a:lvl3pPr marL="720000" indent="-180000" defTabSz="1436688">
              <a:buFont typeface="Arial" panose="020B0604020202020204" pitchFamily="34" charset="0"/>
              <a:buChar char="•"/>
              <a:defRPr/>
            </a:lvl3pPr>
            <a:lvl4pPr marL="1080000" indent="-180000">
              <a:buFont typeface="Arial" panose="020B0604020202020204" pitchFamily="34" charset="0"/>
              <a:buChar char="•"/>
              <a:defRPr/>
            </a:lvl4pPr>
            <a:lvl5pPr marL="144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46906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E5158C-C5F8-4FA4-8D48-8495226D3B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ACB0CE7-11E3-4438-919C-EA7601B23C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20000" y="2736000"/>
            <a:ext cx="4392000" cy="2883505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C456A98-2404-4694-96D5-FDAB6BA76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2000" y="2736000"/>
            <a:ext cx="4392000" cy="2883505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09CE115-B374-4617-BCB4-65CE99671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30D3D96-5DFD-4E22-A20C-C1B8E4E8A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8F20995-02CF-40E9-A9E3-07D0889F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3D35A45E-59A3-4C31-A9F3-DD73EF3BB7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10415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hoek 14">
            <a:extLst>
              <a:ext uri="{FF2B5EF4-FFF2-40B4-BE49-F238E27FC236}">
                <a16:creationId xmlns:a16="http://schemas.microsoft.com/office/drawing/2014/main" id="{97EFFFE8-8662-44ED-9D46-72EA0C894BB5}"/>
              </a:ext>
            </a:extLst>
          </p:cNvPr>
          <p:cNvSpPr/>
          <p:nvPr userDrawn="1"/>
        </p:nvSpPr>
        <p:spPr>
          <a:xfrm>
            <a:off x="10164726" y="5684874"/>
            <a:ext cx="2027274" cy="11731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pic>
        <p:nvPicPr>
          <p:cNvPr id="13" name="Afbeelding 12" descr="Afbeelding met bijl&#10;&#10;Automatisch gegenereerde beschrijving">
            <a:extLst>
              <a:ext uri="{FF2B5EF4-FFF2-40B4-BE49-F238E27FC236}">
                <a16:creationId xmlns:a16="http://schemas.microsoft.com/office/drawing/2014/main" id="{26190394-04D1-435B-872B-98D9438B95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9842"/>
            <a:ext cx="2485770" cy="495831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AD43DC2-455F-4EDF-A084-FEE83CFC4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74829" y="2226013"/>
            <a:ext cx="7759257" cy="1429415"/>
          </a:xfrm>
        </p:spPr>
        <p:txBody>
          <a:bodyPr anchor="b"/>
          <a:lstStyle>
            <a:lvl1pPr>
              <a:defRPr sz="4400" spc="170" baseline="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C704646-7228-4188-9EAC-6994DE76A28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674829" y="3619988"/>
            <a:ext cx="77592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ONDERTITEL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6946962-0A67-44EB-A18D-73C07F936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316FD36-254F-49C1-A06F-1DBD00D98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849368-50CE-404F-865E-EF0DB7781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8" name="Gelijkbenige driehoek 7">
            <a:extLst>
              <a:ext uri="{FF2B5EF4-FFF2-40B4-BE49-F238E27FC236}">
                <a16:creationId xmlns:a16="http://schemas.microsoft.com/office/drawing/2014/main" id="{939230B4-815F-440B-888A-070C90C48BA5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9A854FE4-B9A5-46C1-BF2D-13E51D44B0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293" y="1353110"/>
            <a:ext cx="1660525" cy="2808287"/>
          </a:xfrm>
        </p:spPr>
        <p:txBody>
          <a:bodyPr anchor="b"/>
          <a:lstStyle>
            <a:lvl1pPr marL="0" indent="0" algn="r">
              <a:buNone/>
              <a:defRPr sz="9000" b="1">
                <a:solidFill>
                  <a:schemeClr val="accent2"/>
                </a:solidFill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1.</a:t>
            </a:r>
            <a:endParaRPr lang="nl-BE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92DBF72E-0CB1-45B4-9813-C3B6894F6D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5073" y="6073679"/>
            <a:ext cx="1153603" cy="37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407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 en bee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20D7A79-D2CD-4715-91F0-318D4B765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00" y="1908000"/>
            <a:ext cx="4114800" cy="309053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>
                <a:latin typeface="+mj-lt"/>
              </a:defRPr>
            </a:lvl1pPr>
            <a:lvl2pPr marL="360000" indent="-180000">
              <a:lnSpc>
                <a:spcPct val="100000"/>
              </a:lnSpc>
              <a:buFont typeface="Arial" panose="020B0604020202020204" pitchFamily="34" charset="0"/>
              <a:buChar char="•"/>
              <a:defRPr/>
            </a:lvl2pPr>
            <a:lvl3pPr marL="720000" indent="-180000" defTabSz="1436688">
              <a:lnSpc>
                <a:spcPct val="100000"/>
              </a:lnSpc>
              <a:buFont typeface="Arial" panose="020B0604020202020204" pitchFamily="34" charset="0"/>
              <a:buChar char="•"/>
              <a:defRPr/>
            </a:lvl3pPr>
            <a:lvl4pPr marL="1080000" indent="-180000">
              <a:lnSpc>
                <a:spcPct val="100000"/>
              </a:lnSpc>
              <a:buFont typeface="Arial" panose="020B0604020202020204" pitchFamily="34" charset="0"/>
              <a:buChar char="•"/>
              <a:defRPr/>
            </a:lvl4pPr>
            <a:lvl5pPr marL="1440000" indent="-180000">
              <a:lnSpc>
                <a:spcPct val="100000"/>
              </a:lnSpc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CD9E304B-9EEF-4540-A2A5-7D039634D7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2000" y="0"/>
            <a:ext cx="5400000" cy="6858000"/>
          </a:xfrm>
        </p:spPr>
        <p:txBody>
          <a:bodyPr anchor="ctr"/>
          <a:lstStyle>
            <a:lvl1pPr marL="0" indent="0" algn="ctr">
              <a:buNone/>
              <a:defRPr baseline="-25000"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44810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bee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E5744A9E-4C9D-4407-95E8-93A822A070AB}"/>
              </a:ext>
            </a:extLst>
          </p:cNvPr>
          <p:cNvSpPr/>
          <p:nvPr userDrawn="1"/>
        </p:nvSpPr>
        <p:spPr>
          <a:xfrm>
            <a:off x="0" y="1"/>
            <a:ext cx="4068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999" y="594002"/>
            <a:ext cx="3099759" cy="15180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099759" cy="365125"/>
          </a:xfrm>
        </p:spPr>
        <p:txBody>
          <a:bodyPr anchor="b" anchorCtr="0"/>
          <a:lstStyle>
            <a:lvl1pPr marL="0" indent="0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CD9E304B-9EEF-4540-A2A5-7D039634D7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8000" y="0"/>
            <a:ext cx="6858000" cy="6858000"/>
          </a:xfrm>
        </p:spPr>
        <p:txBody>
          <a:bodyPr anchor="ctr"/>
          <a:lstStyle>
            <a:lvl1pPr marL="0" indent="0" algn="ctr">
              <a:buNone/>
              <a:defRPr baseline="-25000"/>
            </a:lvl1pPr>
          </a:lstStyle>
          <a:p>
            <a:endParaRPr lang="nl-BE"/>
          </a:p>
        </p:txBody>
      </p:sp>
      <p:sp>
        <p:nvSpPr>
          <p:cNvPr id="10" name="Gelijkbenige driehoek 9">
            <a:extLst>
              <a:ext uri="{FF2B5EF4-FFF2-40B4-BE49-F238E27FC236}">
                <a16:creationId xmlns:a16="http://schemas.microsoft.com/office/drawing/2014/main" id="{83AC5738-621C-4857-A498-30728DB03399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3328971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146321D-6FEB-4DB2-A1BE-8F6F0E01F7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89799" y="2727183"/>
            <a:ext cx="5162888" cy="2140319"/>
          </a:xfrm>
        </p:spPr>
        <p:txBody>
          <a:bodyPr/>
          <a:lstStyle>
            <a:lvl1pPr marL="0" indent="0">
              <a:buNone/>
              <a:defRPr sz="27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Quote groot: </a:t>
            </a:r>
            <a:r>
              <a:rPr lang="nl-NL" dirty="0" err="1"/>
              <a:t>occulpa</a:t>
            </a:r>
            <a:r>
              <a:rPr lang="nl-NL" dirty="0"/>
              <a:t> </a:t>
            </a:r>
            <a:r>
              <a:rPr lang="nl-NL" dirty="0" err="1"/>
              <a:t>etureicae</a:t>
            </a:r>
            <a:r>
              <a:rPr lang="nl-NL" dirty="0"/>
              <a:t> </a:t>
            </a:r>
            <a:r>
              <a:rPr lang="nl-NL" dirty="0" err="1"/>
              <a:t>sit</a:t>
            </a:r>
            <a:r>
              <a:rPr lang="nl-NL" dirty="0"/>
              <a:t> </a:t>
            </a:r>
            <a:r>
              <a:rPr lang="nl-NL" dirty="0" err="1"/>
              <a:t>dolorae</a:t>
            </a:r>
            <a:r>
              <a:rPr lang="nl-NL" dirty="0"/>
              <a:t>. </a:t>
            </a:r>
            <a:r>
              <a:rPr lang="nl-NL" dirty="0" err="1"/>
              <a:t>Nemporese</a:t>
            </a:r>
            <a:r>
              <a:rPr lang="nl-NL" dirty="0"/>
              <a:t> </a:t>
            </a:r>
            <a:r>
              <a:rPr lang="nl-NL" dirty="0" err="1"/>
              <a:t>endae</a:t>
            </a:r>
            <a:r>
              <a:rPr lang="nl-NL" dirty="0"/>
              <a:t> </a:t>
            </a:r>
            <a:r>
              <a:rPr lang="nl-NL" dirty="0" err="1"/>
              <a:t>am</a:t>
            </a:r>
            <a:r>
              <a:rPr lang="nl-NL" dirty="0"/>
              <a:t>, ad </a:t>
            </a:r>
            <a:r>
              <a:rPr lang="nl-NL" dirty="0" err="1"/>
              <a:t>quatecum</a:t>
            </a:r>
            <a:r>
              <a:rPr lang="nl-NL" dirty="0"/>
              <a:t> </a:t>
            </a:r>
            <a:r>
              <a:rPr lang="nl-NL" dirty="0" err="1"/>
              <a:t>fugiaeperunt</a:t>
            </a:r>
            <a:r>
              <a:rPr lang="nl-NL" dirty="0"/>
              <a:t> </a:t>
            </a:r>
            <a:r>
              <a:rPr lang="nl-NL" dirty="0" err="1"/>
              <a:t>unt</a:t>
            </a:r>
            <a:r>
              <a:rPr lang="nl-NL" dirty="0"/>
              <a:t>. </a:t>
            </a:r>
            <a:r>
              <a:rPr lang="nl-NL" dirty="0" err="1"/>
              <a:t>Atia</a:t>
            </a:r>
            <a:r>
              <a:rPr lang="nl-NL" dirty="0"/>
              <a:t> </a:t>
            </a:r>
            <a:r>
              <a:rPr lang="nl-NL" dirty="0" err="1"/>
              <a:t>sam</a:t>
            </a:r>
            <a:r>
              <a:rPr lang="nl-NL" dirty="0"/>
              <a:t> que </a:t>
            </a:r>
            <a:r>
              <a:rPr lang="nl-NL" dirty="0" err="1"/>
              <a:t>quamustrum</a:t>
            </a:r>
            <a:r>
              <a:rPr lang="nl-NL" dirty="0"/>
              <a:t> </a:t>
            </a:r>
            <a:r>
              <a:rPr lang="nl-NL" dirty="0" err="1"/>
              <a:t>fugiam</a:t>
            </a:r>
            <a:r>
              <a:rPr lang="nl-NL" dirty="0"/>
              <a:t> </a:t>
            </a:r>
            <a:r>
              <a:rPr lang="nl-NL" dirty="0" err="1"/>
              <a:t>quis</a:t>
            </a:r>
            <a:r>
              <a:rPr lang="nl-NL" dirty="0"/>
              <a:t> </a:t>
            </a:r>
            <a:r>
              <a:rPr lang="nl-NL" dirty="0" err="1"/>
              <a:t>corempo</a:t>
            </a:r>
            <a:r>
              <a:rPr lang="nl-NL" dirty="0"/>
              <a:t> </a:t>
            </a:r>
            <a:r>
              <a:rPr lang="nl-NL" dirty="0" err="1"/>
              <a:t>restium</a:t>
            </a:r>
            <a:r>
              <a:rPr lang="nl-NL" dirty="0"/>
              <a:t> </a:t>
            </a:r>
            <a:r>
              <a:rPr lang="nl-NL" dirty="0" err="1"/>
              <a:t>ero</a:t>
            </a:r>
            <a:r>
              <a:rPr lang="nl-NL" dirty="0"/>
              <a:t>.</a:t>
            </a:r>
            <a:endParaRPr lang="nl-BE" dirty="0"/>
          </a:p>
        </p:txBody>
      </p:sp>
      <p:sp>
        <p:nvSpPr>
          <p:cNvPr id="17" name="Gelijkbenige driehoek 16">
            <a:extLst>
              <a:ext uri="{FF2B5EF4-FFF2-40B4-BE49-F238E27FC236}">
                <a16:creationId xmlns:a16="http://schemas.microsoft.com/office/drawing/2014/main" id="{C9E84D4C-76DA-4E4E-9F21-DB0F8DC87F65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7BE966C4-F2D9-4A05-8182-0E3CB210AD5F}"/>
              </a:ext>
            </a:extLst>
          </p:cNvPr>
          <p:cNvSpPr/>
          <p:nvPr userDrawn="1"/>
        </p:nvSpPr>
        <p:spPr>
          <a:xfrm>
            <a:off x="10179781" y="5632057"/>
            <a:ext cx="2012219" cy="1225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4F015E38-B67E-4A5F-B168-2C2166D851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25073" y="6073679"/>
            <a:ext cx="1153603" cy="37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029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quote met na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F5E16F-63A8-4E2D-B50B-0198FF90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CD9E304B-9EEF-4540-A2A5-7D039634D74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73615" y="4537479"/>
            <a:ext cx="1008000" cy="1008000"/>
          </a:xfrm>
        </p:spPr>
        <p:txBody>
          <a:bodyPr anchor="ctr"/>
          <a:lstStyle>
            <a:lvl1pPr marL="0" indent="0" algn="ctr">
              <a:buNone/>
              <a:defRPr sz="2000" baseline="-25000"/>
            </a:lvl1pPr>
          </a:lstStyle>
          <a:p>
            <a:endParaRPr lang="nl-BE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146321D-6FEB-4DB2-A1BE-8F6F0E01F7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89799" y="2185019"/>
            <a:ext cx="5162888" cy="2140319"/>
          </a:xfrm>
        </p:spPr>
        <p:txBody>
          <a:bodyPr/>
          <a:lstStyle>
            <a:lvl1pPr marL="0" indent="0">
              <a:buNone/>
              <a:defRPr sz="27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Quote groot: </a:t>
            </a:r>
            <a:r>
              <a:rPr lang="nl-NL" dirty="0" err="1"/>
              <a:t>occulpa</a:t>
            </a:r>
            <a:r>
              <a:rPr lang="nl-NL" dirty="0"/>
              <a:t> </a:t>
            </a:r>
            <a:r>
              <a:rPr lang="nl-NL" dirty="0" err="1"/>
              <a:t>etureicae</a:t>
            </a:r>
            <a:r>
              <a:rPr lang="nl-NL" dirty="0"/>
              <a:t> </a:t>
            </a:r>
            <a:r>
              <a:rPr lang="nl-NL" dirty="0" err="1"/>
              <a:t>sit</a:t>
            </a:r>
            <a:r>
              <a:rPr lang="nl-NL" dirty="0"/>
              <a:t> </a:t>
            </a:r>
            <a:r>
              <a:rPr lang="nl-NL" dirty="0" err="1"/>
              <a:t>dolorae</a:t>
            </a:r>
            <a:r>
              <a:rPr lang="nl-NL" dirty="0"/>
              <a:t>. </a:t>
            </a:r>
            <a:r>
              <a:rPr lang="nl-NL" dirty="0" err="1"/>
              <a:t>Nemporese</a:t>
            </a:r>
            <a:r>
              <a:rPr lang="nl-NL" dirty="0"/>
              <a:t> </a:t>
            </a:r>
            <a:r>
              <a:rPr lang="nl-NL" dirty="0" err="1"/>
              <a:t>endae</a:t>
            </a:r>
            <a:r>
              <a:rPr lang="nl-NL" dirty="0"/>
              <a:t> </a:t>
            </a:r>
            <a:r>
              <a:rPr lang="nl-NL" dirty="0" err="1"/>
              <a:t>am</a:t>
            </a:r>
            <a:r>
              <a:rPr lang="nl-NL" dirty="0"/>
              <a:t>, ad </a:t>
            </a:r>
            <a:r>
              <a:rPr lang="nl-NL" dirty="0" err="1"/>
              <a:t>quatecum</a:t>
            </a:r>
            <a:r>
              <a:rPr lang="nl-NL" dirty="0"/>
              <a:t> </a:t>
            </a:r>
            <a:r>
              <a:rPr lang="nl-NL" dirty="0" err="1"/>
              <a:t>fugiaeperunt</a:t>
            </a:r>
            <a:r>
              <a:rPr lang="nl-NL" dirty="0"/>
              <a:t> </a:t>
            </a:r>
            <a:r>
              <a:rPr lang="nl-NL" dirty="0" err="1"/>
              <a:t>unt</a:t>
            </a:r>
            <a:r>
              <a:rPr lang="nl-NL" dirty="0"/>
              <a:t>. </a:t>
            </a:r>
            <a:r>
              <a:rPr lang="nl-NL" dirty="0" err="1"/>
              <a:t>Atia</a:t>
            </a:r>
            <a:r>
              <a:rPr lang="nl-NL" dirty="0"/>
              <a:t> </a:t>
            </a:r>
            <a:r>
              <a:rPr lang="nl-NL" dirty="0" err="1"/>
              <a:t>sam</a:t>
            </a:r>
            <a:r>
              <a:rPr lang="nl-NL" dirty="0"/>
              <a:t> que </a:t>
            </a:r>
            <a:r>
              <a:rPr lang="nl-NL" dirty="0" err="1"/>
              <a:t>quamustrum</a:t>
            </a:r>
            <a:r>
              <a:rPr lang="nl-NL" dirty="0"/>
              <a:t> </a:t>
            </a:r>
            <a:r>
              <a:rPr lang="nl-NL" dirty="0" err="1"/>
              <a:t>fugiam</a:t>
            </a:r>
            <a:r>
              <a:rPr lang="nl-NL" dirty="0"/>
              <a:t> </a:t>
            </a:r>
            <a:r>
              <a:rPr lang="nl-NL" dirty="0" err="1"/>
              <a:t>quis</a:t>
            </a:r>
            <a:r>
              <a:rPr lang="nl-NL" dirty="0"/>
              <a:t> </a:t>
            </a:r>
            <a:r>
              <a:rPr lang="nl-NL" dirty="0" err="1"/>
              <a:t>corempo</a:t>
            </a:r>
            <a:r>
              <a:rPr lang="nl-NL" dirty="0"/>
              <a:t> </a:t>
            </a:r>
            <a:r>
              <a:rPr lang="nl-NL" dirty="0" err="1"/>
              <a:t>restium</a:t>
            </a:r>
            <a:r>
              <a:rPr lang="nl-NL" dirty="0"/>
              <a:t> </a:t>
            </a:r>
            <a:r>
              <a:rPr lang="nl-NL" dirty="0" err="1"/>
              <a:t>ero</a:t>
            </a:r>
            <a:r>
              <a:rPr lang="nl-NL" dirty="0"/>
              <a:t>.</a:t>
            </a:r>
            <a:endParaRPr lang="nl-BE" dirty="0"/>
          </a:p>
        </p:txBody>
      </p:sp>
      <p:sp>
        <p:nvSpPr>
          <p:cNvPr id="11" name="Tijdelijke aanduiding voor tekst 9">
            <a:extLst>
              <a:ext uri="{FF2B5EF4-FFF2-40B4-BE49-F238E27FC236}">
                <a16:creationId xmlns:a16="http://schemas.microsoft.com/office/drawing/2014/main" id="{65E274DD-5F46-4B35-A5AC-31E6BE89CE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55982" y="4574866"/>
            <a:ext cx="6308725" cy="466613"/>
          </a:xfrm>
        </p:spPr>
        <p:txBody>
          <a:bodyPr anchor="b"/>
          <a:lstStyle>
            <a:lvl1pPr marL="0" indent="0">
              <a:buFontTx/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Naam Achternaam</a:t>
            </a:r>
            <a:endParaRPr lang="nl-BE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DA29B528-8ACF-4D4D-B37B-A6AAB88026F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55982" y="5041479"/>
            <a:ext cx="1909500" cy="466613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/>
                </a:solidFill>
                <a:latin typeface="+mj-lt"/>
              </a:defRPr>
            </a:lvl1pPr>
            <a:lvl2pPr marL="358163" indent="0">
              <a:buNone/>
              <a:defRPr sz="2200">
                <a:latin typeface="+mj-lt"/>
              </a:defRPr>
            </a:lvl2pPr>
            <a:lvl3pPr marL="720000" indent="0">
              <a:buNone/>
              <a:defRPr sz="2200">
                <a:latin typeface="+mj-lt"/>
              </a:defRPr>
            </a:lvl3pPr>
            <a:lvl4pPr marL="1080000" indent="0">
              <a:buNone/>
              <a:defRPr sz="2200">
                <a:latin typeface="+mj-lt"/>
              </a:defRPr>
            </a:lvl4pPr>
            <a:lvl5pPr marL="1440000" indent="0">
              <a:buNone/>
              <a:defRPr sz="2200">
                <a:latin typeface="+mj-lt"/>
              </a:defRPr>
            </a:lvl5pPr>
          </a:lstStyle>
          <a:p>
            <a:pPr lvl="0"/>
            <a:r>
              <a:rPr lang="nl-NL" dirty="0"/>
              <a:t>Datum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96691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en titel en inhou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5843A7B-9F3B-480D-AD2E-C3AACED19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44671" y="1769806"/>
            <a:ext cx="4036181" cy="1269552"/>
          </a:xfrm>
        </p:spPr>
        <p:txBody>
          <a:bodyPr anchor="b"/>
          <a:lstStyle>
            <a:lvl1pPr marL="0" indent="0">
              <a:lnSpc>
                <a:spcPct val="80000"/>
              </a:lnSpc>
              <a:buNone/>
              <a:defRPr sz="2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DDAC10B-1AED-4A32-B7C4-E04362F3B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44672" y="3047450"/>
            <a:ext cx="4036182" cy="2549854"/>
          </a:xfrm>
        </p:spPr>
        <p:txBody>
          <a:bodyPr/>
          <a:lstStyle>
            <a:lvl1pPr marL="0" indent="0">
              <a:buNone/>
              <a:defRPr/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4202EC0-7C3F-449D-A78C-41C97D42D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CE90316-0261-473A-89DB-C22973630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9AAC146-4636-4E5A-A84D-9EC96FAB2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DC69D467-5BA6-489C-BF11-65D772B5B4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602B1D0A-36A5-4B59-853B-DAA887AFB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13" name="Tijdelijke aanduiding voor grafiek 12">
            <a:extLst>
              <a:ext uri="{FF2B5EF4-FFF2-40B4-BE49-F238E27FC236}">
                <a16:creationId xmlns:a16="http://schemas.microsoft.com/office/drawing/2014/main" id="{FF732A83-4257-4217-8FBA-FB64E01272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96001" y="1295400"/>
            <a:ext cx="6401310" cy="46116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89662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en 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4202EC0-7C3F-449D-A78C-41C97D42D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CE90316-0261-473A-89DB-C22973630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9AAC146-4636-4E5A-A84D-9EC96FAB2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DC69D467-5BA6-489C-BF11-65D772B5B4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11" name="Tijdelijke aanduiding voor tekst 7">
            <a:extLst>
              <a:ext uri="{FF2B5EF4-FFF2-40B4-BE49-F238E27FC236}">
                <a16:creationId xmlns:a16="http://schemas.microsoft.com/office/drawing/2014/main" id="{602B1D0A-36A5-4B59-853B-DAA887AFB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13" name="Tijdelijke aanduiding voor grafiek 12">
            <a:extLst>
              <a:ext uri="{FF2B5EF4-FFF2-40B4-BE49-F238E27FC236}">
                <a16:creationId xmlns:a16="http://schemas.microsoft.com/office/drawing/2014/main" id="{FF732A83-4257-4217-8FBA-FB64E01272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1280400" y="1295400"/>
            <a:ext cx="9301567" cy="46116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19133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BCCE59-2411-4F31-B2FA-A0E3C2D3F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E3473E5-12B3-4067-8FAB-0C045297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5205202-803B-40C0-8FCF-E7381AE4E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3488137-6613-43C0-B311-4B1FB099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6" name="Tijdelijke aanduiding voor tekst 7">
            <a:extLst>
              <a:ext uri="{FF2B5EF4-FFF2-40B4-BE49-F238E27FC236}">
                <a16:creationId xmlns:a16="http://schemas.microsoft.com/office/drawing/2014/main" id="{591161BA-2045-41AE-B361-A0AB563B57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178" y="228154"/>
            <a:ext cx="3714750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493497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7DF97DE-814F-4A02-925B-4FA8DC174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39C6991-A2F7-45F1-A24C-12CAC083E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91E0077-B4BD-4C07-BC35-57BD3CDF0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533586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en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E24D8-33DE-4105-A689-8E25FCA7C3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4" y="612000"/>
            <a:ext cx="10876078" cy="684000"/>
          </a:xfrm>
        </p:spPr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B59B370-7A14-4E21-B0B9-73EDED37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B10F6A-E5A8-4073-BA1D-CB285F2F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‹#›</a:t>
            </a:fld>
            <a:endParaRPr lang="nl-BE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5D35B29-3398-4F71-8FCE-22D95BF300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13" y="228154"/>
            <a:ext cx="3610115" cy="365125"/>
          </a:xfrm>
        </p:spPr>
        <p:txBody>
          <a:bodyPr anchor="b" anchorCtr="0"/>
          <a:lstStyle>
            <a:lvl1pPr marL="0" indent="0">
              <a:buNone/>
              <a:defRPr sz="1400" b="1">
                <a:latin typeface="+mj-lt"/>
              </a:defRPr>
            </a:lvl1pPr>
            <a:lvl2pPr marL="358163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lvl="0"/>
            <a:r>
              <a:rPr lang="nl-NL" dirty="0"/>
              <a:t>HOOFDSTUKTITEL</a:t>
            </a:r>
            <a:endParaRPr lang="nl-BE" dirty="0"/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2CF2A6F9-A799-4021-B19B-41D542B790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8813" y="1889125"/>
            <a:ext cx="10874375" cy="36052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4245AF14-2DA3-4144-9413-76DEF24465BB}"/>
              </a:ext>
            </a:extLst>
          </p:cNvPr>
          <p:cNvSpPr/>
          <p:nvPr userDrawn="1"/>
        </p:nvSpPr>
        <p:spPr>
          <a:xfrm>
            <a:off x="1" y="220056"/>
            <a:ext cx="534291" cy="1075944"/>
          </a:xfrm>
          <a:custGeom>
            <a:avLst/>
            <a:gdLst>
              <a:gd name="connsiteX0" fmla="*/ 0 w 534291"/>
              <a:gd name="connsiteY0" fmla="*/ 0 h 1075944"/>
              <a:gd name="connsiteX1" fmla="*/ 104409 w 534291"/>
              <a:gd name="connsiteY1" fmla="*/ 10525 h 1075944"/>
              <a:gd name="connsiteX2" fmla="*/ 534291 w 534291"/>
              <a:gd name="connsiteY2" fmla="*/ 537972 h 1075944"/>
              <a:gd name="connsiteX3" fmla="*/ 104409 w 534291"/>
              <a:gd name="connsiteY3" fmla="*/ 1065419 h 1075944"/>
              <a:gd name="connsiteX4" fmla="*/ 0 w 534291"/>
              <a:gd name="connsiteY4" fmla="*/ 1075944 h 1075944"/>
              <a:gd name="connsiteX5" fmla="*/ 0 w 534291"/>
              <a:gd name="connsiteY5" fmla="*/ 0 h 1075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4291" h="1075944">
                <a:moveTo>
                  <a:pt x="0" y="0"/>
                </a:moveTo>
                <a:lnTo>
                  <a:pt x="104409" y="10525"/>
                </a:lnTo>
                <a:cubicBezTo>
                  <a:pt x="349742" y="60727"/>
                  <a:pt x="534291" y="277798"/>
                  <a:pt x="534291" y="537972"/>
                </a:cubicBezTo>
                <a:cubicBezTo>
                  <a:pt x="534291" y="798146"/>
                  <a:pt x="349742" y="1015217"/>
                  <a:pt x="104409" y="1065419"/>
                </a:cubicBezTo>
                <a:lnTo>
                  <a:pt x="0" y="10759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4070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  <p:extLst>
    <p:ext uri="{DCECCB84-F9BA-43D5-87BE-67443E8EF086}">
      <p15:sldGuideLst xmlns:p15="http://schemas.microsoft.com/office/powerpoint/2012/main">
        <p15:guide id="1" pos="415">
          <p15:clr>
            <a:srgbClr val="FBAE40"/>
          </p15:clr>
        </p15:guide>
        <p15:guide id="2" pos="726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A2C12ED-88A7-4813-9ECA-D67FA6D81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00" y="612000"/>
            <a:ext cx="10515600" cy="68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05F5B42-3528-42D1-A27E-87182BBDF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0328" y="2729021"/>
            <a:ext cx="9281274" cy="309053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4F6AD4E-0376-4AAB-8907-1E42C4537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98576" y="6264004"/>
            <a:ext cx="274320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endParaRPr lang="nl-BE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141D534-2D3B-4E3E-93F0-6E17F620A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246" y="6264211"/>
            <a:ext cx="411480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AC6B2CE-C5EC-498A-A0F1-8E7B718BB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4291" y="6264211"/>
            <a:ext cx="288000" cy="3651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</a:lstStyle>
          <a:p>
            <a:fld id="{FF88DA20-ED00-471C-9170-60F590CB400A}" type="slidenum">
              <a:rPr lang="nl-BE" smtClean="0"/>
              <a:pPr/>
              <a:t>‹#›</a:t>
            </a:fld>
            <a:endParaRPr lang="nl-BE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C54CFD1D-AE9F-4E01-BB96-1FD87EDE6CC2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5073" y="6073683"/>
            <a:ext cx="1153603" cy="370307"/>
          </a:xfrm>
          <a:prstGeom prst="rect">
            <a:avLst/>
          </a:prstGeom>
        </p:spPr>
      </p:pic>
      <p:sp>
        <p:nvSpPr>
          <p:cNvPr id="10" name="Gelijkbenige driehoek 9">
            <a:extLst>
              <a:ext uri="{FF2B5EF4-FFF2-40B4-BE49-F238E27FC236}">
                <a16:creationId xmlns:a16="http://schemas.microsoft.com/office/drawing/2014/main" id="{91F4572B-450D-4A18-A92E-3CDA65745A0D}"/>
              </a:ext>
            </a:extLst>
          </p:cNvPr>
          <p:cNvSpPr/>
          <p:nvPr userDrawn="1"/>
        </p:nvSpPr>
        <p:spPr>
          <a:xfrm rot="5400000">
            <a:off x="388523" y="6324985"/>
            <a:ext cx="116206" cy="53534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sz="1800"/>
          </a:p>
        </p:txBody>
      </p:sp>
    </p:spTree>
    <p:extLst>
      <p:ext uri="{BB962C8B-B14F-4D97-AF65-F5344CB8AC3E}">
        <p14:creationId xmlns:p14="http://schemas.microsoft.com/office/powerpoint/2010/main" val="3853335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49" r:id="rId2"/>
    <p:sldLayoutId id="2147483667" r:id="rId3"/>
    <p:sldLayoutId id="2147483650" r:id="rId4"/>
    <p:sldLayoutId id="2147483661" r:id="rId5"/>
    <p:sldLayoutId id="2147483652" r:id="rId6"/>
    <p:sldLayoutId id="2147483651" r:id="rId7"/>
    <p:sldLayoutId id="2147483663" r:id="rId8"/>
    <p:sldLayoutId id="2147483666" r:id="rId9"/>
    <p:sldLayoutId id="2147483664" r:id="rId10"/>
    <p:sldLayoutId id="2147483665" r:id="rId11"/>
    <p:sldLayoutId id="2147483653" r:id="rId12"/>
    <p:sldLayoutId id="2147483669" r:id="rId13"/>
    <p:sldLayoutId id="2147483654" r:id="rId14"/>
    <p:sldLayoutId id="2147483655" r:id="rId15"/>
    <p:sldLayoutId id="2147483670" r:id="rId1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7800" indent="-1778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0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620000" indent="-180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180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718ED56-9B95-423B-8216-9F178AD2C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1247" y="1424767"/>
            <a:ext cx="10287043" cy="1447247"/>
          </a:xfrm>
        </p:spPr>
        <p:txBody>
          <a:bodyPr/>
          <a:lstStyle/>
          <a:p>
            <a:r>
              <a:rPr lang="nl-BE" dirty="0"/>
              <a:t>Business Application Development</a:t>
            </a:r>
          </a:p>
        </p:txBody>
      </p:sp>
      <p:sp>
        <p:nvSpPr>
          <p:cNvPr id="5" name="Ondertitel 4">
            <a:extLst>
              <a:ext uri="{FF2B5EF4-FFF2-40B4-BE49-F238E27FC236}">
                <a16:creationId xmlns:a16="http://schemas.microsoft.com/office/drawing/2014/main" id="{124F62E7-84EB-4132-BAC4-04FD56CAD6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/>
              <a:t>Architectuur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18169475-DD59-4D84-BD2E-FA0DFEC69F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40603" y="3988604"/>
            <a:ext cx="6308725" cy="466613"/>
          </a:xfrm>
        </p:spPr>
        <p:txBody>
          <a:bodyPr/>
          <a:lstStyle/>
          <a:p>
            <a:r>
              <a:rPr lang="nl-BE" dirty="0"/>
              <a:t>Sam Van Buggenhout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38443782-7588-4BA1-A888-94A8DEFEE0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40603" y="4486230"/>
            <a:ext cx="4662487" cy="1617663"/>
          </a:xfrm>
        </p:spPr>
        <p:txBody>
          <a:bodyPr/>
          <a:lstStyle/>
          <a:p>
            <a:r>
              <a:rPr lang="nl-BE"/>
              <a:t>Academiejaar 2025-2026</a:t>
            </a:r>
            <a:endParaRPr lang="nl-BE" dirty="0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83EA1070-FA06-4A00-A759-4ACED8B01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FC613BBA-66FF-4B29-8641-2A8DBF9F4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2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410289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D9A78874-CA76-4C66-8AB0-DB0467756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6075" y="1516522"/>
            <a:ext cx="5365733" cy="3433609"/>
          </a:xfrm>
        </p:spPr>
        <p:txBody>
          <a:bodyPr anchor="ctr"/>
          <a:lstStyle/>
          <a:p>
            <a:endParaRPr lang="nl-BE" dirty="0"/>
          </a:p>
          <a:p>
            <a:r>
              <a:rPr lang="nl-BE" dirty="0"/>
              <a:t>Inleiding</a:t>
            </a:r>
          </a:p>
          <a:p>
            <a:r>
              <a:rPr lang="nl-BE" dirty="0"/>
              <a:t>Voorbeelden Architectuur</a:t>
            </a:r>
          </a:p>
          <a:p>
            <a:r>
              <a:rPr lang="nl-BE" dirty="0" err="1"/>
              <a:t>Repository</a:t>
            </a:r>
            <a:r>
              <a:rPr lang="nl-BE" dirty="0"/>
              <a:t> – Service – </a:t>
            </a:r>
            <a:r>
              <a:rPr lang="nl-BE" dirty="0" err="1"/>
              <a:t>Entity</a:t>
            </a:r>
            <a:r>
              <a:rPr lang="nl-BE" dirty="0"/>
              <a:t> </a:t>
            </a:r>
          </a:p>
          <a:p>
            <a:r>
              <a:rPr lang="nl-BE" dirty="0"/>
              <a:t>Unit of </a:t>
            </a:r>
            <a:r>
              <a:rPr lang="nl-BE" dirty="0" err="1"/>
              <a:t>work</a:t>
            </a:r>
            <a:endParaRPr lang="nl-BE" dirty="0"/>
          </a:p>
          <a:p>
            <a:r>
              <a:rPr lang="nl-BE" dirty="0"/>
              <a:t>Clean Architecture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1EB6E6A-9EE0-4FEF-9807-DEC31A15C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59CE2FD-DE76-4295-BF54-E1613FCA4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3</a:t>
            </a:fld>
            <a:endParaRPr lang="nl-B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376BF4A-A5EE-4931-88FC-7233F3E470C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09927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DF56-8F19-4DE8-9680-3B24FB264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D2BF5-3C8D-44B9-916E-07459E9C2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4B247F-694C-4189-93CD-010E7DA7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0506E5-6B0D-4986-8F59-626F92D9A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AFAAA7-34C9-4E82-91C1-FC11DAE03A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57459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is software architectuur?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1" y="1679846"/>
            <a:ext cx="9727722" cy="405737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Software architectuur is de </a:t>
            </a:r>
            <a:r>
              <a:rPr lang="nl-BE" b="1" dirty="0">
                <a:solidFill>
                  <a:schemeClr val="accent6"/>
                </a:solidFill>
              </a:rPr>
              <a:t>organisatie</a:t>
            </a:r>
            <a:r>
              <a:rPr lang="nl-BE" dirty="0"/>
              <a:t> van een software systeem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Uit welke </a:t>
            </a:r>
            <a:r>
              <a:rPr lang="nl-BE" sz="2400" b="1" dirty="0">
                <a:solidFill>
                  <a:schemeClr val="accent6"/>
                </a:solidFill>
              </a:rPr>
              <a:t>componenten</a:t>
            </a:r>
            <a:r>
              <a:rPr lang="nl-BE" sz="2400" dirty="0"/>
              <a:t> de software is opgebouwd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Hoe deze componenten met elkaar </a:t>
            </a:r>
            <a:r>
              <a:rPr lang="nl-BE" sz="2400" b="1" dirty="0">
                <a:solidFill>
                  <a:schemeClr val="accent6"/>
                </a:solidFill>
              </a:rPr>
              <a:t>interageren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b="1" dirty="0">
                <a:solidFill>
                  <a:schemeClr val="accent6"/>
                </a:solidFill>
              </a:rPr>
              <a:t>Principes</a:t>
            </a:r>
            <a:r>
              <a:rPr lang="nl-BE" sz="2400" dirty="0"/>
              <a:t> die gebruikt worden om de software te ontwerpen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Wat is een </a:t>
            </a:r>
            <a:r>
              <a:rPr lang="nl-BE" b="1" dirty="0">
                <a:solidFill>
                  <a:schemeClr val="accent6"/>
                </a:solidFill>
              </a:rPr>
              <a:t>“component” </a:t>
            </a:r>
            <a:r>
              <a:rPr lang="nl-BE" dirty="0"/>
              <a:t>in software architectuur?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Een </a:t>
            </a:r>
            <a:r>
              <a:rPr lang="nl-BE" sz="2400" b="1" dirty="0" err="1">
                <a:solidFill>
                  <a:schemeClr val="accent6"/>
                </a:solidFill>
              </a:rPr>
              <a:t>geëncapsuleerd</a:t>
            </a:r>
            <a:r>
              <a:rPr lang="nl-BE" sz="2400" dirty="0"/>
              <a:t> deel van een software systeem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Heeft een </a:t>
            </a:r>
            <a:r>
              <a:rPr lang="nl-BE" sz="2400" b="1" dirty="0">
                <a:solidFill>
                  <a:schemeClr val="accent6"/>
                </a:solidFill>
              </a:rPr>
              <a:t>“interface” </a:t>
            </a:r>
            <a:r>
              <a:rPr lang="nl-BE" sz="2400" dirty="0"/>
              <a:t>die vastlegt hoe met de component gecommuniceerd wordt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Vorm: module, klassen, objecten, bij elkaar horende methodes, …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67584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25ACA-C11A-4CE5-9D9E-6A4D525BA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Waarom Software Design?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63E0D4-D945-4031-A8B4-4F53647E4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46579-1A44-4272-BA78-0845E7D4B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</a:t>
            </a:fld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C65FFD-5772-4965-86D9-03426B8D58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1634AF-8E28-4330-B1CC-DE7733F9FD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BE" dirty="0"/>
              <a:t>Software Systemen ondergaan vaak veel wijzigingen:</a:t>
            </a:r>
          </a:p>
          <a:p>
            <a:pPr lvl="1"/>
            <a:r>
              <a:rPr lang="nl-BE" dirty="0"/>
              <a:t>Nieuwe features</a:t>
            </a:r>
          </a:p>
          <a:p>
            <a:pPr lvl="1"/>
            <a:r>
              <a:rPr lang="nl-BE" dirty="0"/>
              <a:t>Wijziging aan bestaande features</a:t>
            </a:r>
          </a:p>
          <a:p>
            <a:pPr lvl="1"/>
            <a:r>
              <a:rPr lang="nl-BE" dirty="0" err="1"/>
              <a:t>Bugfixes</a:t>
            </a:r>
            <a:endParaRPr lang="nl-BE" dirty="0"/>
          </a:p>
          <a:p>
            <a:pPr lvl="1"/>
            <a:r>
              <a:rPr lang="nl-BE" dirty="0"/>
              <a:t>...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A4398E-6ECE-4222-9014-4463BC055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091" y="2875174"/>
            <a:ext cx="4868421" cy="2738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373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758FA-B6B0-4893-94D5-4BB0D7DE0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Waarom Software Design?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23950E-E6ED-4A1C-90DB-55F0403CB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42902-7D63-4A1B-945E-463859005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7</a:t>
            </a:fld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1AC032-3EDD-4181-9E9B-5A676D39BB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258EFA-9369-4468-A119-6457A8A569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6927" y="1937556"/>
            <a:ext cx="10874375" cy="3605213"/>
          </a:xfrm>
        </p:spPr>
        <p:txBody>
          <a:bodyPr/>
          <a:lstStyle/>
          <a:p>
            <a:r>
              <a:rPr lang="nl-BE" dirty="0"/>
              <a:t>Code schrijven die (even) werkt is eenvoudig</a:t>
            </a:r>
          </a:p>
          <a:p>
            <a:r>
              <a:rPr lang="nl-BE" dirty="0"/>
              <a:t>Code schrijven die </a:t>
            </a:r>
            <a:r>
              <a:rPr lang="nl-BE" b="1" dirty="0"/>
              <a:t>robuust</a:t>
            </a:r>
            <a:r>
              <a:rPr lang="nl-BE" dirty="0"/>
              <a:t>, </a:t>
            </a:r>
            <a:r>
              <a:rPr lang="nl-BE" b="1" dirty="0"/>
              <a:t>onderhoudbaar</a:t>
            </a:r>
            <a:r>
              <a:rPr lang="nl-BE" dirty="0"/>
              <a:t> en gemakkelijk </a:t>
            </a:r>
            <a:r>
              <a:rPr lang="nl-BE" b="1" dirty="0"/>
              <a:t>aanpasbaar</a:t>
            </a:r>
            <a:r>
              <a:rPr lang="nl-BE" dirty="0"/>
              <a:t> is, is </a:t>
            </a:r>
            <a:r>
              <a:rPr lang="nl-BE" b="1" dirty="0"/>
              <a:t>zéér moeilijk</a:t>
            </a:r>
            <a:r>
              <a:rPr lang="nl-BE" dirty="0"/>
              <a:t>!</a:t>
            </a:r>
          </a:p>
          <a:p>
            <a:r>
              <a:rPr lang="nl-BE" dirty="0"/>
              <a:t>Code die slordig geschreven is, kan potentieel voor grote problemen zorgen</a:t>
            </a:r>
          </a:p>
        </p:txBody>
      </p:sp>
    </p:spTree>
    <p:extLst>
      <p:ext uri="{BB962C8B-B14F-4D97-AF65-F5344CB8AC3E}">
        <p14:creationId xmlns:p14="http://schemas.microsoft.com/office/powerpoint/2010/main" val="1115369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758FA-B6B0-4893-94D5-4BB0D7DE0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Waarom Software Design (</a:t>
            </a:r>
            <a:r>
              <a:rPr lang="nl-BE" dirty="0" err="1"/>
              <a:t>Use</a:t>
            </a:r>
            <a:r>
              <a:rPr lang="nl-BE" dirty="0"/>
              <a:t> Case)?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23950E-E6ED-4A1C-90DB-55F0403CB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42902-7D63-4A1B-945E-463859005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8</a:t>
            </a:fld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1AC032-3EDD-4181-9E9B-5A676D39BB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9B528B4-2708-4D06-BE22-08B4E8072E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38E3F9-5681-459E-AF36-5D1D4981A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391" y="1523653"/>
            <a:ext cx="6203218" cy="43361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4DEBC9-9018-4871-B990-8F71D548CF92}"/>
              </a:ext>
            </a:extLst>
          </p:cNvPr>
          <p:cNvSpPr txBox="1"/>
          <p:nvPr/>
        </p:nvSpPr>
        <p:spPr>
          <a:xfrm>
            <a:off x="2994391" y="6000294"/>
            <a:ext cx="7126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Bron</a:t>
            </a:r>
            <a:r>
              <a:rPr lang="en-US" dirty="0"/>
              <a:t>: Robert C. Martin - Clean Architecture - Pearson 2018 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646481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758FA-B6B0-4893-94D5-4BB0D7DE0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Waarom Software Design (</a:t>
            </a:r>
            <a:r>
              <a:rPr lang="nl-BE" dirty="0" err="1"/>
              <a:t>Use</a:t>
            </a:r>
            <a:r>
              <a:rPr lang="nl-BE" dirty="0"/>
              <a:t> Case)?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23950E-E6ED-4A1C-90DB-55F0403CB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42902-7D63-4A1B-945E-463859005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9</a:t>
            </a:fld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1AC032-3EDD-4181-9E9B-5A676D39BB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9B528B4-2708-4D06-BE22-08B4E8072E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38E3F9-5681-459E-AF36-5D1D4981A9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10" y="1486719"/>
            <a:ext cx="7525700" cy="44100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4DEBC9-9018-4871-B990-8F71D548CF92}"/>
              </a:ext>
            </a:extLst>
          </p:cNvPr>
          <p:cNvSpPr txBox="1"/>
          <p:nvPr/>
        </p:nvSpPr>
        <p:spPr>
          <a:xfrm>
            <a:off x="2994391" y="6000294"/>
            <a:ext cx="7126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Bron</a:t>
            </a:r>
            <a:r>
              <a:rPr lang="en-US" dirty="0"/>
              <a:t>: Robert C. Martin - Clean Architecture - Pearson 2018 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627785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5EDFB-9E0C-4545-974A-F8B2E2C95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Waarom Software Design (</a:t>
            </a:r>
            <a:r>
              <a:rPr lang="nl-BE" dirty="0" err="1"/>
              <a:t>Use</a:t>
            </a:r>
            <a:r>
              <a:rPr lang="nl-BE" dirty="0"/>
              <a:t> Case)?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561AC8-B7B8-44A1-8894-A9E36965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07A32-8CDB-4289-9F04-001D7356C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10</a:t>
            </a:fld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8D5A9E-23EA-4E06-BA48-B7085D9409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2EA934-9AA7-4935-816E-E068404E01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8813" y="1889125"/>
            <a:ext cx="7646201" cy="3605213"/>
          </a:xfrm>
        </p:spPr>
        <p:txBody>
          <a:bodyPr/>
          <a:lstStyle/>
          <a:p>
            <a:r>
              <a:rPr lang="nl-BE" dirty="0"/>
              <a:t>Wat kan je afleiden uit de vorige grafiek?</a:t>
            </a:r>
          </a:p>
          <a:p>
            <a:r>
              <a:rPr lang="nl-BE" dirty="0"/>
              <a:t>Welke gevolgen heeft dit voor de kostprijs van het software systeem?</a:t>
            </a:r>
          </a:p>
          <a:p>
            <a:r>
              <a:rPr lang="nl-BE" dirty="0"/>
              <a:t>Wat zijn de mogelijke consequenties voor nieuwe features/</a:t>
            </a:r>
            <a:r>
              <a:rPr lang="nl-BE" dirty="0" err="1"/>
              <a:t>bugfixes</a:t>
            </a:r>
            <a:r>
              <a:rPr lang="nl-BE" dirty="0"/>
              <a:t>?</a:t>
            </a:r>
          </a:p>
          <a:p>
            <a:endParaRPr lang="nl-B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15496A-88D3-406F-BA62-065D72E9CF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79" r="23638"/>
          <a:stretch/>
        </p:blipFill>
        <p:spPr>
          <a:xfrm>
            <a:off x="8676865" y="1850704"/>
            <a:ext cx="2856322" cy="26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286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758FA-B6B0-4893-94D5-4BB0D7DE0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Waarom Software Design (</a:t>
            </a:r>
            <a:r>
              <a:rPr lang="nl-BE" dirty="0" err="1"/>
              <a:t>Use</a:t>
            </a:r>
            <a:r>
              <a:rPr lang="nl-BE" dirty="0"/>
              <a:t> Case)?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23950E-E6ED-4A1C-90DB-55F0403CB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42902-7D63-4A1B-945E-463859005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11</a:t>
            </a:fld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1AC032-3EDD-4181-9E9B-5A676D39BB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9B528B4-2708-4D06-BE22-08B4E8072E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38E3F9-5681-459E-AF36-5D1D4981A9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381" y="1486719"/>
            <a:ext cx="6420357" cy="44100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4DEBC9-9018-4871-B990-8F71D548CF92}"/>
              </a:ext>
            </a:extLst>
          </p:cNvPr>
          <p:cNvSpPr txBox="1"/>
          <p:nvPr/>
        </p:nvSpPr>
        <p:spPr>
          <a:xfrm>
            <a:off x="2994391" y="6000294"/>
            <a:ext cx="7126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Bron</a:t>
            </a:r>
            <a:r>
              <a:rPr lang="en-US" dirty="0"/>
              <a:t>: Robert C. Martin - Clean Architecture - Pearson 2018 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710628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5EDFB-9E0C-4545-974A-F8B2E2C95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Waarom Software Design (</a:t>
            </a:r>
            <a:r>
              <a:rPr lang="nl-BE" dirty="0" err="1"/>
              <a:t>Use</a:t>
            </a:r>
            <a:r>
              <a:rPr lang="nl-BE" dirty="0"/>
              <a:t> Case)?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561AC8-B7B8-44A1-8894-A9E36965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07A32-8CDB-4289-9F04-001D7356C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12</a:t>
            </a:fld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8D5A9E-23EA-4E06-BA48-B7085D9409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2EA934-9AA7-4935-816E-E068404E01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8813" y="1889125"/>
            <a:ext cx="7646201" cy="3605213"/>
          </a:xfrm>
        </p:spPr>
        <p:txBody>
          <a:bodyPr/>
          <a:lstStyle/>
          <a:p>
            <a:r>
              <a:rPr lang="nl-BE" dirty="0"/>
              <a:t>Welke gevolgen heeft dit voor het bedrijf dat de software ontwikkelt?</a:t>
            </a:r>
          </a:p>
          <a:p>
            <a:r>
              <a:rPr lang="nl-BE" dirty="0"/>
              <a:t>Welke impact heeft dit mogelijks op de motivatie binnen het ontwikkelingsteam?</a:t>
            </a:r>
          </a:p>
          <a:p>
            <a:r>
              <a:rPr lang="nl-BE" dirty="0"/>
              <a:t>Wat is volgens jou de oorzaak van het probleem?</a:t>
            </a:r>
          </a:p>
          <a:p>
            <a:endParaRPr lang="nl-B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15496A-88D3-406F-BA62-065D72E9CF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79" r="23638"/>
          <a:stretch/>
        </p:blipFill>
        <p:spPr>
          <a:xfrm>
            <a:off x="8676865" y="1850704"/>
            <a:ext cx="2856322" cy="26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137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285CB-5C09-4F7A-BBE4-EB7A52D2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Waarom Software Design (</a:t>
            </a:r>
            <a:r>
              <a:rPr lang="nl-BE" dirty="0" err="1"/>
              <a:t>Use</a:t>
            </a:r>
            <a:r>
              <a:rPr lang="nl-BE" dirty="0"/>
              <a:t> Case)?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65DFE4-A80A-4473-B468-BB5D27E14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D8C4A-7F78-4832-8B9C-7E9DD1B5F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13</a:t>
            </a:fld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F43FEA-4113-4260-AC3D-CBA0949415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AFE1704-C7E0-4C7B-A034-5A88E33C21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BE" dirty="0"/>
              <a:t>Bedrijf wilt concurrentie voor blijven:</a:t>
            </a:r>
          </a:p>
          <a:p>
            <a:pPr lvl="1"/>
            <a:r>
              <a:rPr lang="nl-BE" dirty="0"/>
              <a:t>Tijdsdruk: snelle releases nodig</a:t>
            </a:r>
          </a:p>
          <a:p>
            <a:pPr lvl="1"/>
            <a:r>
              <a:rPr lang="nl-BE" dirty="0"/>
              <a:t>Omwille van tijdsdruk, nemen ontwikkelaars “short-cuts”: “code snel-snel schrijven, nadien opkuisen”</a:t>
            </a:r>
          </a:p>
          <a:p>
            <a:pPr lvl="1"/>
            <a:r>
              <a:rPr lang="nl-BE" b="1" dirty="0"/>
              <a:t>MAAR: </a:t>
            </a:r>
            <a:r>
              <a:rPr lang="nl-BE" dirty="0"/>
              <a:t>tijd om code op te ruimen komt er niet </a:t>
            </a:r>
            <a:r>
              <a:rPr lang="nl-BE" dirty="0">
                <a:sym typeface="Wingdings" panose="05000000000000000000" pitchFamily="2" charset="2"/>
              </a:rPr>
              <a:t> rommelige code blijft verder aangroeien</a:t>
            </a:r>
          </a:p>
          <a:p>
            <a:pPr lvl="1"/>
            <a:r>
              <a:rPr lang="nl-BE" dirty="0">
                <a:sym typeface="Wingdings" panose="05000000000000000000" pitchFamily="2" charset="2"/>
              </a:rPr>
              <a:t>Op een bepaald punt is code zó slordig dat opkuisen niet meer mogelijk is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532351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A6F40-8EC6-4A7E-892E-1CE79A294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Waarom Software Design?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B6BED6-8811-49DB-BC3E-C48360B08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3FD3B-6374-4107-91D9-2E5B22925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14</a:t>
            </a:fld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D5D26C-0C8F-480F-81FC-F5332C268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369D99-DB5D-4E3E-9FC1-5A075904E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752" y="1950716"/>
            <a:ext cx="6504495" cy="365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57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Belang van software architectuur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1" y="1400310"/>
            <a:ext cx="9727722" cy="405737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Een goede architectuur zorgt ervoor dat het systeem gemakkelijk te begrijpen 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Vereenvoudigt de ontwikkeling, het onderhoud en </a:t>
            </a:r>
            <a:r>
              <a:rPr lang="nl-BE" dirty="0" err="1"/>
              <a:t>deployment</a:t>
            </a:r>
            <a:r>
              <a:rPr lang="nl-BE" dirty="0"/>
              <a:t> van een systeem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Minimaliseert de nodige resources om het benodigde systeem te bouwen en te onderhouden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Software Architectuur is vergelijkbaar met architectuur van gebouw: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Sterke fundering nodig om op verder te bouwen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34973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1E22-A103-9FFE-B622-069ECF5F0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Voorbeelden Architectuur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BB8A5-9651-1724-B5D2-C58BFAA59B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C97593-7944-544F-7985-DC81FD10B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187CA3-7C0D-AFA6-B6E1-EF70B0A83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16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1F2B17-CA73-7C83-0704-C96C2F098B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23345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BD63-966F-979B-8661-B5C313398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Voorbeeld Architectuur: N-</a:t>
            </a:r>
            <a:r>
              <a:rPr lang="nl-BE" dirty="0" err="1"/>
              <a:t>layer</a:t>
            </a:r>
            <a:r>
              <a:rPr lang="nl-BE" dirty="0"/>
              <a:t> architectuur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F82D48-0333-9BCE-B04B-1ED97602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0EF997-DEA1-7DB6-A3AF-83CEB1EA4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E0ED6C-8246-A4BE-C624-C414AA7CB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B1EFAB-26EC-3610-EE50-2B9C9C9E93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2927" y="1536918"/>
            <a:ext cx="6766146" cy="41305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325FF7-2D2D-0AD6-91E1-3CF3B1D28624}"/>
              </a:ext>
            </a:extLst>
          </p:cNvPr>
          <p:cNvSpPr txBox="1"/>
          <p:nvPr/>
        </p:nvSpPr>
        <p:spPr>
          <a:xfrm>
            <a:off x="2267553" y="6078607"/>
            <a:ext cx="7785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sz="1400" i="1" dirty="0"/>
              <a:t>Bron: </a:t>
            </a:r>
            <a:r>
              <a:rPr lang="en-US" sz="1400" i="1" dirty="0"/>
              <a:t>Architect Modern Web Applications with ASP.NET Core and Azure</a:t>
            </a:r>
            <a:endParaRPr lang="nl-BE" sz="1400" i="1" dirty="0"/>
          </a:p>
        </p:txBody>
      </p:sp>
    </p:spTree>
    <p:extLst>
      <p:ext uri="{BB962C8B-B14F-4D97-AF65-F5344CB8AC3E}">
        <p14:creationId xmlns:p14="http://schemas.microsoft.com/office/powerpoint/2010/main" val="3067598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BD63-966F-979B-8661-B5C313398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Voorbeeld Architectuur: Clean architectuur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F82D48-0333-9BCE-B04B-1ED97602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0EF997-DEA1-7DB6-A3AF-83CEB1EA4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E0ED6C-8246-A4BE-C624-C414AA7CB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8" name="Picture 7" descr="A diagram of a web application&#10;&#10;Description automatically generated">
            <a:extLst>
              <a:ext uri="{FF2B5EF4-FFF2-40B4-BE49-F238E27FC236}">
                <a16:creationId xmlns:a16="http://schemas.microsoft.com/office/drawing/2014/main" id="{6D53AE7E-FBC5-516D-EBE5-03393B917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5164" y="1393491"/>
            <a:ext cx="4761672" cy="477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450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BD63-966F-979B-8661-B5C313398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Voorbeeld Architectuur: Monolithische architectuur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F82D48-0333-9BCE-B04B-1ED97602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0EF997-DEA1-7DB6-A3AF-83CEB1EA4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19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E0ED6C-8246-A4BE-C624-C414AA7CB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325FF7-2D2D-0AD6-91E1-3CF3B1D28624}"/>
              </a:ext>
            </a:extLst>
          </p:cNvPr>
          <p:cNvSpPr txBox="1"/>
          <p:nvPr/>
        </p:nvSpPr>
        <p:spPr>
          <a:xfrm>
            <a:off x="2267553" y="6078607"/>
            <a:ext cx="7785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sz="1400" i="1" dirty="0"/>
              <a:t>Bron: </a:t>
            </a:r>
            <a:r>
              <a:rPr lang="en-US" sz="1400" i="1" dirty="0"/>
              <a:t>https://www.geeksforgeeks.org/monolithic-vs-microservices-architecture/</a:t>
            </a:r>
            <a:endParaRPr lang="nl-BE" sz="1400" i="1" dirty="0"/>
          </a:p>
        </p:txBody>
      </p:sp>
      <p:pic>
        <p:nvPicPr>
          <p:cNvPr id="8" name="Picture 7" descr="A diagram of a service layer&#10;&#10;Description automatically generated">
            <a:extLst>
              <a:ext uri="{FF2B5EF4-FFF2-40B4-BE49-F238E27FC236}">
                <a16:creationId xmlns:a16="http://schemas.microsoft.com/office/drawing/2014/main" id="{5711FF7C-E7EB-DADB-44A1-BEB3F5C753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361" y="1542317"/>
            <a:ext cx="2210063" cy="38335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B8B5E3-F2D4-61CF-1813-A5970BED795C}"/>
              </a:ext>
            </a:extLst>
          </p:cNvPr>
          <p:cNvSpPr txBox="1"/>
          <p:nvPr/>
        </p:nvSpPr>
        <p:spPr>
          <a:xfrm>
            <a:off x="4124928" y="1542317"/>
            <a:ext cx="729615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400" dirty="0"/>
              <a:t>Alle functionaliteiten van het project in één code-base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400" dirty="0"/>
              <a:t>Wordt als één geheel </a:t>
            </a:r>
            <a:r>
              <a:rPr lang="nl-BE" sz="2400" dirty="0" err="1"/>
              <a:t>gedeployed</a:t>
            </a:r>
            <a:endParaRPr lang="nl-BE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400" dirty="0"/>
              <a:t>Voordelen: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2000" dirty="0"/>
              <a:t>Eenvoudige ontwikkeling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2000" dirty="0"/>
              <a:t>Eenvoudig te </a:t>
            </a:r>
            <a:r>
              <a:rPr lang="nl-BE" sz="2000" dirty="0" err="1"/>
              <a:t>deployen</a:t>
            </a:r>
            <a:endParaRPr lang="nl-BE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2000" dirty="0"/>
              <a:t>Minder onderhevig aan </a:t>
            </a:r>
            <a:r>
              <a:rPr lang="nl-BE" sz="2000" dirty="0" err="1"/>
              <a:t>network-latency</a:t>
            </a:r>
            <a:endParaRPr lang="nl-BE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2000" dirty="0"/>
              <a:t>Minder security-risico’s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400" dirty="0"/>
              <a:t>Nadelen: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2000" dirty="0"/>
              <a:t>Kan snel zeer groot worden </a:t>
            </a:r>
            <a:r>
              <a:rPr lang="nl-BE" sz="2000" dirty="0">
                <a:sym typeface="Wingdings" panose="05000000000000000000" pitchFamily="2" charset="2"/>
              </a:rPr>
              <a:t> moeilijk te onderhouden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2000" dirty="0">
                <a:sym typeface="Wingdings" panose="05000000000000000000" pitchFamily="2" charset="2"/>
              </a:rPr>
              <a:t>Wijziging  applicatie volledig re-</a:t>
            </a:r>
            <a:r>
              <a:rPr lang="nl-BE" sz="2000" dirty="0" err="1">
                <a:sym typeface="Wingdings" panose="05000000000000000000" pitchFamily="2" charset="2"/>
              </a:rPr>
              <a:t>deployen</a:t>
            </a:r>
            <a:endParaRPr lang="nl-BE" sz="2000" dirty="0">
              <a:sym typeface="Wingdings" panose="05000000000000000000" pitchFamily="2" charset="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2000" dirty="0">
                <a:sym typeface="Wingdings" panose="05000000000000000000" pitchFamily="2" charset="2"/>
              </a:rPr>
              <a:t>Moeilijk schaalbaar</a:t>
            </a: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708177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BD63-966F-979B-8661-B5C313398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Voorbeeld Architectuur: Microservice architectuur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F82D48-0333-9BCE-B04B-1ED97602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0EF997-DEA1-7DB6-A3AF-83CEB1EA4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E0ED6C-8246-A4BE-C624-C414AA7CB0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325FF7-2D2D-0AD6-91E1-3CF3B1D28624}"/>
              </a:ext>
            </a:extLst>
          </p:cNvPr>
          <p:cNvSpPr txBox="1"/>
          <p:nvPr/>
        </p:nvSpPr>
        <p:spPr>
          <a:xfrm>
            <a:off x="2267553" y="6078607"/>
            <a:ext cx="7785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BE" sz="1400" i="1" dirty="0"/>
              <a:t>Bron: </a:t>
            </a:r>
            <a:r>
              <a:rPr lang="en-US" sz="1400" i="1" dirty="0"/>
              <a:t>https://www.geeksforgeeks.org/monolithic-vs-microservices-architecture/</a:t>
            </a:r>
            <a:endParaRPr lang="nl-BE" sz="1400" i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11FF7C-E7EB-DADB-44A1-BEB3F5C753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4291" y="1902619"/>
            <a:ext cx="4408970" cy="34956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BB8B5E3-F2D4-61CF-1813-A5970BED795C}"/>
              </a:ext>
            </a:extLst>
          </p:cNvPr>
          <p:cNvSpPr txBox="1"/>
          <p:nvPr/>
        </p:nvSpPr>
        <p:spPr>
          <a:xfrm>
            <a:off x="5325078" y="1603717"/>
            <a:ext cx="648592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400" dirty="0"/>
              <a:t>Applicatie opgedeeld in verschillende, onafhankelijke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400" dirty="0"/>
              <a:t>Services communiceren met elkaar (bv. via HTTP)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400" dirty="0"/>
              <a:t>Voordelen: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2000" dirty="0"/>
              <a:t>Kleine services </a:t>
            </a:r>
            <a:r>
              <a:rPr lang="nl-BE" sz="2000" dirty="0">
                <a:sym typeface="Wingdings" panose="05000000000000000000" pitchFamily="2" charset="2"/>
              </a:rPr>
              <a:t> makkelijk te onderhouden</a:t>
            </a:r>
            <a:endParaRPr lang="nl-BE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2000" dirty="0"/>
              <a:t>Enkel gewijzigde services re-</a:t>
            </a:r>
            <a:r>
              <a:rPr lang="nl-BE" sz="2000" dirty="0" err="1"/>
              <a:t>deployen</a:t>
            </a:r>
            <a:endParaRPr lang="nl-BE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2000" dirty="0"/>
              <a:t>Horizontaal schaalbaar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2000" dirty="0"/>
              <a:t>Fouttolerant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400" dirty="0"/>
              <a:t>Nadelen: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2000" dirty="0"/>
              <a:t>Bijkomende complexiteit</a:t>
            </a:r>
            <a:endParaRPr lang="nl-BE" sz="2000" dirty="0">
              <a:sym typeface="Wingdings" panose="05000000000000000000" pitchFamily="2" charset="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2000" dirty="0">
                <a:sym typeface="Wingdings" panose="05000000000000000000" pitchFamily="2" charset="2"/>
              </a:rPr>
              <a:t>Network-</a:t>
            </a:r>
            <a:r>
              <a:rPr lang="nl-BE" sz="2000" dirty="0" err="1">
                <a:sym typeface="Wingdings" panose="05000000000000000000" pitchFamily="2" charset="2"/>
              </a:rPr>
              <a:t>latency</a:t>
            </a:r>
            <a:r>
              <a:rPr lang="nl-BE" sz="2000" dirty="0">
                <a:sym typeface="Wingdings" panose="05000000000000000000" pitchFamily="2" charset="2"/>
              </a:rPr>
              <a:t> kan probleem vormen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nl-BE" sz="2000" dirty="0">
                <a:sym typeface="Wingdings" panose="05000000000000000000" pitchFamily="2" charset="2"/>
              </a:rPr>
              <a:t>Moeilijk om te debuggen</a:t>
            </a: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3595645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68623-5B58-1A6F-4789-9872AA14E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Architectuur doorheen de lessen gebruikt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98F37C-5949-962A-BAED-A71581D94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32AF3-DBF6-77CA-B3F2-65A56107A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9DBC86-69CA-0658-776F-4F323BB9E3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5D99BB-595F-2B18-84F7-EEC0E65D6C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00448" y="1875997"/>
            <a:ext cx="2702660" cy="3492523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48E45CC-0C6A-E21B-6A3D-9AA8E03C7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46" y="1942458"/>
            <a:ext cx="5843499" cy="387390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>
                <a:solidFill>
                  <a:schemeClr val="accent6"/>
                </a:solidFill>
              </a:rPr>
              <a:t>Controller</a:t>
            </a:r>
            <a:r>
              <a:rPr lang="nl-BE" sz="2400" dirty="0"/>
              <a:t> maakt gebruik van </a:t>
            </a:r>
            <a:r>
              <a:rPr lang="nl-BE" sz="2400" b="1" dirty="0">
                <a:solidFill>
                  <a:schemeClr val="accent6"/>
                </a:solidFill>
              </a:rPr>
              <a:t>Service</a:t>
            </a:r>
            <a:r>
              <a:rPr lang="nl-BE" sz="2400" dirty="0"/>
              <a:t> voor het uitvoeren van aanvragen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>
                <a:solidFill>
                  <a:schemeClr val="accent6"/>
                </a:solidFill>
              </a:rPr>
              <a:t>Service</a:t>
            </a:r>
            <a:r>
              <a:rPr lang="nl-BE" sz="2400" dirty="0"/>
              <a:t> bevat </a:t>
            </a:r>
            <a:r>
              <a:rPr lang="nl-BE" sz="2400" b="1" dirty="0">
                <a:solidFill>
                  <a:schemeClr val="accent6"/>
                </a:solidFill>
              </a:rPr>
              <a:t>logica</a:t>
            </a:r>
            <a:r>
              <a:rPr lang="nl-BE" sz="2400" dirty="0"/>
              <a:t> om aanvragen af te handelen en maakt indien nodig gebruik van data uit </a:t>
            </a:r>
            <a:r>
              <a:rPr lang="nl-BE" sz="2400" b="1" dirty="0" err="1">
                <a:solidFill>
                  <a:schemeClr val="accent6"/>
                </a:solidFill>
              </a:rPr>
              <a:t>repository</a:t>
            </a:r>
            <a:endParaRPr lang="nl-BE" sz="2400" b="1" dirty="0">
              <a:solidFill>
                <a:schemeClr val="accent6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 err="1">
                <a:solidFill>
                  <a:schemeClr val="accent6"/>
                </a:solidFill>
              </a:rPr>
              <a:t>Repository</a:t>
            </a:r>
            <a:r>
              <a:rPr lang="nl-BE" sz="2400" dirty="0"/>
              <a:t> abstraheert de </a:t>
            </a:r>
            <a:r>
              <a:rPr lang="nl-BE" sz="2400" b="1" dirty="0">
                <a:solidFill>
                  <a:schemeClr val="accent6"/>
                </a:solidFill>
              </a:rPr>
              <a:t>data-laag</a:t>
            </a:r>
            <a:r>
              <a:rPr lang="nl-BE" sz="2400" dirty="0"/>
              <a:t> (communicatie naar database)</a:t>
            </a:r>
          </a:p>
        </p:txBody>
      </p:sp>
    </p:spTree>
    <p:extLst>
      <p:ext uri="{BB962C8B-B14F-4D97-AF65-F5344CB8AC3E}">
        <p14:creationId xmlns:p14="http://schemas.microsoft.com/office/powerpoint/2010/main" val="27764178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95851-721A-976C-C22E-F776FEF65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Repository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6AC90-9A99-A9D8-7F5A-1F392BACE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8DA309-01CF-EB5E-4C2B-51F8A4CDA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24FB1-1680-497A-F319-675E1A312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22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AE15122-6313-2371-78C7-D90594097E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895659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Het </a:t>
            </a:r>
            <a:r>
              <a:rPr lang="nl-BE" dirty="0" err="1"/>
              <a:t>Repository-pattern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1" y="1638300"/>
            <a:ext cx="9727722" cy="381938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Een </a:t>
            </a:r>
            <a:r>
              <a:rPr lang="nl-BE" b="1" dirty="0" err="1">
                <a:solidFill>
                  <a:schemeClr val="accent6"/>
                </a:solidFill>
              </a:rPr>
              <a:t>Repository</a:t>
            </a:r>
            <a:r>
              <a:rPr lang="nl-BE" dirty="0"/>
              <a:t> is een </a:t>
            </a:r>
            <a:r>
              <a:rPr lang="nl-BE" b="1" dirty="0">
                <a:solidFill>
                  <a:schemeClr val="accent6"/>
                </a:solidFill>
              </a:rPr>
              <a:t>abstractie</a:t>
            </a:r>
            <a:r>
              <a:rPr lang="nl-BE" dirty="0"/>
              <a:t> van een </a:t>
            </a:r>
            <a:r>
              <a:rPr lang="nl-BE" b="1" dirty="0">
                <a:solidFill>
                  <a:schemeClr val="accent6"/>
                </a:solidFill>
              </a:rPr>
              <a:t>databron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Toegang tot data zoals bij collectie (</a:t>
            </a:r>
            <a:r>
              <a:rPr lang="nl-BE" sz="2400" dirty="0" err="1"/>
              <a:t>Add</a:t>
            </a:r>
            <a:r>
              <a:rPr lang="nl-BE" sz="2400" dirty="0"/>
              <a:t>, </a:t>
            </a:r>
            <a:r>
              <a:rPr lang="nl-BE" sz="2400" dirty="0" err="1"/>
              <a:t>Remove</a:t>
            </a:r>
            <a:r>
              <a:rPr lang="nl-BE" sz="2400" dirty="0"/>
              <a:t>, Update, …)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Generiek toegangspunt, onafhankelijk van onderliggende persistentie-mechanismen (database, </a:t>
            </a:r>
            <a:r>
              <a:rPr lang="nl-BE" sz="2400" dirty="0" err="1"/>
              <a:t>webservice</a:t>
            </a:r>
            <a:r>
              <a:rPr lang="nl-BE" sz="2400" dirty="0"/>
              <a:t>, lokale opslag, …)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Voordelen: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Verhoogt testbaarheid (</a:t>
            </a:r>
            <a:r>
              <a:rPr lang="nl-BE" sz="2400" dirty="0" err="1"/>
              <a:t>Repository</a:t>
            </a:r>
            <a:r>
              <a:rPr lang="nl-BE" sz="2400" dirty="0"/>
              <a:t> kan </a:t>
            </a:r>
            <a:r>
              <a:rPr lang="nl-BE" sz="2400" dirty="0" err="1"/>
              <a:t>gemockt</a:t>
            </a:r>
            <a:r>
              <a:rPr lang="nl-BE" sz="2400" dirty="0"/>
              <a:t> worden)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Verschillende databronnen transparant aanspreken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Duidelijke scheiding business logica en persistentie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4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7864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Repository-pattern</a:t>
            </a:r>
            <a:r>
              <a:rPr lang="nl-BE" dirty="0"/>
              <a:t>: implementatie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1931158"/>
            <a:ext cx="5602357" cy="381938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Definieer </a:t>
            </a:r>
            <a:r>
              <a:rPr lang="nl-BE" sz="2400" b="1" dirty="0"/>
              <a:t>altijd</a:t>
            </a:r>
            <a:r>
              <a:rPr lang="nl-BE" sz="2400" dirty="0"/>
              <a:t> een interface voor je </a:t>
            </a:r>
            <a:r>
              <a:rPr lang="nl-BE" sz="2400" dirty="0" err="1"/>
              <a:t>repositories</a:t>
            </a:r>
            <a:endParaRPr lang="nl-BE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Bevat typisch CRUD-operaties: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18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Add</a:t>
            </a:r>
            <a:endParaRPr lang="nl-BE" sz="18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1800" dirty="0">
                <a:latin typeface="Cascadia Mono" panose="020B0609020000020004" pitchFamily="49" charset="0"/>
                <a:cs typeface="Cascadia Mono" panose="020B0609020000020004" pitchFamily="49" charset="0"/>
              </a:rPr>
              <a:t>Update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18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Remove</a:t>
            </a:r>
            <a:endParaRPr lang="nl-BE" sz="18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18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GetById</a:t>
            </a:r>
            <a:endParaRPr lang="nl-BE" sz="18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18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GetAll</a:t>
            </a:r>
            <a:endParaRPr lang="nl-BE" sz="180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Ook specifieke methodes mogelijk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625A6F-EEB2-5A48-1D5B-B4E9B1DDB2C9}"/>
              </a:ext>
            </a:extLst>
          </p:cNvPr>
          <p:cNvSpPr txBox="1"/>
          <p:nvPr/>
        </p:nvSpPr>
        <p:spPr>
          <a:xfrm>
            <a:off x="641524" y="2455858"/>
            <a:ext cx="4873451" cy="138499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 interface </a:t>
            </a:r>
            <a:r>
              <a:rPr lang="nl-BE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IAccountRepository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Add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Account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account);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Update(</a:t>
            </a:r>
            <a:r>
              <a:rPr lang="nl-BE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Account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account);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Account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GetById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id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Account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GetByIban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iban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  <a:endParaRPr lang="nl-BE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E7CF33-5B8A-D221-1ED7-7BB6EF7A183A}"/>
              </a:ext>
            </a:extLst>
          </p:cNvPr>
          <p:cNvSpPr txBox="1"/>
          <p:nvPr/>
        </p:nvSpPr>
        <p:spPr>
          <a:xfrm>
            <a:off x="641523" y="2039106"/>
            <a:ext cx="4873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Voorbeeld </a:t>
            </a:r>
            <a:r>
              <a:rPr lang="nl-BE" b="1" u="sng" dirty="0" err="1"/>
              <a:t>Repository</a:t>
            </a:r>
            <a:r>
              <a:rPr lang="nl-BE" b="1" u="sng" dirty="0"/>
              <a:t>-interface</a:t>
            </a:r>
          </a:p>
        </p:txBody>
      </p:sp>
    </p:spTree>
    <p:extLst>
      <p:ext uri="{BB962C8B-B14F-4D97-AF65-F5344CB8AC3E}">
        <p14:creationId xmlns:p14="http://schemas.microsoft.com/office/powerpoint/2010/main" val="39455769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Repository-pattern</a:t>
            </a:r>
            <a:r>
              <a:rPr lang="nl-BE" dirty="0"/>
              <a:t>: implementatie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0338" y="1592367"/>
            <a:ext cx="4775662" cy="381938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Klasse implementeert interface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Implementatie kan m.b.v. ORM </a:t>
            </a:r>
            <a:br>
              <a:rPr lang="nl-BE" sz="2400" dirty="0"/>
            </a:br>
            <a:r>
              <a:rPr lang="nl-BE" sz="2400" dirty="0"/>
              <a:t>(bv. EF </a:t>
            </a:r>
            <a:r>
              <a:rPr lang="nl-BE" sz="2400" dirty="0" err="1"/>
              <a:t>Core</a:t>
            </a:r>
            <a:r>
              <a:rPr lang="nl-BE" sz="2400" dirty="0"/>
              <a:t>, Dapper, …)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Injecteer </a:t>
            </a:r>
            <a:r>
              <a:rPr lang="nl-BE" sz="2400" dirty="0" err="1"/>
              <a:t>DbContext</a:t>
            </a:r>
            <a:r>
              <a:rPr lang="nl-BE" sz="2400" dirty="0"/>
              <a:t> (EF </a:t>
            </a:r>
            <a:r>
              <a:rPr lang="nl-BE" sz="2400" dirty="0" err="1"/>
              <a:t>Core</a:t>
            </a:r>
            <a:r>
              <a:rPr lang="nl-BE" sz="2400" dirty="0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625A6F-EEB2-5A48-1D5B-B4E9B1DDB2C9}"/>
              </a:ext>
            </a:extLst>
          </p:cNvPr>
          <p:cNvSpPr txBox="1"/>
          <p:nvPr/>
        </p:nvSpPr>
        <p:spPr>
          <a:xfrm>
            <a:off x="493644" y="1632123"/>
            <a:ext cx="6404113" cy="432426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 class 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AccountRepository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IAccountRepository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 </a:t>
            </a:r>
            <a:r>
              <a:rPr lang="nl-BE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readonly</a:t>
            </a:r>
            <a:r>
              <a:rPr lang="nl-BE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AppDbContext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_context;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nl-BE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 public 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AccountRepository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AppDbContext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context) {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_context = context;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 void 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Add(</a:t>
            </a:r>
            <a:r>
              <a:rPr lang="en-US" sz="1100" dirty="0">
                <a:solidFill>
                  <a:srgbClr val="2B91AF"/>
                </a:solidFill>
                <a:latin typeface="Cascadia Mono" panose="020B0609020000020004" pitchFamily="49" charset="0"/>
              </a:rPr>
              <a:t>Account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account) 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_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context.Accounts.Add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(account);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_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context.SaveChanges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ascadia Mono" panose="020B0609020000020004" pitchFamily="49" charset="0"/>
              </a:rPr>
              <a:t>Account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GetByIban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iban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 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_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context.Accounts.FirstOrDefault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(x =&gt;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x.Iban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==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iban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ascadia Mono" panose="020B0609020000020004" pitchFamily="49" charset="0"/>
              </a:rPr>
              <a:t>Account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GetById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id) 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_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context.Accounts.Find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(id);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 void 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Update(</a:t>
            </a:r>
            <a:r>
              <a:rPr lang="en-US" sz="1100" dirty="0">
                <a:solidFill>
                  <a:srgbClr val="2B91AF"/>
                </a:solidFill>
                <a:latin typeface="Cascadia Mono" panose="020B0609020000020004" pitchFamily="49" charset="0"/>
              </a:rPr>
              <a:t>Account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account) 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_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context.Accounts.Update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(account);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_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context.SaveChanges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nl-BE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E7CF33-5B8A-D221-1ED7-7BB6EF7A183A}"/>
              </a:ext>
            </a:extLst>
          </p:cNvPr>
          <p:cNvSpPr txBox="1"/>
          <p:nvPr/>
        </p:nvSpPr>
        <p:spPr>
          <a:xfrm>
            <a:off x="396000" y="1223035"/>
            <a:ext cx="4873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Voorbeeld </a:t>
            </a:r>
            <a:r>
              <a:rPr lang="nl-BE" b="1" u="sng" dirty="0" err="1"/>
              <a:t>Repository</a:t>
            </a:r>
            <a:r>
              <a:rPr lang="nl-BE" b="1" u="sng" dirty="0"/>
              <a:t>-implementatie</a:t>
            </a:r>
          </a:p>
        </p:txBody>
      </p:sp>
    </p:spTree>
    <p:extLst>
      <p:ext uri="{BB962C8B-B14F-4D97-AF65-F5344CB8AC3E}">
        <p14:creationId xmlns:p14="http://schemas.microsoft.com/office/powerpoint/2010/main" val="30634631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D534D-79AD-2423-9E71-02C5DE72A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Repository-pattern</a:t>
            </a:r>
            <a:r>
              <a:rPr lang="nl-BE" dirty="0"/>
              <a:t>: opmerkingen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F98AE-3F6C-47B9-3611-22447751C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1" y="2055935"/>
            <a:ext cx="10448683" cy="309053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Maak </a:t>
            </a:r>
            <a:r>
              <a:rPr lang="nl-BE" dirty="0" err="1"/>
              <a:t>repository</a:t>
            </a:r>
            <a:r>
              <a:rPr lang="nl-BE" dirty="0"/>
              <a:t> voor elke “root”-</a:t>
            </a:r>
            <a:r>
              <a:rPr lang="nl-BE" dirty="0" err="1"/>
              <a:t>entity</a:t>
            </a:r>
            <a:endParaRPr lang="nl-BE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Waarom interface?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Bij testen </a:t>
            </a:r>
            <a:r>
              <a:rPr lang="nl-BE" sz="2400" dirty="0">
                <a:sym typeface="Wingdings" panose="05000000000000000000" pitchFamily="2" charset="2"/>
              </a:rPr>
              <a:t> integratie met database vermijden!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>
                <a:sym typeface="Wingdings" panose="05000000000000000000" pitchFamily="2" charset="2"/>
              </a:rPr>
              <a:t>Via interface kan database </a:t>
            </a:r>
            <a:r>
              <a:rPr lang="nl-BE" sz="2400" dirty="0" err="1">
                <a:sym typeface="Wingdings" panose="05000000000000000000" pitchFamily="2" charset="2"/>
              </a:rPr>
              <a:t>gemockt</a:t>
            </a:r>
            <a:r>
              <a:rPr lang="nl-BE" sz="2400" dirty="0">
                <a:sym typeface="Wingdings" panose="05000000000000000000" pitchFamily="2" charset="2"/>
              </a:rPr>
              <a:t> worden</a:t>
            </a:r>
            <a:endParaRPr lang="nl-BE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dirty="0"/>
              <a:t>DRY: </a:t>
            </a:r>
            <a:r>
              <a:rPr lang="nl-BE" dirty="0" err="1"/>
              <a:t>Don’t</a:t>
            </a:r>
            <a:r>
              <a:rPr lang="nl-BE" dirty="0"/>
              <a:t> </a:t>
            </a:r>
            <a:r>
              <a:rPr lang="nl-BE" dirty="0" err="1"/>
              <a:t>Repeat</a:t>
            </a:r>
            <a:r>
              <a:rPr lang="nl-BE" dirty="0"/>
              <a:t> </a:t>
            </a:r>
            <a:r>
              <a:rPr lang="nl-BE" dirty="0" err="1"/>
              <a:t>Yourself</a:t>
            </a:r>
            <a:endParaRPr lang="nl-BE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CRUD-operaties van verschillende </a:t>
            </a:r>
            <a:r>
              <a:rPr lang="nl-BE" sz="2400" dirty="0" err="1"/>
              <a:t>repositories</a:t>
            </a:r>
            <a:r>
              <a:rPr lang="nl-BE" sz="2400" dirty="0"/>
              <a:t> zullen zeer gelijkaardig zijn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>
                <a:sym typeface="Wingdings" panose="05000000000000000000" pitchFamily="2" charset="2"/>
              </a:rPr>
              <a:t> </a:t>
            </a:r>
            <a:r>
              <a:rPr lang="nl-BE" sz="2400" dirty="0"/>
              <a:t>Maak gebruik van generieke </a:t>
            </a:r>
            <a:r>
              <a:rPr lang="nl-BE" sz="2400" dirty="0" err="1"/>
              <a:t>repository</a:t>
            </a:r>
            <a:r>
              <a:rPr lang="nl-BE" sz="2400" dirty="0"/>
              <a:t> (zie verder)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716384-B7BF-BB81-82FD-084F76A4D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DE5538-E3B6-E2FB-3F6A-FE354635B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B7688D1-D822-58BC-66E9-B34338A80E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810894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95851-721A-976C-C22E-F776FEF65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Service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6AC90-9A99-A9D8-7F5A-1F392BACE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8DA309-01CF-EB5E-4C2B-51F8A4CDA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24FB1-1680-497A-F319-675E1A312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27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AE15122-6313-2371-78C7-D90594097E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026810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1" y="1478896"/>
            <a:ext cx="9727722" cy="458124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Encapsuleert</a:t>
            </a:r>
            <a:r>
              <a:rPr lang="nl-BE" sz="2400" dirty="0"/>
              <a:t> de </a:t>
            </a:r>
            <a:r>
              <a:rPr lang="nl-BE" sz="2400" b="1" dirty="0">
                <a:solidFill>
                  <a:schemeClr val="accent6"/>
                </a:solidFill>
              </a:rPr>
              <a:t>Business Logica </a:t>
            </a:r>
            <a:r>
              <a:rPr lang="nl-BE" sz="2400" dirty="0"/>
              <a:t>van een applicatie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>
                <a:solidFill>
                  <a:schemeClr val="accent6"/>
                </a:solidFill>
              </a:rPr>
              <a:t>Per “domein” </a:t>
            </a:r>
            <a:r>
              <a:rPr lang="nl-BE" sz="2400" dirty="0"/>
              <a:t>kan een aparte Service voorzien worden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Service maakt indien nodig gebruik van onderliggende </a:t>
            </a:r>
            <a:r>
              <a:rPr lang="nl-BE" sz="2400" dirty="0" err="1"/>
              <a:t>Repositories</a:t>
            </a:r>
            <a:r>
              <a:rPr lang="nl-BE" sz="2400" dirty="0"/>
              <a:t> om de nodige data op te halen/weg te schrijven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In grote applicaties wordt soms onderscheid gemaakt tussen twee types van services: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b="1" dirty="0">
                <a:solidFill>
                  <a:schemeClr val="accent6"/>
                </a:solidFill>
              </a:rPr>
              <a:t>Domein-services: </a:t>
            </a:r>
            <a:r>
              <a:rPr lang="nl-BE" sz="2000" dirty="0"/>
              <a:t>bevatten logica die specifiek zijn voor de business (domein) waarin ze functioneren. Deze logica kan typisch gedeeld worden door verschillende applicaties.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b="1" dirty="0">
                <a:solidFill>
                  <a:schemeClr val="accent6"/>
                </a:solidFill>
              </a:rPr>
              <a:t>Applicatie-services:</a:t>
            </a:r>
            <a:r>
              <a:rPr lang="nl-BE" sz="2000" dirty="0"/>
              <a:t> bevatten methodes die gebruikt worden binnen een specifieke applicatie. Functionaliteiten hebben voornamelijk betrekking op de werking van de applicatie (bv. gegevens ophalen en omzetten naar </a:t>
            </a:r>
            <a:r>
              <a:rPr lang="nl-BE" sz="2000" dirty="0" err="1"/>
              <a:t>ViewModel</a:t>
            </a:r>
            <a:r>
              <a:rPr lang="nl-BE" sz="2000" dirty="0"/>
              <a:t>-objecten etc.)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124688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Services: implementatie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524" y="3912939"/>
            <a:ext cx="9727722" cy="55185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sz="2400" dirty="0"/>
              <a:t>Definieer </a:t>
            </a:r>
            <a:r>
              <a:rPr lang="nl-BE" sz="2400" b="1" dirty="0"/>
              <a:t>altijd</a:t>
            </a:r>
            <a:r>
              <a:rPr lang="nl-BE" sz="2400" dirty="0"/>
              <a:t> een interface voor je services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29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70481C-D552-19F5-6BC5-39FAC051F071}"/>
              </a:ext>
            </a:extLst>
          </p:cNvPr>
          <p:cNvSpPr txBox="1"/>
          <p:nvPr/>
        </p:nvSpPr>
        <p:spPr>
          <a:xfrm>
            <a:off x="641524" y="2632683"/>
            <a:ext cx="9435926" cy="73866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>
                <a:solidFill>
                  <a:srgbClr val="1D1DFF"/>
                </a:solidFill>
                <a:latin typeface="Cascadia Mono" panose="020B0609020000020004" pitchFamily="49" charset="0"/>
              </a:rPr>
              <a:t>public</a:t>
            </a:r>
            <a:r>
              <a:rPr lang="nl-B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 interface </a:t>
            </a:r>
            <a:r>
              <a:rPr lang="nl-BE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IBankingService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Transfer(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fromIban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toIban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decimal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amount);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  <a:endParaRPr lang="nl-BE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286F2D-C0F7-1411-4CF6-4B2669929B06}"/>
              </a:ext>
            </a:extLst>
          </p:cNvPr>
          <p:cNvSpPr txBox="1"/>
          <p:nvPr/>
        </p:nvSpPr>
        <p:spPr>
          <a:xfrm>
            <a:off x="534291" y="2200130"/>
            <a:ext cx="4873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Voorbeeld Service-interface:</a:t>
            </a:r>
          </a:p>
        </p:txBody>
      </p:sp>
    </p:spTree>
    <p:extLst>
      <p:ext uri="{BB962C8B-B14F-4D97-AF65-F5344CB8AC3E}">
        <p14:creationId xmlns:p14="http://schemas.microsoft.com/office/powerpoint/2010/main" val="40827041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Services: implementatie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70481C-D552-19F5-6BC5-39FAC051F071}"/>
              </a:ext>
            </a:extLst>
          </p:cNvPr>
          <p:cNvSpPr txBox="1"/>
          <p:nvPr/>
        </p:nvSpPr>
        <p:spPr>
          <a:xfrm>
            <a:off x="307219" y="1944087"/>
            <a:ext cx="7668415" cy="398570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1D1DFF"/>
                </a:solidFill>
                <a:latin typeface="Cascadia Mono" panose="020B0609020000020004" pitchFamily="49" charset="0"/>
              </a:rPr>
              <a:t>public class 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BankingService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IBankingService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100" dirty="0">
                <a:solidFill>
                  <a:srgbClr val="1D1DFF"/>
                </a:solidFill>
                <a:latin typeface="Cascadia Mono" panose="020B0609020000020004" pitchFamily="49" charset="0"/>
              </a:rPr>
              <a:t>private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 err="1">
                <a:solidFill>
                  <a:srgbClr val="1D1DFF"/>
                </a:solidFill>
                <a:latin typeface="Cascadia Mono" panose="020B0609020000020004" pitchFamily="49" charset="0"/>
              </a:rPr>
              <a:t>readonly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IAccountRepository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_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accountRepository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100" dirty="0">
                <a:solidFill>
                  <a:srgbClr val="1D1DFF"/>
                </a:solidFill>
                <a:latin typeface="Cascadia Mono" panose="020B06090200000200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BankingService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IAccountRepository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accountRepository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_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accountRepository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accountRepository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1D1DFF"/>
                </a:solidFill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1D1DFF"/>
                </a:solidFill>
                <a:latin typeface="Cascadia Mono" panose="020B06090200000200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Transfer(</a:t>
            </a:r>
            <a:r>
              <a:rPr lang="en-US" sz="1100" dirty="0">
                <a:solidFill>
                  <a:srgbClr val="1D1DFF"/>
                </a:solidFill>
                <a:latin typeface="Cascadia Mono" panose="020B06090200000200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fromIban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100" dirty="0">
                <a:solidFill>
                  <a:srgbClr val="1D1DFF"/>
                </a:solidFill>
                <a:latin typeface="Cascadia Mono" panose="020B06090200000200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toIban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100" dirty="0">
                <a:solidFill>
                  <a:srgbClr val="1D1DFF"/>
                </a:solidFill>
                <a:latin typeface="Cascadia Mono" panose="020B0609020000020004" pitchFamily="49" charset="0"/>
              </a:rPr>
              <a:t>decimal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amount) 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nl-BE" sz="1100" dirty="0">
                <a:solidFill>
                  <a:srgbClr val="008000"/>
                </a:solidFill>
                <a:latin typeface="Cascadia Mono" panose="020B0609020000020004" pitchFamily="49" charset="0"/>
              </a:rPr>
              <a:t>        //</a:t>
            </a:r>
            <a:r>
              <a:rPr lang="nl-BE" sz="11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Validation</a:t>
            </a:r>
            <a:r>
              <a:rPr lang="nl-BE" sz="1100" dirty="0">
                <a:solidFill>
                  <a:srgbClr val="008000"/>
                </a:solidFill>
                <a:latin typeface="Cascadia Mono" panose="020B0609020000020004" pitchFamily="49" charset="0"/>
              </a:rPr>
              <a:t> (Business Logic)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l-BE" sz="1100" dirty="0" err="1">
                <a:solidFill>
                  <a:srgbClr val="1D1DFF"/>
                </a:solidFill>
                <a:latin typeface="Cascadia Mono" panose="020B0609020000020004" pitchFamily="49" charset="0"/>
              </a:rPr>
              <a:t>if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amount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&lt;= 0) {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nl-BE" sz="1100" dirty="0" err="1">
                <a:solidFill>
                  <a:srgbClr val="1D1DFF"/>
                </a:solidFill>
                <a:latin typeface="Cascadia Mono" panose="020B0609020000020004" pitchFamily="49" charset="0"/>
              </a:rPr>
              <a:t>throw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>
                <a:solidFill>
                  <a:srgbClr val="1D1DFF"/>
                </a:solidFill>
                <a:latin typeface="Cascadia Mono" panose="020B0609020000020004" pitchFamily="49" charset="0"/>
              </a:rPr>
              <a:t>new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InvalidAmountException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amount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2B91AF"/>
                </a:solidFill>
                <a:latin typeface="Cascadia Mono" panose="020B0609020000020004" pitchFamily="49" charset="0"/>
              </a:rPr>
              <a:t>Account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fromAccount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= _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accountRepository.GetByIban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fromIban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2B91AF"/>
                </a:solidFill>
                <a:latin typeface="Cascadia Mono" panose="020B0609020000020004" pitchFamily="49" charset="0"/>
              </a:rPr>
              <a:t>Account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toAccount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= _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accountRepository.GetByIban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toIban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fromAccount.Balance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-=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amount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toAccount.Balance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+=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amount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_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accountRepository.Update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fromAccount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_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accountRepository.Update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toAccount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nl-BE" sz="8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D42CFE4-45F7-4369-CCD7-1E846CDC5B35}"/>
              </a:ext>
            </a:extLst>
          </p:cNvPr>
          <p:cNvCxnSpPr>
            <a:cxnSpLocks/>
          </p:cNvCxnSpPr>
          <p:nvPr/>
        </p:nvCxnSpPr>
        <p:spPr>
          <a:xfrm flipH="1" flipV="1">
            <a:off x="5422761" y="2740150"/>
            <a:ext cx="767024" cy="17387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EC978FE-9009-44E5-3B38-2892031F4061}"/>
              </a:ext>
            </a:extLst>
          </p:cNvPr>
          <p:cNvSpPr txBox="1"/>
          <p:nvPr/>
        </p:nvSpPr>
        <p:spPr>
          <a:xfrm>
            <a:off x="6246381" y="2762910"/>
            <a:ext cx="1748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400" b="1" dirty="0" err="1">
                <a:solidFill>
                  <a:schemeClr val="accent6"/>
                </a:solidFill>
              </a:rPr>
              <a:t>Repository</a:t>
            </a:r>
            <a:r>
              <a:rPr lang="nl-BE" sz="1400" b="1" dirty="0">
                <a:solidFill>
                  <a:schemeClr val="accent6"/>
                </a:solidFill>
              </a:rPr>
              <a:t> injecteren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25F0F59-979B-E90A-05F0-7BF29766920F}"/>
              </a:ext>
            </a:extLst>
          </p:cNvPr>
          <p:cNvSpPr txBox="1">
            <a:spLocks/>
          </p:cNvSpPr>
          <p:nvPr/>
        </p:nvSpPr>
        <p:spPr>
          <a:xfrm>
            <a:off x="8161626" y="1994328"/>
            <a:ext cx="3890282" cy="31444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163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sz="2400" dirty="0"/>
              <a:t>Klasse implementeert interface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sz="2400" dirty="0"/>
              <a:t>Injecteer </a:t>
            </a:r>
            <a:r>
              <a:rPr lang="nl-BE" sz="2400" dirty="0" err="1"/>
              <a:t>Repository</a:t>
            </a:r>
            <a:r>
              <a:rPr lang="nl-BE" sz="2400" dirty="0"/>
              <a:t>-</a:t>
            </a:r>
            <a:r>
              <a:rPr lang="nl-BE" sz="2400" b="1" dirty="0"/>
              <a:t>interface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sz="2400" dirty="0" err="1"/>
              <a:t>Throw</a:t>
            </a:r>
            <a:r>
              <a:rPr lang="nl-BE" sz="2400" dirty="0"/>
              <a:t> (</a:t>
            </a:r>
            <a:r>
              <a:rPr lang="nl-BE" sz="2400" dirty="0" err="1"/>
              <a:t>custom</a:t>
            </a:r>
            <a:r>
              <a:rPr lang="nl-BE" sz="2400" dirty="0"/>
              <a:t>) </a:t>
            </a:r>
            <a:r>
              <a:rPr lang="nl-BE" sz="2400" dirty="0" err="1"/>
              <a:t>Exceptions</a:t>
            </a:r>
            <a:endParaRPr lang="nl-BE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sz="2400" dirty="0"/>
              <a:t>Gebruik </a:t>
            </a:r>
            <a:r>
              <a:rPr lang="nl-BE" sz="2400" dirty="0" err="1"/>
              <a:t>repositories</a:t>
            </a:r>
            <a:r>
              <a:rPr lang="nl-BE" sz="2400" dirty="0"/>
              <a:t> om taak uit te voeren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3DAB49-FDA0-54E6-09A6-C73CA0146BF6}"/>
              </a:ext>
            </a:extLst>
          </p:cNvPr>
          <p:cNvSpPr txBox="1"/>
          <p:nvPr/>
        </p:nvSpPr>
        <p:spPr>
          <a:xfrm>
            <a:off x="285469" y="1475244"/>
            <a:ext cx="4873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Voorbeeld Service-interface:</a:t>
            </a:r>
          </a:p>
        </p:txBody>
      </p:sp>
    </p:spTree>
    <p:extLst>
      <p:ext uri="{BB962C8B-B14F-4D97-AF65-F5344CB8AC3E}">
        <p14:creationId xmlns:p14="http://schemas.microsoft.com/office/powerpoint/2010/main" val="13068937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Services: gebruik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70481C-D552-19F5-6BC5-39FAC051F071}"/>
              </a:ext>
            </a:extLst>
          </p:cNvPr>
          <p:cNvSpPr txBox="1"/>
          <p:nvPr/>
        </p:nvSpPr>
        <p:spPr>
          <a:xfrm>
            <a:off x="307219" y="1682833"/>
            <a:ext cx="7668415" cy="4785926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>
                <a:solidFill>
                  <a:srgbClr val="1D1DFF"/>
                </a:solidFill>
                <a:latin typeface="Cascadia Mono" panose="020B06090200000200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>
                <a:solidFill>
                  <a:srgbClr val="1D1DFF"/>
                </a:solidFill>
                <a:latin typeface="Cascadia Mono" panose="020B0609020000020004" pitchFamily="49" charset="0"/>
              </a:rPr>
              <a:t>class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BankingController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nl-BE" sz="1100" dirty="0">
                <a:solidFill>
                  <a:srgbClr val="2B91AF"/>
                </a:solidFill>
                <a:latin typeface="Cascadia Mono" panose="020B0609020000020004" pitchFamily="49" charset="0"/>
              </a:rPr>
              <a:t>Controller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100" dirty="0">
                <a:solidFill>
                  <a:srgbClr val="1D1DFF"/>
                </a:solidFill>
                <a:latin typeface="Cascadia Mono" panose="020B0609020000020004" pitchFamily="49" charset="0"/>
              </a:rPr>
              <a:t>private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IBankingService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_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bankingService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100" dirty="0">
                <a:solidFill>
                  <a:srgbClr val="1D1DFF"/>
                </a:solidFill>
                <a:latin typeface="Cascadia Mono" panose="020B06090200000200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BankingController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IBankingService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bankingService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_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bankingService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bankingService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}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100" dirty="0">
                <a:solidFill>
                  <a:srgbClr val="1D1DFF"/>
                </a:solidFill>
                <a:latin typeface="Cascadia Mono" panose="020B06090200000200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IActionResult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Transfer() {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TransferViewModel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model = </a:t>
            </a:r>
            <a:r>
              <a:rPr lang="nl-BE" sz="1100" dirty="0">
                <a:solidFill>
                  <a:srgbClr val="1D1DFF"/>
                </a:solidFill>
                <a:latin typeface="Cascadia Mono" panose="020B0609020000020004" pitchFamily="49" charset="0"/>
              </a:rPr>
              <a:t>new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TransferViewModel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model.AllAccounts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GetAccountsSelectList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nl-BE" sz="1100" dirty="0">
                <a:solidFill>
                  <a:srgbClr val="1D1DFF"/>
                </a:solidFill>
                <a:latin typeface="Cascadia Mono" panose="020B0609020000020004" pitchFamily="49" charset="0"/>
              </a:rPr>
              <a:t>return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View(model);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}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[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HttpPost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[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ValidateAntiForgeryToken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100" dirty="0">
                <a:solidFill>
                  <a:srgbClr val="1D1DFF"/>
                </a:solidFill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IActionResult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Transfer(</a:t>
            </a:r>
            <a:r>
              <a:rPr lang="en-US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TransferViewModel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model) 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nl-BE" sz="1100" dirty="0" err="1">
                <a:solidFill>
                  <a:srgbClr val="1D1DFF"/>
                </a:solidFill>
                <a:latin typeface="Cascadia Mono" panose="020B0609020000020004" pitchFamily="49" charset="0"/>
              </a:rPr>
              <a:t>if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ModelState.IsValid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</a:t>
            </a:r>
            <a:r>
              <a:rPr lang="nl-BE" sz="1100" b="1" dirty="0">
                <a:solidFill>
                  <a:srgbClr val="000000"/>
                </a:solidFill>
                <a:latin typeface="Cascadia Mono" panose="020B0609020000020004" pitchFamily="49" charset="0"/>
              </a:rPr>
              <a:t>_</a:t>
            </a:r>
            <a:r>
              <a:rPr lang="nl-BE" sz="11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bankingService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.Transfer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model.FromIban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model.ToIban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model.Amount.Value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</a:t>
            </a:r>
            <a:r>
              <a:rPr lang="nl-BE" sz="1100" dirty="0">
                <a:solidFill>
                  <a:srgbClr val="1D1DFF"/>
                </a:solidFill>
                <a:latin typeface="Cascadia Mono" panose="020B0609020000020004" pitchFamily="49" charset="0"/>
              </a:rPr>
              <a:t>return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RedirectToAction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100" dirty="0" err="1">
                <a:solidFill>
                  <a:srgbClr val="1D1DFF"/>
                </a:solidFill>
                <a:latin typeface="Cascadia Mono" panose="020B0609020000020004" pitchFamily="49" charset="0"/>
              </a:rPr>
              <a:t>nameof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(Index));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}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model.AllAccounts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GetAccountsSelectList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nl-BE" sz="1100" dirty="0">
                <a:solidFill>
                  <a:srgbClr val="1D1DFF"/>
                </a:solidFill>
                <a:latin typeface="Cascadia Mono" panose="020B0609020000020004" pitchFamily="49" charset="0"/>
              </a:rPr>
              <a:t>return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View(model);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}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//…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nl-BE" sz="8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D42CFE4-45F7-4369-CCD7-1E846CDC5B35}"/>
              </a:ext>
            </a:extLst>
          </p:cNvPr>
          <p:cNvCxnSpPr>
            <a:cxnSpLocks/>
          </p:cNvCxnSpPr>
          <p:nvPr/>
        </p:nvCxnSpPr>
        <p:spPr>
          <a:xfrm flipH="1" flipV="1">
            <a:off x="5191650" y="2509040"/>
            <a:ext cx="767024" cy="17387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EC978FE-9009-44E5-3B38-2892031F4061}"/>
              </a:ext>
            </a:extLst>
          </p:cNvPr>
          <p:cNvSpPr txBox="1"/>
          <p:nvPr/>
        </p:nvSpPr>
        <p:spPr>
          <a:xfrm>
            <a:off x="6015270" y="2531800"/>
            <a:ext cx="1748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400" b="1" dirty="0">
                <a:solidFill>
                  <a:schemeClr val="accent6"/>
                </a:solidFill>
              </a:rPr>
              <a:t>Service injecteren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25F0F59-979B-E90A-05F0-7BF29766920F}"/>
              </a:ext>
            </a:extLst>
          </p:cNvPr>
          <p:cNvSpPr txBox="1">
            <a:spLocks/>
          </p:cNvSpPr>
          <p:nvPr/>
        </p:nvSpPr>
        <p:spPr>
          <a:xfrm>
            <a:off x="8161626" y="1994328"/>
            <a:ext cx="3890282" cy="31444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163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sz="2400" dirty="0"/>
              <a:t>Service-interface injecteren in Controller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sz="2400" dirty="0"/>
              <a:t>Controller maakt gebruik van diensten van Service(s)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3DAB49-FDA0-54E6-09A6-C73CA0146BF6}"/>
              </a:ext>
            </a:extLst>
          </p:cNvPr>
          <p:cNvSpPr txBox="1"/>
          <p:nvPr/>
        </p:nvSpPr>
        <p:spPr>
          <a:xfrm>
            <a:off x="285469" y="1213990"/>
            <a:ext cx="4873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Voorbeeld gebruik Service:</a:t>
            </a:r>
          </a:p>
        </p:txBody>
      </p:sp>
    </p:spTree>
    <p:extLst>
      <p:ext uri="{BB962C8B-B14F-4D97-AF65-F5344CB8AC3E}">
        <p14:creationId xmlns:p14="http://schemas.microsoft.com/office/powerpoint/2010/main" val="39303012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64EEB-5B11-81D4-C94C-0442D86FE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UnitOfWork-pattern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25E3A-5D56-BFEB-EFFE-E030AA89E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DE0991-9101-01A7-180B-38D1F747F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A8B834-8FB0-CF38-50C5-357B1FEA0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32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B31368-EC66-8296-D0DC-4CECE8A3CE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135965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Services: implementatie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70481C-D552-19F5-6BC5-39FAC051F071}"/>
              </a:ext>
            </a:extLst>
          </p:cNvPr>
          <p:cNvSpPr txBox="1"/>
          <p:nvPr/>
        </p:nvSpPr>
        <p:spPr>
          <a:xfrm>
            <a:off x="307219" y="1944087"/>
            <a:ext cx="7668415" cy="398570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1D1DFF"/>
                </a:solidFill>
                <a:latin typeface="Cascadia Mono" panose="020B0609020000020004" pitchFamily="49" charset="0"/>
              </a:rPr>
              <a:t>public class 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BankingService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IBankingService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100" dirty="0">
                <a:solidFill>
                  <a:srgbClr val="1D1DFF"/>
                </a:solidFill>
                <a:latin typeface="Cascadia Mono" panose="020B0609020000020004" pitchFamily="49" charset="0"/>
              </a:rPr>
              <a:t>private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 err="1">
                <a:solidFill>
                  <a:srgbClr val="1D1DFF"/>
                </a:solidFill>
                <a:latin typeface="Cascadia Mono" panose="020B0609020000020004" pitchFamily="49" charset="0"/>
              </a:rPr>
              <a:t>readonly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IAccountRepository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_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accountRepository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100" dirty="0">
                <a:solidFill>
                  <a:srgbClr val="1D1DFF"/>
                </a:solidFill>
                <a:latin typeface="Cascadia Mono" panose="020B06090200000200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BankingService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IAccountRepository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accountRepository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_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accountRepository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accountRepository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1D1DFF"/>
                </a:solidFill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1D1DFF"/>
                </a:solidFill>
                <a:latin typeface="Cascadia Mono" panose="020B06090200000200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Transfer(</a:t>
            </a:r>
            <a:r>
              <a:rPr lang="en-US" sz="1100" dirty="0">
                <a:solidFill>
                  <a:srgbClr val="1D1DFF"/>
                </a:solidFill>
                <a:latin typeface="Cascadia Mono" panose="020B06090200000200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fromIban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100" dirty="0">
                <a:solidFill>
                  <a:srgbClr val="1D1DFF"/>
                </a:solidFill>
                <a:latin typeface="Cascadia Mono" panose="020B06090200000200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toIban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100" dirty="0">
                <a:solidFill>
                  <a:srgbClr val="1D1DFF"/>
                </a:solidFill>
                <a:latin typeface="Cascadia Mono" panose="020B0609020000020004" pitchFamily="49" charset="0"/>
              </a:rPr>
              <a:t>decimal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amount) 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nl-BE" sz="1100" dirty="0">
                <a:solidFill>
                  <a:srgbClr val="008000"/>
                </a:solidFill>
                <a:latin typeface="Cascadia Mono" panose="020B0609020000020004" pitchFamily="49" charset="0"/>
              </a:rPr>
              <a:t>        //</a:t>
            </a:r>
            <a:r>
              <a:rPr lang="nl-BE" sz="11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Validation</a:t>
            </a:r>
            <a:r>
              <a:rPr lang="nl-BE" sz="1100" dirty="0">
                <a:solidFill>
                  <a:srgbClr val="008000"/>
                </a:solidFill>
                <a:latin typeface="Cascadia Mono" panose="020B0609020000020004" pitchFamily="49" charset="0"/>
              </a:rPr>
              <a:t> (Business Logic)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l-BE" sz="1100" dirty="0" err="1">
                <a:solidFill>
                  <a:srgbClr val="1D1DFF"/>
                </a:solidFill>
                <a:latin typeface="Cascadia Mono" panose="020B0609020000020004" pitchFamily="49" charset="0"/>
              </a:rPr>
              <a:t>if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amount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&lt;= 0) {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nl-BE" sz="1100" dirty="0" err="1">
                <a:solidFill>
                  <a:srgbClr val="1D1DFF"/>
                </a:solidFill>
                <a:latin typeface="Cascadia Mono" panose="020B0609020000020004" pitchFamily="49" charset="0"/>
              </a:rPr>
              <a:t>throw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>
                <a:solidFill>
                  <a:srgbClr val="1D1DFF"/>
                </a:solidFill>
                <a:latin typeface="Cascadia Mono" panose="020B0609020000020004" pitchFamily="49" charset="0"/>
              </a:rPr>
              <a:t>new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InvalidAmountException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amount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2B91AF"/>
                </a:solidFill>
                <a:latin typeface="Cascadia Mono" panose="020B0609020000020004" pitchFamily="49" charset="0"/>
              </a:rPr>
              <a:t>Account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fromAccount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= _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accountRepository.GetByIban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fromIban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2B91AF"/>
                </a:solidFill>
                <a:latin typeface="Cascadia Mono" panose="020B0609020000020004" pitchFamily="49" charset="0"/>
              </a:rPr>
              <a:t>Account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toAccount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= _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accountRepository.GetByIban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toIban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fromAccount.Balance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-=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amount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toAccount.Balance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+=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amount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_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accountRepository.Update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fromAccount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_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accountRepository.Update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toAccount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nl-BE" sz="8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D42CFE4-45F7-4369-CCD7-1E846CDC5B35}"/>
              </a:ext>
            </a:extLst>
          </p:cNvPr>
          <p:cNvCxnSpPr>
            <a:cxnSpLocks/>
          </p:cNvCxnSpPr>
          <p:nvPr/>
        </p:nvCxnSpPr>
        <p:spPr>
          <a:xfrm flipH="1" flipV="1">
            <a:off x="5422761" y="2740150"/>
            <a:ext cx="767024" cy="173873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EC978FE-9009-44E5-3B38-2892031F4061}"/>
              </a:ext>
            </a:extLst>
          </p:cNvPr>
          <p:cNvSpPr txBox="1"/>
          <p:nvPr/>
        </p:nvSpPr>
        <p:spPr>
          <a:xfrm>
            <a:off x="6246381" y="2762910"/>
            <a:ext cx="1748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400" b="1" dirty="0" err="1">
                <a:solidFill>
                  <a:schemeClr val="accent6"/>
                </a:solidFill>
              </a:rPr>
              <a:t>Repository</a:t>
            </a:r>
            <a:r>
              <a:rPr lang="nl-BE" sz="1400" b="1" dirty="0">
                <a:solidFill>
                  <a:schemeClr val="accent6"/>
                </a:solidFill>
              </a:rPr>
              <a:t> injecteren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3DAB49-FDA0-54E6-09A6-C73CA0146BF6}"/>
              </a:ext>
            </a:extLst>
          </p:cNvPr>
          <p:cNvSpPr txBox="1"/>
          <p:nvPr/>
        </p:nvSpPr>
        <p:spPr>
          <a:xfrm>
            <a:off x="285469" y="1475244"/>
            <a:ext cx="4873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Voorbeeld Service-interface: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7074C5-A1E7-254B-F761-014A8900BA32}"/>
              </a:ext>
            </a:extLst>
          </p:cNvPr>
          <p:cNvSpPr txBox="1"/>
          <p:nvPr/>
        </p:nvSpPr>
        <p:spPr>
          <a:xfrm>
            <a:off x="4815272" y="5373420"/>
            <a:ext cx="5564675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BE" sz="2000" b="1" dirty="0">
                <a:solidFill>
                  <a:srgbClr val="C00000"/>
                </a:solidFill>
              </a:rPr>
              <a:t>… Maar: deze code is een potentiële bron van fouten</a:t>
            </a:r>
          </a:p>
          <a:p>
            <a:r>
              <a:rPr lang="nl-BE" sz="2000" b="1" dirty="0">
                <a:solidFill>
                  <a:srgbClr val="C00000"/>
                </a:solidFill>
              </a:rPr>
              <a:t>… zie je waarom?</a:t>
            </a:r>
          </a:p>
        </p:txBody>
      </p:sp>
    </p:spTree>
    <p:extLst>
      <p:ext uri="{BB962C8B-B14F-4D97-AF65-F5344CB8AC3E}">
        <p14:creationId xmlns:p14="http://schemas.microsoft.com/office/powerpoint/2010/main" val="852751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31862-9D69-E0B5-B2B6-2EA3342CE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Transacties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A135B9-97E7-9434-A59B-00C668401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501B62-812C-0A75-E368-1B03F6EEE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4F6F8B-65D5-11FF-DE16-CF93AAE72B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D09342-0002-8568-939F-0BDD1F7DE5E6}"/>
              </a:ext>
            </a:extLst>
          </p:cNvPr>
          <p:cNvSpPr txBox="1"/>
          <p:nvPr/>
        </p:nvSpPr>
        <p:spPr>
          <a:xfrm>
            <a:off x="610040" y="2882520"/>
            <a:ext cx="4373945" cy="116955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fromAccount.Balance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-=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amount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toAccount.Balance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+=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amount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nl-B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_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accountRepository.Update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fromAccount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_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accountRepository.Update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toAccount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F1152F0-BB63-C7A6-39A2-BD2BE97F4651}"/>
              </a:ext>
            </a:extLst>
          </p:cNvPr>
          <p:cNvCxnSpPr>
            <a:cxnSpLocks/>
          </p:cNvCxnSpPr>
          <p:nvPr/>
        </p:nvCxnSpPr>
        <p:spPr>
          <a:xfrm flipV="1">
            <a:off x="4883502" y="3013791"/>
            <a:ext cx="1045028" cy="68400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C5371D-F5C3-2C87-B3A8-697E9D7FE118}"/>
              </a:ext>
            </a:extLst>
          </p:cNvPr>
          <p:cNvCxnSpPr>
            <a:cxnSpLocks/>
          </p:cNvCxnSpPr>
          <p:nvPr/>
        </p:nvCxnSpPr>
        <p:spPr>
          <a:xfrm>
            <a:off x="4883502" y="3953669"/>
            <a:ext cx="1203690" cy="366645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101ECBA-30C2-6C9A-A9E2-4F9321094A53}"/>
              </a:ext>
            </a:extLst>
          </p:cNvPr>
          <p:cNvSpPr txBox="1"/>
          <p:nvPr/>
        </p:nvSpPr>
        <p:spPr>
          <a:xfrm>
            <a:off x="6167543" y="2391268"/>
            <a:ext cx="4492851" cy="95410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1D1D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1D1DFF"/>
                </a:solidFill>
                <a:latin typeface="Cascadia Mono" panose="020B06090200000200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Update(</a:t>
            </a:r>
            <a:r>
              <a:rPr lang="en-US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Account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account) 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_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context.Accounts.Update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(account);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_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context.SaveChanges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DDDCE1-CC78-F877-FB3E-D424B579942B}"/>
              </a:ext>
            </a:extLst>
          </p:cNvPr>
          <p:cNvSpPr txBox="1"/>
          <p:nvPr/>
        </p:nvSpPr>
        <p:spPr>
          <a:xfrm>
            <a:off x="6167543" y="3843260"/>
            <a:ext cx="4492851" cy="95410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1D1D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1D1DFF"/>
                </a:solidFill>
                <a:latin typeface="Cascadia Mono" panose="020B06090200000200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Update(</a:t>
            </a:r>
            <a:r>
              <a:rPr lang="en-US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Account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account) 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_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context.Accounts.Update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(account);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_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context.SaveChanges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348F1E-3119-9B70-E284-134A7EE673AD}"/>
              </a:ext>
            </a:extLst>
          </p:cNvPr>
          <p:cNvSpPr txBox="1"/>
          <p:nvPr/>
        </p:nvSpPr>
        <p:spPr>
          <a:xfrm>
            <a:off x="6167543" y="1961045"/>
            <a:ext cx="133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Transactie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F8C983-F03B-254F-3A97-5DE2D4F80B04}"/>
              </a:ext>
            </a:extLst>
          </p:cNvPr>
          <p:cNvSpPr txBox="1"/>
          <p:nvPr/>
        </p:nvSpPr>
        <p:spPr>
          <a:xfrm>
            <a:off x="6167542" y="3467295"/>
            <a:ext cx="133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Transactie 2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07FB972-37A2-0D51-0B4D-BBAC952A1F53}"/>
              </a:ext>
            </a:extLst>
          </p:cNvPr>
          <p:cNvCxnSpPr/>
          <p:nvPr/>
        </p:nvCxnSpPr>
        <p:spPr>
          <a:xfrm flipH="1" flipV="1">
            <a:off x="9297641" y="3041247"/>
            <a:ext cx="612949" cy="9043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0ED0AF-4927-390B-B256-5B8BE244408E}"/>
              </a:ext>
            </a:extLst>
          </p:cNvPr>
          <p:cNvSpPr txBox="1"/>
          <p:nvPr/>
        </p:nvSpPr>
        <p:spPr>
          <a:xfrm>
            <a:off x="9574644" y="3168685"/>
            <a:ext cx="2171500" cy="3666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BE" b="1" dirty="0">
                <a:solidFill>
                  <a:schemeClr val="accent6"/>
                </a:solidFill>
              </a:rPr>
              <a:t>“</a:t>
            </a:r>
            <a:r>
              <a:rPr lang="nl-BE" b="1" dirty="0" err="1">
                <a:solidFill>
                  <a:schemeClr val="accent6"/>
                </a:solidFill>
              </a:rPr>
              <a:t>commit</a:t>
            </a:r>
            <a:r>
              <a:rPr lang="nl-BE" b="1" dirty="0">
                <a:solidFill>
                  <a:schemeClr val="accent6"/>
                </a:solidFill>
              </a:rPr>
              <a:t>” transactie 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C7FD756-006F-813E-0129-11341029E609}"/>
              </a:ext>
            </a:extLst>
          </p:cNvPr>
          <p:cNvCxnSpPr/>
          <p:nvPr/>
        </p:nvCxnSpPr>
        <p:spPr>
          <a:xfrm flipH="1" flipV="1">
            <a:off x="9297641" y="4437022"/>
            <a:ext cx="612949" cy="9043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BC28ACE-9B5C-BED5-5BAA-80611FA7ABE3}"/>
              </a:ext>
            </a:extLst>
          </p:cNvPr>
          <p:cNvSpPr txBox="1"/>
          <p:nvPr/>
        </p:nvSpPr>
        <p:spPr>
          <a:xfrm>
            <a:off x="9574644" y="4564460"/>
            <a:ext cx="2171500" cy="3666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BE" b="1" dirty="0">
                <a:solidFill>
                  <a:schemeClr val="accent6"/>
                </a:solidFill>
              </a:rPr>
              <a:t>“</a:t>
            </a:r>
            <a:r>
              <a:rPr lang="nl-BE" b="1" dirty="0" err="1">
                <a:solidFill>
                  <a:schemeClr val="accent6"/>
                </a:solidFill>
              </a:rPr>
              <a:t>commit</a:t>
            </a:r>
            <a:r>
              <a:rPr lang="nl-BE" b="1" dirty="0">
                <a:solidFill>
                  <a:schemeClr val="accent6"/>
                </a:solidFill>
              </a:rPr>
              <a:t>” transactie 2</a:t>
            </a:r>
          </a:p>
        </p:txBody>
      </p:sp>
    </p:spTree>
    <p:extLst>
      <p:ext uri="{BB962C8B-B14F-4D97-AF65-F5344CB8AC3E}">
        <p14:creationId xmlns:p14="http://schemas.microsoft.com/office/powerpoint/2010/main" val="39967641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Transacties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1" y="1478897"/>
            <a:ext cx="9727722" cy="218466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Na </a:t>
            </a:r>
            <a:r>
              <a:rPr lang="nl-BE" sz="20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SaveChanges</a:t>
            </a:r>
            <a:r>
              <a:rPr lang="nl-BE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() </a:t>
            </a:r>
            <a:r>
              <a:rPr lang="nl-BE" sz="2400" dirty="0"/>
              <a:t>wordt transactie “</a:t>
            </a:r>
            <a:r>
              <a:rPr lang="nl-BE" sz="2400" dirty="0" err="1"/>
              <a:t>gecommit</a:t>
            </a:r>
            <a:r>
              <a:rPr lang="nl-BE" sz="2400" dirty="0"/>
              <a:t>” naar de database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Alle (tijdelijke) wijzigingen worden nu doorgevoerd in de database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Na </a:t>
            </a:r>
            <a:r>
              <a:rPr lang="nl-BE" sz="20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SaveChanges</a:t>
            </a:r>
            <a:r>
              <a:rPr lang="nl-BE" sz="2000" dirty="0">
                <a:latin typeface="Cascadia Mono" panose="020B0609020000020004" pitchFamily="49" charset="0"/>
                <a:cs typeface="Cascadia Mono" panose="020B0609020000020004" pitchFamily="49" charset="0"/>
              </a:rPr>
              <a:t>() </a:t>
            </a:r>
            <a:r>
              <a:rPr lang="nl-BE" sz="2400" dirty="0"/>
              <a:t>bij update van eerste rekening (Account), </a:t>
            </a:r>
            <a:br>
              <a:rPr lang="nl-BE" sz="2400" dirty="0"/>
            </a:br>
            <a:r>
              <a:rPr lang="nl-BE" sz="2400" dirty="0"/>
              <a:t>wordt een tweede transactie gestart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Elke wijziging wordt in een aparte transactie uitgevoerd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5F3846-C7E8-45B5-9482-1645FB166605}"/>
              </a:ext>
            </a:extLst>
          </p:cNvPr>
          <p:cNvCxnSpPr>
            <a:cxnSpLocks/>
          </p:cNvCxnSpPr>
          <p:nvPr/>
        </p:nvCxnSpPr>
        <p:spPr>
          <a:xfrm>
            <a:off x="2080009" y="3979147"/>
            <a:ext cx="0" cy="9746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9388003-0F8E-A47E-8C8D-FF93A69D077D}"/>
              </a:ext>
            </a:extLst>
          </p:cNvPr>
          <p:cNvCxnSpPr>
            <a:cxnSpLocks/>
          </p:cNvCxnSpPr>
          <p:nvPr/>
        </p:nvCxnSpPr>
        <p:spPr>
          <a:xfrm>
            <a:off x="2080009" y="5166528"/>
            <a:ext cx="0" cy="974690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E8AA434-78D1-7CAF-CFAD-2DA2E214E46A}"/>
              </a:ext>
            </a:extLst>
          </p:cNvPr>
          <p:cNvSpPr txBox="1"/>
          <p:nvPr/>
        </p:nvSpPr>
        <p:spPr>
          <a:xfrm>
            <a:off x="2406660" y="3966009"/>
            <a:ext cx="3436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dirty="0"/>
              <a:t>UPDATE Accounts SET Balance = 450 WHERE </a:t>
            </a:r>
            <a:r>
              <a:rPr lang="nl-BE" sz="1600" b="1" dirty="0" err="1"/>
              <a:t>Id</a:t>
            </a:r>
            <a:r>
              <a:rPr lang="nl-BE" sz="1600" b="1" dirty="0"/>
              <a:t> =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672201-2E0A-7A17-364A-7ED959F967F0}"/>
              </a:ext>
            </a:extLst>
          </p:cNvPr>
          <p:cNvSpPr txBox="1"/>
          <p:nvPr/>
        </p:nvSpPr>
        <p:spPr>
          <a:xfrm>
            <a:off x="2406660" y="4603244"/>
            <a:ext cx="3436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dirty="0" err="1"/>
              <a:t>SaveChanges</a:t>
            </a:r>
            <a:r>
              <a:rPr lang="nl-BE" sz="1600" b="1" dirty="0"/>
              <a:t>() </a:t>
            </a:r>
            <a:r>
              <a:rPr lang="nl-BE" sz="1600" b="1" dirty="0">
                <a:sym typeface="Wingdings" panose="05000000000000000000" pitchFamily="2" charset="2"/>
              </a:rPr>
              <a:t> COMMIT</a:t>
            </a:r>
            <a:endParaRPr lang="nl-BE" sz="1600" b="1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19E0EE1-1BBF-8BC1-CDAB-79A63D569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873436"/>
              </p:ext>
            </p:extLst>
          </p:nvPr>
        </p:nvGraphicFramePr>
        <p:xfrm>
          <a:off x="6169846" y="3910232"/>
          <a:ext cx="369555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667">
                  <a:extLst>
                    <a:ext uri="{9D8B030D-6E8A-4147-A177-3AD203B41FA5}">
                      <a16:colId xmlns:a16="http://schemas.microsoft.com/office/drawing/2014/main" val="3974416894"/>
                    </a:ext>
                  </a:extLst>
                </a:gridCol>
                <a:gridCol w="1527350">
                  <a:extLst>
                    <a:ext uri="{9D8B030D-6E8A-4147-A177-3AD203B41FA5}">
                      <a16:colId xmlns:a16="http://schemas.microsoft.com/office/drawing/2014/main" val="3431846819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9917787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IBAN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Balance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30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BE123456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175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BE987654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91612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83D1D1D-97F5-4947-AF5F-2F9E9A84FB9A}"/>
              </a:ext>
            </a:extLst>
          </p:cNvPr>
          <p:cNvSpPr txBox="1"/>
          <p:nvPr/>
        </p:nvSpPr>
        <p:spPr>
          <a:xfrm>
            <a:off x="8299938" y="4300700"/>
            <a:ext cx="622997" cy="324000"/>
          </a:xfrm>
          <a:prstGeom prst="rect">
            <a:avLst/>
          </a:prstGeom>
          <a:solidFill>
            <a:srgbClr val="CBD3DE"/>
          </a:solidFill>
        </p:spPr>
        <p:txBody>
          <a:bodyPr wrap="square" rtlCol="0">
            <a:spAutoFit/>
          </a:bodyPr>
          <a:lstStyle/>
          <a:p>
            <a:r>
              <a:rPr lang="nl-BE" b="1" dirty="0"/>
              <a:t>450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C175686-E674-386B-B0F4-3CAAF0BC0A53}"/>
              </a:ext>
            </a:extLst>
          </p:cNvPr>
          <p:cNvCxnSpPr/>
          <p:nvPr/>
        </p:nvCxnSpPr>
        <p:spPr>
          <a:xfrm flipV="1">
            <a:off x="4863402" y="4466492"/>
            <a:ext cx="3496827" cy="306029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FD29DBE-100A-FA41-46EE-882C18D91A5F}"/>
              </a:ext>
            </a:extLst>
          </p:cNvPr>
          <p:cNvSpPr txBox="1"/>
          <p:nvPr/>
        </p:nvSpPr>
        <p:spPr>
          <a:xfrm>
            <a:off x="2406660" y="5128577"/>
            <a:ext cx="3436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dirty="0">
                <a:solidFill>
                  <a:schemeClr val="accent3">
                    <a:lumMod val="75000"/>
                  </a:schemeClr>
                </a:solidFill>
              </a:rPr>
              <a:t>UPDATE Accounts SET Balance = 350 WHERE </a:t>
            </a:r>
            <a:r>
              <a:rPr lang="nl-BE" sz="1600" b="1" dirty="0" err="1">
                <a:solidFill>
                  <a:schemeClr val="accent3">
                    <a:lumMod val="75000"/>
                  </a:schemeClr>
                </a:solidFill>
              </a:rPr>
              <a:t>Id</a:t>
            </a:r>
            <a:r>
              <a:rPr lang="nl-BE" sz="1600" b="1" dirty="0">
                <a:solidFill>
                  <a:schemeClr val="accent3">
                    <a:lumMod val="75000"/>
                  </a:schemeClr>
                </a:solidFill>
              </a:rPr>
              <a:t> =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BDC339-AADD-CF2B-C5A7-30CFCB6D186A}"/>
              </a:ext>
            </a:extLst>
          </p:cNvPr>
          <p:cNvSpPr txBox="1"/>
          <p:nvPr/>
        </p:nvSpPr>
        <p:spPr>
          <a:xfrm>
            <a:off x="2406660" y="5730854"/>
            <a:ext cx="3436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dirty="0" err="1">
                <a:solidFill>
                  <a:schemeClr val="accent3">
                    <a:lumMod val="75000"/>
                  </a:schemeClr>
                </a:solidFill>
              </a:rPr>
              <a:t>SaveChanges</a:t>
            </a:r>
            <a:r>
              <a:rPr lang="nl-BE" sz="1600" b="1" dirty="0">
                <a:solidFill>
                  <a:schemeClr val="accent3">
                    <a:lumMod val="75000"/>
                  </a:schemeClr>
                </a:solidFill>
              </a:rPr>
              <a:t>() </a:t>
            </a:r>
            <a:r>
              <a:rPr lang="nl-BE" sz="1600" b="1" dirty="0">
                <a:solidFill>
                  <a:schemeClr val="accent3">
                    <a:lumMod val="75000"/>
                  </a:schemeClr>
                </a:solidFill>
                <a:sym typeface="Wingdings" panose="05000000000000000000" pitchFamily="2" charset="2"/>
              </a:rPr>
              <a:t> COMMIT</a:t>
            </a:r>
            <a:endParaRPr lang="nl-BE" sz="16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D26399B-36C7-AD14-CDF2-8A4EFDFF03CB}"/>
              </a:ext>
            </a:extLst>
          </p:cNvPr>
          <p:cNvCxnSpPr>
            <a:cxnSpLocks/>
          </p:cNvCxnSpPr>
          <p:nvPr/>
        </p:nvCxnSpPr>
        <p:spPr>
          <a:xfrm flipV="1">
            <a:off x="4803111" y="4895514"/>
            <a:ext cx="3496827" cy="1004617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C9B6300-E24D-27B2-A183-E45C5E7F3C08}"/>
              </a:ext>
            </a:extLst>
          </p:cNvPr>
          <p:cNvSpPr txBox="1"/>
          <p:nvPr/>
        </p:nvSpPr>
        <p:spPr>
          <a:xfrm>
            <a:off x="8315089" y="4657212"/>
            <a:ext cx="622997" cy="324000"/>
          </a:xfrm>
          <a:prstGeom prst="rect">
            <a:avLst/>
          </a:prstGeom>
          <a:solidFill>
            <a:srgbClr val="E7EAEF"/>
          </a:solidFill>
        </p:spPr>
        <p:txBody>
          <a:bodyPr wrap="square" rtlCol="0">
            <a:spAutoFit/>
          </a:bodyPr>
          <a:lstStyle/>
          <a:p>
            <a:r>
              <a:rPr lang="nl-BE" b="1" dirty="0">
                <a:solidFill>
                  <a:schemeClr val="accent3">
                    <a:lumMod val="75000"/>
                  </a:schemeClr>
                </a:solidFill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3054326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Transacties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1" y="1478897"/>
            <a:ext cx="9727722" cy="218466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MAAR: wat indien er bij de tweede transactie iets fout loopt? </a:t>
            </a:r>
            <a:endParaRPr lang="nl-BE" sz="20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85F3846-C7E8-45B5-9482-1645FB166605}"/>
              </a:ext>
            </a:extLst>
          </p:cNvPr>
          <p:cNvCxnSpPr>
            <a:cxnSpLocks/>
          </p:cNvCxnSpPr>
          <p:nvPr/>
        </p:nvCxnSpPr>
        <p:spPr>
          <a:xfrm>
            <a:off x="1315336" y="2472552"/>
            <a:ext cx="0" cy="97469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9388003-0F8E-A47E-8C8D-FF93A69D077D}"/>
              </a:ext>
            </a:extLst>
          </p:cNvPr>
          <p:cNvCxnSpPr>
            <a:cxnSpLocks/>
          </p:cNvCxnSpPr>
          <p:nvPr/>
        </p:nvCxnSpPr>
        <p:spPr>
          <a:xfrm>
            <a:off x="1315336" y="3659933"/>
            <a:ext cx="0" cy="974690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E8AA434-78D1-7CAF-CFAD-2DA2E214E46A}"/>
              </a:ext>
            </a:extLst>
          </p:cNvPr>
          <p:cNvSpPr txBox="1"/>
          <p:nvPr/>
        </p:nvSpPr>
        <p:spPr>
          <a:xfrm>
            <a:off x="1641987" y="2459414"/>
            <a:ext cx="3436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dirty="0"/>
              <a:t>UPDATE Accounts SET Balance = 450 WHERE </a:t>
            </a:r>
            <a:r>
              <a:rPr lang="nl-BE" sz="1600" b="1" dirty="0" err="1"/>
              <a:t>Id</a:t>
            </a:r>
            <a:r>
              <a:rPr lang="nl-BE" sz="1600" b="1" dirty="0"/>
              <a:t> =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672201-2E0A-7A17-364A-7ED959F967F0}"/>
              </a:ext>
            </a:extLst>
          </p:cNvPr>
          <p:cNvSpPr txBox="1"/>
          <p:nvPr/>
        </p:nvSpPr>
        <p:spPr>
          <a:xfrm>
            <a:off x="1641987" y="3096649"/>
            <a:ext cx="3436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dirty="0" err="1"/>
              <a:t>SaveChanges</a:t>
            </a:r>
            <a:r>
              <a:rPr lang="nl-BE" sz="1600" b="1" dirty="0"/>
              <a:t>() </a:t>
            </a:r>
            <a:r>
              <a:rPr lang="nl-BE" sz="1600" b="1" dirty="0">
                <a:sym typeface="Wingdings" panose="05000000000000000000" pitchFamily="2" charset="2"/>
              </a:rPr>
              <a:t> COMMIT</a:t>
            </a:r>
            <a:endParaRPr lang="nl-BE" sz="1600" b="1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19E0EE1-1BBF-8BC1-CDAB-79A63D569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50337"/>
              </p:ext>
            </p:extLst>
          </p:nvPr>
        </p:nvGraphicFramePr>
        <p:xfrm>
          <a:off x="5405173" y="2403637"/>
          <a:ext cx="369555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667">
                  <a:extLst>
                    <a:ext uri="{9D8B030D-6E8A-4147-A177-3AD203B41FA5}">
                      <a16:colId xmlns:a16="http://schemas.microsoft.com/office/drawing/2014/main" val="3974416894"/>
                    </a:ext>
                  </a:extLst>
                </a:gridCol>
                <a:gridCol w="1527350">
                  <a:extLst>
                    <a:ext uri="{9D8B030D-6E8A-4147-A177-3AD203B41FA5}">
                      <a16:colId xmlns:a16="http://schemas.microsoft.com/office/drawing/2014/main" val="3431846819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9917787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IBAN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Balance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30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BE123456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5175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BE987654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91612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83D1D1D-97F5-4947-AF5F-2F9E9A84FB9A}"/>
              </a:ext>
            </a:extLst>
          </p:cNvPr>
          <p:cNvSpPr txBox="1"/>
          <p:nvPr/>
        </p:nvSpPr>
        <p:spPr>
          <a:xfrm>
            <a:off x="7535265" y="2794105"/>
            <a:ext cx="622997" cy="324000"/>
          </a:xfrm>
          <a:prstGeom prst="rect">
            <a:avLst/>
          </a:prstGeom>
          <a:solidFill>
            <a:srgbClr val="CBD3DE"/>
          </a:solidFill>
        </p:spPr>
        <p:txBody>
          <a:bodyPr wrap="square" rtlCol="0">
            <a:spAutoFit/>
          </a:bodyPr>
          <a:lstStyle/>
          <a:p>
            <a:r>
              <a:rPr lang="nl-BE" b="1" dirty="0"/>
              <a:t>450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C175686-E674-386B-B0F4-3CAAF0BC0A53}"/>
              </a:ext>
            </a:extLst>
          </p:cNvPr>
          <p:cNvCxnSpPr/>
          <p:nvPr/>
        </p:nvCxnSpPr>
        <p:spPr>
          <a:xfrm flipV="1">
            <a:off x="4098729" y="2959897"/>
            <a:ext cx="3496827" cy="306029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FD29DBE-100A-FA41-46EE-882C18D91A5F}"/>
              </a:ext>
            </a:extLst>
          </p:cNvPr>
          <p:cNvSpPr txBox="1"/>
          <p:nvPr/>
        </p:nvSpPr>
        <p:spPr>
          <a:xfrm>
            <a:off x="1641987" y="3621982"/>
            <a:ext cx="3436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dirty="0">
                <a:solidFill>
                  <a:schemeClr val="accent3">
                    <a:lumMod val="75000"/>
                  </a:schemeClr>
                </a:solidFill>
              </a:rPr>
              <a:t>UPDATE Accounts SET Balance = 350 WHERE </a:t>
            </a:r>
            <a:r>
              <a:rPr lang="nl-BE" sz="1600" b="1" dirty="0" err="1">
                <a:solidFill>
                  <a:schemeClr val="accent3">
                    <a:lumMod val="75000"/>
                  </a:schemeClr>
                </a:solidFill>
              </a:rPr>
              <a:t>Id</a:t>
            </a:r>
            <a:r>
              <a:rPr lang="nl-BE" sz="1600" b="1" dirty="0">
                <a:solidFill>
                  <a:schemeClr val="accent3">
                    <a:lumMod val="75000"/>
                  </a:schemeClr>
                </a:solidFill>
              </a:rPr>
              <a:t> =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BDC339-AADD-CF2B-C5A7-30CFCB6D186A}"/>
              </a:ext>
            </a:extLst>
          </p:cNvPr>
          <p:cNvSpPr txBox="1"/>
          <p:nvPr/>
        </p:nvSpPr>
        <p:spPr>
          <a:xfrm>
            <a:off x="1641987" y="4224259"/>
            <a:ext cx="3436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dirty="0" err="1">
                <a:solidFill>
                  <a:schemeClr val="accent3">
                    <a:lumMod val="75000"/>
                  </a:schemeClr>
                </a:solidFill>
              </a:rPr>
              <a:t>SaveChanges</a:t>
            </a:r>
            <a:r>
              <a:rPr lang="nl-BE" sz="1600" b="1" dirty="0">
                <a:solidFill>
                  <a:schemeClr val="accent3">
                    <a:lumMod val="75000"/>
                  </a:schemeClr>
                </a:solidFill>
              </a:rPr>
              <a:t>() </a:t>
            </a:r>
            <a:r>
              <a:rPr lang="nl-BE" sz="1600" b="1" dirty="0">
                <a:solidFill>
                  <a:schemeClr val="accent3">
                    <a:lumMod val="75000"/>
                  </a:schemeClr>
                </a:solidFill>
                <a:sym typeface="Wingdings" panose="05000000000000000000" pitchFamily="2" charset="2"/>
              </a:rPr>
              <a:t> COMMIT</a:t>
            </a:r>
            <a:endParaRPr lang="nl-BE" sz="16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7532A435-4656-6320-8465-34896C5E1508}"/>
              </a:ext>
            </a:extLst>
          </p:cNvPr>
          <p:cNvSpPr/>
          <p:nvPr/>
        </p:nvSpPr>
        <p:spPr>
          <a:xfrm>
            <a:off x="873208" y="3910800"/>
            <a:ext cx="884255" cy="365125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sp>
        <p:nvSpPr>
          <p:cNvPr id="9" name="Multiplication Sign 8">
            <a:extLst>
              <a:ext uri="{FF2B5EF4-FFF2-40B4-BE49-F238E27FC236}">
                <a16:creationId xmlns:a16="http://schemas.microsoft.com/office/drawing/2014/main" id="{AF8DA6E5-8F41-1E9D-36A0-A23C1C1E5695}"/>
              </a:ext>
            </a:extLst>
          </p:cNvPr>
          <p:cNvSpPr/>
          <p:nvPr/>
        </p:nvSpPr>
        <p:spPr>
          <a:xfrm>
            <a:off x="1143756" y="3444172"/>
            <a:ext cx="3939953" cy="1248318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pic>
        <p:nvPicPr>
          <p:cNvPr id="20" name="Picture 19" descr="A person with a bandana and a red headband&#10;&#10;Description automatically generated">
            <a:extLst>
              <a:ext uri="{FF2B5EF4-FFF2-40B4-BE49-F238E27FC236}">
                <a16:creationId xmlns:a16="http://schemas.microsoft.com/office/drawing/2014/main" id="{FD40957B-E3F5-AFD7-EF68-A6FF4B7089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2952" y="4093362"/>
            <a:ext cx="4548345" cy="237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613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7" grpId="0" animBg="1"/>
      <p:bldP spid="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Transacties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1" y="1478896"/>
            <a:ext cx="9727722" cy="458124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/>
              <a:t>Oplossing: </a:t>
            </a:r>
            <a:r>
              <a:rPr lang="nl-BE" sz="2400" dirty="0"/>
              <a:t>alle statements moeten binnen eenzelfde transactie uitgevoerd worden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18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SaveChanges</a:t>
            </a:r>
            <a:r>
              <a:rPr lang="nl-BE" sz="2000" dirty="0"/>
              <a:t> slechts één keer aanroepen (aan het einde van de transactie)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Indien één van de statements faalt, worden alle wijzigingen ongedaan gemaakt (</a:t>
            </a:r>
            <a:r>
              <a:rPr lang="nl-BE" sz="2000" dirty="0" err="1"/>
              <a:t>rollback</a:t>
            </a:r>
            <a:r>
              <a:rPr lang="nl-BE" sz="2000" dirty="0"/>
              <a:t>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7994393-2402-3987-D370-713E52ED2760}"/>
              </a:ext>
            </a:extLst>
          </p:cNvPr>
          <p:cNvCxnSpPr>
            <a:cxnSpLocks/>
          </p:cNvCxnSpPr>
          <p:nvPr/>
        </p:nvCxnSpPr>
        <p:spPr>
          <a:xfrm>
            <a:off x="3355150" y="3698835"/>
            <a:ext cx="0" cy="21023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70212AD-7495-C89A-BAAB-1BB557EED086}"/>
              </a:ext>
            </a:extLst>
          </p:cNvPr>
          <p:cNvSpPr txBox="1"/>
          <p:nvPr/>
        </p:nvSpPr>
        <p:spPr>
          <a:xfrm>
            <a:off x="3513571" y="3697736"/>
            <a:ext cx="3436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dirty="0"/>
              <a:t>UPDATE Accounts SET Balance = 450 WHERE </a:t>
            </a:r>
            <a:r>
              <a:rPr lang="nl-BE" sz="1600" b="1" dirty="0" err="1"/>
              <a:t>Id</a:t>
            </a:r>
            <a:r>
              <a:rPr lang="nl-BE" sz="1600" b="1" dirty="0"/>
              <a:t> =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102962-E2DE-454F-5D27-AC5300C165A4}"/>
              </a:ext>
            </a:extLst>
          </p:cNvPr>
          <p:cNvSpPr txBox="1"/>
          <p:nvPr/>
        </p:nvSpPr>
        <p:spPr>
          <a:xfrm>
            <a:off x="3513571" y="4448323"/>
            <a:ext cx="3436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dirty="0"/>
              <a:t>UPDATE Accounts SET Balance = 350 WHERE </a:t>
            </a:r>
            <a:r>
              <a:rPr lang="nl-BE" sz="1600" b="1" dirty="0" err="1"/>
              <a:t>Id</a:t>
            </a:r>
            <a:r>
              <a:rPr lang="nl-BE" sz="1600" b="1" dirty="0"/>
              <a:t> =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3BB599-BCBC-18BB-DC77-8346F4B6A128}"/>
              </a:ext>
            </a:extLst>
          </p:cNvPr>
          <p:cNvSpPr txBox="1"/>
          <p:nvPr/>
        </p:nvSpPr>
        <p:spPr>
          <a:xfrm>
            <a:off x="3513571" y="5198910"/>
            <a:ext cx="3436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600" b="1" dirty="0" err="1"/>
              <a:t>SaveChanges</a:t>
            </a:r>
            <a:r>
              <a:rPr lang="nl-BE" sz="1600" b="1" dirty="0"/>
              <a:t>() </a:t>
            </a:r>
            <a:r>
              <a:rPr lang="nl-BE" sz="1600" b="1" dirty="0">
                <a:sym typeface="Wingdings" panose="05000000000000000000" pitchFamily="2" charset="2"/>
              </a:rPr>
              <a:t> COMMIT</a:t>
            </a:r>
            <a:endParaRPr lang="nl-BE" sz="1600" b="1" dirty="0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97A589C1-A8E7-6396-9B96-DE7420CB6DE9}"/>
              </a:ext>
            </a:extLst>
          </p:cNvPr>
          <p:cNvSpPr/>
          <p:nvPr/>
        </p:nvSpPr>
        <p:spPr>
          <a:xfrm>
            <a:off x="2913022" y="4517873"/>
            <a:ext cx="884255" cy="365125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sp>
        <p:nvSpPr>
          <p:cNvPr id="14" name="Arrow: Curved Right 13">
            <a:extLst>
              <a:ext uri="{FF2B5EF4-FFF2-40B4-BE49-F238E27FC236}">
                <a16:creationId xmlns:a16="http://schemas.microsoft.com/office/drawing/2014/main" id="{2A7E95E8-CF7E-9944-F257-B41EA79EE61B}"/>
              </a:ext>
            </a:extLst>
          </p:cNvPr>
          <p:cNvSpPr/>
          <p:nvPr/>
        </p:nvSpPr>
        <p:spPr>
          <a:xfrm flipV="1">
            <a:off x="2331215" y="3697736"/>
            <a:ext cx="581795" cy="1185262"/>
          </a:xfrm>
          <a:prstGeom prst="curved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txBody>
          <a:bodyPr wrap="square" lIns="0" tIns="0" rIns="0" bIns="0" rtlCol="0" anchor="ctr">
            <a:spAutoFit/>
          </a:bodyPr>
          <a:lstStyle/>
          <a:p>
            <a:pPr algn="l"/>
            <a:endParaRPr lang="nl-BE" sz="1600" b="1" dirty="0" err="1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FCD63A-8D0F-45D4-1568-41B330FABDF7}"/>
              </a:ext>
            </a:extLst>
          </p:cNvPr>
          <p:cNvSpPr txBox="1"/>
          <p:nvPr/>
        </p:nvSpPr>
        <p:spPr>
          <a:xfrm>
            <a:off x="1388398" y="4105701"/>
            <a:ext cx="904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dirty="0" err="1">
                <a:solidFill>
                  <a:srgbClr val="C00000"/>
                </a:solidFill>
              </a:rPr>
              <a:t>rollback</a:t>
            </a:r>
            <a:endParaRPr lang="nl-BE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401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UnitOfWork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0" y="2059912"/>
            <a:ext cx="10089309" cy="400022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MAAR: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Hoe ervoor zorgen dat </a:t>
            </a:r>
            <a:r>
              <a:rPr lang="nl-BE" sz="20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SaveChanges</a:t>
            </a:r>
            <a:r>
              <a:rPr lang="nl-BE" sz="2400" dirty="0"/>
              <a:t> slechts één keer aangeroepen wordt?</a:t>
            </a:r>
          </a:p>
          <a:p>
            <a:pPr marL="1177200" lvl="2" indent="-457200">
              <a:buFont typeface="Arial" panose="020B0604020202020204" pitchFamily="34" charset="0"/>
              <a:buChar char="•"/>
            </a:pPr>
            <a:r>
              <a:rPr lang="nl-BE" sz="18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SaveChanges</a:t>
            </a:r>
            <a:r>
              <a:rPr lang="nl-BE" sz="2000" dirty="0"/>
              <a:t> weghalen uit verschillende </a:t>
            </a:r>
            <a:r>
              <a:rPr lang="nl-BE" sz="2000" dirty="0" err="1"/>
              <a:t>Repository</a:t>
            </a:r>
            <a:r>
              <a:rPr lang="nl-BE" sz="2000" dirty="0"/>
              <a:t>-methoden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Wie implementeert </a:t>
            </a:r>
            <a:r>
              <a:rPr lang="nl-BE" sz="20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SaveChanges</a:t>
            </a:r>
            <a:r>
              <a:rPr lang="nl-BE" sz="2400" dirty="0"/>
              <a:t> dan?</a:t>
            </a:r>
          </a:p>
          <a:p>
            <a:pPr marL="1177200" lvl="2" indent="-457200">
              <a:buFont typeface="Arial" panose="020B0604020202020204" pitchFamily="34" charset="0"/>
              <a:buChar char="•"/>
            </a:pPr>
            <a:r>
              <a:rPr lang="nl-BE" sz="2000" dirty="0"/>
              <a:t>Implementeer </a:t>
            </a:r>
            <a:r>
              <a:rPr lang="nl-BE" sz="18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SaveChanges</a:t>
            </a:r>
            <a:r>
              <a:rPr lang="nl-BE" sz="2000" dirty="0"/>
              <a:t> in aparte klasse (“</a:t>
            </a:r>
            <a:r>
              <a:rPr lang="nl-BE" sz="2000" dirty="0" err="1"/>
              <a:t>UnitOfWork</a:t>
            </a:r>
            <a:r>
              <a:rPr lang="nl-BE" sz="2000" dirty="0"/>
              <a:t>”)</a:t>
            </a:r>
          </a:p>
          <a:p>
            <a:pPr marL="1537200" lvl="3" indent="-457200">
              <a:buFont typeface="Arial" panose="020B0604020202020204" pitchFamily="34" charset="0"/>
              <a:buChar char="•"/>
            </a:pPr>
            <a:r>
              <a:rPr lang="nl-BE" sz="2000" dirty="0"/>
              <a:t>Centraal toegangspunt tot verschillende </a:t>
            </a:r>
            <a:r>
              <a:rPr lang="nl-BE" sz="2000" dirty="0" err="1"/>
              <a:t>repositories</a:t>
            </a:r>
            <a:endParaRPr lang="nl-BE" sz="2000" dirty="0"/>
          </a:p>
          <a:p>
            <a:pPr marL="1537200" lvl="3" indent="-457200">
              <a:buFont typeface="Arial" panose="020B0604020202020204" pitchFamily="34" charset="0"/>
              <a:buChar char="•"/>
            </a:pPr>
            <a:r>
              <a:rPr lang="nl-BE" sz="2000" dirty="0"/>
              <a:t>Implementeert </a:t>
            </a:r>
            <a:r>
              <a:rPr lang="nl-BE" sz="18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SaveChanges</a:t>
            </a:r>
            <a:r>
              <a:rPr lang="nl-BE" sz="2000" dirty="0"/>
              <a:t> </a:t>
            </a:r>
            <a:r>
              <a:rPr lang="nl-BE" sz="2000" dirty="0">
                <a:sym typeface="Wingdings" panose="05000000000000000000" pitchFamily="2" charset="2"/>
              </a:rPr>
              <a:t> roept deze aan op </a:t>
            </a:r>
            <a:r>
              <a:rPr lang="nl-BE" sz="2000" dirty="0" err="1">
                <a:sym typeface="Wingdings" panose="05000000000000000000" pitchFamily="2" charset="2"/>
              </a:rPr>
              <a:t>DbContext</a:t>
            </a:r>
            <a:endParaRPr lang="nl-BE" sz="20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619582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UnitOfWork</a:t>
            </a:r>
            <a:r>
              <a:rPr lang="nl-BE" dirty="0"/>
              <a:t>: Implementatie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0" y="2059912"/>
            <a:ext cx="10089309" cy="400022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MAAR: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Hoe ervoor zorgen dat </a:t>
            </a:r>
            <a:r>
              <a:rPr lang="nl-BE" sz="20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SaveChanges</a:t>
            </a:r>
            <a:r>
              <a:rPr lang="nl-BE" sz="2400" dirty="0"/>
              <a:t> slechts één keer aangeroepen wordt?</a:t>
            </a:r>
          </a:p>
          <a:p>
            <a:pPr marL="1177200" lvl="2" indent="-457200">
              <a:buFont typeface="Arial" panose="020B0604020202020204" pitchFamily="34" charset="0"/>
              <a:buChar char="•"/>
            </a:pPr>
            <a:r>
              <a:rPr lang="nl-BE" sz="18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SaveChanges</a:t>
            </a:r>
            <a:r>
              <a:rPr lang="nl-BE" sz="2000" dirty="0"/>
              <a:t> weghalen uit verschillende </a:t>
            </a:r>
            <a:r>
              <a:rPr lang="nl-BE" sz="2000" dirty="0" err="1"/>
              <a:t>Repository</a:t>
            </a:r>
            <a:r>
              <a:rPr lang="nl-BE" sz="2000" dirty="0"/>
              <a:t>-methoden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Wie implementeert </a:t>
            </a:r>
            <a:r>
              <a:rPr lang="nl-BE" sz="20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SaveChanges</a:t>
            </a:r>
            <a:r>
              <a:rPr lang="nl-BE" sz="2400" dirty="0"/>
              <a:t> dan?</a:t>
            </a:r>
          </a:p>
          <a:p>
            <a:pPr marL="1177200" lvl="2" indent="-457200">
              <a:buFont typeface="Arial" panose="020B0604020202020204" pitchFamily="34" charset="0"/>
              <a:buChar char="•"/>
            </a:pPr>
            <a:r>
              <a:rPr lang="nl-BE" sz="2000" dirty="0"/>
              <a:t>Implementeer </a:t>
            </a:r>
            <a:r>
              <a:rPr lang="nl-BE" sz="18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SaveChanges</a:t>
            </a:r>
            <a:r>
              <a:rPr lang="nl-BE" sz="2000" dirty="0"/>
              <a:t> in aparte klasse (“</a:t>
            </a:r>
            <a:r>
              <a:rPr lang="nl-BE" sz="2000" dirty="0" err="1"/>
              <a:t>UnitOfWork</a:t>
            </a:r>
            <a:r>
              <a:rPr lang="nl-BE" sz="2000" dirty="0"/>
              <a:t>”)</a:t>
            </a:r>
          </a:p>
          <a:p>
            <a:pPr marL="1537200" lvl="3" indent="-457200">
              <a:buFont typeface="Arial" panose="020B0604020202020204" pitchFamily="34" charset="0"/>
              <a:buChar char="•"/>
            </a:pPr>
            <a:r>
              <a:rPr lang="nl-BE" sz="2000" dirty="0"/>
              <a:t>Centraal toegangspunt tot verschillende </a:t>
            </a:r>
            <a:r>
              <a:rPr lang="nl-BE" sz="2000" dirty="0" err="1"/>
              <a:t>repositories</a:t>
            </a:r>
            <a:endParaRPr lang="nl-BE" sz="2000" dirty="0"/>
          </a:p>
          <a:p>
            <a:pPr marL="1537200" lvl="3" indent="-457200">
              <a:buFont typeface="Arial" panose="020B0604020202020204" pitchFamily="34" charset="0"/>
              <a:buChar char="•"/>
            </a:pPr>
            <a:r>
              <a:rPr lang="nl-BE" sz="2000" dirty="0"/>
              <a:t>Implementeert </a:t>
            </a:r>
            <a:r>
              <a:rPr lang="nl-BE" sz="18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SaveChanges</a:t>
            </a:r>
            <a:r>
              <a:rPr lang="nl-BE" sz="2000" dirty="0"/>
              <a:t> </a:t>
            </a:r>
            <a:r>
              <a:rPr lang="nl-BE" sz="2000" dirty="0">
                <a:sym typeface="Wingdings" panose="05000000000000000000" pitchFamily="2" charset="2"/>
              </a:rPr>
              <a:t> roept deze aan op </a:t>
            </a:r>
            <a:r>
              <a:rPr lang="nl-BE" sz="2000" dirty="0" err="1">
                <a:sym typeface="Wingdings" panose="05000000000000000000" pitchFamily="2" charset="2"/>
              </a:rPr>
              <a:t>DbContext</a:t>
            </a:r>
            <a:endParaRPr lang="nl-BE" sz="20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39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38770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UnitOfWork</a:t>
            </a:r>
            <a:r>
              <a:rPr lang="nl-BE" dirty="0"/>
              <a:t>: Implementatie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173236"/>
            <a:ext cx="8778145" cy="442128"/>
          </a:xfrm>
        </p:spPr>
        <p:txBody>
          <a:bodyPr/>
          <a:lstStyle/>
          <a:p>
            <a:r>
              <a:rPr lang="nl-BE" sz="2400" b="1" dirty="0"/>
              <a:t>Stap 1: </a:t>
            </a:r>
            <a:r>
              <a:rPr lang="nl-BE" sz="2400" dirty="0"/>
              <a:t>verwijder aanroep van </a:t>
            </a:r>
            <a:r>
              <a:rPr lang="nl-BE" sz="200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SaveChanges</a:t>
            </a:r>
            <a:r>
              <a:rPr lang="nl-BE" sz="2400" dirty="0"/>
              <a:t> uit </a:t>
            </a:r>
            <a:r>
              <a:rPr lang="nl-BE" sz="2400" dirty="0" err="1"/>
              <a:t>Repository</a:t>
            </a:r>
            <a:r>
              <a:rPr lang="nl-BE" sz="2400" dirty="0"/>
              <a:t>-methoden</a:t>
            </a:r>
            <a:endParaRPr lang="nl-BE" sz="20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B2C905-4007-FF06-517C-3BDEC267B3F0}"/>
              </a:ext>
            </a:extLst>
          </p:cNvPr>
          <p:cNvSpPr txBox="1"/>
          <p:nvPr/>
        </p:nvSpPr>
        <p:spPr>
          <a:xfrm>
            <a:off x="534291" y="1777657"/>
            <a:ext cx="6404113" cy="432426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 class 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AccountRepository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IAccountRepository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 </a:t>
            </a:r>
            <a:r>
              <a:rPr lang="nl-BE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readonly</a:t>
            </a:r>
            <a:r>
              <a:rPr lang="nl-BE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AppDbContext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_context;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</a:t>
            </a:r>
            <a:r>
              <a:rPr lang="nl-BE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 public 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AccountRepository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AppDbContext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context) {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_context = context;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 void 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Add(</a:t>
            </a:r>
            <a:r>
              <a:rPr lang="en-US" sz="1100" dirty="0">
                <a:solidFill>
                  <a:srgbClr val="2B91AF"/>
                </a:solidFill>
                <a:latin typeface="Cascadia Mono" panose="020B0609020000020004" pitchFamily="49" charset="0"/>
              </a:rPr>
              <a:t>Account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account) 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_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context.Accounts.Add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(account);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l-BE" sz="1100" strike="sngStrike" dirty="0">
                <a:solidFill>
                  <a:srgbClr val="C00000"/>
                </a:solidFill>
                <a:latin typeface="Cascadia Mono" panose="020B0609020000020004" pitchFamily="49" charset="0"/>
              </a:rPr>
              <a:t>_</a:t>
            </a:r>
            <a:r>
              <a:rPr lang="nl-BE" sz="1100" strike="sngStrike" dirty="0" err="1">
                <a:solidFill>
                  <a:srgbClr val="C00000"/>
                </a:solidFill>
                <a:latin typeface="Cascadia Mono" panose="020B0609020000020004" pitchFamily="49" charset="0"/>
              </a:rPr>
              <a:t>context.SaveChanges</a:t>
            </a:r>
            <a:r>
              <a:rPr lang="nl-BE" sz="1100" strike="sngStrike" dirty="0">
                <a:solidFill>
                  <a:srgbClr val="C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ascadia Mono" panose="020B0609020000020004" pitchFamily="49" charset="0"/>
              </a:rPr>
              <a:t>Account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GetByIban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iban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 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_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context.Accounts.FirstOrDefault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(x =&gt;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x.Iban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==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iban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ascadia Mono" panose="020B0609020000020004" pitchFamily="49" charset="0"/>
              </a:rPr>
              <a:t>Account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GetById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id) 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_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context.Accounts.Find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(id);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 void 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Update(</a:t>
            </a:r>
            <a:r>
              <a:rPr lang="en-US" sz="1100" dirty="0">
                <a:solidFill>
                  <a:srgbClr val="2B91AF"/>
                </a:solidFill>
                <a:latin typeface="Cascadia Mono" panose="020B0609020000020004" pitchFamily="49" charset="0"/>
              </a:rPr>
              <a:t>Account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account) 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_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context.Accounts.Update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(account);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l-BE" sz="1100" strike="sngStrike" dirty="0">
                <a:solidFill>
                  <a:srgbClr val="C00000"/>
                </a:solidFill>
                <a:latin typeface="Cascadia Mono" panose="020B0609020000020004" pitchFamily="49" charset="0"/>
              </a:rPr>
              <a:t>_</a:t>
            </a:r>
            <a:r>
              <a:rPr lang="nl-BE" sz="1100" strike="sngStrike" dirty="0" err="1">
                <a:solidFill>
                  <a:srgbClr val="C00000"/>
                </a:solidFill>
                <a:latin typeface="Cascadia Mono" panose="020B0609020000020004" pitchFamily="49" charset="0"/>
              </a:rPr>
              <a:t>context.SaveChanges</a:t>
            </a:r>
            <a:r>
              <a:rPr lang="nl-BE" sz="1100" strike="sngStrike" dirty="0">
                <a:solidFill>
                  <a:srgbClr val="C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nl-BE" sz="800" dirty="0"/>
          </a:p>
        </p:txBody>
      </p:sp>
    </p:spTree>
    <p:extLst>
      <p:ext uri="{BB962C8B-B14F-4D97-AF65-F5344CB8AC3E}">
        <p14:creationId xmlns:p14="http://schemas.microsoft.com/office/powerpoint/2010/main" val="41036256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UnitOfWork</a:t>
            </a:r>
            <a:r>
              <a:rPr lang="nl-BE" dirty="0"/>
              <a:t>: Implementatie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483" y="2178071"/>
            <a:ext cx="8778145" cy="442128"/>
          </a:xfrm>
        </p:spPr>
        <p:txBody>
          <a:bodyPr/>
          <a:lstStyle/>
          <a:p>
            <a:r>
              <a:rPr lang="nl-BE" sz="2400" b="1" dirty="0"/>
              <a:t>Stap 2: </a:t>
            </a:r>
            <a:r>
              <a:rPr lang="nl-BE" sz="2400" dirty="0"/>
              <a:t>definieer een </a:t>
            </a:r>
            <a:r>
              <a:rPr lang="nl-BE" sz="2400" dirty="0" err="1"/>
              <a:t>IUnitOfWork</a:t>
            </a:r>
            <a:r>
              <a:rPr lang="nl-BE" sz="2400" dirty="0"/>
              <a:t>-interface met:</a:t>
            </a:r>
          </a:p>
          <a:p>
            <a:pPr marL="701063" lvl="1" indent="-342900">
              <a:buFont typeface="Arial" panose="020B0604020202020204" pitchFamily="34" charset="0"/>
              <a:buChar char="•"/>
            </a:pPr>
            <a:r>
              <a:rPr lang="nl-BE" sz="2400" dirty="0" err="1"/>
              <a:t>Properties</a:t>
            </a:r>
            <a:r>
              <a:rPr lang="nl-BE" sz="2400" dirty="0"/>
              <a:t> voor interface-types van </a:t>
            </a:r>
            <a:r>
              <a:rPr lang="nl-BE" sz="2400" dirty="0" err="1"/>
              <a:t>repositories</a:t>
            </a:r>
            <a:endParaRPr lang="nl-BE" sz="2400" dirty="0"/>
          </a:p>
          <a:p>
            <a:pPr marL="701063" lvl="1" indent="-342900">
              <a:buFont typeface="Arial" panose="020B0604020202020204" pitchFamily="34" charset="0"/>
              <a:buChar char="•"/>
            </a:pPr>
            <a:r>
              <a:rPr lang="nl-BE" sz="2400" dirty="0"/>
              <a:t>Save()-methode</a:t>
            </a:r>
          </a:p>
          <a:p>
            <a:r>
              <a:rPr lang="nl-BE" sz="2400" dirty="0"/>
              <a:t>	</a:t>
            </a:r>
            <a:endParaRPr lang="nl-BE" sz="20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B2C905-4007-FF06-517C-3BDEC267B3F0}"/>
              </a:ext>
            </a:extLst>
          </p:cNvPr>
          <p:cNvSpPr txBox="1"/>
          <p:nvPr/>
        </p:nvSpPr>
        <p:spPr>
          <a:xfrm>
            <a:off x="718483" y="3897859"/>
            <a:ext cx="6404113" cy="95410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>
                <a:solidFill>
                  <a:srgbClr val="1D1DFF"/>
                </a:solidFill>
                <a:latin typeface="Cascadia Mono" panose="020B0609020000020004" pitchFamily="49" charset="0"/>
              </a:rPr>
              <a:t>public interface </a:t>
            </a:r>
            <a:r>
              <a:rPr lang="nl-BE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IUnitOfWork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400" dirty="0">
                <a:solidFill>
                  <a:srgbClr val="1D1DFF"/>
                </a:solidFill>
                <a:latin typeface="Cascadia Mono" panose="020B0609020000020004" pitchFamily="49" charset="0"/>
              </a:rPr>
              <a:t>public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IAccountRepository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Accounts { </a:t>
            </a:r>
            <a:r>
              <a:rPr lang="nl-BE" sz="1400" dirty="0">
                <a:solidFill>
                  <a:srgbClr val="1D1DFF"/>
                </a:solidFill>
                <a:latin typeface="Cascadia Mono" panose="020B0609020000020004" pitchFamily="49" charset="0"/>
              </a:rPr>
              <a:t>get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400" dirty="0">
                <a:solidFill>
                  <a:srgbClr val="1D1DFF"/>
                </a:solidFill>
                <a:latin typeface="Cascadia Mono" panose="020B0609020000020004" pitchFamily="49" charset="0"/>
              </a:rPr>
              <a:t>public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1D1DFF"/>
                </a:solidFill>
                <a:latin typeface="Cascadia Mono" panose="020B0609020000020004" pitchFamily="49" charset="0"/>
              </a:rPr>
              <a:t>void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Save();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  <a:endParaRPr lang="nl-BE" sz="1000" dirty="0"/>
          </a:p>
        </p:txBody>
      </p:sp>
    </p:spTree>
    <p:extLst>
      <p:ext uri="{BB962C8B-B14F-4D97-AF65-F5344CB8AC3E}">
        <p14:creationId xmlns:p14="http://schemas.microsoft.com/office/powerpoint/2010/main" val="18560839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UnitOfWork</a:t>
            </a:r>
            <a:r>
              <a:rPr lang="nl-BE" dirty="0"/>
              <a:t>: Implementatie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291" y="1932172"/>
            <a:ext cx="8778145" cy="442128"/>
          </a:xfrm>
        </p:spPr>
        <p:txBody>
          <a:bodyPr/>
          <a:lstStyle/>
          <a:p>
            <a:r>
              <a:rPr lang="nl-BE" sz="2400" b="1" dirty="0"/>
              <a:t>Stap 3: </a:t>
            </a:r>
            <a:r>
              <a:rPr lang="nl-BE" sz="2400" dirty="0"/>
              <a:t>implementeer de </a:t>
            </a:r>
            <a:r>
              <a:rPr lang="nl-BE" sz="2400" dirty="0" err="1"/>
              <a:t>IUnitOfWork</a:t>
            </a:r>
            <a:r>
              <a:rPr lang="nl-BE" sz="2400" dirty="0"/>
              <a:t>-interface:</a:t>
            </a:r>
          </a:p>
          <a:p>
            <a:r>
              <a:rPr lang="nl-BE" sz="2400" dirty="0"/>
              <a:t>	</a:t>
            </a:r>
            <a:endParaRPr lang="nl-BE" sz="20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B2C905-4007-FF06-517C-3BDEC267B3F0}"/>
              </a:ext>
            </a:extLst>
          </p:cNvPr>
          <p:cNvSpPr txBox="1"/>
          <p:nvPr/>
        </p:nvSpPr>
        <p:spPr>
          <a:xfrm>
            <a:off x="861246" y="2706570"/>
            <a:ext cx="6978554" cy="28931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1D1DFF"/>
                </a:solidFill>
                <a:latin typeface="Cascadia Mono" panose="020B0609020000020004" pitchFamily="49" charset="0"/>
              </a:rPr>
              <a:t>public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>
                <a:solidFill>
                  <a:srgbClr val="1D1DFF"/>
                </a:solidFill>
                <a:latin typeface="Cascadia Mono" panose="020B0609020000020004" pitchFamily="49" charset="0"/>
              </a:rPr>
              <a:t>class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UnitOfWork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nl-BE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IUnitOfWork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400" dirty="0">
                <a:solidFill>
                  <a:srgbClr val="1D1DFF"/>
                </a:solidFill>
                <a:latin typeface="Cascadia Mono" panose="020B0609020000020004" pitchFamily="49" charset="0"/>
              </a:rPr>
              <a:t>private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1D1DFF"/>
                </a:solidFill>
                <a:latin typeface="Cascadia Mono" panose="020B0609020000020004" pitchFamily="49" charset="0"/>
              </a:rPr>
              <a:t>readonly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AppDbContext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_context;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1D1D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IAccountRepository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Accounts { </a:t>
            </a:r>
            <a:r>
              <a:rPr lang="en-US" sz="1400" dirty="0">
                <a:solidFill>
                  <a:srgbClr val="1D1D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 err="1">
                <a:solidFill>
                  <a:srgbClr val="1D1DFF"/>
                </a:solidFill>
                <a:latin typeface="Cascadia Mono" panose="020B0609020000020004" pitchFamily="49" charset="0"/>
              </a:rPr>
              <a:t>init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endParaRPr lang="nl-B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400" dirty="0">
                <a:solidFill>
                  <a:srgbClr val="1D1DFF"/>
                </a:solidFill>
                <a:latin typeface="Cascadia Mono" panose="020B0609020000020004" pitchFamily="49" charset="0"/>
              </a:rPr>
              <a:t>public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UnitOfWork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AppDbContext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context) {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_context = context;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Accounts = </a:t>
            </a:r>
            <a:r>
              <a:rPr lang="nl-BE" sz="1400" dirty="0">
                <a:solidFill>
                  <a:srgbClr val="1D1DFF"/>
                </a:solidFill>
                <a:latin typeface="Cascadia Mono" panose="020B0609020000020004" pitchFamily="49" charset="0"/>
              </a:rPr>
              <a:t>new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AccountRepository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(context);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nl-B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400" dirty="0">
                <a:solidFill>
                  <a:srgbClr val="1D1DFF"/>
                </a:solidFill>
                <a:latin typeface="Cascadia Mono" panose="020B0609020000020004" pitchFamily="49" charset="0"/>
              </a:rPr>
              <a:t>public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1D1DFF"/>
                </a:solidFill>
                <a:latin typeface="Cascadia Mono" panose="020B0609020000020004" pitchFamily="49" charset="0"/>
              </a:rPr>
              <a:t>void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Save() {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_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context.SaveChanges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nl-BE" sz="1000" dirty="0"/>
          </a:p>
        </p:txBody>
      </p:sp>
    </p:spTree>
    <p:extLst>
      <p:ext uri="{BB962C8B-B14F-4D97-AF65-F5344CB8AC3E}">
        <p14:creationId xmlns:p14="http://schemas.microsoft.com/office/powerpoint/2010/main" val="37067688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UnitOfWork</a:t>
            </a:r>
            <a:r>
              <a:rPr lang="nl-BE" dirty="0"/>
              <a:t>: Implementatie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819" y="1074936"/>
            <a:ext cx="8778145" cy="442128"/>
          </a:xfrm>
        </p:spPr>
        <p:txBody>
          <a:bodyPr/>
          <a:lstStyle/>
          <a:p>
            <a:r>
              <a:rPr lang="nl-BE" sz="2400" b="1" dirty="0"/>
              <a:t>Stap 4: </a:t>
            </a:r>
            <a:r>
              <a:rPr lang="nl-BE" sz="2400" dirty="0"/>
              <a:t>injecteer </a:t>
            </a:r>
            <a:r>
              <a:rPr lang="nl-BE" sz="2400" dirty="0" err="1"/>
              <a:t>IUnitOfWork</a:t>
            </a:r>
            <a:r>
              <a:rPr lang="nl-BE" sz="2400" dirty="0"/>
              <a:t>-interface in services:</a:t>
            </a:r>
          </a:p>
          <a:p>
            <a:r>
              <a:rPr lang="nl-BE" sz="2400" dirty="0"/>
              <a:t>	</a:t>
            </a:r>
            <a:endParaRPr lang="nl-BE" sz="20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B2C905-4007-FF06-517C-3BDEC267B3F0}"/>
              </a:ext>
            </a:extLst>
          </p:cNvPr>
          <p:cNvSpPr txBox="1"/>
          <p:nvPr/>
        </p:nvSpPr>
        <p:spPr>
          <a:xfrm>
            <a:off x="678291" y="1595021"/>
            <a:ext cx="9729717" cy="452431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1D1DFF"/>
                </a:solidFill>
                <a:latin typeface="Cascadia Mono" panose="020B06090200000200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>
                <a:solidFill>
                  <a:srgbClr val="1D1DFF"/>
                </a:solidFill>
                <a:latin typeface="Cascadia Mono" panose="020B06090200000200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BankingService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nl-BE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IBankingService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200" dirty="0">
                <a:solidFill>
                  <a:srgbClr val="1D1DFF"/>
                </a:solidFill>
                <a:latin typeface="Cascadia Mono" panose="020B0609020000020004" pitchFamily="49" charset="0"/>
              </a:rPr>
              <a:t>private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1D1DFF"/>
                </a:solidFill>
                <a:latin typeface="Cascadia Mono" panose="020B0609020000020004" pitchFamily="49" charset="0"/>
              </a:rPr>
              <a:t>readonly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IUnitOfWork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_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unitOfWork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200" dirty="0">
                <a:solidFill>
                  <a:srgbClr val="1D1DFF"/>
                </a:solidFill>
                <a:latin typeface="Cascadia Mono" panose="020B06090200000200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BankingService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IUnitOfWork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unitOfWork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_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unitOfWork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unitOfWork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1D1D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1D1DFF"/>
                </a:solidFill>
                <a:latin typeface="Cascadia Mono" panose="020B06090200000200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Transfer(</a:t>
            </a:r>
            <a:r>
              <a:rPr lang="en-US" sz="1200" dirty="0">
                <a:solidFill>
                  <a:srgbClr val="1D1D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fromIban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200" dirty="0">
                <a:solidFill>
                  <a:srgbClr val="1D1D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toIban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200" dirty="0">
                <a:solidFill>
                  <a:srgbClr val="1D1DFF"/>
                </a:solidFill>
                <a:latin typeface="Cascadia Mono" panose="020B0609020000020004" pitchFamily="49" charset="0"/>
              </a:rPr>
              <a:t>decimal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amount) 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l-BE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nl-BE" sz="12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Validation</a:t>
            </a:r>
            <a:r>
              <a:rPr lang="nl-BE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 (Business Logic)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l-BE" sz="1200" dirty="0" err="1">
                <a:solidFill>
                  <a:srgbClr val="1D1DFF"/>
                </a:solidFill>
                <a:latin typeface="Cascadia Mono" panose="020B0609020000020004" pitchFamily="49" charset="0"/>
              </a:rPr>
              <a:t>if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amount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&lt;= 0) {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nl-BE" sz="1200" dirty="0" err="1">
                <a:solidFill>
                  <a:srgbClr val="1D1DFF"/>
                </a:solidFill>
                <a:latin typeface="Cascadia Mono" panose="020B0609020000020004" pitchFamily="49" charset="0"/>
              </a:rPr>
              <a:t>throw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>
                <a:solidFill>
                  <a:srgbClr val="1D1DFF"/>
                </a:solidFill>
                <a:latin typeface="Cascadia Mono" panose="020B0609020000020004" pitchFamily="49" charset="0"/>
              </a:rPr>
              <a:t>new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InvalidAmountException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amount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Account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fromAccount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_</a:t>
            </a:r>
            <a:r>
              <a:rPr lang="en-US" sz="12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unitOfWork.Accounts.GetByIban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fromIban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Account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toAccount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_</a:t>
            </a:r>
            <a:r>
              <a:rPr lang="en-US" sz="12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unitOfWork.Accounts.GetByIban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toIban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fromAccount.Balance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-=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amount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toAccount.Balance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+=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amount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       _</a:t>
            </a:r>
            <a:r>
              <a:rPr lang="nl-BE" sz="12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unitOfWork.Accounts.Update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fromAccount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l-BE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_</a:t>
            </a:r>
            <a:r>
              <a:rPr lang="nl-BE" sz="12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unitOfWork.Accounts.Update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toAccount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l-BE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_</a:t>
            </a:r>
            <a:r>
              <a:rPr lang="nl-BE" sz="12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unitOfWork.Save</a:t>
            </a:r>
            <a:r>
              <a:rPr lang="nl-BE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nl-BE" sz="900" dirty="0"/>
          </a:p>
        </p:txBody>
      </p:sp>
    </p:spTree>
    <p:extLst>
      <p:ext uri="{BB962C8B-B14F-4D97-AF65-F5344CB8AC3E}">
        <p14:creationId xmlns:p14="http://schemas.microsoft.com/office/powerpoint/2010/main" val="33359823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95851-721A-976C-C22E-F776FEF65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Entity</a:t>
            </a:r>
            <a:r>
              <a:rPr lang="nl-BE" dirty="0"/>
              <a:t> &amp; </a:t>
            </a:r>
            <a:r>
              <a:rPr lang="nl-BE" dirty="0" err="1"/>
              <a:t>ViewModel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6AC90-9A99-A9D8-7F5A-1F392BACE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8DA309-01CF-EB5E-4C2B-51F8A4CDA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24FB1-1680-497A-F319-675E1A312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44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AE15122-6313-2371-78C7-D90594097E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500017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Entity</a:t>
            </a:r>
            <a:r>
              <a:rPr lang="nl-BE" dirty="0"/>
              <a:t> </a:t>
            </a:r>
            <a:r>
              <a:rPr lang="nl-BE" dirty="0" err="1"/>
              <a:t>vs</a:t>
            </a:r>
            <a:r>
              <a:rPr lang="nl-BE" dirty="0"/>
              <a:t> </a:t>
            </a:r>
            <a:r>
              <a:rPr lang="nl-BE" dirty="0" err="1"/>
              <a:t>ViewModel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1" y="1478896"/>
            <a:ext cx="9727722" cy="458124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b="1" dirty="0" err="1">
                <a:solidFill>
                  <a:schemeClr val="accent6"/>
                </a:solidFill>
              </a:rPr>
              <a:t>Entities</a:t>
            </a:r>
            <a:r>
              <a:rPr lang="nl-BE" sz="2400" dirty="0"/>
              <a:t> representeren het </a:t>
            </a:r>
            <a:r>
              <a:rPr lang="nl-BE" sz="2400" b="1" dirty="0">
                <a:solidFill>
                  <a:schemeClr val="accent6"/>
                </a:solidFill>
              </a:rPr>
              <a:t>datamodel</a:t>
            </a:r>
            <a:r>
              <a:rPr lang="nl-BE" sz="2400" dirty="0"/>
              <a:t> van de applicatie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Objecten die moeten gepersisteerd worden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Worden typisch gebruikt in combinatie met een ORM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Bevatten een </a:t>
            </a:r>
            <a:r>
              <a:rPr lang="nl-BE" sz="2000" dirty="0" err="1"/>
              <a:t>id</a:t>
            </a:r>
            <a:r>
              <a:rPr lang="nl-BE" sz="2000" dirty="0"/>
              <a:t>-property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Een </a:t>
            </a:r>
            <a:r>
              <a:rPr lang="nl-BE" sz="2400" b="1" dirty="0" err="1">
                <a:solidFill>
                  <a:schemeClr val="accent6"/>
                </a:solidFill>
              </a:rPr>
              <a:t>ViewModel</a:t>
            </a:r>
            <a:r>
              <a:rPr lang="nl-BE" sz="2400" dirty="0"/>
              <a:t> representeert de data zoals deze in een </a:t>
            </a:r>
            <a:r>
              <a:rPr lang="nl-BE" sz="2400" b="1" dirty="0">
                <a:solidFill>
                  <a:schemeClr val="accent6"/>
                </a:solidFill>
              </a:rPr>
              <a:t>View</a:t>
            </a:r>
            <a:r>
              <a:rPr lang="nl-BE" sz="2400" dirty="0"/>
              <a:t> moet worden weergegeven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Bevatten enkel </a:t>
            </a:r>
            <a:r>
              <a:rPr lang="nl-BE" sz="2000" dirty="0" err="1"/>
              <a:t>properties</a:t>
            </a:r>
            <a:r>
              <a:rPr lang="nl-BE" sz="2000" dirty="0"/>
              <a:t> voor wat in View weergegeven wordt</a:t>
            </a:r>
          </a:p>
          <a:p>
            <a:pPr marL="1177200" lvl="2" indent="-457200">
              <a:buFont typeface="Arial" panose="020B0604020202020204" pitchFamily="34" charset="0"/>
              <a:buChar char="•"/>
            </a:pPr>
            <a:r>
              <a:rPr lang="nl-BE" sz="2000" dirty="0"/>
              <a:t>Oplossing voor mogelijke </a:t>
            </a:r>
            <a:r>
              <a:rPr lang="nl-BE" sz="2000" dirty="0" err="1"/>
              <a:t>NullReferenceExceptions</a:t>
            </a:r>
            <a:r>
              <a:rPr lang="nl-BE" sz="2000" dirty="0"/>
              <a:t> bij </a:t>
            </a:r>
            <a:r>
              <a:rPr lang="nl-BE" sz="2000" dirty="0" err="1"/>
              <a:t>lazy</a:t>
            </a:r>
            <a:r>
              <a:rPr lang="nl-BE" sz="2000" dirty="0"/>
              <a:t> </a:t>
            </a:r>
            <a:r>
              <a:rPr lang="nl-BE" sz="2000" dirty="0" err="1"/>
              <a:t>loading</a:t>
            </a:r>
            <a:endParaRPr lang="nl-BE" sz="20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Kunnen validatie-attributen bevatten (bv. voor </a:t>
            </a:r>
            <a:r>
              <a:rPr lang="nl-BE" sz="2000" dirty="0" err="1"/>
              <a:t>Create</a:t>
            </a:r>
            <a:r>
              <a:rPr lang="nl-BE" sz="2000" dirty="0"/>
              <a:t> en Update)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Kunnen bv. ook berekende velden bevatten (worden typisch niet gepersisteerd)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Bevatten vaak grotendeels dezelfde </a:t>
            </a:r>
            <a:r>
              <a:rPr lang="nl-BE" sz="2000" dirty="0" err="1"/>
              <a:t>properties</a:t>
            </a:r>
            <a:r>
              <a:rPr lang="nl-BE" sz="2000" dirty="0"/>
              <a:t> als </a:t>
            </a:r>
            <a:r>
              <a:rPr lang="nl-BE" sz="2000" dirty="0" err="1"/>
              <a:t>entities</a:t>
            </a:r>
            <a:endParaRPr lang="nl-BE" sz="20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249400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Voorbeeld </a:t>
            </a:r>
            <a:r>
              <a:rPr lang="nl-BE" dirty="0" err="1"/>
              <a:t>Entity</a:t>
            </a:r>
            <a:r>
              <a:rPr lang="nl-BE" dirty="0"/>
              <a:t> </a:t>
            </a:r>
            <a:r>
              <a:rPr lang="nl-BE" dirty="0" err="1"/>
              <a:t>vs</a:t>
            </a:r>
            <a:r>
              <a:rPr lang="nl-BE" dirty="0"/>
              <a:t> </a:t>
            </a:r>
            <a:r>
              <a:rPr lang="nl-BE" dirty="0" err="1"/>
              <a:t>ViewModel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596" y="1886944"/>
            <a:ext cx="6819956" cy="4117919"/>
          </a:xfrm>
        </p:spPr>
        <p:txBody>
          <a:bodyPr/>
          <a:lstStyle/>
          <a:p>
            <a:pPr marL="701063" lvl="1" indent="-342900">
              <a:buFont typeface="Arial" panose="020B0604020202020204" pitchFamily="34" charset="0"/>
              <a:buChar char="•"/>
            </a:pPr>
            <a:r>
              <a:rPr lang="nl-BE" sz="2400" dirty="0" err="1"/>
              <a:t>Entities</a:t>
            </a:r>
            <a:r>
              <a:rPr lang="nl-BE" sz="2400" dirty="0"/>
              <a:t> representeren data-model:</a:t>
            </a:r>
            <a:r>
              <a:rPr lang="nl-BE" sz="2000" dirty="0"/>
              <a:t>	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923309-E564-3BFD-52B1-5C64B4AE442B}"/>
              </a:ext>
            </a:extLst>
          </p:cNvPr>
          <p:cNvSpPr txBox="1"/>
          <p:nvPr/>
        </p:nvSpPr>
        <p:spPr>
          <a:xfrm>
            <a:off x="991875" y="2564724"/>
            <a:ext cx="8692329" cy="31085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Order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Id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endParaRPr lang="nl-B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DateTime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OrderDate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BuyerId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ICollection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OrderItem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&gt; Items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 =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List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OrderItem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  <a:endParaRPr lang="nl-B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</a:p>
          <a:p>
            <a:endParaRPr lang="nl-B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OrderItem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Id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endParaRPr lang="nl-B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ProductId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Product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Product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Quantity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UnitPrice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  <a:endParaRPr lang="nl-BE" sz="1100" dirty="0"/>
          </a:p>
        </p:txBody>
      </p:sp>
    </p:spTree>
    <p:extLst>
      <p:ext uri="{BB962C8B-B14F-4D97-AF65-F5344CB8AC3E}">
        <p14:creationId xmlns:p14="http://schemas.microsoft.com/office/powerpoint/2010/main" val="4600486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Voorbeeld </a:t>
            </a:r>
            <a:r>
              <a:rPr lang="nl-BE" dirty="0" err="1"/>
              <a:t>Entity</a:t>
            </a:r>
            <a:r>
              <a:rPr lang="nl-BE" dirty="0"/>
              <a:t> </a:t>
            </a:r>
            <a:r>
              <a:rPr lang="nl-BE" dirty="0" err="1"/>
              <a:t>vs</a:t>
            </a:r>
            <a:r>
              <a:rPr lang="nl-BE" dirty="0"/>
              <a:t> </a:t>
            </a:r>
            <a:r>
              <a:rPr lang="nl-BE" dirty="0" err="1"/>
              <a:t>ViewModel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8588" y="1975064"/>
            <a:ext cx="4880850" cy="246221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ViewModel</a:t>
            </a:r>
            <a:r>
              <a:rPr lang="nl-BE" sz="2400" dirty="0"/>
              <a:t>(s)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Bevatten </a:t>
            </a:r>
            <a:r>
              <a:rPr lang="nl-BE" sz="2000" dirty="0" err="1"/>
              <a:t>properties</a:t>
            </a:r>
            <a:r>
              <a:rPr lang="nl-BE" sz="2000" dirty="0"/>
              <a:t> voor wat zichtbaar/nodig is in view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View toont enkel data uit </a:t>
            </a:r>
            <a:r>
              <a:rPr lang="nl-BE" sz="2000" dirty="0" err="1"/>
              <a:t>ViewModel</a:t>
            </a:r>
            <a:r>
              <a:rPr lang="nl-BE" sz="2000" dirty="0"/>
              <a:t>, niet rechtstreeks de </a:t>
            </a:r>
            <a:r>
              <a:rPr lang="nl-BE" sz="2000" dirty="0" err="1"/>
              <a:t>entities</a:t>
            </a:r>
            <a:r>
              <a:rPr lang="nl-BE" sz="2000" dirty="0"/>
              <a:t>!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Ook voor formulieren, voorzie </a:t>
            </a:r>
            <a:r>
              <a:rPr lang="nl-BE" sz="2000" dirty="0" err="1"/>
              <a:t>properties</a:t>
            </a:r>
            <a:r>
              <a:rPr lang="nl-BE" sz="2000" dirty="0"/>
              <a:t> dan van validatie-attributen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923309-E564-3BFD-52B1-5C64B4AE442B}"/>
              </a:ext>
            </a:extLst>
          </p:cNvPr>
          <p:cNvSpPr txBox="1"/>
          <p:nvPr/>
        </p:nvSpPr>
        <p:spPr>
          <a:xfrm>
            <a:off x="512562" y="1953371"/>
            <a:ext cx="6103509" cy="24622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OrderDetailViewModel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List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OrderItemViewModel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&gt; Items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DateTime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OrderDate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</a:p>
          <a:p>
            <a:endParaRPr lang="nl-B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OrderItemViewModel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ProductId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ProductName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decimal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UnitPrice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Quantity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  <a:endParaRPr lang="nl-BE" sz="800" dirty="0"/>
          </a:p>
        </p:txBody>
      </p:sp>
    </p:spTree>
    <p:extLst>
      <p:ext uri="{BB962C8B-B14F-4D97-AF65-F5344CB8AC3E}">
        <p14:creationId xmlns:p14="http://schemas.microsoft.com/office/powerpoint/2010/main" val="22188009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055C-B5F6-9891-E59D-016C462A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Clean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5444EF-D509-CBE9-DA4E-0776323B2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CFEB71-A051-AF0C-FA27-881E9BF52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738E9B-1196-BA93-C7AD-7B802D294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48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38D7F8-D175-8170-9A1E-5295B162BE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729525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is Clean Architecture?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1" y="1478896"/>
            <a:ext cx="9727722" cy="458124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Clean Architecture is een guideline voor de architectuur van een </a:t>
            </a:r>
            <a:r>
              <a:rPr lang="nl-BE" sz="2400" dirty="0" err="1"/>
              <a:t>software-toepassing</a:t>
            </a:r>
            <a:r>
              <a:rPr lang="nl-BE" sz="2400" dirty="0"/>
              <a:t>, ontworpen door Robert C. Martin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Focus op schaalbaarheid, </a:t>
            </a:r>
            <a:r>
              <a:rPr lang="nl-BE" sz="2400" dirty="0" err="1"/>
              <a:t>onderhoudbaarheid</a:t>
            </a:r>
            <a:r>
              <a:rPr lang="nl-BE" sz="2400" dirty="0"/>
              <a:t> en testbaarheid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Dit wordt bekomen door het project op te delen in kleine, onafhankelijke modules (projecten):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b="1" dirty="0"/>
              <a:t>Domain:</a:t>
            </a:r>
            <a:r>
              <a:rPr lang="nl-BE" sz="2000" dirty="0"/>
              <a:t> bevat business-</a:t>
            </a:r>
            <a:r>
              <a:rPr lang="nl-BE" sz="2000" dirty="0" err="1"/>
              <a:t>entities</a:t>
            </a:r>
            <a:r>
              <a:rPr lang="nl-BE" sz="2000" dirty="0"/>
              <a:t>, is niet afhankelijk van andere modules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b="1" dirty="0"/>
              <a:t>Application:</a:t>
            </a:r>
            <a:r>
              <a:rPr lang="nl-BE" sz="2000" dirty="0"/>
              <a:t> bevat de business-logica van de applicatie en interfaces waarvan deze module gebruik maakt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b="1" dirty="0" err="1"/>
              <a:t>Infrastructure</a:t>
            </a:r>
            <a:r>
              <a:rPr lang="nl-BE" sz="2000" b="1" dirty="0"/>
              <a:t>:</a:t>
            </a:r>
            <a:r>
              <a:rPr lang="nl-BE" sz="2000" dirty="0"/>
              <a:t> implementeert interactie met externe services (bv.: database, filesysteem, email, …)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b="1" dirty="0"/>
              <a:t>Presentation:</a:t>
            </a:r>
            <a:r>
              <a:rPr lang="nl-BE" sz="2000" dirty="0"/>
              <a:t> </a:t>
            </a:r>
            <a:r>
              <a:rPr lang="nl-BE" sz="2000" dirty="0" err="1"/>
              <a:t>WebUI</a:t>
            </a:r>
            <a:r>
              <a:rPr lang="nl-BE" sz="2000" dirty="0"/>
              <a:t>, REST API, CLI, …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49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089723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Wat is Clean Architecture?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9" name="Picture 8" descr="A diagram of a web application&#10;&#10;Description automatically generated">
            <a:extLst>
              <a:ext uri="{FF2B5EF4-FFF2-40B4-BE49-F238E27FC236}">
                <a16:creationId xmlns:a16="http://schemas.microsoft.com/office/drawing/2014/main" id="{3E115EC4-F3B0-007E-A152-7054E4A578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5164" y="1393491"/>
            <a:ext cx="4761672" cy="4773229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E964BE4-5587-DB68-80C2-28A224845E89}"/>
              </a:ext>
            </a:extLst>
          </p:cNvPr>
          <p:cNvCxnSpPr/>
          <p:nvPr/>
        </p:nvCxnSpPr>
        <p:spPr>
          <a:xfrm>
            <a:off x="6096000" y="2100105"/>
            <a:ext cx="0" cy="49237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6365438-296A-68AA-B2FD-4E29AA89768E}"/>
              </a:ext>
            </a:extLst>
          </p:cNvPr>
          <p:cNvCxnSpPr/>
          <p:nvPr/>
        </p:nvCxnSpPr>
        <p:spPr>
          <a:xfrm>
            <a:off x="6096000" y="2936630"/>
            <a:ext cx="0" cy="49237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D12F66E-A726-2E63-F168-B98EBC050D83}"/>
              </a:ext>
            </a:extLst>
          </p:cNvPr>
          <p:cNvSpPr/>
          <p:nvPr/>
        </p:nvSpPr>
        <p:spPr>
          <a:xfrm>
            <a:off x="2934119" y="2575198"/>
            <a:ext cx="1075173" cy="1766059"/>
          </a:xfrm>
          <a:custGeom>
            <a:avLst/>
            <a:gdLst>
              <a:gd name="connsiteX0" fmla="*/ 1075173 w 1075173"/>
              <a:gd name="connsiteY0" fmla="*/ 27325 h 1766059"/>
              <a:gd name="connsiteX1" fmla="*/ 542611 w 1075173"/>
              <a:gd name="connsiteY1" fmla="*/ 17277 h 1766059"/>
              <a:gd name="connsiteX2" fmla="*/ 251208 w 1075173"/>
              <a:gd name="connsiteY2" fmla="*/ 157954 h 1766059"/>
              <a:gd name="connsiteX3" fmla="*/ 160773 w 1075173"/>
              <a:gd name="connsiteY3" fmla="*/ 218244 h 1766059"/>
              <a:gd name="connsiteX4" fmla="*/ 70338 w 1075173"/>
              <a:gd name="connsiteY4" fmla="*/ 368969 h 1766059"/>
              <a:gd name="connsiteX5" fmla="*/ 20096 w 1075173"/>
              <a:gd name="connsiteY5" fmla="*/ 479501 h 1766059"/>
              <a:gd name="connsiteX6" fmla="*/ 0 w 1075173"/>
              <a:gd name="connsiteY6" fmla="*/ 630226 h 1766059"/>
              <a:gd name="connsiteX7" fmla="*/ 30145 w 1075173"/>
              <a:gd name="connsiteY7" fmla="*/ 881435 h 1766059"/>
              <a:gd name="connsiteX8" fmla="*/ 40193 w 1075173"/>
              <a:gd name="connsiteY8" fmla="*/ 921628 h 1766059"/>
              <a:gd name="connsiteX9" fmla="*/ 70338 w 1075173"/>
              <a:gd name="connsiteY9" fmla="*/ 1072354 h 1766059"/>
              <a:gd name="connsiteX10" fmla="*/ 120580 w 1075173"/>
              <a:gd name="connsiteY10" fmla="*/ 1162789 h 1766059"/>
              <a:gd name="connsiteX11" fmla="*/ 150725 w 1075173"/>
              <a:gd name="connsiteY11" fmla="*/ 1233127 h 1766059"/>
              <a:gd name="connsiteX12" fmla="*/ 190918 w 1075173"/>
              <a:gd name="connsiteY12" fmla="*/ 1283369 h 1766059"/>
              <a:gd name="connsiteX13" fmla="*/ 221063 w 1075173"/>
              <a:gd name="connsiteY13" fmla="*/ 1343659 h 1766059"/>
              <a:gd name="connsiteX14" fmla="*/ 351692 w 1075173"/>
              <a:gd name="connsiteY14" fmla="*/ 1444143 h 1766059"/>
              <a:gd name="connsiteX15" fmla="*/ 442127 w 1075173"/>
              <a:gd name="connsiteY15" fmla="*/ 1564723 h 1766059"/>
              <a:gd name="connsiteX16" fmla="*/ 492369 w 1075173"/>
              <a:gd name="connsiteY16" fmla="*/ 1594868 h 1766059"/>
              <a:gd name="connsiteX17" fmla="*/ 572756 w 1075173"/>
              <a:gd name="connsiteY17" fmla="*/ 1715448 h 1766059"/>
              <a:gd name="connsiteX18" fmla="*/ 713433 w 1075173"/>
              <a:gd name="connsiteY18" fmla="*/ 1755642 h 1766059"/>
              <a:gd name="connsiteX19" fmla="*/ 974690 w 1075173"/>
              <a:gd name="connsiteY19" fmla="*/ 1765690 h 1766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75173" h="1766059">
                <a:moveTo>
                  <a:pt x="1075173" y="27325"/>
                </a:moveTo>
                <a:cubicBezTo>
                  <a:pt x="878577" y="5481"/>
                  <a:pt x="759990" y="-16166"/>
                  <a:pt x="542611" y="17277"/>
                </a:cubicBezTo>
                <a:cubicBezTo>
                  <a:pt x="464978" y="29221"/>
                  <a:pt x="322047" y="114101"/>
                  <a:pt x="251208" y="157954"/>
                </a:cubicBezTo>
                <a:cubicBezTo>
                  <a:pt x="220403" y="177024"/>
                  <a:pt x="160773" y="218244"/>
                  <a:pt x="160773" y="218244"/>
                </a:cubicBezTo>
                <a:cubicBezTo>
                  <a:pt x="130628" y="268486"/>
                  <a:pt x="88866" y="313384"/>
                  <a:pt x="70338" y="368969"/>
                </a:cubicBezTo>
                <a:cubicBezTo>
                  <a:pt x="50817" y="427535"/>
                  <a:pt x="65027" y="389640"/>
                  <a:pt x="20096" y="479501"/>
                </a:cubicBezTo>
                <a:cubicBezTo>
                  <a:pt x="17618" y="496847"/>
                  <a:pt x="0" y="617239"/>
                  <a:pt x="0" y="630226"/>
                </a:cubicBezTo>
                <a:cubicBezTo>
                  <a:pt x="0" y="726785"/>
                  <a:pt x="11767" y="789546"/>
                  <a:pt x="30145" y="881435"/>
                </a:cubicBezTo>
                <a:cubicBezTo>
                  <a:pt x="32853" y="894977"/>
                  <a:pt x="36844" y="908230"/>
                  <a:pt x="40193" y="921628"/>
                </a:cubicBezTo>
                <a:cubicBezTo>
                  <a:pt x="46791" y="974411"/>
                  <a:pt x="48669" y="1022825"/>
                  <a:pt x="70338" y="1072354"/>
                </a:cubicBezTo>
                <a:cubicBezTo>
                  <a:pt x="84160" y="1103947"/>
                  <a:pt x="105158" y="1131945"/>
                  <a:pt x="120580" y="1162789"/>
                </a:cubicBezTo>
                <a:cubicBezTo>
                  <a:pt x="131988" y="1185604"/>
                  <a:pt x="137872" y="1211093"/>
                  <a:pt x="150725" y="1233127"/>
                </a:cubicBezTo>
                <a:cubicBezTo>
                  <a:pt x="161531" y="1251652"/>
                  <a:pt x="179404" y="1265275"/>
                  <a:pt x="190918" y="1283369"/>
                </a:cubicBezTo>
                <a:cubicBezTo>
                  <a:pt x="202981" y="1302325"/>
                  <a:pt x="207364" y="1325850"/>
                  <a:pt x="221063" y="1343659"/>
                </a:cubicBezTo>
                <a:cubicBezTo>
                  <a:pt x="274955" y="1413718"/>
                  <a:pt x="283655" y="1410125"/>
                  <a:pt x="351692" y="1444143"/>
                </a:cubicBezTo>
                <a:cubicBezTo>
                  <a:pt x="359161" y="1454599"/>
                  <a:pt x="425052" y="1549545"/>
                  <a:pt x="442127" y="1564723"/>
                </a:cubicBezTo>
                <a:cubicBezTo>
                  <a:pt x="456724" y="1577698"/>
                  <a:pt x="475622" y="1584820"/>
                  <a:pt x="492369" y="1594868"/>
                </a:cubicBezTo>
                <a:cubicBezTo>
                  <a:pt x="508307" y="1622759"/>
                  <a:pt x="543408" y="1692622"/>
                  <a:pt x="572756" y="1715448"/>
                </a:cubicBezTo>
                <a:cubicBezTo>
                  <a:pt x="596745" y="1734106"/>
                  <a:pt x="699423" y="1753732"/>
                  <a:pt x="713433" y="1755642"/>
                </a:cubicBezTo>
                <a:cubicBezTo>
                  <a:pt x="811608" y="1769029"/>
                  <a:pt x="876034" y="1765690"/>
                  <a:pt x="974690" y="1765690"/>
                </a:cubicBezTo>
              </a:path>
            </a:pathLst>
          </a:custGeom>
          <a:noFill/>
        </p:spPr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5537D26-A5F3-79BC-BEB2-1F9C792623F5}"/>
              </a:ext>
            </a:extLst>
          </p:cNvPr>
          <p:cNvCxnSpPr/>
          <p:nvPr/>
        </p:nvCxnSpPr>
        <p:spPr>
          <a:xfrm>
            <a:off x="8016910" y="3561303"/>
            <a:ext cx="0" cy="49237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D75B13A-4512-DABE-7327-EE7F0E453166}"/>
              </a:ext>
            </a:extLst>
          </p:cNvPr>
          <p:cNvCxnSpPr/>
          <p:nvPr/>
        </p:nvCxnSpPr>
        <p:spPr>
          <a:xfrm>
            <a:off x="4124928" y="3561303"/>
            <a:ext cx="0" cy="49237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6E6CA81-27B4-921B-1F4F-27DFDD772B2F}"/>
              </a:ext>
            </a:extLst>
          </p:cNvPr>
          <p:cNvCxnSpPr/>
          <p:nvPr/>
        </p:nvCxnSpPr>
        <p:spPr>
          <a:xfrm>
            <a:off x="861246" y="1975338"/>
            <a:ext cx="0" cy="49237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85AF0D1-3F1D-08BE-BC02-D9078571C253}"/>
              </a:ext>
            </a:extLst>
          </p:cNvPr>
          <p:cNvSpPr txBox="1"/>
          <p:nvPr/>
        </p:nvSpPr>
        <p:spPr>
          <a:xfrm>
            <a:off x="1096322" y="1997796"/>
            <a:ext cx="2539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dirty="0"/>
              <a:t>= heeft </a:t>
            </a:r>
            <a:r>
              <a:rPr lang="nl-BE" b="1" dirty="0" err="1"/>
              <a:t>dependency</a:t>
            </a:r>
            <a:r>
              <a:rPr lang="nl-BE" b="1" dirty="0"/>
              <a:t> op</a:t>
            </a:r>
          </a:p>
        </p:txBody>
      </p:sp>
    </p:spTree>
    <p:extLst>
      <p:ext uri="{BB962C8B-B14F-4D97-AF65-F5344CB8AC3E}">
        <p14:creationId xmlns:p14="http://schemas.microsoft.com/office/powerpoint/2010/main" val="995463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Clean Architecture: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8817" y="1891859"/>
            <a:ext cx="5928529" cy="458124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Domain (Class Library):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Bevat uitsluitend </a:t>
            </a:r>
            <a:r>
              <a:rPr lang="nl-BE" sz="2400" dirty="0" err="1"/>
              <a:t>entities</a:t>
            </a:r>
            <a:endParaRPr lang="nl-BE" sz="24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Geen </a:t>
            </a:r>
            <a:r>
              <a:rPr lang="nl-BE" sz="2400" dirty="0" err="1"/>
              <a:t>reference</a:t>
            </a:r>
            <a:r>
              <a:rPr lang="nl-BE" sz="2400" dirty="0"/>
              <a:t> naar andere projecten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16F670-C8AB-0475-D739-698B00ACA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91" y="1891859"/>
            <a:ext cx="5132979" cy="274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6538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Clean Architecture: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9180" y="2025906"/>
            <a:ext cx="5928529" cy="35083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Application (Class Library):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Application </a:t>
            </a:r>
            <a:r>
              <a:rPr lang="nl-BE" sz="2400" dirty="0" err="1"/>
              <a:t>Exceptions</a:t>
            </a:r>
            <a:endParaRPr lang="nl-BE" sz="24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Repository</a:t>
            </a:r>
            <a:r>
              <a:rPr lang="nl-BE" sz="2400" dirty="0"/>
              <a:t>-</a:t>
            </a:r>
            <a:r>
              <a:rPr lang="nl-BE" sz="2400" b="1" dirty="0">
                <a:solidFill>
                  <a:schemeClr val="accent6"/>
                </a:solidFill>
              </a:rPr>
              <a:t>interfaces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IUnitOfWork</a:t>
            </a:r>
            <a:r>
              <a:rPr lang="nl-BE" sz="2400" dirty="0"/>
              <a:t>-</a:t>
            </a:r>
            <a:r>
              <a:rPr lang="nl-BE" sz="2400" b="1" dirty="0">
                <a:solidFill>
                  <a:schemeClr val="accent6"/>
                </a:solidFill>
              </a:rPr>
              <a:t>interface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Services:</a:t>
            </a:r>
          </a:p>
          <a:p>
            <a:pPr marL="1177200" lvl="2" indent="-457200">
              <a:buFont typeface="Arial" panose="020B0604020202020204" pitchFamily="34" charset="0"/>
              <a:buChar char="•"/>
            </a:pPr>
            <a:r>
              <a:rPr lang="nl-BE" sz="2400" dirty="0"/>
              <a:t>Interfaces + implementaties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Dependency</a:t>
            </a:r>
            <a:r>
              <a:rPr lang="nl-BE" sz="2400" dirty="0"/>
              <a:t> op </a:t>
            </a:r>
            <a:r>
              <a:rPr lang="nl-BE" sz="2400" b="1" dirty="0"/>
              <a:t>Domain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A7D3AA-77C3-1ED3-4E0E-A2DA25E95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291" y="1415204"/>
            <a:ext cx="4868399" cy="450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2939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Clean Architecture: </a:t>
            </a:r>
            <a:r>
              <a:rPr lang="nl-BE" dirty="0" err="1"/>
              <a:t>Infrastructure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0437" y="1895277"/>
            <a:ext cx="5928529" cy="35083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Infrastructure</a:t>
            </a:r>
            <a:r>
              <a:rPr lang="nl-BE" sz="2400" dirty="0"/>
              <a:t> (Class Library):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Frameworks</a:t>
            </a:r>
            <a:r>
              <a:rPr lang="nl-BE" sz="2400" dirty="0"/>
              <a:t> &amp; </a:t>
            </a:r>
            <a:r>
              <a:rPr lang="nl-BE" sz="2400" dirty="0" err="1"/>
              <a:t>libraries</a:t>
            </a:r>
            <a:endParaRPr lang="nl-BE" sz="24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Entity</a:t>
            </a:r>
            <a:r>
              <a:rPr lang="nl-BE" sz="2400" dirty="0"/>
              <a:t> Framework </a:t>
            </a:r>
            <a:r>
              <a:rPr lang="nl-BE" sz="2400" dirty="0" err="1"/>
              <a:t>Core</a:t>
            </a:r>
            <a:r>
              <a:rPr lang="nl-BE" sz="2400" dirty="0"/>
              <a:t> (</a:t>
            </a:r>
            <a:r>
              <a:rPr lang="nl-BE" sz="2400" dirty="0" err="1"/>
              <a:t>DbContext</a:t>
            </a:r>
            <a:r>
              <a:rPr lang="nl-BE" sz="2400" dirty="0"/>
              <a:t>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Implementatie van </a:t>
            </a:r>
            <a:r>
              <a:rPr lang="nl-BE" sz="2400" dirty="0" err="1"/>
              <a:t>Repositories</a:t>
            </a:r>
            <a:endParaRPr lang="nl-BE" sz="24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Implementatie van </a:t>
            </a:r>
            <a:r>
              <a:rPr lang="nl-BE" sz="2400" dirty="0" err="1"/>
              <a:t>UnitOfWork</a:t>
            </a:r>
            <a:endParaRPr lang="nl-BE" sz="24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Dependency</a:t>
            </a:r>
            <a:r>
              <a:rPr lang="nl-BE" sz="2400" dirty="0"/>
              <a:t> op </a:t>
            </a:r>
            <a:r>
              <a:rPr lang="nl-BE" sz="2400" b="1" dirty="0"/>
              <a:t>Application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A25F62-726A-862E-C181-A3F6D7537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54" y="1502188"/>
            <a:ext cx="5185546" cy="4095349"/>
          </a:xfrm>
          <a:prstGeom prst="rect">
            <a:avLst/>
          </a:prstGeom>
        </p:spPr>
      </p:pic>
      <p:pic>
        <p:nvPicPr>
          <p:cNvPr id="12" name="Graphic 11" descr="Warning with solid fill">
            <a:extLst>
              <a:ext uri="{FF2B5EF4-FFF2-40B4-BE49-F238E27FC236}">
                <a16:creationId xmlns:a16="http://schemas.microsoft.com/office/drawing/2014/main" id="{C84A48CA-ED70-01E8-9279-E8788FFF10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9785" y="4883499"/>
            <a:ext cx="655710" cy="6557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1836CDD-38B4-0E32-6A68-D839CADC8304}"/>
              </a:ext>
            </a:extLst>
          </p:cNvPr>
          <p:cNvSpPr txBox="1"/>
          <p:nvPr/>
        </p:nvSpPr>
        <p:spPr>
          <a:xfrm>
            <a:off x="6922404" y="4825886"/>
            <a:ext cx="3989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dirty="0" err="1">
                <a:solidFill>
                  <a:schemeClr val="accent6"/>
                </a:solidFill>
              </a:rPr>
              <a:t>NuGet</a:t>
            </a:r>
            <a:r>
              <a:rPr lang="nl-BE" b="1" dirty="0">
                <a:solidFill>
                  <a:schemeClr val="accent6"/>
                </a:solidFill>
              </a:rPr>
              <a:t>-package </a:t>
            </a:r>
            <a:r>
              <a:rPr lang="nl-BE" b="1" i="1" dirty="0">
                <a:solidFill>
                  <a:schemeClr val="accent6"/>
                </a:solidFill>
              </a:rPr>
              <a:t>EF </a:t>
            </a:r>
            <a:r>
              <a:rPr lang="nl-BE" b="1" i="1" dirty="0" err="1">
                <a:solidFill>
                  <a:schemeClr val="accent6"/>
                </a:solidFill>
              </a:rPr>
              <a:t>Core</a:t>
            </a:r>
            <a:r>
              <a:rPr lang="nl-BE" b="1" i="1" dirty="0">
                <a:solidFill>
                  <a:schemeClr val="accent6"/>
                </a:solidFill>
              </a:rPr>
              <a:t> SQL Server </a:t>
            </a:r>
            <a:r>
              <a:rPr lang="nl-BE" b="1" dirty="0">
                <a:solidFill>
                  <a:schemeClr val="accent6"/>
                </a:solidFill>
              </a:rPr>
              <a:t>installeren in dit project!</a:t>
            </a:r>
          </a:p>
        </p:txBody>
      </p:sp>
    </p:spTree>
    <p:extLst>
      <p:ext uri="{BB962C8B-B14F-4D97-AF65-F5344CB8AC3E}">
        <p14:creationId xmlns:p14="http://schemas.microsoft.com/office/powerpoint/2010/main" val="14407969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Clean Architecture: </a:t>
            </a:r>
            <a:r>
              <a:rPr lang="nl-BE" dirty="0" err="1"/>
              <a:t>WebUI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4723" y="2006678"/>
            <a:ext cx="6201563" cy="35083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WebUI</a:t>
            </a:r>
            <a:r>
              <a:rPr lang="nl-BE" sz="2400" dirty="0"/>
              <a:t> (MVC-project):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Controllers, Views, …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ViewModels</a:t>
            </a:r>
            <a:r>
              <a:rPr lang="nl-BE" sz="2400" dirty="0"/>
              <a:t> (tip: opdelen in folders)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Configuratie Connectionstring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Dependency</a:t>
            </a:r>
            <a:r>
              <a:rPr lang="nl-BE" sz="2400" dirty="0"/>
              <a:t> </a:t>
            </a:r>
            <a:r>
              <a:rPr lang="nl-BE" sz="2400" dirty="0" err="1"/>
              <a:t>Injection</a:t>
            </a:r>
            <a:r>
              <a:rPr lang="nl-BE" sz="2400" dirty="0"/>
              <a:t> in </a:t>
            </a:r>
            <a:r>
              <a:rPr lang="nl-BE" sz="2400" i="1" dirty="0" err="1"/>
              <a:t>Program.cs</a:t>
            </a:r>
            <a:endParaRPr lang="nl-BE" sz="2400" i="1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 err="1"/>
              <a:t>Dependency</a:t>
            </a:r>
            <a:r>
              <a:rPr lang="nl-BE" sz="2400" dirty="0"/>
              <a:t> op </a:t>
            </a:r>
            <a:r>
              <a:rPr lang="nl-BE" sz="2400" b="1" dirty="0"/>
              <a:t>Application + </a:t>
            </a:r>
            <a:r>
              <a:rPr lang="nl-BE" sz="2400" b="1" dirty="0" err="1"/>
              <a:t>Infrastructure</a:t>
            </a:r>
            <a:endParaRPr lang="nl-BE" sz="2400" b="1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54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12" name="Graphic 11" descr="Warning with solid fill">
            <a:extLst>
              <a:ext uri="{FF2B5EF4-FFF2-40B4-BE49-F238E27FC236}">
                <a16:creationId xmlns:a16="http://schemas.microsoft.com/office/drawing/2014/main" id="{C84A48CA-ED70-01E8-9279-E8788FFF10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57707" y="5094514"/>
            <a:ext cx="655710" cy="6557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1836CDD-38B4-0E32-6A68-D839CADC8304}"/>
              </a:ext>
            </a:extLst>
          </p:cNvPr>
          <p:cNvSpPr txBox="1"/>
          <p:nvPr/>
        </p:nvSpPr>
        <p:spPr>
          <a:xfrm>
            <a:off x="6490326" y="5036901"/>
            <a:ext cx="3989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dirty="0" err="1">
                <a:solidFill>
                  <a:schemeClr val="accent6"/>
                </a:solidFill>
              </a:rPr>
              <a:t>NuGet</a:t>
            </a:r>
            <a:r>
              <a:rPr lang="nl-BE" b="1" dirty="0">
                <a:solidFill>
                  <a:schemeClr val="accent6"/>
                </a:solidFill>
              </a:rPr>
              <a:t>-package </a:t>
            </a:r>
            <a:r>
              <a:rPr lang="nl-BE" b="1" i="1" dirty="0">
                <a:solidFill>
                  <a:schemeClr val="accent6"/>
                </a:solidFill>
              </a:rPr>
              <a:t>EF </a:t>
            </a:r>
            <a:r>
              <a:rPr lang="nl-BE" b="1" i="1" dirty="0" err="1">
                <a:solidFill>
                  <a:schemeClr val="accent6"/>
                </a:solidFill>
              </a:rPr>
              <a:t>Core</a:t>
            </a:r>
            <a:r>
              <a:rPr lang="nl-BE" b="1" i="1" dirty="0">
                <a:solidFill>
                  <a:schemeClr val="accent6"/>
                </a:solidFill>
              </a:rPr>
              <a:t> Tools </a:t>
            </a:r>
            <a:r>
              <a:rPr lang="nl-BE" b="1" dirty="0">
                <a:solidFill>
                  <a:schemeClr val="accent6"/>
                </a:solidFill>
              </a:rPr>
              <a:t>installeren in dit project!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EAC710-EFE3-29EA-E87E-7BEE0FAE69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291" y="1361231"/>
            <a:ext cx="4549311" cy="455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0771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WebUI</a:t>
            </a:r>
            <a:r>
              <a:rPr lang="nl-BE" dirty="0"/>
              <a:t>: </a:t>
            </a:r>
            <a:r>
              <a:rPr lang="nl-BE" dirty="0" err="1"/>
              <a:t>Dependency</a:t>
            </a:r>
            <a:r>
              <a:rPr lang="nl-BE" dirty="0"/>
              <a:t> </a:t>
            </a:r>
            <a:r>
              <a:rPr lang="nl-BE" dirty="0" err="1"/>
              <a:t>Injection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626" y="1501283"/>
            <a:ext cx="9727722" cy="458124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In </a:t>
            </a:r>
            <a:r>
              <a:rPr lang="nl-BE" sz="2400" dirty="0" err="1"/>
              <a:t>WebUI</a:t>
            </a:r>
            <a:r>
              <a:rPr lang="nl-BE" sz="2400" dirty="0"/>
              <a:t>-project: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Configureer </a:t>
            </a:r>
            <a:r>
              <a:rPr lang="nl-BE" sz="2000" dirty="0" err="1"/>
              <a:t>connectionstring</a:t>
            </a:r>
            <a:r>
              <a:rPr lang="nl-BE" sz="2000" dirty="0"/>
              <a:t> in </a:t>
            </a:r>
            <a:r>
              <a:rPr lang="nl-BE" sz="2000" i="1" dirty="0" err="1"/>
              <a:t>appsettings.json</a:t>
            </a:r>
            <a:endParaRPr lang="nl-BE" sz="20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Configureer services voor </a:t>
            </a:r>
            <a:r>
              <a:rPr lang="nl-BE" sz="2000" dirty="0" err="1"/>
              <a:t>Dependency</a:t>
            </a:r>
            <a:r>
              <a:rPr lang="nl-BE" sz="2000" dirty="0"/>
              <a:t> </a:t>
            </a:r>
            <a:r>
              <a:rPr lang="nl-BE" sz="2000" dirty="0" err="1"/>
              <a:t>Injection</a:t>
            </a:r>
            <a:r>
              <a:rPr lang="nl-BE" sz="2000" dirty="0"/>
              <a:t> in </a:t>
            </a:r>
            <a:r>
              <a:rPr lang="nl-BE" sz="2000" i="1" dirty="0" err="1"/>
              <a:t>Program.cs</a:t>
            </a:r>
            <a:endParaRPr lang="nl-BE" sz="2000" i="1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55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F81606-9D1F-D2D5-DAD3-0C6DD476A21D}"/>
              </a:ext>
            </a:extLst>
          </p:cNvPr>
          <p:cNvSpPr txBox="1"/>
          <p:nvPr/>
        </p:nvSpPr>
        <p:spPr>
          <a:xfrm>
            <a:off x="1003111" y="2853858"/>
            <a:ext cx="9908489" cy="30469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1D1DFF"/>
                </a:solidFill>
                <a:latin typeface="Cascadia Mono" panose="020B0609020000020004" pitchFamily="49" charset="0"/>
              </a:rPr>
              <a:t>var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builder = </a:t>
            </a:r>
            <a:r>
              <a:rPr lang="en-US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WebApplication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.CreateBuilder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args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// Add services to the container.</a:t>
            </a:r>
          </a:p>
          <a:p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builder.Services.AddControllersWithViews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b="1" dirty="0">
                <a:solidFill>
                  <a:srgbClr val="1D1D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connString</a:t>
            </a:r>
            <a:r>
              <a:rPr lang="en-US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2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builder.Configuration.GetConnectionString</a:t>
            </a:r>
            <a:r>
              <a:rPr lang="en-US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200" b="1" dirty="0">
                <a:solidFill>
                  <a:srgbClr val="C00000"/>
                </a:solidFill>
                <a:latin typeface="Cascadia Mono" panose="020B0609020000020004" pitchFamily="49" charset="0"/>
              </a:rPr>
              <a:t>"Default"</a:t>
            </a:r>
            <a:r>
              <a:rPr lang="en-US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2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builder.Services.AddDbContext</a:t>
            </a:r>
            <a:r>
              <a:rPr lang="nl-BE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nl-BE" sz="1200" b="1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AppDbContext</a:t>
            </a:r>
            <a:r>
              <a:rPr lang="nl-BE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&gt;(x =&gt; </a:t>
            </a:r>
            <a:r>
              <a:rPr lang="nl-BE" sz="12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x.UseSqlServer</a:t>
            </a:r>
            <a:r>
              <a:rPr lang="nl-BE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2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connString</a:t>
            </a:r>
            <a:r>
              <a:rPr lang="nl-BE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</a:p>
          <a:p>
            <a:endParaRPr lang="nl-BE" sz="1200" b="1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builder.Services.AddScoped</a:t>
            </a:r>
            <a:r>
              <a:rPr lang="en-US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b="1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IUnitOfWork</a:t>
            </a:r>
            <a:r>
              <a:rPr lang="en-US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200" b="1" dirty="0" err="1">
                <a:solidFill>
                  <a:srgbClr val="2B91AF"/>
                </a:solidFill>
                <a:latin typeface="Cascadia Mono" panose="020B0609020000020004" pitchFamily="49" charset="0"/>
              </a:rPr>
              <a:t>UnitOfWork</a:t>
            </a:r>
            <a:r>
              <a:rPr lang="en-US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</a:p>
          <a:p>
            <a:r>
              <a:rPr lang="en-US" sz="1200" b="1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builder.Services.AddScoped</a:t>
            </a:r>
            <a:r>
              <a:rPr lang="en-US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b="1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IBankingService</a:t>
            </a:r>
            <a:r>
              <a:rPr lang="en-US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200" b="1" dirty="0" err="1">
                <a:solidFill>
                  <a:srgbClr val="2B91AF"/>
                </a:solidFill>
                <a:latin typeface="Cascadia Mono" panose="020B0609020000020004" pitchFamily="49" charset="0"/>
              </a:rPr>
              <a:t>BankingService</a:t>
            </a:r>
            <a:r>
              <a:rPr lang="en-US" sz="1200" b="1" dirty="0">
                <a:solidFill>
                  <a:srgbClr val="000000"/>
                </a:solidFill>
                <a:latin typeface="Cascadia Mono" panose="020B0609020000020004" pitchFamily="49" charset="0"/>
              </a:rPr>
              <a:t>&gt;();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//no need to register repositories, as they are created inside the constructor of </a:t>
            </a:r>
            <a:r>
              <a:rPr lang="en-US" sz="12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UnitOfWork</a:t>
            </a:r>
            <a:endParaRPr lang="en-US" sz="1200" dirty="0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200" dirty="0">
                <a:solidFill>
                  <a:srgbClr val="1D1DFF"/>
                </a:solidFill>
                <a:latin typeface="Cascadia Mono" panose="020B0609020000020004" pitchFamily="49" charset="0"/>
              </a:rPr>
              <a:t>var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app =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builder.Build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8000"/>
                </a:solidFill>
                <a:latin typeface="Cascadia Mono" panose="020B0609020000020004" pitchFamily="49" charset="0"/>
              </a:rPr>
              <a:t>// Configure the HTTP request pipeline.</a:t>
            </a:r>
            <a:endParaRPr lang="nl-BE" sz="900" dirty="0">
              <a:solidFill>
                <a:srgbClr val="008000"/>
              </a:solidFill>
            </a:endParaRP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CA3028FF-8EA2-BADF-AF41-7719A84592EC}"/>
              </a:ext>
            </a:extLst>
          </p:cNvPr>
          <p:cNvSpPr/>
          <p:nvPr/>
        </p:nvSpPr>
        <p:spPr>
          <a:xfrm>
            <a:off x="8189407" y="3791905"/>
            <a:ext cx="221063" cy="940869"/>
          </a:xfrm>
          <a:prstGeom prst="rightBrac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463253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Entity</a:t>
            </a:r>
            <a:r>
              <a:rPr lang="nl-BE" dirty="0"/>
              <a:t> Framework </a:t>
            </a:r>
            <a:r>
              <a:rPr lang="nl-BE" dirty="0" err="1"/>
              <a:t>Core</a:t>
            </a:r>
            <a:r>
              <a:rPr lang="nl-BE" dirty="0"/>
              <a:t>: </a:t>
            </a:r>
            <a:r>
              <a:rPr lang="nl-BE" dirty="0" err="1"/>
              <a:t>Migrations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626" y="1501283"/>
            <a:ext cx="9727722" cy="458124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sz="2400" dirty="0"/>
              <a:t>Om </a:t>
            </a:r>
            <a:r>
              <a:rPr lang="nl-BE" sz="2400" dirty="0" err="1"/>
              <a:t>migrations</a:t>
            </a:r>
            <a:r>
              <a:rPr lang="nl-BE" sz="2400" dirty="0"/>
              <a:t> te kunnen uitvoeren, dien je: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 err="1"/>
              <a:t>WebUI</a:t>
            </a:r>
            <a:r>
              <a:rPr lang="nl-BE" sz="2000" dirty="0"/>
              <a:t>-project aan te duiden als startup-project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000" dirty="0"/>
              <a:t>Default-project in Package Manager Console in te stellen op </a:t>
            </a:r>
            <a:r>
              <a:rPr lang="nl-BE" sz="2000" i="1" dirty="0" err="1"/>
              <a:t>Infrastructure</a:t>
            </a:r>
            <a:endParaRPr lang="nl-BE" sz="2000" i="1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56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A5F78A-488D-AD85-5DFB-1268A25A2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00" y="3587739"/>
            <a:ext cx="6553768" cy="19737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EC60BA-C833-38EA-FD1C-8E3F928DD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394" y="3587739"/>
            <a:ext cx="4829577" cy="19737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B50E7EE-6B08-4415-7433-7C3217A6C93F}"/>
              </a:ext>
            </a:extLst>
          </p:cNvPr>
          <p:cNvSpPr txBox="1"/>
          <p:nvPr/>
        </p:nvSpPr>
        <p:spPr>
          <a:xfrm>
            <a:off x="7145597" y="3165188"/>
            <a:ext cx="330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Keuze startup-project: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7D43DA-25BF-F54D-36EF-194EC0626942}"/>
              </a:ext>
            </a:extLst>
          </p:cNvPr>
          <p:cNvSpPr txBox="1"/>
          <p:nvPr/>
        </p:nvSpPr>
        <p:spPr>
          <a:xfrm>
            <a:off x="410178" y="3165188"/>
            <a:ext cx="4565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b="1" u="sng" dirty="0"/>
              <a:t>Default-project in Package Manager Console:</a:t>
            </a:r>
          </a:p>
        </p:txBody>
      </p:sp>
    </p:spTree>
    <p:extLst>
      <p:ext uri="{BB962C8B-B14F-4D97-AF65-F5344CB8AC3E}">
        <p14:creationId xmlns:p14="http://schemas.microsoft.com/office/powerpoint/2010/main" val="14653109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B7C17-7EA2-B13C-4CD2-013ADFF6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Generieke </a:t>
            </a:r>
            <a:r>
              <a:rPr lang="nl-BE" dirty="0" err="1"/>
              <a:t>Repository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584FF-1D12-0F83-0579-7BCF67F09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6EC979-3324-4F3A-ACE8-3C361DC2D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9F48B-BF29-85F7-61B9-36A339E0B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pPr/>
              <a:t>57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B6945-B03A-CFCC-064E-D11A01A4E5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026714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Repository-pattern</a:t>
            </a:r>
            <a:r>
              <a:rPr lang="nl-BE" dirty="0"/>
              <a:t>: implementatie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829401"/>
            <a:ext cx="9727722" cy="551850"/>
          </a:xfrm>
        </p:spPr>
        <p:txBody>
          <a:bodyPr/>
          <a:lstStyle/>
          <a:p>
            <a:r>
              <a:rPr lang="nl-BE" sz="2400" b="1" u="sng" dirty="0"/>
              <a:t>Definieer een basis-klasse waar alle </a:t>
            </a:r>
            <a:r>
              <a:rPr lang="nl-BE" sz="2400" b="1" u="sng" dirty="0" err="1"/>
              <a:t>entity-klasses</a:t>
            </a:r>
            <a:r>
              <a:rPr lang="nl-BE" sz="2400" b="1" u="sng" dirty="0"/>
              <a:t> van overerven: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58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70481C-D552-19F5-6BC5-39FAC051F071}"/>
              </a:ext>
            </a:extLst>
          </p:cNvPr>
          <p:cNvSpPr txBox="1"/>
          <p:nvPr/>
        </p:nvSpPr>
        <p:spPr>
          <a:xfrm>
            <a:off x="641524" y="2455858"/>
            <a:ext cx="4873451" cy="73866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BaseEntity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Id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  <a:endParaRPr lang="nl-BE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FA0048-F724-9461-0FE1-A91525CA6686}"/>
              </a:ext>
            </a:extLst>
          </p:cNvPr>
          <p:cNvSpPr txBox="1"/>
          <p:nvPr/>
        </p:nvSpPr>
        <p:spPr>
          <a:xfrm>
            <a:off x="641524" y="3962400"/>
            <a:ext cx="6283152" cy="116955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 </a:t>
            </a:r>
            <a:r>
              <a:rPr lang="nl-BE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nl-B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: </a:t>
            </a:r>
            <a:r>
              <a:rPr lang="nl-BE" sz="1400" dirty="0" err="1">
                <a:solidFill>
                  <a:srgbClr val="2B91A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BaseEntity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FirstName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LastName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DateTime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BirthDate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nl-BE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4563F0-E04D-76F5-38D6-A6C9E959D422}"/>
              </a:ext>
            </a:extLst>
          </p:cNvPr>
          <p:cNvSpPr txBox="1"/>
          <p:nvPr/>
        </p:nvSpPr>
        <p:spPr>
          <a:xfrm>
            <a:off x="5753100" y="2468345"/>
            <a:ext cx="4238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Dwingt af dat alle overervende </a:t>
            </a:r>
            <a:r>
              <a:rPr lang="nl-BE" dirty="0" err="1"/>
              <a:t>klasses</a:t>
            </a:r>
            <a:r>
              <a:rPr lang="nl-BE" dirty="0"/>
              <a:t> een </a:t>
            </a:r>
            <a:r>
              <a:rPr lang="nl-BE" dirty="0" err="1"/>
              <a:t>id</a:t>
            </a:r>
            <a:r>
              <a:rPr lang="nl-BE" dirty="0"/>
              <a:t>-property hebben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20997B-DE77-C906-2D68-979CE929F985}"/>
              </a:ext>
            </a:extLst>
          </p:cNvPr>
          <p:cNvSpPr txBox="1"/>
          <p:nvPr/>
        </p:nvSpPr>
        <p:spPr>
          <a:xfrm>
            <a:off x="7191375" y="4153584"/>
            <a:ext cx="4238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/>
              <a:t>Erft over van </a:t>
            </a:r>
            <a:r>
              <a:rPr lang="nl-BE" dirty="0" err="1"/>
              <a:t>BaseEntity</a:t>
            </a:r>
            <a:endParaRPr lang="nl-BE" dirty="0"/>
          </a:p>
          <a:p>
            <a:r>
              <a:rPr lang="nl-BE" dirty="0">
                <a:sym typeface="Wingdings" panose="05000000000000000000" pitchFamily="2" charset="2"/>
              </a:rPr>
              <a:t> </a:t>
            </a:r>
            <a:r>
              <a:rPr lang="nl-BE" dirty="0"/>
              <a:t>Geen eigen </a:t>
            </a:r>
            <a:r>
              <a:rPr lang="nl-BE" dirty="0" err="1"/>
              <a:t>id</a:t>
            </a:r>
            <a:r>
              <a:rPr lang="nl-BE" dirty="0"/>
              <a:t>-property meer nodig!</a:t>
            </a:r>
          </a:p>
        </p:txBody>
      </p:sp>
    </p:spTree>
    <p:extLst>
      <p:ext uri="{BB962C8B-B14F-4D97-AF65-F5344CB8AC3E}">
        <p14:creationId xmlns:p14="http://schemas.microsoft.com/office/powerpoint/2010/main" val="15867532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Repository-pattern</a:t>
            </a:r>
            <a:r>
              <a:rPr lang="nl-BE" dirty="0"/>
              <a:t>: implementatie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296001"/>
            <a:ext cx="9727722" cy="551850"/>
          </a:xfrm>
        </p:spPr>
        <p:txBody>
          <a:bodyPr/>
          <a:lstStyle/>
          <a:p>
            <a:r>
              <a:rPr lang="nl-BE" sz="2400" b="1" u="sng" dirty="0"/>
              <a:t>Definieer een generieke interface: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59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70481C-D552-19F5-6BC5-39FAC051F071}"/>
              </a:ext>
            </a:extLst>
          </p:cNvPr>
          <p:cNvSpPr txBox="1"/>
          <p:nvPr/>
        </p:nvSpPr>
        <p:spPr>
          <a:xfrm>
            <a:off x="641524" y="1922458"/>
            <a:ext cx="9435926" cy="224676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interface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IRepository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nl-BE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nl-BE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where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nl-BE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BaseEntity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IEnumerable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nl-BE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GetAll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IEnumerable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nl-BE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GetAllByCondition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Expression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nl-BE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Func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nl-BE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nl-BE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predicate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GetById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id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Add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entity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Delete(</a:t>
            </a:r>
            <a:r>
              <a:rPr lang="nl-BE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entity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Update(</a:t>
            </a:r>
            <a:r>
              <a:rPr lang="nl-BE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entity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SaveChanges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GetByCondition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Expression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nl-BE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Func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nl-BE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nl-BE" sz="1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predicate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  <a:endParaRPr lang="nl-BE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023FC4-331D-59B1-25B2-66D9FE052B61}"/>
              </a:ext>
            </a:extLst>
          </p:cNvPr>
          <p:cNvSpPr txBox="1"/>
          <p:nvPr/>
        </p:nvSpPr>
        <p:spPr>
          <a:xfrm>
            <a:off x="641524" y="4476750"/>
            <a:ext cx="86834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000" dirty="0"/>
              <a:t>&lt;T&gt; noemt men “</a:t>
            </a:r>
            <a:r>
              <a:rPr lang="nl-BE" sz="2000" dirty="0" err="1"/>
              <a:t>generics</a:t>
            </a:r>
            <a:r>
              <a:rPr lang="nl-BE" sz="2000" dirty="0"/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000" dirty="0"/>
              <a:t>T is een soort “</a:t>
            </a:r>
            <a:r>
              <a:rPr lang="nl-BE" sz="2000" dirty="0" err="1"/>
              <a:t>placeholder</a:t>
            </a:r>
            <a:r>
              <a:rPr lang="nl-BE" sz="2000" dirty="0"/>
              <a:t>” voor een concrete klasse (type)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BE" sz="2000" dirty="0"/>
              <a:t>T kan vervangen worden door elke klasse die overerft van </a:t>
            </a:r>
            <a:r>
              <a:rPr lang="nl-BE" sz="2000" b="1" dirty="0" err="1"/>
              <a:t>BaseEntity</a:t>
            </a:r>
            <a:endParaRPr lang="nl-BE" sz="2000" b="1" dirty="0"/>
          </a:p>
        </p:txBody>
      </p:sp>
    </p:spTree>
    <p:extLst>
      <p:ext uri="{BB962C8B-B14F-4D97-AF65-F5344CB8AC3E}">
        <p14:creationId xmlns:p14="http://schemas.microsoft.com/office/powerpoint/2010/main" val="306883631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Repository-pattern</a:t>
            </a:r>
            <a:r>
              <a:rPr lang="nl-BE" dirty="0"/>
              <a:t>: implementatie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296001"/>
            <a:ext cx="9727722" cy="551850"/>
          </a:xfrm>
        </p:spPr>
        <p:txBody>
          <a:bodyPr/>
          <a:lstStyle/>
          <a:p>
            <a:r>
              <a:rPr lang="nl-BE" sz="2400" b="1" u="sng" dirty="0"/>
              <a:t>Definieer een generieke implementatie van de </a:t>
            </a:r>
            <a:r>
              <a:rPr lang="nl-BE" sz="2400" b="1" u="sng" dirty="0" err="1"/>
              <a:t>IRepository</a:t>
            </a:r>
            <a:r>
              <a:rPr lang="nl-BE" sz="2400" b="1" u="sng" dirty="0"/>
              <a:t>&lt;T&gt; interface: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60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70481C-D552-19F5-6BC5-39FAC051F071}"/>
              </a:ext>
            </a:extLst>
          </p:cNvPr>
          <p:cNvSpPr txBox="1"/>
          <p:nvPr/>
        </p:nvSpPr>
        <p:spPr>
          <a:xfrm>
            <a:off x="641524" y="1922458"/>
            <a:ext cx="9435926" cy="381642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ascadia Mono" panose="020B0609020000020004" pitchFamily="49" charset="0"/>
              </a:rPr>
              <a:t>Repository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1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&gt; : </a:t>
            </a:r>
            <a:r>
              <a:rPr lang="en-US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IRepository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1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where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en-US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BaseEntity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protected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readonly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ApplicationDbContext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_context;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Repository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ApplicationDbContext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context) {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_context = context;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}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Add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1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entity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 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_</a:t>
            </a:r>
            <a:r>
              <a:rPr lang="fr-FR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context.Set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fr-FR" sz="11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&gt;().</a:t>
            </a:r>
            <a:r>
              <a:rPr lang="fr-FR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Add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entity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}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fr-FR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Delete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1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entity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 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_</a:t>
            </a:r>
            <a:r>
              <a:rPr lang="fr-FR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context.Set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fr-FR" sz="11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&gt;().</a:t>
            </a:r>
            <a:r>
              <a:rPr lang="fr-FR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Remove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entity</a:t>
            </a:r>
            <a:r>
              <a:rPr lang="fr-FR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}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GetByCondition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Expression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nl-BE" sz="11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Func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nl-BE" sz="11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nl-BE" sz="11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 </a:t>
            </a:r>
            <a:r>
              <a:rPr lang="nl-BE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predicate</a:t>
            </a:r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</a:t>
            </a:r>
            <a:r>
              <a:rPr lang="en-US" sz="11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_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context.Set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100" dirty="0">
                <a:solidFill>
                  <a:srgbClr val="2B91AF"/>
                </a:solidFill>
                <a:latin typeface="Cascadia Mono" panose="020B0609020000020004" pitchFamily="49" charset="0"/>
              </a:rPr>
              <a:t>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&gt;().Where(predicate).</a:t>
            </a:r>
            <a:r>
              <a:rPr lang="en-US" sz="11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SingleOrDefault</a:t>
            </a:r>
            <a:r>
              <a:rPr lang="en-US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}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100" dirty="0">
                <a:solidFill>
                  <a:srgbClr val="339933"/>
                </a:solidFill>
                <a:latin typeface="Cascadia Mono" panose="020B0609020000020004" pitchFamily="49" charset="0"/>
              </a:rPr>
              <a:t>//volledige code: zie Toledo</a:t>
            </a:r>
          </a:p>
          <a:p>
            <a:endParaRPr lang="nl-BE" sz="11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1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  <a:endParaRPr lang="nl-BE" sz="800" dirty="0"/>
          </a:p>
        </p:txBody>
      </p:sp>
    </p:spTree>
    <p:extLst>
      <p:ext uri="{BB962C8B-B14F-4D97-AF65-F5344CB8AC3E}">
        <p14:creationId xmlns:p14="http://schemas.microsoft.com/office/powerpoint/2010/main" val="30831040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Repository-pattern</a:t>
            </a:r>
            <a:r>
              <a:rPr lang="nl-BE" dirty="0"/>
              <a:t>: implementatie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61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F3E5674-16CE-A8CE-7D19-C359A584726C}"/>
              </a:ext>
            </a:extLst>
          </p:cNvPr>
          <p:cNvSpPr txBox="1">
            <a:spLocks/>
          </p:cNvSpPr>
          <p:nvPr/>
        </p:nvSpPr>
        <p:spPr>
          <a:xfrm>
            <a:off x="534291" y="1413148"/>
            <a:ext cx="9727722" cy="5518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163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sz="2000" b="1" u="sng" dirty="0"/>
              <a:t>Gebruik in </a:t>
            </a:r>
            <a:r>
              <a:rPr lang="nl-BE" sz="2000" b="1" u="sng" dirty="0" err="1"/>
              <a:t>IUnitOfWork</a:t>
            </a:r>
            <a:r>
              <a:rPr lang="nl-BE" sz="2000" b="1" u="sng" dirty="0"/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FC6847-AF4B-403C-D077-61695E5A19C2}"/>
              </a:ext>
            </a:extLst>
          </p:cNvPr>
          <p:cNvSpPr txBox="1"/>
          <p:nvPr/>
        </p:nvSpPr>
        <p:spPr>
          <a:xfrm>
            <a:off x="534291" y="1820470"/>
            <a:ext cx="5561709" cy="83099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>
                <a:solidFill>
                  <a:srgbClr val="1D1DFF"/>
                </a:solidFill>
                <a:latin typeface="Cascadia Mono" panose="020B0609020000020004" pitchFamily="49" charset="0"/>
              </a:rPr>
              <a:t>public interface </a:t>
            </a:r>
            <a:r>
              <a:rPr lang="nl-BE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IUnitOfWork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200" dirty="0">
                <a:solidFill>
                  <a:srgbClr val="1D1DFF"/>
                </a:solidFill>
                <a:latin typeface="Cascadia Mono" panose="020B06090200000200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IRepository</a:t>
            </a:r>
            <a:r>
              <a:rPr lang="nl-BE" sz="1200" dirty="0">
                <a:solidFill>
                  <a:schemeClr val="tx2"/>
                </a:solidFill>
                <a:latin typeface="Cascadia Mono" panose="020B0609020000020004" pitchFamily="49" charset="0"/>
              </a:rPr>
              <a:t>&lt;</a:t>
            </a:r>
            <a:r>
              <a:rPr lang="nl-BE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nl-BE" sz="1200" dirty="0">
                <a:solidFill>
                  <a:schemeClr val="tx2"/>
                </a:solidFill>
                <a:latin typeface="Cascadia Mono" panose="020B0609020000020004" pitchFamily="49" charset="0"/>
              </a:rPr>
              <a:t>&gt;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Students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nl-BE" sz="1200" dirty="0">
                <a:solidFill>
                  <a:srgbClr val="1D1DFF"/>
                </a:solidFill>
                <a:latin typeface="Cascadia Mono" panose="020B0609020000020004" pitchFamily="49" charset="0"/>
              </a:rPr>
              <a:t>get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200" dirty="0">
                <a:solidFill>
                  <a:srgbClr val="1D1DFF"/>
                </a:solidFill>
                <a:latin typeface="Cascadia Mono" panose="020B06090200000200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1D1DFF"/>
                </a:solidFill>
                <a:latin typeface="Cascadia Mono" panose="020B0609020000020004" pitchFamily="49" charset="0"/>
              </a:rPr>
              <a:t>void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Save();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  <a:endParaRPr lang="nl-BE" sz="9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A25A9E1-06BA-0E61-B069-DCFA759A1FC0}"/>
              </a:ext>
            </a:extLst>
          </p:cNvPr>
          <p:cNvSpPr txBox="1">
            <a:spLocks/>
          </p:cNvSpPr>
          <p:nvPr/>
        </p:nvSpPr>
        <p:spPr>
          <a:xfrm>
            <a:off x="534291" y="3158371"/>
            <a:ext cx="9727722" cy="5518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163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sz="2000" b="1" u="sng" dirty="0"/>
              <a:t>Implementatie in </a:t>
            </a:r>
            <a:r>
              <a:rPr lang="nl-BE" sz="2000" b="1" u="sng" dirty="0" err="1"/>
              <a:t>UnitOfWork</a:t>
            </a:r>
            <a:r>
              <a:rPr lang="nl-BE" sz="2000" b="1" u="sng" dirty="0"/>
              <a:t>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936556-C47C-4239-1EAC-B2FC2AE801B5}"/>
              </a:ext>
            </a:extLst>
          </p:cNvPr>
          <p:cNvSpPr txBox="1"/>
          <p:nvPr/>
        </p:nvSpPr>
        <p:spPr>
          <a:xfrm>
            <a:off x="534291" y="3625358"/>
            <a:ext cx="6978554" cy="249299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nl-BE" sz="1200" dirty="0">
                <a:solidFill>
                  <a:srgbClr val="1D1DFF"/>
                </a:solidFill>
                <a:latin typeface="Cascadia Mono" panose="020B06090200000200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>
                <a:solidFill>
                  <a:srgbClr val="1D1DFF"/>
                </a:solidFill>
                <a:latin typeface="Cascadia Mono" panose="020B0609020000020004" pitchFamily="49" charset="0"/>
              </a:rPr>
              <a:t>class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UnitOfWork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nl-BE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IUnitOfWork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200" dirty="0">
                <a:solidFill>
                  <a:srgbClr val="1D1DFF"/>
                </a:solidFill>
                <a:latin typeface="Cascadia Mono" panose="020B0609020000020004" pitchFamily="49" charset="0"/>
              </a:rPr>
              <a:t>private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1D1DFF"/>
                </a:solidFill>
                <a:latin typeface="Cascadia Mono" panose="020B0609020000020004" pitchFamily="49" charset="0"/>
              </a:rPr>
              <a:t>readonly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AppDbContext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_context;</a:t>
            </a:r>
          </a:p>
          <a:p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1D1DFF"/>
                </a:solidFill>
                <a:latin typeface="Cascadia Mono" panose="020B06090200000200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IRepository</a:t>
            </a:r>
            <a:r>
              <a:rPr lang="en-US" sz="1200" dirty="0">
                <a:solidFill>
                  <a:schemeClr val="tx2"/>
                </a:solidFill>
                <a:latin typeface="Cascadia Mono" panose="020B0609020000020004" pitchFamily="49" charset="0"/>
              </a:rPr>
              <a:t>&lt;</a:t>
            </a:r>
            <a:r>
              <a:rPr lang="en-US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200" dirty="0">
                <a:solidFill>
                  <a:schemeClr val="tx2"/>
                </a:solidFill>
                <a:latin typeface="Cascadia Mono" panose="020B0609020000020004" pitchFamily="49" charset="0"/>
              </a:rPr>
              <a:t>&gt;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Students { </a:t>
            </a:r>
            <a:r>
              <a:rPr lang="en-US" sz="1200" dirty="0">
                <a:solidFill>
                  <a:srgbClr val="1D1DFF"/>
                </a:solidFill>
                <a:latin typeface="Cascadia Mono" panose="020B0609020000020004" pitchFamily="49" charset="0"/>
              </a:rPr>
              <a:t>get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200" dirty="0" err="1">
                <a:solidFill>
                  <a:srgbClr val="1D1DFF"/>
                </a:solidFill>
                <a:latin typeface="Cascadia Mono" panose="020B0609020000020004" pitchFamily="49" charset="0"/>
              </a:rPr>
              <a:t>init</a:t>
            </a:r>
            <a:r>
              <a:rPr lang="en-US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200" dirty="0">
                <a:solidFill>
                  <a:srgbClr val="1D1DFF"/>
                </a:solidFill>
                <a:latin typeface="Cascadia Mono" panose="020B06090200000200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UnitOfWork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AppDbContext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context) {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_context = context;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Students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nl-BE" sz="1200" dirty="0">
                <a:solidFill>
                  <a:srgbClr val="1D1DFF"/>
                </a:solidFill>
                <a:latin typeface="Cascadia Mono" panose="020B0609020000020004" pitchFamily="49" charset="0"/>
              </a:rPr>
              <a:t>new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Repository</a:t>
            </a:r>
            <a:r>
              <a:rPr lang="nl-BE" sz="1200" dirty="0">
                <a:solidFill>
                  <a:schemeClr val="tx2"/>
                </a:solidFill>
                <a:latin typeface="Cascadia Mono" panose="020B0609020000020004" pitchFamily="49" charset="0"/>
              </a:rPr>
              <a:t>&lt;</a:t>
            </a:r>
            <a:r>
              <a:rPr lang="nl-BE" sz="12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nl-BE" sz="1200" dirty="0">
                <a:solidFill>
                  <a:schemeClr val="tx2"/>
                </a:solidFill>
                <a:latin typeface="Cascadia Mono" panose="020B0609020000020004" pitchFamily="49" charset="0"/>
              </a:rPr>
              <a:t>&gt;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(context);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nl-BE" sz="12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200" dirty="0">
                <a:solidFill>
                  <a:srgbClr val="1D1DFF"/>
                </a:solidFill>
                <a:latin typeface="Cascadia Mono" panose="020B0609020000020004" pitchFamily="49" charset="0"/>
              </a:rPr>
              <a:t>public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200" dirty="0" err="1">
                <a:solidFill>
                  <a:srgbClr val="1D1DFF"/>
                </a:solidFill>
                <a:latin typeface="Cascadia Mono" panose="020B0609020000020004" pitchFamily="49" charset="0"/>
              </a:rPr>
              <a:t>void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Save() {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_</a:t>
            </a:r>
            <a:r>
              <a:rPr lang="nl-BE" sz="12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context.SaveChanges</a:t>
            </a:r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nl-BE" sz="12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nl-BE" sz="900" dirty="0"/>
          </a:p>
        </p:txBody>
      </p:sp>
    </p:spTree>
    <p:extLst>
      <p:ext uri="{BB962C8B-B14F-4D97-AF65-F5344CB8AC3E}">
        <p14:creationId xmlns:p14="http://schemas.microsoft.com/office/powerpoint/2010/main" val="205158547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Repository-pattern</a:t>
            </a:r>
            <a:r>
              <a:rPr lang="nl-BE" dirty="0"/>
              <a:t>: implementatie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291" y="2076450"/>
            <a:ext cx="9727722" cy="366712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b="1" dirty="0"/>
              <a:t>Voordeel:</a:t>
            </a:r>
            <a:r>
              <a:rPr lang="nl-BE" dirty="0"/>
              <a:t> geen aparte </a:t>
            </a:r>
            <a:r>
              <a:rPr lang="nl-BE" dirty="0" err="1"/>
              <a:t>repository-klasses</a:t>
            </a:r>
            <a:r>
              <a:rPr lang="nl-BE" dirty="0"/>
              <a:t> nodig (dankzij generieke implementatie)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nl-BE" b="1" dirty="0"/>
              <a:t>MAAR:</a:t>
            </a:r>
            <a:r>
              <a:rPr lang="nl-BE" dirty="0"/>
              <a:t> enkel methodes in generieke interface zijn geïmplementeerd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r>
              <a:rPr lang="nl-BE" sz="2400" dirty="0"/>
              <a:t>Wat indien je bijkomende (specifieke) methodes nodig hebt?</a:t>
            </a:r>
          </a:p>
          <a:p>
            <a:pPr marL="815363" lvl="1" indent="-457200">
              <a:buFont typeface="Arial" panose="020B0604020202020204" pitchFamily="34" charset="0"/>
              <a:buChar char="•"/>
            </a:pPr>
            <a:endParaRPr lang="nl-BE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nl-BE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62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099417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50A90-4735-4F3F-A22F-8B6978C4C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Repository-pattern</a:t>
            </a:r>
            <a:r>
              <a:rPr lang="nl-BE" dirty="0"/>
              <a:t>: implementatie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1D7F-E30C-4CA8-AE6E-D95EF39B9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291" y="1686526"/>
            <a:ext cx="9727722" cy="551850"/>
          </a:xfrm>
        </p:spPr>
        <p:txBody>
          <a:bodyPr/>
          <a:lstStyle/>
          <a:p>
            <a:r>
              <a:rPr lang="nl-BE" sz="2400" b="1" u="sng" dirty="0"/>
              <a:t>Specifieke </a:t>
            </a:r>
            <a:r>
              <a:rPr lang="nl-BE" sz="2400" b="1" u="sng" dirty="0" err="1"/>
              <a:t>Repository</a:t>
            </a:r>
            <a:r>
              <a:rPr lang="nl-BE" sz="2400" b="1" u="sng" dirty="0"/>
              <a:t>-interface aanmaken: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E8170-482E-4726-8CBA-9BC99D0A7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BAD-</a:t>
            </a:r>
            <a:r>
              <a:rPr lang="en-US" dirty="0" err="1"/>
              <a:t>architectuur</a:t>
            </a:r>
            <a:endParaRPr lang="nl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F1126-D129-4C8E-B9FA-B6FADCD3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8DA20-ED00-471C-9170-60F590CB400A}" type="slidenum">
              <a:rPr lang="nl-BE" smtClean="0"/>
              <a:t>63</a:t>
            </a:fld>
            <a:endParaRPr lang="nl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88BAC8-12D6-45A7-BFFF-7139B9AD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70481C-D552-19F5-6BC5-39FAC051F071}"/>
              </a:ext>
            </a:extLst>
          </p:cNvPr>
          <p:cNvSpPr txBox="1"/>
          <p:nvPr/>
        </p:nvSpPr>
        <p:spPr>
          <a:xfrm>
            <a:off x="641524" y="2219469"/>
            <a:ext cx="9435926" cy="73866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interface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IStudentRepository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en-US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IRepository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nl-BE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GetStudentWithCourses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id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  <a:endParaRPr lang="nl-BE" sz="10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F3E5674-16CE-A8CE-7D19-C359A584726C}"/>
              </a:ext>
            </a:extLst>
          </p:cNvPr>
          <p:cNvSpPr txBox="1">
            <a:spLocks/>
          </p:cNvSpPr>
          <p:nvPr/>
        </p:nvSpPr>
        <p:spPr>
          <a:xfrm>
            <a:off x="534291" y="3191984"/>
            <a:ext cx="9727722" cy="5518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163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40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sz="2400" b="1" u="sng" dirty="0"/>
              <a:t>Specifieke </a:t>
            </a:r>
            <a:r>
              <a:rPr lang="nl-BE" sz="2400" b="1" u="sng" dirty="0" err="1"/>
              <a:t>Repository</a:t>
            </a:r>
            <a:r>
              <a:rPr lang="nl-BE" sz="2400" b="1" u="sng" dirty="0"/>
              <a:t>-interface implementeren: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2F0A58-78F2-887B-C2C4-B770CA9564F7}"/>
              </a:ext>
            </a:extLst>
          </p:cNvPr>
          <p:cNvSpPr txBox="1"/>
          <p:nvPr/>
        </p:nvSpPr>
        <p:spPr>
          <a:xfrm>
            <a:off x="641524" y="3743834"/>
            <a:ext cx="9435926" cy="181588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StudentRepository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en-US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Repository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&gt;, </a:t>
            </a:r>
            <a:r>
              <a:rPr lang="en-US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IStudentRepository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nl-B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nl-BE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StudentRepository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nl-BE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ApplicationDbContext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context) : </a:t>
            </a:r>
            <a:r>
              <a:rPr lang="nl-BE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base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(context) { }</a:t>
            </a:r>
          </a:p>
          <a:p>
            <a:endParaRPr lang="nl-BE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GetStudentWithCourses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id) 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_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&gt;().Include(x =&gt;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x.Courses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  .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SingleOrDefault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(x =&gt;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x.Id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== </a:t>
            </a:r>
            <a:r>
              <a:rPr lang="nl-BE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id</a:t>
            </a:r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nl-BE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nl-BE" sz="800" dirty="0"/>
          </a:p>
        </p:txBody>
      </p:sp>
    </p:spTree>
    <p:extLst>
      <p:ext uri="{BB962C8B-B14F-4D97-AF65-F5344CB8AC3E}">
        <p14:creationId xmlns:p14="http://schemas.microsoft.com/office/powerpoint/2010/main" val="4022635935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disee_2">
      <a:dk1>
        <a:srgbClr val="1F416B"/>
      </a:dk1>
      <a:lt1>
        <a:srgbClr val="FFFFFF"/>
      </a:lt1>
      <a:dk2>
        <a:srgbClr val="181716"/>
      </a:dk2>
      <a:lt2>
        <a:srgbClr val="E7E6E6"/>
      </a:lt2>
      <a:accent1>
        <a:srgbClr val="00639C"/>
      </a:accent1>
      <a:accent2>
        <a:srgbClr val="E73F16"/>
      </a:accent2>
      <a:accent3>
        <a:srgbClr val="3CB497"/>
      </a:accent3>
      <a:accent4>
        <a:srgbClr val="D3DDF2"/>
      </a:accent4>
      <a:accent5>
        <a:srgbClr val="A3E1D2"/>
      </a:accent5>
      <a:accent6>
        <a:srgbClr val="96280E"/>
      </a:accent6>
      <a:hlink>
        <a:srgbClr val="0563C1"/>
      </a:hlink>
      <a:folHlink>
        <a:srgbClr val="954F72"/>
      </a:folHlink>
    </a:clrScheme>
    <a:fontScheme name="Odisee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</a:spPr>
      <a:bodyPr wrap="square" lIns="0" tIns="0" rIns="0" bIns="0" rtlCol="0" anchor="ctr">
        <a:spAutoFit/>
      </a:bodyPr>
      <a:lstStyle>
        <a:defPPr algn="l">
          <a:defRPr sz="1600" b="1" dirty="0" err="1">
            <a:latin typeface="+mj-lt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pVersion xmlns="2e590e29-c89d-4e1a-bf06-0c489d371682" xsi:nil="true"/>
    <Invited_Students xmlns="2e590e29-c89d-4e1a-bf06-0c489d371682" xsi:nil="true"/>
    <Owner xmlns="2e590e29-c89d-4e1a-bf06-0c489d371682">
      <UserInfo>
        <DisplayName/>
        <AccountId xsi:nil="true"/>
        <AccountType/>
      </UserInfo>
    </Owner>
    <Teams_Channel_Section_Location xmlns="2e590e29-c89d-4e1a-bf06-0c489d371682" xsi:nil="true"/>
    <TeamsChannelId xmlns="2e590e29-c89d-4e1a-bf06-0c489d371682" xsi:nil="true"/>
    <Invited_Teachers xmlns="2e590e29-c89d-4e1a-bf06-0c489d371682" xsi:nil="true"/>
    <DefaultSectionNames xmlns="2e590e29-c89d-4e1a-bf06-0c489d371682" xsi:nil="true"/>
    <Self_Registration_Enabled xmlns="2e590e29-c89d-4e1a-bf06-0c489d371682" xsi:nil="true"/>
    <FolderType xmlns="2e590e29-c89d-4e1a-bf06-0c489d371682" xsi:nil="true"/>
    <CultureName xmlns="2e590e29-c89d-4e1a-bf06-0c489d371682" xsi:nil="true"/>
    <Student_Groups xmlns="2e590e29-c89d-4e1a-bf06-0c489d371682">
      <UserInfo>
        <DisplayName/>
        <AccountId xsi:nil="true"/>
        <AccountType/>
      </UserInfo>
    </Student_Groups>
    <Is_Collaboration_Space_Locked xmlns="2e590e29-c89d-4e1a-bf06-0c489d371682" xsi:nil="true"/>
    <Templates xmlns="2e590e29-c89d-4e1a-bf06-0c489d371682" xsi:nil="true"/>
    <Teachers xmlns="2e590e29-c89d-4e1a-bf06-0c489d371682">
      <UserInfo>
        <DisplayName/>
        <AccountId xsi:nil="true"/>
        <AccountType/>
      </UserInfo>
    </Teachers>
    <Students xmlns="2e590e29-c89d-4e1a-bf06-0c489d371682">
      <UserInfo>
        <DisplayName/>
        <AccountId xsi:nil="true"/>
        <AccountType/>
      </UserInfo>
    </Students>
    <lcf76f155ced4ddcb4097134ff3c332f xmlns="2e590e29-c89d-4e1a-bf06-0c489d371682">
      <Terms xmlns="http://schemas.microsoft.com/office/infopath/2007/PartnerControls"/>
    </lcf76f155ced4ddcb4097134ff3c332f>
    <LMS_Mappings xmlns="2e590e29-c89d-4e1a-bf06-0c489d371682" xsi:nil="true"/>
    <IsNotebookLocked xmlns="2e590e29-c89d-4e1a-bf06-0c489d371682" xsi:nil="true"/>
    <TaxCatchAll xmlns="5870f8f2-d835-4d1e-84f7-7c5a365f9c0a" xsi:nil="true"/>
    <Math_Settings xmlns="2e590e29-c89d-4e1a-bf06-0c489d371682" xsi:nil="true"/>
    <Has_Teacher_Only_SectionGroup xmlns="2e590e29-c89d-4e1a-bf06-0c489d371682" xsi:nil="true"/>
    <NotebookType xmlns="2e590e29-c89d-4e1a-bf06-0c489d371682" xsi:nil="true"/>
    <Distribution_Groups xmlns="2e590e29-c89d-4e1a-bf06-0c489d37168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8049F6D630AF47BB18DF5F87B80949" ma:contentTypeVersion="40" ma:contentTypeDescription="Een nieuw document maken." ma:contentTypeScope="" ma:versionID="a9e6d75ef9adede1cf206f88e0d4b107">
  <xsd:schema xmlns:xsd="http://www.w3.org/2001/XMLSchema" xmlns:xs="http://www.w3.org/2001/XMLSchema" xmlns:p="http://schemas.microsoft.com/office/2006/metadata/properties" xmlns:ns2="2e590e29-c89d-4e1a-bf06-0c489d371682" xmlns:ns3="5870f8f2-d835-4d1e-84f7-7c5a365f9c0a" targetNamespace="http://schemas.microsoft.com/office/2006/metadata/properties" ma:root="true" ma:fieldsID="65fb40e55a7a3fd51a5d8b3af476fe6e" ns2:_="" ns3:_="">
    <xsd:import namespace="2e590e29-c89d-4e1a-bf06-0c489d371682"/>
    <xsd:import namespace="5870f8f2-d835-4d1e-84f7-7c5a365f9c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590e29-c89d-4e1a-bf06-0c489d3716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NotebookType" ma:index="20" nillable="true" ma:displayName="Notebook Type" ma:internalName="NotebookType">
      <xsd:simpleType>
        <xsd:restriction base="dms:Text"/>
      </xsd:simpleType>
    </xsd:element>
    <xsd:element name="FolderType" ma:index="21" nillable="true" ma:displayName="Folder Type" ma:internalName="FolderType">
      <xsd:simpleType>
        <xsd:restriction base="dms:Text"/>
      </xsd:simpleType>
    </xsd:element>
    <xsd:element name="CultureName" ma:index="22" nillable="true" ma:displayName="Culture Name" ma:internalName="CultureName">
      <xsd:simpleType>
        <xsd:restriction base="dms:Text"/>
      </xsd:simpleType>
    </xsd:element>
    <xsd:element name="AppVersion" ma:index="23" nillable="true" ma:displayName="App Version" ma:internalName="AppVersion">
      <xsd:simpleType>
        <xsd:restriction base="dms:Text"/>
      </xsd:simpleType>
    </xsd:element>
    <xsd:element name="TeamsChannelId" ma:index="24" nillable="true" ma:displayName="Teams Channel Id" ma:internalName="TeamsChannelId">
      <xsd:simpleType>
        <xsd:restriction base="dms:Text"/>
      </xsd:simpleType>
    </xsd:element>
    <xsd:element name="Owner" ma:index="25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6" nillable="true" ma:displayName="Math Settings" ma:internalName="Math_Settings">
      <xsd:simpleType>
        <xsd:restriction base="dms:Text"/>
      </xsd:simpleType>
    </xsd:element>
    <xsd:element name="DefaultSectionNames" ma:index="27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8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9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30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1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2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3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4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5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6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7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8" nillable="true" ma:displayName="Is Collaboration Space Locked" ma:internalName="Is_Collaboration_Space_Locked">
      <xsd:simpleType>
        <xsd:restriction base="dms:Boolean"/>
      </xsd:simpleType>
    </xsd:element>
    <xsd:element name="IsNotebookLocked" ma:index="39" nillable="true" ma:displayName="Is Notebook Locked" ma:internalName="IsNotebookLocked">
      <xsd:simpleType>
        <xsd:restriction base="dms:Boolean"/>
      </xsd:simpleType>
    </xsd:element>
    <xsd:element name="Teams_Channel_Section_Location" ma:index="40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43" nillable="true" ma:taxonomy="true" ma:internalName="lcf76f155ced4ddcb4097134ff3c332f" ma:taxonomyFieldName="MediaServiceImageTags" ma:displayName="Afbeeldingtags" ma:readOnly="false" ma:fieldId="{5cf76f15-5ced-4ddc-b409-7134ff3c332f}" ma:taxonomyMulti="true" ma:sspId="6010e5f2-6256-435c-892d-4495c8ac23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4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70f8f2-d835-4d1e-84f7-7c5a365f9c0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44" nillable="true" ma:displayName="Taxonomy Catch All Column" ma:hidden="true" ma:list="{18f5e209-b2fc-4ef1-b802-39e3b60cddd6}" ma:internalName="TaxCatchAll" ma:showField="CatchAllData" ma:web="5870f8f2-d835-4d1e-84f7-7c5a365f9c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05ED75-F4C1-4611-8E4B-41E9A165494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63ADBEC-66C7-4C17-8086-F28A1535A9CC}">
  <ds:schemaRefs>
    <ds:schemaRef ds:uri="http://schemas.microsoft.com/office/2006/metadata/properties"/>
    <ds:schemaRef ds:uri="http://schemas.microsoft.com/office/infopath/2007/PartnerControls"/>
    <ds:schemaRef ds:uri="2e590e29-c89d-4e1a-bf06-0c489d371682"/>
    <ds:schemaRef ds:uri="5870f8f2-d835-4d1e-84f7-7c5a365f9c0a"/>
  </ds:schemaRefs>
</ds:datastoreItem>
</file>

<file path=customXml/itemProps3.xml><?xml version="1.0" encoding="utf-8"?>
<ds:datastoreItem xmlns:ds="http://schemas.openxmlformats.org/officeDocument/2006/customXml" ds:itemID="{5038BA80-9B9C-4CC1-9496-CA5DDB3AD9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590e29-c89d-4e1a-bf06-0c489d371682"/>
    <ds:schemaRef ds:uri="5870f8f2-d835-4d1e-84f7-7c5a365f9c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11800</TotalTime>
  <Words>3845</Words>
  <Application>Microsoft Office PowerPoint</Application>
  <PresentationFormat>Widescreen</PresentationFormat>
  <Paragraphs>787</Paragraphs>
  <Slides>63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9" baseType="lpstr">
      <vt:lpstr>Arial</vt:lpstr>
      <vt:lpstr>Calibri</vt:lpstr>
      <vt:lpstr>Calibri Light</vt:lpstr>
      <vt:lpstr>Cascadia Mono</vt:lpstr>
      <vt:lpstr>Wingdings</vt:lpstr>
      <vt:lpstr>Kantoorthema</vt:lpstr>
      <vt:lpstr>PowerPoint Presentation</vt:lpstr>
      <vt:lpstr>Business Application Development</vt:lpstr>
      <vt:lpstr>PowerPoint Presentation</vt:lpstr>
      <vt:lpstr>Inleiding</vt:lpstr>
      <vt:lpstr>Wat is software architectuur?</vt:lpstr>
      <vt:lpstr>Waarom Software Design?</vt:lpstr>
      <vt:lpstr>Waarom Software Design?</vt:lpstr>
      <vt:lpstr>Waarom Software Design (Use Case)?</vt:lpstr>
      <vt:lpstr>Waarom Software Design (Use Case)?</vt:lpstr>
      <vt:lpstr>Waarom Software Design (Use Case)?</vt:lpstr>
      <vt:lpstr>Waarom Software Design (Use Case)?</vt:lpstr>
      <vt:lpstr>Waarom Software Design (Use Case)?</vt:lpstr>
      <vt:lpstr>Waarom Software Design (Use Case)?</vt:lpstr>
      <vt:lpstr>Waarom Software Design?</vt:lpstr>
      <vt:lpstr>Belang van software architectuur</vt:lpstr>
      <vt:lpstr>Voorbeelden Architectuur</vt:lpstr>
      <vt:lpstr>Voorbeeld Architectuur: N-layer architectuur</vt:lpstr>
      <vt:lpstr>Voorbeeld Architectuur: Clean architectuur</vt:lpstr>
      <vt:lpstr>Voorbeeld Architectuur: Monolithische architectuur</vt:lpstr>
      <vt:lpstr>Voorbeeld Architectuur: Microservice architectuur</vt:lpstr>
      <vt:lpstr>Architectuur doorheen de lessen gebruikt</vt:lpstr>
      <vt:lpstr>Repository</vt:lpstr>
      <vt:lpstr>Het Repository-pattern</vt:lpstr>
      <vt:lpstr>Repository-pattern: implementatie</vt:lpstr>
      <vt:lpstr>Repository-pattern: implementatie</vt:lpstr>
      <vt:lpstr>Repository-pattern: opmerkingen</vt:lpstr>
      <vt:lpstr>Service</vt:lpstr>
      <vt:lpstr>Services</vt:lpstr>
      <vt:lpstr>Services: implementatie</vt:lpstr>
      <vt:lpstr>Services: implementatie</vt:lpstr>
      <vt:lpstr>Services: gebruik</vt:lpstr>
      <vt:lpstr>UnitOfWork-pattern</vt:lpstr>
      <vt:lpstr>Services: implementatie</vt:lpstr>
      <vt:lpstr>Transacties</vt:lpstr>
      <vt:lpstr>Transacties</vt:lpstr>
      <vt:lpstr>Transacties</vt:lpstr>
      <vt:lpstr>Transacties</vt:lpstr>
      <vt:lpstr>UnitOfWork</vt:lpstr>
      <vt:lpstr>UnitOfWork: Implementatie</vt:lpstr>
      <vt:lpstr>UnitOfWork: Implementatie</vt:lpstr>
      <vt:lpstr>UnitOfWork: Implementatie</vt:lpstr>
      <vt:lpstr>UnitOfWork: Implementatie</vt:lpstr>
      <vt:lpstr>UnitOfWork: Implementatie</vt:lpstr>
      <vt:lpstr>Entity &amp; ViewModel</vt:lpstr>
      <vt:lpstr>Entity vs ViewModel</vt:lpstr>
      <vt:lpstr>Voorbeeld Entity vs ViewModel</vt:lpstr>
      <vt:lpstr>Voorbeeld Entity vs ViewModel</vt:lpstr>
      <vt:lpstr>Clean Architecture</vt:lpstr>
      <vt:lpstr>Wat is Clean Architecture?</vt:lpstr>
      <vt:lpstr>Wat is Clean Architecture?</vt:lpstr>
      <vt:lpstr>Clean Architecture: Domain</vt:lpstr>
      <vt:lpstr>Clean Architecture: Application</vt:lpstr>
      <vt:lpstr>Clean Architecture: Infrastructure</vt:lpstr>
      <vt:lpstr>Clean Architecture: WebUI</vt:lpstr>
      <vt:lpstr>WebUI: Dependency Injection</vt:lpstr>
      <vt:lpstr>Entity Framework Core: Migrations</vt:lpstr>
      <vt:lpstr>Generieke Repository</vt:lpstr>
      <vt:lpstr>Repository-pattern: implementatie</vt:lpstr>
      <vt:lpstr>Repository-pattern: implementatie</vt:lpstr>
      <vt:lpstr>Repository-pattern: implementatie</vt:lpstr>
      <vt:lpstr>Repository-pattern: implementatie</vt:lpstr>
      <vt:lpstr>Repository-pattern: implementatie</vt:lpstr>
      <vt:lpstr>Repository-pattern: implementatie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arn bollen</dc:creator>
  <cp:lastModifiedBy>Sam Van Buggenhout (u0132146)</cp:lastModifiedBy>
  <cp:revision>666</cp:revision>
  <dcterms:created xsi:type="dcterms:W3CDTF">2019-09-02T13:39:39Z</dcterms:created>
  <dcterms:modified xsi:type="dcterms:W3CDTF">2026-03-17T08:42:38Z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0x010100958049F6D630AF47BB18DF5F87B80949</vt:lpwstr>
  </property>
  <property fmtid="{D5CDD505-2E9C-101B-9397-08002B2CF9AE}" pid="3" name="MediaServiceImageTags">
    <vt:lpwstr/>
  </property>
</Properties>
</file>