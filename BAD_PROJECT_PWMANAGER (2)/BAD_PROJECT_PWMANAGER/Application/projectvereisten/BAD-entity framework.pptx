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4"/>
  </p:notesMasterIdLst>
  <p:sldIdLst>
    <p:sldId id="261" r:id="rId5"/>
    <p:sldId id="256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4" r:id="rId18"/>
    <p:sldId id="293" r:id="rId19"/>
    <p:sldId id="272" r:id="rId20"/>
    <p:sldId id="275" r:id="rId21"/>
    <p:sldId id="276" r:id="rId22"/>
    <p:sldId id="277" r:id="rId23"/>
    <p:sldId id="278" r:id="rId24"/>
    <p:sldId id="279" r:id="rId25"/>
    <p:sldId id="294" r:id="rId26"/>
    <p:sldId id="284" r:id="rId27"/>
    <p:sldId id="285" r:id="rId28"/>
    <p:sldId id="286" r:id="rId29"/>
    <p:sldId id="295" r:id="rId30"/>
    <p:sldId id="281" r:id="rId31"/>
    <p:sldId id="288" r:id="rId32"/>
    <p:sldId id="289" r:id="rId33"/>
    <p:sldId id="349" r:id="rId34"/>
    <p:sldId id="350" r:id="rId35"/>
    <p:sldId id="292" r:id="rId36"/>
    <p:sldId id="351" r:id="rId37"/>
    <p:sldId id="352" r:id="rId38"/>
    <p:sldId id="296" r:id="rId39"/>
    <p:sldId id="280" r:id="rId40"/>
    <p:sldId id="282" r:id="rId41"/>
    <p:sldId id="354" r:id="rId42"/>
    <p:sldId id="355" r:id="rId43"/>
    <p:sldId id="356" r:id="rId44"/>
    <p:sldId id="357" r:id="rId45"/>
    <p:sldId id="353" r:id="rId46"/>
    <p:sldId id="287" r:id="rId47"/>
    <p:sldId id="283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39" r:id="rId60"/>
    <p:sldId id="341" r:id="rId61"/>
    <p:sldId id="342" r:id="rId62"/>
    <p:sldId id="343" r:id="rId63"/>
    <p:sldId id="309" r:id="rId64"/>
    <p:sldId id="344" r:id="rId65"/>
    <p:sldId id="311" r:id="rId66"/>
    <p:sldId id="315" r:id="rId67"/>
    <p:sldId id="348" r:id="rId68"/>
    <p:sldId id="316" r:id="rId69"/>
    <p:sldId id="317" r:id="rId70"/>
    <p:sldId id="318" r:id="rId71"/>
    <p:sldId id="319" r:id="rId72"/>
    <p:sldId id="321" r:id="rId73"/>
    <p:sldId id="322" r:id="rId74"/>
    <p:sldId id="338" r:id="rId75"/>
    <p:sldId id="324" r:id="rId76"/>
    <p:sldId id="358" r:id="rId77"/>
    <p:sldId id="359" r:id="rId78"/>
    <p:sldId id="345" r:id="rId79"/>
    <p:sldId id="346" r:id="rId80"/>
    <p:sldId id="347" r:id="rId81"/>
    <p:sldId id="360" r:id="rId82"/>
    <p:sldId id="361" r:id="rId83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4F8291"/>
    <a:srgbClr val="008000"/>
    <a:srgbClr val="74531F"/>
    <a:srgbClr val="A31515"/>
    <a:srgbClr val="FFFF00"/>
    <a:srgbClr val="74561F"/>
    <a:srgbClr val="339933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7" autoAdjust="0"/>
    <p:restoredTop sz="93649" autoAdjust="0"/>
  </p:normalViewPr>
  <p:slideViewPr>
    <p:cSldViewPr snapToGrid="0">
      <p:cViewPr varScale="1">
        <p:scale>
          <a:sx n="74" d="100"/>
          <a:sy n="74" d="100"/>
        </p:scale>
        <p:origin x="10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notesMaster" Target="notesMasters/notesMaster1.xml"/><Relationship Id="rId89" Type="http://schemas.microsoft.com/office/2016/11/relationships/changesInfo" Target="changesInfos/changesInfo1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theme" Target="theme/them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Van Buggenhout (u0132146)" userId="77de8a13-220e-4226-a82f-c9f4c6ce0102" providerId="ADAL" clId="{FE8A2003-6204-4F5F-B3DC-4D4150888483}"/>
    <pc:docChg chg="modSld">
      <pc:chgData name="Sam Van Buggenhout (u0132146)" userId="77de8a13-220e-4226-a82f-c9f4c6ce0102" providerId="ADAL" clId="{FE8A2003-6204-4F5F-B3DC-4D4150888483}" dt="2026-03-09T17:38:42.646" v="3" actId="20577"/>
      <pc:docMkLst>
        <pc:docMk/>
      </pc:docMkLst>
      <pc:sldChg chg="modSp mod">
        <pc:chgData name="Sam Van Buggenhout (u0132146)" userId="77de8a13-220e-4226-a82f-c9f4c6ce0102" providerId="ADAL" clId="{FE8A2003-6204-4F5F-B3DC-4D4150888483}" dt="2026-03-09T17:38:42.646" v="3" actId="20577"/>
        <pc:sldMkLst>
          <pc:docMk/>
          <pc:sldMk cId="1410289600" sldId="256"/>
        </pc:sldMkLst>
        <pc:spChg chg="mod">
          <ac:chgData name="Sam Van Buggenhout (u0132146)" userId="77de8a13-220e-4226-a82f-c9f4c6ce0102" providerId="ADAL" clId="{FE8A2003-6204-4F5F-B3DC-4D4150888483}" dt="2026-03-09T17:38:42.646" v="3" actId="20577"/>
          <ac:spMkLst>
            <pc:docMk/>
            <pc:sldMk cId="1410289600" sldId="256"/>
            <ac:spMk id="7" creationId="{38443782-7588-4BA1-A888-94A8DEFEE0F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BF3A7-A7E5-42B6-9154-500A7CB5E3E8}" type="datetimeFigureOut">
              <a:rPr lang="nl-BE" smtClean="0"/>
              <a:t>9/03/2026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FAF20-346D-4074-B74A-C2F29A046F4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21578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70293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63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99247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64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71804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>
            <a:extLst>
              <a:ext uri="{FF2B5EF4-FFF2-40B4-BE49-F238E27FC236}">
                <a16:creationId xmlns:a16="http://schemas.microsoft.com/office/drawing/2014/main" id="{AEE442BF-C82A-418E-8E62-533CFEF9E15F}"/>
              </a:ext>
            </a:extLst>
          </p:cNvPr>
          <p:cNvSpPr/>
          <p:nvPr userDrawn="1"/>
        </p:nvSpPr>
        <p:spPr>
          <a:xfrm>
            <a:off x="1" y="6024716"/>
            <a:ext cx="12192000" cy="8332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F5AD292-FAF8-44FC-84B3-0842804A02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"/>
            <a:ext cx="12192000" cy="6857827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7D9DA8C5-1FD2-4AD1-983E-C005AF19C7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74236" y="5516542"/>
            <a:ext cx="1300725" cy="41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65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hoek 14">
            <a:extLst>
              <a:ext uri="{FF2B5EF4-FFF2-40B4-BE49-F238E27FC236}">
                <a16:creationId xmlns:a16="http://schemas.microsoft.com/office/drawing/2014/main" id="{73CF8604-A629-44C9-BC34-FAB18A435DEF}"/>
              </a:ext>
            </a:extLst>
          </p:cNvPr>
          <p:cNvSpPr/>
          <p:nvPr userDrawn="1"/>
        </p:nvSpPr>
        <p:spPr>
          <a:xfrm>
            <a:off x="10164726" y="5684874"/>
            <a:ext cx="2027274" cy="11731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29340FA-55B0-4685-ABAD-FAD25820F9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248" y="1424767"/>
            <a:ext cx="9806754" cy="1447247"/>
          </a:xfrm>
        </p:spPr>
        <p:txBody>
          <a:bodyPr anchor="b"/>
          <a:lstStyle>
            <a:lvl1pPr algn="l">
              <a:defRPr sz="5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AD34407-B861-42C6-BCDB-C4A7F1C446A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1248" y="2793963"/>
            <a:ext cx="9144000" cy="544660"/>
          </a:xfrm>
        </p:spPr>
        <p:txBody>
          <a:bodyPr/>
          <a:lstStyle>
            <a:lvl1pPr marL="0" indent="0" algn="l"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C197536-820C-433C-9FB6-7C7030EEC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1CCD3E8-9D74-4800-8114-49569A208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7" name="Gelijkbenige driehoek 6">
            <a:extLst>
              <a:ext uri="{FF2B5EF4-FFF2-40B4-BE49-F238E27FC236}">
                <a16:creationId xmlns:a16="http://schemas.microsoft.com/office/drawing/2014/main" id="{5EFC5DA7-42AD-4163-B81C-BC60400CFDEF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7D9DA8C5-1FD2-4AD1-983E-C005AF19C7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5073" y="6073679"/>
            <a:ext cx="1153603" cy="370306"/>
          </a:xfrm>
          <a:prstGeom prst="rect">
            <a:avLst/>
          </a:prstGeom>
        </p:spPr>
      </p:pic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9D3931E4-AE84-4614-95BF-CFF1449B84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33051" y="3999147"/>
            <a:ext cx="6308725" cy="466613"/>
          </a:xfrm>
        </p:spPr>
        <p:txBody>
          <a:bodyPr anchor="b"/>
          <a:lstStyle>
            <a:lvl1pPr marL="0" indent="0">
              <a:buFontTx/>
              <a:buNone/>
              <a:defRPr sz="2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Naam Achternaam</a:t>
            </a:r>
            <a:endParaRPr lang="nl-BE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3622B796-191D-402D-B39A-CDE2C6DA4F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40603" y="4493298"/>
            <a:ext cx="4662487" cy="1617663"/>
          </a:xfrm>
        </p:spPr>
        <p:txBody>
          <a:bodyPr/>
          <a:lstStyle>
            <a:lvl1pPr marL="0" indent="0">
              <a:buNone/>
              <a:defRPr sz="2200">
                <a:latin typeface="+mj-lt"/>
              </a:defRPr>
            </a:lvl1pPr>
            <a:lvl2pPr marL="358163" indent="0">
              <a:buNone/>
              <a:defRPr sz="2200">
                <a:latin typeface="+mj-lt"/>
              </a:defRPr>
            </a:lvl2pPr>
            <a:lvl3pPr marL="720000" indent="0">
              <a:buNone/>
              <a:defRPr sz="2200">
                <a:latin typeface="+mj-lt"/>
              </a:defRPr>
            </a:lvl3pPr>
            <a:lvl4pPr marL="1080000" indent="0">
              <a:buNone/>
              <a:defRPr sz="2200">
                <a:latin typeface="+mj-lt"/>
              </a:defRPr>
            </a:lvl4pPr>
            <a:lvl5pPr marL="1440000" indent="0">
              <a:buNone/>
              <a:defRPr sz="2200">
                <a:latin typeface="+mj-lt"/>
              </a:defRPr>
            </a:lvl5pPr>
          </a:lstStyle>
          <a:p>
            <a:pPr lvl="0"/>
            <a:r>
              <a:rPr lang="nl-NL" dirty="0"/>
              <a:t>Datum</a:t>
            </a:r>
            <a:endParaRPr lang="nl-BE" dirty="0"/>
          </a:p>
        </p:txBody>
      </p:sp>
      <p:sp>
        <p:nvSpPr>
          <p:cNvPr id="13" name="Rechthoekige driehoek 12">
            <a:extLst>
              <a:ext uri="{FF2B5EF4-FFF2-40B4-BE49-F238E27FC236}">
                <a16:creationId xmlns:a16="http://schemas.microsoft.com/office/drawing/2014/main" id="{2F4CE03C-2446-4EC5-B5DD-A041A68BBF35}"/>
              </a:ext>
            </a:extLst>
          </p:cNvPr>
          <p:cNvSpPr/>
          <p:nvPr userDrawn="1"/>
        </p:nvSpPr>
        <p:spPr>
          <a:xfrm rot="8100000">
            <a:off x="945998" y="4240087"/>
            <a:ext cx="309905" cy="30990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D6C2FF9A-F000-4BFA-9764-458F26D2BEB8}"/>
              </a:ext>
            </a:extLst>
          </p:cNvPr>
          <p:cNvSpPr/>
          <p:nvPr userDrawn="1"/>
        </p:nvSpPr>
        <p:spPr>
          <a:xfrm>
            <a:off x="945193" y="4401743"/>
            <a:ext cx="311510" cy="3115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2258528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CCEBE6B7-490D-4A8D-9B9C-C75E430100F2}"/>
              </a:ext>
            </a:extLst>
          </p:cNvPr>
          <p:cNvSpPr/>
          <p:nvPr userDrawn="1"/>
        </p:nvSpPr>
        <p:spPr>
          <a:xfrm>
            <a:off x="0" y="1"/>
            <a:ext cx="4068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77031" y="1852225"/>
            <a:ext cx="5365733" cy="3090532"/>
          </a:xfrm>
        </p:spPr>
        <p:txBody>
          <a:bodyPr/>
          <a:lstStyle>
            <a:lvl1pPr marL="0" indent="0">
              <a:lnSpc>
                <a:spcPts val="3800"/>
              </a:lnSpc>
              <a:spcBef>
                <a:spcPts val="2200"/>
              </a:spcBef>
              <a:buFont typeface="Arial" panose="020B0604020202020204" pitchFamily="34" charset="0"/>
              <a:buNone/>
              <a:defRPr sz="3200" b="1">
                <a:solidFill>
                  <a:schemeClr val="tx1"/>
                </a:solidFill>
                <a:latin typeface="+mj-lt"/>
              </a:defRPr>
            </a:lvl1pPr>
            <a:lvl2pPr marL="36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2pPr>
            <a:lvl3pPr marL="720000" indent="-180000" defTabSz="14366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3pPr>
            <a:lvl4pPr marL="108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4pPr>
            <a:lvl5pPr marL="144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nl-NL" dirty="0"/>
              <a:t>Hoofdstuktitel</a:t>
            </a:r>
          </a:p>
          <a:p>
            <a:pPr lvl="0"/>
            <a:r>
              <a:rPr lang="nl-NL" dirty="0"/>
              <a:t>Hoofdstuktitel</a:t>
            </a:r>
          </a:p>
          <a:p>
            <a:pPr lvl="0"/>
            <a:r>
              <a:rPr lang="nl-NL" dirty="0"/>
              <a:t>Hoofdstuktitel</a:t>
            </a:r>
          </a:p>
          <a:p>
            <a:pPr lvl="0"/>
            <a:r>
              <a:rPr lang="nl-NL" dirty="0"/>
              <a:t>Hoofdstuktitel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77031" y="6264004"/>
            <a:ext cx="2743200" cy="36512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304FD9A2-98F2-4A5B-A452-66B8C41A893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549883" y="1859599"/>
            <a:ext cx="1345923" cy="3090532"/>
          </a:xfrm>
        </p:spPr>
        <p:txBody>
          <a:bodyPr/>
          <a:lstStyle>
            <a:lvl1pPr marL="0" indent="0" algn="r">
              <a:lnSpc>
                <a:spcPts val="3800"/>
              </a:lnSpc>
              <a:spcBef>
                <a:spcPts val="2200"/>
              </a:spcBef>
              <a:buFont typeface="Arial" panose="020B0604020202020204" pitchFamily="34" charset="0"/>
              <a:buNone/>
              <a:defRPr sz="5400" b="1">
                <a:solidFill>
                  <a:schemeClr val="bg1"/>
                </a:solidFill>
                <a:latin typeface="+mj-lt"/>
              </a:defRPr>
            </a:lvl1pPr>
            <a:lvl2pPr marL="36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2pPr>
            <a:lvl3pPr marL="720000" indent="-180000" defTabSz="14366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3pPr>
            <a:lvl4pPr marL="108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4pPr>
            <a:lvl5pPr marL="144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nl-NL" dirty="0"/>
              <a:t>1.</a:t>
            </a:r>
          </a:p>
          <a:p>
            <a:pPr lvl="0"/>
            <a:r>
              <a:rPr lang="nl-NL" dirty="0"/>
              <a:t>2.</a:t>
            </a:r>
          </a:p>
          <a:p>
            <a:pPr lvl="0"/>
            <a:r>
              <a:rPr lang="nl-NL" dirty="0"/>
              <a:t>3.</a:t>
            </a:r>
          </a:p>
          <a:p>
            <a:pPr lvl="0"/>
            <a:r>
              <a:rPr lang="nl-NL" dirty="0"/>
              <a:t>4.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8DC82B8D-FA17-4BE4-A52F-A63703B07994}"/>
              </a:ext>
            </a:extLst>
          </p:cNvPr>
          <p:cNvSpPr txBox="1"/>
          <p:nvPr userDrawn="1"/>
        </p:nvSpPr>
        <p:spPr>
          <a:xfrm>
            <a:off x="532389" y="285502"/>
            <a:ext cx="1846251" cy="30777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nl-BE" sz="1400" b="1" dirty="0">
                <a:solidFill>
                  <a:schemeClr val="bg1"/>
                </a:solidFill>
                <a:latin typeface="+mj-lt"/>
              </a:rPr>
              <a:t>INHOUDSTAFEL</a:t>
            </a:r>
          </a:p>
        </p:txBody>
      </p:sp>
      <p:sp>
        <p:nvSpPr>
          <p:cNvPr id="15" name="Gelijkbenige driehoek 14">
            <a:extLst>
              <a:ext uri="{FF2B5EF4-FFF2-40B4-BE49-F238E27FC236}">
                <a16:creationId xmlns:a16="http://schemas.microsoft.com/office/drawing/2014/main" id="{F826CAAD-37E1-417F-AE93-7A7F7F6D5FE8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12610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00" y="2736000"/>
            <a:ext cx="9281274" cy="309053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  <a:lvl2pPr marL="358163" indent="0">
              <a:lnSpc>
                <a:spcPct val="100000"/>
              </a:lnSpc>
              <a:buNone/>
              <a:defRPr/>
            </a:lvl2pPr>
            <a:lvl3pPr marL="720000" indent="0">
              <a:lnSpc>
                <a:spcPct val="100000"/>
              </a:lnSpc>
              <a:buNone/>
              <a:defRPr/>
            </a:lvl3pPr>
            <a:lvl4pPr marL="1080000" indent="0">
              <a:lnSpc>
                <a:spcPct val="100000"/>
              </a:lnSpc>
              <a:buNone/>
              <a:defRPr/>
            </a:lvl4pPr>
            <a:lvl5pPr marL="1440000" indent="0">
              <a:lnSpc>
                <a:spcPct val="100000"/>
              </a:lnSpc>
              <a:buNone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6181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00" y="1908000"/>
            <a:ext cx="9291600" cy="3132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360000" indent="-180000">
              <a:buFont typeface="Arial" panose="020B0604020202020204" pitchFamily="34" charset="0"/>
              <a:buChar char="•"/>
              <a:defRPr/>
            </a:lvl2pPr>
            <a:lvl3pPr marL="720000" indent="-180000" defTabSz="1436688">
              <a:buFont typeface="Arial" panose="020B0604020202020204" pitchFamily="34" charset="0"/>
              <a:buChar char="•"/>
              <a:defRPr/>
            </a:lvl3pPr>
            <a:lvl4pPr marL="1080000" indent="-180000">
              <a:buFont typeface="Arial" panose="020B0604020202020204" pitchFamily="34" charset="0"/>
              <a:buChar char="•"/>
              <a:defRPr/>
            </a:lvl4pPr>
            <a:lvl5pPr marL="144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46906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E5158C-C5F8-4FA4-8D48-8495226D3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ACB0CE7-11E3-4438-919C-EA7601B23C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20000" y="2736000"/>
            <a:ext cx="4392000" cy="2883505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C456A98-2404-4694-96D5-FDAB6BA76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2000" y="2736000"/>
            <a:ext cx="4392000" cy="2883505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09CE115-B374-4617-BCB4-65CE99671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30D3D96-5DFD-4E22-A20C-C1B8E4E8A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8F20995-02CF-40E9-A9E3-07D0889F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3D35A45E-59A3-4C31-A9F3-DD73EF3BB7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10415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hoek 14">
            <a:extLst>
              <a:ext uri="{FF2B5EF4-FFF2-40B4-BE49-F238E27FC236}">
                <a16:creationId xmlns:a16="http://schemas.microsoft.com/office/drawing/2014/main" id="{97EFFFE8-8662-44ED-9D46-72EA0C894BB5}"/>
              </a:ext>
            </a:extLst>
          </p:cNvPr>
          <p:cNvSpPr/>
          <p:nvPr userDrawn="1"/>
        </p:nvSpPr>
        <p:spPr>
          <a:xfrm>
            <a:off x="10164726" y="5684874"/>
            <a:ext cx="2027274" cy="11731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pic>
        <p:nvPicPr>
          <p:cNvPr id="13" name="Afbeelding 12" descr="Afbeelding met bijl&#10;&#10;Automatisch gegenereerde beschrijving">
            <a:extLst>
              <a:ext uri="{FF2B5EF4-FFF2-40B4-BE49-F238E27FC236}">
                <a16:creationId xmlns:a16="http://schemas.microsoft.com/office/drawing/2014/main" id="{26190394-04D1-435B-872B-98D9438B95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9842"/>
            <a:ext cx="2485770" cy="49583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AD43DC2-455F-4EDF-A084-FEE83CFC4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4829" y="2226013"/>
            <a:ext cx="7759257" cy="1429415"/>
          </a:xfrm>
        </p:spPr>
        <p:txBody>
          <a:bodyPr anchor="b"/>
          <a:lstStyle>
            <a:lvl1pPr>
              <a:defRPr sz="4400" spc="170" baseline="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C704646-7228-4188-9EAC-6994DE76A28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674829" y="3619988"/>
            <a:ext cx="77592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ONDERTITEL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6946962-0A67-44EB-A18D-73C07F936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316FD36-254F-49C1-A06F-1DBD00D98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849368-50CE-404F-865E-EF0DB7781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8" name="Gelijkbenige driehoek 7">
            <a:extLst>
              <a:ext uri="{FF2B5EF4-FFF2-40B4-BE49-F238E27FC236}">
                <a16:creationId xmlns:a16="http://schemas.microsoft.com/office/drawing/2014/main" id="{939230B4-815F-440B-888A-070C90C48BA5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9A854FE4-B9A5-46C1-BF2D-13E51D44B0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293" y="1353110"/>
            <a:ext cx="1660525" cy="2808287"/>
          </a:xfrm>
        </p:spPr>
        <p:txBody>
          <a:bodyPr anchor="b"/>
          <a:lstStyle>
            <a:lvl1pPr marL="0" indent="0" algn="r">
              <a:buNone/>
              <a:defRPr sz="9000" b="1">
                <a:solidFill>
                  <a:schemeClr val="accent2"/>
                </a:solidFill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1.</a:t>
            </a:r>
            <a:endParaRPr lang="nl-BE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92DBF72E-0CB1-45B4-9813-C3B6894F6D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5073" y="6073679"/>
            <a:ext cx="1153603" cy="37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407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 en bee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00" y="1908000"/>
            <a:ext cx="4114800" cy="309053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360000" indent="-180000">
              <a:lnSpc>
                <a:spcPct val="100000"/>
              </a:lnSpc>
              <a:buFont typeface="Arial" panose="020B0604020202020204" pitchFamily="34" charset="0"/>
              <a:buChar char="•"/>
              <a:defRPr/>
            </a:lvl2pPr>
            <a:lvl3pPr marL="720000" indent="-180000" defTabSz="1436688">
              <a:lnSpc>
                <a:spcPct val="100000"/>
              </a:lnSpc>
              <a:buFont typeface="Arial" panose="020B0604020202020204" pitchFamily="34" charset="0"/>
              <a:buChar char="•"/>
              <a:defRPr/>
            </a:lvl3pPr>
            <a:lvl4pPr marL="1080000" indent="-180000">
              <a:lnSpc>
                <a:spcPct val="100000"/>
              </a:lnSpc>
              <a:buFont typeface="Arial" panose="020B0604020202020204" pitchFamily="34" charset="0"/>
              <a:buChar char="•"/>
              <a:defRPr/>
            </a:lvl4pPr>
            <a:lvl5pPr marL="1440000" indent="-180000">
              <a:lnSpc>
                <a:spcPct val="100000"/>
              </a:lnSpc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CD9E304B-9EEF-4540-A2A5-7D039634D7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2000" y="0"/>
            <a:ext cx="5400000" cy="6858000"/>
          </a:xfrm>
        </p:spPr>
        <p:txBody>
          <a:bodyPr anchor="ctr"/>
          <a:lstStyle>
            <a:lvl1pPr marL="0" indent="0" algn="ctr">
              <a:buNone/>
              <a:defRPr baseline="-25000"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44810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bee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E5744A9E-4C9D-4407-95E8-93A822A070AB}"/>
              </a:ext>
            </a:extLst>
          </p:cNvPr>
          <p:cNvSpPr/>
          <p:nvPr userDrawn="1"/>
        </p:nvSpPr>
        <p:spPr>
          <a:xfrm>
            <a:off x="0" y="1"/>
            <a:ext cx="4068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999" y="594002"/>
            <a:ext cx="3099759" cy="15180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099759" cy="365125"/>
          </a:xfrm>
        </p:spPr>
        <p:txBody>
          <a:bodyPr anchor="b" anchorCtr="0"/>
          <a:lstStyle>
            <a:lvl1pPr marL="0" indent="0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CD9E304B-9EEF-4540-A2A5-7D039634D7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8000" y="0"/>
            <a:ext cx="6858000" cy="6858000"/>
          </a:xfrm>
        </p:spPr>
        <p:txBody>
          <a:bodyPr anchor="ctr"/>
          <a:lstStyle>
            <a:lvl1pPr marL="0" indent="0" algn="ctr">
              <a:buNone/>
              <a:defRPr baseline="-25000"/>
            </a:lvl1pPr>
          </a:lstStyle>
          <a:p>
            <a:endParaRPr lang="nl-BE"/>
          </a:p>
        </p:txBody>
      </p:sp>
      <p:sp>
        <p:nvSpPr>
          <p:cNvPr id="10" name="Gelijkbenige driehoek 9">
            <a:extLst>
              <a:ext uri="{FF2B5EF4-FFF2-40B4-BE49-F238E27FC236}">
                <a16:creationId xmlns:a16="http://schemas.microsoft.com/office/drawing/2014/main" id="{83AC5738-621C-4857-A498-30728DB03399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3328971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146321D-6FEB-4DB2-A1BE-8F6F0E01F7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89799" y="2727183"/>
            <a:ext cx="5162888" cy="2140319"/>
          </a:xfrm>
        </p:spPr>
        <p:txBody>
          <a:bodyPr/>
          <a:lstStyle>
            <a:lvl1pPr marL="0" indent="0">
              <a:buNone/>
              <a:defRPr sz="27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Quote groot: </a:t>
            </a:r>
            <a:r>
              <a:rPr lang="nl-NL" dirty="0" err="1"/>
              <a:t>occulpa</a:t>
            </a:r>
            <a:r>
              <a:rPr lang="nl-NL" dirty="0"/>
              <a:t> </a:t>
            </a:r>
            <a:r>
              <a:rPr lang="nl-NL" dirty="0" err="1"/>
              <a:t>etureicae</a:t>
            </a:r>
            <a:r>
              <a:rPr lang="nl-NL" dirty="0"/>
              <a:t> </a:t>
            </a:r>
            <a:r>
              <a:rPr lang="nl-NL" dirty="0" err="1"/>
              <a:t>sit</a:t>
            </a:r>
            <a:r>
              <a:rPr lang="nl-NL" dirty="0"/>
              <a:t> </a:t>
            </a:r>
            <a:r>
              <a:rPr lang="nl-NL" dirty="0" err="1"/>
              <a:t>dolorae</a:t>
            </a:r>
            <a:r>
              <a:rPr lang="nl-NL" dirty="0"/>
              <a:t>. </a:t>
            </a:r>
            <a:r>
              <a:rPr lang="nl-NL" dirty="0" err="1"/>
              <a:t>Nemporese</a:t>
            </a:r>
            <a:r>
              <a:rPr lang="nl-NL" dirty="0"/>
              <a:t> </a:t>
            </a:r>
            <a:r>
              <a:rPr lang="nl-NL" dirty="0" err="1"/>
              <a:t>endae</a:t>
            </a:r>
            <a:r>
              <a:rPr lang="nl-NL" dirty="0"/>
              <a:t> </a:t>
            </a:r>
            <a:r>
              <a:rPr lang="nl-NL" dirty="0" err="1"/>
              <a:t>am</a:t>
            </a:r>
            <a:r>
              <a:rPr lang="nl-NL" dirty="0"/>
              <a:t>, ad </a:t>
            </a:r>
            <a:r>
              <a:rPr lang="nl-NL" dirty="0" err="1"/>
              <a:t>quatecum</a:t>
            </a:r>
            <a:r>
              <a:rPr lang="nl-NL" dirty="0"/>
              <a:t> </a:t>
            </a:r>
            <a:r>
              <a:rPr lang="nl-NL" dirty="0" err="1"/>
              <a:t>fugiaeperunt</a:t>
            </a:r>
            <a:r>
              <a:rPr lang="nl-NL" dirty="0"/>
              <a:t> </a:t>
            </a:r>
            <a:r>
              <a:rPr lang="nl-NL" dirty="0" err="1"/>
              <a:t>unt</a:t>
            </a:r>
            <a:r>
              <a:rPr lang="nl-NL" dirty="0"/>
              <a:t>. </a:t>
            </a:r>
            <a:r>
              <a:rPr lang="nl-NL" dirty="0" err="1"/>
              <a:t>Atia</a:t>
            </a:r>
            <a:r>
              <a:rPr lang="nl-NL" dirty="0"/>
              <a:t> </a:t>
            </a:r>
            <a:r>
              <a:rPr lang="nl-NL" dirty="0" err="1"/>
              <a:t>sam</a:t>
            </a:r>
            <a:r>
              <a:rPr lang="nl-NL" dirty="0"/>
              <a:t> que </a:t>
            </a:r>
            <a:r>
              <a:rPr lang="nl-NL" dirty="0" err="1"/>
              <a:t>quamustrum</a:t>
            </a:r>
            <a:r>
              <a:rPr lang="nl-NL" dirty="0"/>
              <a:t> </a:t>
            </a:r>
            <a:r>
              <a:rPr lang="nl-NL" dirty="0" err="1"/>
              <a:t>fugiam</a:t>
            </a:r>
            <a:r>
              <a:rPr lang="nl-NL" dirty="0"/>
              <a:t> </a:t>
            </a:r>
            <a:r>
              <a:rPr lang="nl-NL" dirty="0" err="1"/>
              <a:t>quis</a:t>
            </a:r>
            <a:r>
              <a:rPr lang="nl-NL" dirty="0"/>
              <a:t> </a:t>
            </a:r>
            <a:r>
              <a:rPr lang="nl-NL" dirty="0" err="1"/>
              <a:t>corempo</a:t>
            </a:r>
            <a:r>
              <a:rPr lang="nl-NL" dirty="0"/>
              <a:t> </a:t>
            </a:r>
            <a:r>
              <a:rPr lang="nl-NL" dirty="0" err="1"/>
              <a:t>restium</a:t>
            </a:r>
            <a:r>
              <a:rPr lang="nl-NL" dirty="0"/>
              <a:t> </a:t>
            </a:r>
            <a:r>
              <a:rPr lang="nl-NL" dirty="0" err="1"/>
              <a:t>ero</a:t>
            </a:r>
            <a:r>
              <a:rPr lang="nl-NL" dirty="0"/>
              <a:t>.</a:t>
            </a:r>
            <a:endParaRPr lang="nl-BE" dirty="0"/>
          </a:p>
        </p:txBody>
      </p:sp>
      <p:sp>
        <p:nvSpPr>
          <p:cNvPr id="17" name="Gelijkbenige driehoek 16">
            <a:extLst>
              <a:ext uri="{FF2B5EF4-FFF2-40B4-BE49-F238E27FC236}">
                <a16:creationId xmlns:a16="http://schemas.microsoft.com/office/drawing/2014/main" id="{C9E84D4C-76DA-4E4E-9F21-DB0F8DC87F65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7BE966C4-F2D9-4A05-8182-0E3CB210AD5F}"/>
              </a:ext>
            </a:extLst>
          </p:cNvPr>
          <p:cNvSpPr/>
          <p:nvPr userDrawn="1"/>
        </p:nvSpPr>
        <p:spPr>
          <a:xfrm>
            <a:off x="10179781" y="5632057"/>
            <a:ext cx="2012219" cy="1225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4F015E38-B67E-4A5F-B168-2C2166D851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5073" y="6073679"/>
            <a:ext cx="1153603" cy="37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029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quote met na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CD9E304B-9EEF-4540-A2A5-7D039634D7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73615" y="4537479"/>
            <a:ext cx="1008000" cy="1008000"/>
          </a:xfrm>
        </p:spPr>
        <p:txBody>
          <a:bodyPr anchor="ctr"/>
          <a:lstStyle>
            <a:lvl1pPr marL="0" indent="0" algn="ctr">
              <a:buNone/>
              <a:defRPr sz="2000" baseline="-25000"/>
            </a:lvl1pPr>
          </a:lstStyle>
          <a:p>
            <a:endParaRPr lang="nl-BE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146321D-6FEB-4DB2-A1BE-8F6F0E01F7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89799" y="2185019"/>
            <a:ext cx="5162888" cy="2140319"/>
          </a:xfrm>
        </p:spPr>
        <p:txBody>
          <a:bodyPr/>
          <a:lstStyle>
            <a:lvl1pPr marL="0" indent="0">
              <a:buNone/>
              <a:defRPr sz="27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Quote groot: </a:t>
            </a:r>
            <a:r>
              <a:rPr lang="nl-NL" dirty="0" err="1"/>
              <a:t>occulpa</a:t>
            </a:r>
            <a:r>
              <a:rPr lang="nl-NL" dirty="0"/>
              <a:t> </a:t>
            </a:r>
            <a:r>
              <a:rPr lang="nl-NL" dirty="0" err="1"/>
              <a:t>etureicae</a:t>
            </a:r>
            <a:r>
              <a:rPr lang="nl-NL" dirty="0"/>
              <a:t> </a:t>
            </a:r>
            <a:r>
              <a:rPr lang="nl-NL" dirty="0" err="1"/>
              <a:t>sit</a:t>
            </a:r>
            <a:r>
              <a:rPr lang="nl-NL" dirty="0"/>
              <a:t> </a:t>
            </a:r>
            <a:r>
              <a:rPr lang="nl-NL" dirty="0" err="1"/>
              <a:t>dolorae</a:t>
            </a:r>
            <a:r>
              <a:rPr lang="nl-NL" dirty="0"/>
              <a:t>. </a:t>
            </a:r>
            <a:r>
              <a:rPr lang="nl-NL" dirty="0" err="1"/>
              <a:t>Nemporese</a:t>
            </a:r>
            <a:r>
              <a:rPr lang="nl-NL" dirty="0"/>
              <a:t> </a:t>
            </a:r>
            <a:r>
              <a:rPr lang="nl-NL" dirty="0" err="1"/>
              <a:t>endae</a:t>
            </a:r>
            <a:r>
              <a:rPr lang="nl-NL" dirty="0"/>
              <a:t> </a:t>
            </a:r>
            <a:r>
              <a:rPr lang="nl-NL" dirty="0" err="1"/>
              <a:t>am</a:t>
            </a:r>
            <a:r>
              <a:rPr lang="nl-NL" dirty="0"/>
              <a:t>, ad </a:t>
            </a:r>
            <a:r>
              <a:rPr lang="nl-NL" dirty="0" err="1"/>
              <a:t>quatecum</a:t>
            </a:r>
            <a:r>
              <a:rPr lang="nl-NL" dirty="0"/>
              <a:t> </a:t>
            </a:r>
            <a:r>
              <a:rPr lang="nl-NL" dirty="0" err="1"/>
              <a:t>fugiaeperunt</a:t>
            </a:r>
            <a:r>
              <a:rPr lang="nl-NL" dirty="0"/>
              <a:t> </a:t>
            </a:r>
            <a:r>
              <a:rPr lang="nl-NL" dirty="0" err="1"/>
              <a:t>unt</a:t>
            </a:r>
            <a:r>
              <a:rPr lang="nl-NL" dirty="0"/>
              <a:t>. </a:t>
            </a:r>
            <a:r>
              <a:rPr lang="nl-NL" dirty="0" err="1"/>
              <a:t>Atia</a:t>
            </a:r>
            <a:r>
              <a:rPr lang="nl-NL" dirty="0"/>
              <a:t> </a:t>
            </a:r>
            <a:r>
              <a:rPr lang="nl-NL" dirty="0" err="1"/>
              <a:t>sam</a:t>
            </a:r>
            <a:r>
              <a:rPr lang="nl-NL" dirty="0"/>
              <a:t> que </a:t>
            </a:r>
            <a:r>
              <a:rPr lang="nl-NL" dirty="0" err="1"/>
              <a:t>quamustrum</a:t>
            </a:r>
            <a:r>
              <a:rPr lang="nl-NL" dirty="0"/>
              <a:t> </a:t>
            </a:r>
            <a:r>
              <a:rPr lang="nl-NL" dirty="0" err="1"/>
              <a:t>fugiam</a:t>
            </a:r>
            <a:r>
              <a:rPr lang="nl-NL" dirty="0"/>
              <a:t> </a:t>
            </a:r>
            <a:r>
              <a:rPr lang="nl-NL" dirty="0" err="1"/>
              <a:t>quis</a:t>
            </a:r>
            <a:r>
              <a:rPr lang="nl-NL" dirty="0"/>
              <a:t> </a:t>
            </a:r>
            <a:r>
              <a:rPr lang="nl-NL" dirty="0" err="1"/>
              <a:t>corempo</a:t>
            </a:r>
            <a:r>
              <a:rPr lang="nl-NL" dirty="0"/>
              <a:t> </a:t>
            </a:r>
            <a:r>
              <a:rPr lang="nl-NL" dirty="0" err="1"/>
              <a:t>restium</a:t>
            </a:r>
            <a:r>
              <a:rPr lang="nl-NL" dirty="0"/>
              <a:t> </a:t>
            </a:r>
            <a:r>
              <a:rPr lang="nl-NL" dirty="0" err="1"/>
              <a:t>ero</a:t>
            </a:r>
            <a:r>
              <a:rPr lang="nl-NL" dirty="0"/>
              <a:t>.</a:t>
            </a:r>
            <a:endParaRPr lang="nl-BE" dirty="0"/>
          </a:p>
        </p:txBody>
      </p:sp>
      <p:sp>
        <p:nvSpPr>
          <p:cNvPr id="11" name="Tijdelijke aanduiding voor tekst 9">
            <a:extLst>
              <a:ext uri="{FF2B5EF4-FFF2-40B4-BE49-F238E27FC236}">
                <a16:creationId xmlns:a16="http://schemas.microsoft.com/office/drawing/2014/main" id="{65E274DD-5F46-4B35-A5AC-31E6BE89C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55982" y="4574866"/>
            <a:ext cx="6308725" cy="466613"/>
          </a:xfrm>
        </p:spPr>
        <p:txBody>
          <a:bodyPr anchor="b"/>
          <a:lstStyle>
            <a:lvl1pPr marL="0" indent="0">
              <a:buFontTx/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Naam Achternaam</a:t>
            </a:r>
            <a:endParaRPr lang="nl-BE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DA29B528-8ACF-4D4D-B37B-A6AAB88026F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55982" y="5041479"/>
            <a:ext cx="1909500" cy="466613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/>
                </a:solidFill>
                <a:latin typeface="+mj-lt"/>
              </a:defRPr>
            </a:lvl1pPr>
            <a:lvl2pPr marL="358163" indent="0">
              <a:buNone/>
              <a:defRPr sz="2200">
                <a:latin typeface="+mj-lt"/>
              </a:defRPr>
            </a:lvl2pPr>
            <a:lvl3pPr marL="720000" indent="0">
              <a:buNone/>
              <a:defRPr sz="2200">
                <a:latin typeface="+mj-lt"/>
              </a:defRPr>
            </a:lvl3pPr>
            <a:lvl4pPr marL="1080000" indent="0">
              <a:buNone/>
              <a:defRPr sz="2200">
                <a:latin typeface="+mj-lt"/>
              </a:defRPr>
            </a:lvl4pPr>
            <a:lvl5pPr marL="1440000" indent="0">
              <a:buNone/>
              <a:defRPr sz="2200">
                <a:latin typeface="+mj-lt"/>
              </a:defRPr>
            </a:lvl5pPr>
          </a:lstStyle>
          <a:p>
            <a:pPr lvl="0"/>
            <a:r>
              <a:rPr lang="nl-NL" dirty="0"/>
              <a:t>Datum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96691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en titel en inhou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5843A7B-9F3B-480D-AD2E-C3AACED19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44671" y="1769806"/>
            <a:ext cx="4036181" cy="1269552"/>
          </a:xfrm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DDAC10B-1AED-4A32-B7C4-E04362F3B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44672" y="3047450"/>
            <a:ext cx="4036182" cy="2549854"/>
          </a:xfrm>
        </p:spPr>
        <p:txBody>
          <a:bodyPr/>
          <a:lstStyle>
            <a:lvl1pPr marL="0" indent="0">
              <a:buNone/>
              <a:defRPr/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4202EC0-7C3F-449D-A78C-41C97D42D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CE90316-0261-473A-89DB-C22973630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9AAC146-4636-4E5A-A84D-9EC96FAB2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DC69D467-5BA6-489C-BF11-65D772B5B4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602B1D0A-36A5-4B59-853B-DAA887AFB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13" name="Tijdelijke aanduiding voor grafiek 12">
            <a:extLst>
              <a:ext uri="{FF2B5EF4-FFF2-40B4-BE49-F238E27FC236}">
                <a16:creationId xmlns:a16="http://schemas.microsoft.com/office/drawing/2014/main" id="{FF732A83-4257-4217-8FBA-FB64E01272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96001" y="1295400"/>
            <a:ext cx="6401310" cy="46116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89662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en 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4202EC0-7C3F-449D-A78C-41C97D42D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CE90316-0261-473A-89DB-C22973630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9AAC146-4636-4E5A-A84D-9EC96FAB2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DC69D467-5BA6-489C-BF11-65D772B5B4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602B1D0A-36A5-4B59-853B-DAA887AFB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13" name="Tijdelijke aanduiding voor grafiek 12">
            <a:extLst>
              <a:ext uri="{FF2B5EF4-FFF2-40B4-BE49-F238E27FC236}">
                <a16:creationId xmlns:a16="http://schemas.microsoft.com/office/drawing/2014/main" id="{FF732A83-4257-4217-8FBA-FB64E01272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1280400" y="1295400"/>
            <a:ext cx="9301567" cy="46116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19133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BCCE59-2411-4F31-B2FA-A0E3C2D3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E3473E5-12B3-4067-8FAB-0C045297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5205202-803B-40C0-8FCF-E7381AE4E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3488137-6613-43C0-B311-4B1FB099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6" name="Tijdelijke aanduiding voor tekst 7">
            <a:extLst>
              <a:ext uri="{FF2B5EF4-FFF2-40B4-BE49-F238E27FC236}">
                <a16:creationId xmlns:a16="http://schemas.microsoft.com/office/drawing/2014/main" id="{591161BA-2045-41AE-B361-A0AB563B57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93497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7DF97DE-814F-4A02-925B-4FA8DC174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39C6991-A2F7-45F1-A24C-12CAC083E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91E0077-B4BD-4C07-BC35-57BD3CDF0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53358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A2C12ED-88A7-4813-9ECA-D67FA6D81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612000"/>
            <a:ext cx="10515600" cy="68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05F5B42-3528-42D1-A27E-87182BBDF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0328" y="2729021"/>
            <a:ext cx="9281274" cy="30905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4F6AD4E-0376-4AAB-8907-1E42C4537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98576" y="6264004"/>
            <a:ext cx="274320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141D534-2D3B-4E3E-93F0-6E17F620A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246" y="6264211"/>
            <a:ext cx="411480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AC6B2CE-C5EC-498A-A0F1-8E7B718BB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4291" y="6264211"/>
            <a:ext cx="28800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C54CFD1D-AE9F-4E01-BB96-1FD87EDE6CC2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5073" y="6073683"/>
            <a:ext cx="1153603" cy="370307"/>
          </a:xfrm>
          <a:prstGeom prst="rect">
            <a:avLst/>
          </a:prstGeom>
        </p:spPr>
      </p:pic>
      <p:sp>
        <p:nvSpPr>
          <p:cNvPr id="10" name="Gelijkbenige driehoek 9">
            <a:extLst>
              <a:ext uri="{FF2B5EF4-FFF2-40B4-BE49-F238E27FC236}">
                <a16:creationId xmlns:a16="http://schemas.microsoft.com/office/drawing/2014/main" id="{91F4572B-450D-4A18-A92E-3CDA65745A0D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3853335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49" r:id="rId2"/>
    <p:sldLayoutId id="2147483667" r:id="rId3"/>
    <p:sldLayoutId id="2147483650" r:id="rId4"/>
    <p:sldLayoutId id="2147483661" r:id="rId5"/>
    <p:sldLayoutId id="2147483652" r:id="rId6"/>
    <p:sldLayoutId id="2147483651" r:id="rId7"/>
    <p:sldLayoutId id="2147483663" r:id="rId8"/>
    <p:sldLayoutId id="2147483666" r:id="rId9"/>
    <p:sldLayoutId id="2147483664" r:id="rId10"/>
    <p:sldLayoutId id="2147483665" r:id="rId11"/>
    <p:sldLayoutId id="2147483653" r:id="rId12"/>
    <p:sldLayoutId id="2147483669" r:id="rId13"/>
    <p:sldLayoutId id="2147483654" r:id="rId14"/>
    <p:sldLayoutId id="2147483655" r:id="rId15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7800" indent="-1778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0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62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nnectionstrings.com/" TargetMode="Externa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ef/core/modeling/relationships/one-to-many#one-to-many-without-navigation-to-principal" TargetMode="External"/><Relationship Id="rId2" Type="http://schemas.openxmlformats.org/officeDocument/2006/relationships/hyperlink" Target="https://learn.microsoft.com/en-us/ef/core/modeling/relationships/one-to-many#required-one-to-many-with-shadow-foreign-key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learnentityframeworkcore.com/configuration/fluent-api" TargetMode="Externa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earnentityframeworkcore.com/configuration/fluent-api" TargetMode="Externa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3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earnentityframeworkcore.com/dbset/querying-data" TargetMode="Externa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180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718ED56-9B95-423B-8216-9F178AD2C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1247" y="1424767"/>
            <a:ext cx="10287043" cy="1447247"/>
          </a:xfrm>
        </p:spPr>
        <p:txBody>
          <a:bodyPr/>
          <a:lstStyle/>
          <a:p>
            <a:r>
              <a:rPr lang="nl-BE" dirty="0"/>
              <a:t>Business Application Development</a:t>
            </a:r>
          </a:p>
        </p:txBody>
      </p:sp>
      <p:sp>
        <p:nvSpPr>
          <p:cNvPr id="5" name="Ondertitel 4">
            <a:extLst>
              <a:ext uri="{FF2B5EF4-FFF2-40B4-BE49-F238E27FC236}">
                <a16:creationId xmlns:a16="http://schemas.microsoft.com/office/drawing/2014/main" id="{124F62E7-84EB-4132-BAC4-04FD56CAD6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 err="1"/>
              <a:t>Entity</a:t>
            </a:r>
            <a:r>
              <a:rPr lang="nl-BE" dirty="0"/>
              <a:t> Framework </a:t>
            </a:r>
            <a:r>
              <a:rPr lang="nl-BE" dirty="0" err="1"/>
              <a:t>Core</a:t>
            </a:r>
            <a:endParaRPr lang="nl-BE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18169475-DD59-4D84-BD2E-FA0DFEC69F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40603" y="3988604"/>
            <a:ext cx="6308725" cy="466613"/>
          </a:xfrm>
        </p:spPr>
        <p:txBody>
          <a:bodyPr/>
          <a:lstStyle/>
          <a:p>
            <a:r>
              <a:rPr lang="nl-BE" dirty="0"/>
              <a:t>Sam Van Buggenhout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38443782-7588-4BA1-A888-94A8DEFEE0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40603" y="4486230"/>
            <a:ext cx="4662487" cy="1617663"/>
          </a:xfrm>
        </p:spPr>
        <p:txBody>
          <a:bodyPr/>
          <a:lstStyle/>
          <a:p>
            <a:r>
              <a:rPr lang="nl-BE"/>
              <a:t>Academiejaar 2025-2026</a:t>
            </a:r>
            <a:endParaRPr lang="nl-BE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83EA1070-FA06-4A00-A759-4ACED8B01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FC613BBA-66FF-4B29-8641-2A8DBF9F4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2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410289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D9A78874-CA76-4C66-8AB0-DB0467756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7891" y="1472277"/>
            <a:ext cx="5082300" cy="4974496"/>
          </a:xfrm>
        </p:spPr>
        <p:txBody>
          <a:bodyPr numCol="2" anchor="ctr"/>
          <a:lstStyle/>
          <a:p>
            <a:pPr>
              <a:spcBef>
                <a:spcPts val="600"/>
              </a:spcBef>
            </a:pPr>
            <a:r>
              <a:rPr lang="nl-BE" dirty="0"/>
              <a:t>Inleiding</a:t>
            </a:r>
          </a:p>
          <a:p>
            <a:pPr>
              <a:spcBef>
                <a:spcPts val="600"/>
              </a:spcBef>
            </a:pPr>
            <a:r>
              <a:rPr lang="nl-BE" dirty="0"/>
              <a:t>Code-first</a:t>
            </a:r>
          </a:p>
          <a:p>
            <a:pPr>
              <a:spcBef>
                <a:spcPts val="600"/>
              </a:spcBef>
            </a:pPr>
            <a:r>
              <a:rPr lang="nl-BE" dirty="0"/>
              <a:t>Relaties</a:t>
            </a:r>
          </a:p>
          <a:p>
            <a:pPr>
              <a:spcBef>
                <a:spcPts val="600"/>
              </a:spcBef>
            </a:pPr>
            <a:r>
              <a:rPr lang="nl-BE" dirty="0"/>
              <a:t>Configuratie (</a:t>
            </a:r>
            <a:r>
              <a:rPr lang="nl-BE" dirty="0" err="1"/>
              <a:t>Annotations</a:t>
            </a:r>
            <a:r>
              <a:rPr lang="nl-BE" dirty="0"/>
              <a:t>)</a:t>
            </a:r>
          </a:p>
          <a:p>
            <a:pPr>
              <a:spcBef>
                <a:spcPts val="600"/>
              </a:spcBef>
            </a:pPr>
            <a:r>
              <a:rPr lang="nl-BE" dirty="0" err="1"/>
              <a:t>DbContext</a:t>
            </a:r>
            <a:endParaRPr lang="nl-BE" dirty="0"/>
          </a:p>
          <a:p>
            <a:pPr>
              <a:spcBef>
                <a:spcPts val="600"/>
              </a:spcBef>
            </a:pPr>
            <a:endParaRPr lang="nl-BE" dirty="0"/>
          </a:p>
          <a:p>
            <a:pPr>
              <a:spcBef>
                <a:spcPts val="600"/>
              </a:spcBef>
            </a:pPr>
            <a:endParaRPr lang="nl-BE" dirty="0"/>
          </a:p>
          <a:p>
            <a:pPr>
              <a:spcBef>
                <a:spcPts val="600"/>
              </a:spcBef>
            </a:pPr>
            <a:endParaRPr lang="nl-BE" dirty="0"/>
          </a:p>
          <a:p>
            <a:pPr>
              <a:spcBef>
                <a:spcPts val="600"/>
              </a:spcBef>
            </a:pPr>
            <a:endParaRPr lang="nl-BE" dirty="0"/>
          </a:p>
          <a:p>
            <a:pPr>
              <a:spcBef>
                <a:spcPts val="600"/>
              </a:spcBef>
            </a:pPr>
            <a:endParaRPr lang="nl-BE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1EB6E6A-9EE0-4FEF-9807-DEC31A15C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59CE2FD-DE76-4295-BF54-E1613FCA4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3</a:t>
            </a:fld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A0A295-80B1-4C2D-84A2-CDB3F603861C}"/>
              </a:ext>
            </a:extLst>
          </p:cNvPr>
          <p:cNvSpPr txBox="1"/>
          <p:nvPr/>
        </p:nvSpPr>
        <p:spPr>
          <a:xfrm>
            <a:off x="8520493" y="1479548"/>
            <a:ext cx="4031226" cy="3780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3800"/>
              </a:lnSpc>
              <a:spcBef>
                <a:spcPts val="600"/>
              </a:spcBef>
            </a:pPr>
            <a:r>
              <a:rPr lang="nl-BE" sz="3200" b="1" dirty="0" err="1">
                <a:solidFill>
                  <a:srgbClr val="1F416B"/>
                </a:solidFill>
                <a:latin typeface="Calibri"/>
              </a:rPr>
              <a:t>Fluent</a:t>
            </a:r>
            <a:r>
              <a:rPr lang="nl-BE" sz="3200" b="1" dirty="0">
                <a:solidFill>
                  <a:srgbClr val="1F416B"/>
                </a:solidFill>
                <a:latin typeface="Calibri"/>
              </a:rPr>
              <a:t> API</a:t>
            </a:r>
            <a:endParaRPr lang="nl-BE" sz="3200" b="1" dirty="0">
              <a:latin typeface="+mj-lt"/>
            </a:endParaRPr>
          </a:p>
          <a:p>
            <a:pPr>
              <a:spcBef>
                <a:spcPts val="600"/>
              </a:spcBef>
            </a:pPr>
            <a:r>
              <a:rPr lang="nl-BE" sz="3200" b="1" dirty="0" err="1">
                <a:latin typeface="+mj-lt"/>
              </a:rPr>
              <a:t>Migrations</a:t>
            </a:r>
            <a:endParaRPr lang="nl-BE" sz="3200" b="1" dirty="0">
              <a:latin typeface="+mj-lt"/>
            </a:endParaRPr>
          </a:p>
          <a:p>
            <a:pPr>
              <a:spcBef>
                <a:spcPts val="600"/>
              </a:spcBef>
            </a:pPr>
            <a:r>
              <a:rPr lang="nl-BE" sz="3200" b="1" dirty="0" err="1">
                <a:latin typeface="+mj-lt"/>
              </a:rPr>
              <a:t>Seeding</a:t>
            </a:r>
            <a:endParaRPr lang="nl-BE" sz="3200" b="1" dirty="0">
              <a:latin typeface="+mj-lt"/>
            </a:endParaRPr>
          </a:p>
          <a:p>
            <a:pPr>
              <a:spcBef>
                <a:spcPts val="600"/>
              </a:spcBef>
            </a:pPr>
            <a:r>
              <a:rPr lang="nl-BE" sz="3200" b="1" dirty="0">
                <a:latin typeface="+mj-lt"/>
              </a:rPr>
              <a:t>CRUD</a:t>
            </a:r>
          </a:p>
          <a:p>
            <a:pPr>
              <a:spcBef>
                <a:spcPts val="600"/>
              </a:spcBef>
            </a:pPr>
            <a:r>
              <a:rPr lang="nl-BE" sz="3200" b="1" dirty="0" err="1">
                <a:latin typeface="+mj-lt"/>
              </a:rPr>
              <a:t>Lazy</a:t>
            </a:r>
            <a:r>
              <a:rPr lang="nl-BE" sz="3200" b="1" dirty="0">
                <a:latin typeface="+mj-lt"/>
              </a:rPr>
              <a:t> </a:t>
            </a:r>
            <a:r>
              <a:rPr lang="nl-BE" sz="3200" b="1" dirty="0" err="1">
                <a:latin typeface="+mj-lt"/>
              </a:rPr>
              <a:t>Loading</a:t>
            </a:r>
            <a:endParaRPr lang="nl-BE" sz="3200" b="1" dirty="0">
              <a:latin typeface="+mj-lt"/>
            </a:endParaRPr>
          </a:p>
          <a:p>
            <a:pPr>
              <a:spcBef>
                <a:spcPts val="600"/>
              </a:spcBef>
            </a:pPr>
            <a:r>
              <a:rPr lang="nl-BE" sz="3200" b="1" dirty="0" err="1">
                <a:latin typeface="+mj-lt"/>
              </a:rPr>
              <a:t>Cascading</a:t>
            </a:r>
            <a:endParaRPr lang="nl-BE" dirty="0"/>
          </a:p>
          <a:p>
            <a:pPr>
              <a:spcBef>
                <a:spcPts val="600"/>
              </a:spcBef>
            </a:pPr>
            <a:endParaRPr lang="nl-BE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10ED5F0-52A2-493E-B0DC-8AD33139F942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09927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DF56-8F19-4DE8-9680-3B24FB264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D2BF5-3C8D-44B9-916E-07459E9C2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4B247F-694C-4189-93CD-010E7DA7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0506E5-6B0D-4986-8F59-626F92D9A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AFAAA7-34C9-4E82-91C1-FC11DAE03A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57459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DDF74-A546-4861-9152-325E534C8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is </a:t>
            </a:r>
            <a:r>
              <a:rPr lang="nl-BE" dirty="0" err="1"/>
              <a:t>Entity</a:t>
            </a:r>
            <a:r>
              <a:rPr lang="nl-BE" dirty="0"/>
              <a:t> Framework?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28B98-22E4-4126-BED1-C1DAAA466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1585625"/>
            <a:ext cx="10337322" cy="415641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err="1"/>
              <a:t>Entity</a:t>
            </a:r>
            <a:r>
              <a:rPr lang="nl-BE" dirty="0"/>
              <a:t> Framework is een </a:t>
            </a:r>
            <a:r>
              <a:rPr lang="nl-BE" b="1" dirty="0">
                <a:solidFill>
                  <a:schemeClr val="accent6"/>
                </a:solidFill>
              </a:rPr>
              <a:t>ORM-</a:t>
            </a:r>
            <a:r>
              <a:rPr lang="nl-BE" b="1" dirty="0" err="1">
                <a:solidFill>
                  <a:schemeClr val="accent6"/>
                </a:solidFill>
              </a:rPr>
              <a:t>framework</a:t>
            </a:r>
            <a:endParaRPr lang="nl-BE" b="1" dirty="0">
              <a:solidFill>
                <a:schemeClr val="accent6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ORM = </a:t>
            </a:r>
            <a:r>
              <a:rPr lang="nl-BE" b="1" dirty="0">
                <a:solidFill>
                  <a:schemeClr val="accent6"/>
                </a:solidFill>
              </a:rPr>
              <a:t>O</a:t>
            </a:r>
            <a:r>
              <a:rPr lang="nl-BE" dirty="0"/>
              <a:t>bject </a:t>
            </a:r>
            <a:r>
              <a:rPr lang="nl-BE" b="1" dirty="0" err="1">
                <a:solidFill>
                  <a:schemeClr val="accent6"/>
                </a:solidFill>
              </a:rPr>
              <a:t>R</a:t>
            </a:r>
            <a:r>
              <a:rPr lang="nl-BE" dirty="0" err="1"/>
              <a:t>elational</a:t>
            </a:r>
            <a:r>
              <a:rPr lang="nl-BE" dirty="0"/>
              <a:t> </a:t>
            </a:r>
            <a:r>
              <a:rPr lang="nl-BE" b="1" dirty="0" err="1">
                <a:solidFill>
                  <a:schemeClr val="accent6"/>
                </a:solidFill>
              </a:rPr>
              <a:t>M</a:t>
            </a:r>
            <a:r>
              <a:rPr lang="nl-BE" dirty="0" err="1"/>
              <a:t>apping</a:t>
            </a:r>
            <a:endParaRPr lang="nl-BE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Doel: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Gegevens van een applicatie worden vaak bewaard in databank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MAAR: applicatie (C#-code) werkt met </a:t>
            </a:r>
            <a:r>
              <a:rPr lang="nl-BE" sz="2400" dirty="0" err="1"/>
              <a:t>klasses</a:t>
            </a:r>
            <a:r>
              <a:rPr lang="nl-BE" sz="2400" dirty="0"/>
              <a:t> en objecten, databanken werken met tabellen, kolommen en rijen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Bij bewaren/ophalen van data </a:t>
            </a:r>
            <a:r>
              <a:rPr lang="nl-BE" sz="2400" dirty="0">
                <a:sym typeface="Wingdings" panose="05000000000000000000" pitchFamily="2" charset="2"/>
              </a:rPr>
              <a:t> omzetting nodig van C# objecten van en naar database-rijen 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>
                <a:sym typeface="Wingdings" panose="05000000000000000000" pitchFamily="2" charset="2"/>
              </a:rPr>
              <a:t>ORM = tool (</a:t>
            </a:r>
            <a:r>
              <a:rPr lang="nl-BE" sz="2400" dirty="0" err="1">
                <a:sym typeface="Wingdings" panose="05000000000000000000" pitchFamily="2" charset="2"/>
              </a:rPr>
              <a:t>framework</a:t>
            </a:r>
            <a:r>
              <a:rPr lang="nl-BE" sz="2400" dirty="0">
                <a:sym typeface="Wingdings" panose="05000000000000000000" pitchFamily="2" charset="2"/>
              </a:rPr>
              <a:t>) die deze omzetting automatiseert</a:t>
            </a:r>
            <a:endParaRPr lang="nl-B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AB53A-F3D3-4640-93E9-24A8B2AF3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2A1CF-376A-40C2-81AE-2230CB4A6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8CE076E-354A-4464-A190-3B671CD832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6048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DDF74-A546-4861-9152-325E534C8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is </a:t>
            </a:r>
            <a:r>
              <a:rPr lang="nl-BE" dirty="0" err="1"/>
              <a:t>Entity</a:t>
            </a:r>
            <a:r>
              <a:rPr lang="nl-BE" dirty="0"/>
              <a:t> Framework?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AB53A-F3D3-4640-93E9-24A8B2AF3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2A1CF-376A-40C2-81AE-2230CB4A6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8CE076E-354A-4464-A190-3B671CD832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AD4B6BF-8FEB-40EE-8DC0-620AA69C4645}"/>
              </a:ext>
            </a:extLst>
          </p:cNvPr>
          <p:cNvGrpSpPr/>
          <p:nvPr/>
        </p:nvGrpSpPr>
        <p:grpSpPr>
          <a:xfrm>
            <a:off x="534291" y="2597172"/>
            <a:ext cx="10791032" cy="2365866"/>
            <a:chOff x="534291" y="2329993"/>
            <a:chExt cx="10791032" cy="236586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AD197A0-5F63-4FC1-92B4-C204FE23F25D}"/>
                </a:ext>
              </a:extLst>
            </p:cNvPr>
            <p:cNvSpPr txBox="1"/>
            <p:nvPr/>
          </p:nvSpPr>
          <p:spPr>
            <a:xfrm>
              <a:off x="534291" y="2595060"/>
              <a:ext cx="4114800" cy="1384995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nl-BE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public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nl-BE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class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nl-BE" sz="12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Student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{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public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ID {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get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set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}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public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string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FirstName {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get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set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}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public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string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LastName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{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get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set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}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public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string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Email {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get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set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}</a:t>
              </a:r>
              <a:endParaRPr lang="nl-BE" sz="12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public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200" dirty="0" err="1">
                  <a:solidFill>
                    <a:srgbClr val="4F8291"/>
                  </a:solidFill>
                  <a:latin typeface="Consolas" panose="020B0609020204030204" pitchFamily="49" charset="0"/>
                </a:rPr>
                <a:t>DateTime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BirthDate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{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get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set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}</a:t>
              </a:r>
            </a:p>
            <a:p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}</a:t>
              </a:r>
              <a:endParaRPr lang="nl-BE" sz="1200" dirty="0"/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CBA97463-21F1-4B89-962C-E9CD5A8A40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04671" y="2329993"/>
              <a:ext cx="1806929" cy="19151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E7EEB41-6B94-4514-B6E0-DA290681C7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97877" y="3728616"/>
              <a:ext cx="827446" cy="967243"/>
            </a:xfrm>
            <a:prstGeom prst="rect">
              <a:avLst/>
            </a:prstGeom>
          </p:spPr>
        </p:pic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C7D766F-137F-4055-B096-34DE98CF9BC0}"/>
                </a:ext>
              </a:extLst>
            </p:cNvPr>
            <p:cNvSpPr/>
            <p:nvPr/>
          </p:nvSpPr>
          <p:spPr>
            <a:xfrm>
              <a:off x="5746171" y="2981557"/>
              <a:ext cx="2261420" cy="6120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nl-BE" sz="1600" b="1" dirty="0" err="1">
                  <a:latin typeface="+mj-lt"/>
                </a:rPr>
                <a:t>Entity</a:t>
              </a:r>
              <a:r>
                <a:rPr lang="nl-BE" sz="1600" b="1" dirty="0">
                  <a:latin typeface="+mj-lt"/>
                </a:rPr>
                <a:t> Framework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B717AD9-8699-4695-9DCD-47606A33B32C}"/>
                </a:ext>
              </a:extLst>
            </p:cNvPr>
            <p:cNvCxnSpPr>
              <a:stCxn id="9" idx="3"/>
              <a:endCxn id="12" idx="1"/>
            </p:cNvCxnSpPr>
            <p:nvPr/>
          </p:nvCxnSpPr>
          <p:spPr>
            <a:xfrm flipV="1">
              <a:off x="4649091" y="3287557"/>
              <a:ext cx="1097080" cy="1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80075A9-A91D-4E7D-ADA5-B9706AE19227}"/>
                </a:ext>
              </a:extLst>
            </p:cNvPr>
            <p:cNvCxnSpPr>
              <a:stCxn id="12" idx="3"/>
              <a:endCxn id="1026" idx="1"/>
            </p:cNvCxnSpPr>
            <p:nvPr/>
          </p:nvCxnSpPr>
          <p:spPr>
            <a:xfrm>
              <a:off x="8007591" y="3287557"/>
              <a:ext cx="1097080" cy="0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6C90F39-C7B6-4D1C-85F5-5227895D4BA9}"/>
              </a:ext>
            </a:extLst>
          </p:cNvPr>
          <p:cNvSpPr txBox="1"/>
          <p:nvPr/>
        </p:nvSpPr>
        <p:spPr>
          <a:xfrm>
            <a:off x="396000" y="2153214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u="sng" dirty="0"/>
              <a:t>C#-klasse (= “</a:t>
            </a:r>
            <a:r>
              <a:rPr lang="nl-BE" sz="1600" b="1" u="sng" dirty="0" err="1"/>
              <a:t>entity</a:t>
            </a:r>
            <a:r>
              <a:rPr lang="nl-BE" sz="1600" b="1" u="sng" dirty="0"/>
              <a:t>”)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A9226F-8398-401B-8535-93A6E5795B9C}"/>
              </a:ext>
            </a:extLst>
          </p:cNvPr>
          <p:cNvSpPr txBox="1"/>
          <p:nvPr/>
        </p:nvSpPr>
        <p:spPr>
          <a:xfrm>
            <a:off x="9104671" y="2153214"/>
            <a:ext cx="17304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u="sng" dirty="0"/>
              <a:t>Tabel (database)</a:t>
            </a:r>
          </a:p>
        </p:txBody>
      </p:sp>
    </p:spTree>
    <p:extLst>
      <p:ext uri="{BB962C8B-B14F-4D97-AF65-F5344CB8AC3E}">
        <p14:creationId xmlns:p14="http://schemas.microsoft.com/office/powerpoint/2010/main" val="253335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F3D78-1B3C-4B47-B98B-EDE370C31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Waarom </a:t>
            </a:r>
            <a:r>
              <a:rPr lang="nl-BE" dirty="0" err="1"/>
              <a:t>Entity</a:t>
            </a:r>
            <a:r>
              <a:rPr lang="nl-BE" dirty="0"/>
              <a:t> Framework gebruiken?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402CC-8D17-49C9-816A-F21244690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2207402"/>
            <a:ext cx="10038870" cy="313071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Voordelen en mogelijkheden: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Zelf geen SQL schrijven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Rijen in DB benaderen als C#-objecten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Data ophalen via LINQ-query’s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Afhandelen van relaties tussen data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Entity’s</a:t>
            </a:r>
            <a:r>
              <a:rPr lang="nl-BE" sz="2400" dirty="0"/>
              <a:t> (klassen) genereren op basis van bestaande DB (database-first)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DB tabellen genereren op basis van </a:t>
            </a:r>
            <a:r>
              <a:rPr lang="nl-BE" sz="2400" dirty="0" err="1"/>
              <a:t>Entity’s</a:t>
            </a:r>
            <a:r>
              <a:rPr lang="nl-BE" sz="2400" dirty="0"/>
              <a:t> (code-first)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98A31-6459-42D0-8BC8-4359C065A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66E71-1104-424A-AADF-488F91FCE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201027-21BF-4F23-BC3F-F8B4FA566D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12284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DC9E-8AF8-47E8-A020-E0446803C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Installatie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59B68-5C5A-4AA3-A07F-84E341EEF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297" y="1480104"/>
            <a:ext cx="9281274" cy="189499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Om </a:t>
            </a:r>
            <a:r>
              <a:rPr lang="nl-BE" dirty="0" err="1"/>
              <a:t>Entity</a:t>
            </a:r>
            <a:r>
              <a:rPr lang="nl-BE" dirty="0"/>
              <a:t> Framework te gebruiken, dien je de volgende packages te installeren (via </a:t>
            </a:r>
            <a:r>
              <a:rPr lang="nl-BE" dirty="0" err="1"/>
              <a:t>NuGet</a:t>
            </a:r>
            <a:r>
              <a:rPr lang="nl-BE" dirty="0"/>
              <a:t>):</a:t>
            </a:r>
          </a:p>
          <a:p>
            <a:pPr marL="815363" lvl="1" indent="-457200">
              <a:buFont typeface="Wingdings" panose="05000000000000000000" pitchFamily="2" charset="2"/>
              <a:buChar char="ü"/>
            </a:pPr>
            <a:r>
              <a:rPr lang="nl-BE" sz="2400" dirty="0"/>
              <a:t>EF </a:t>
            </a:r>
            <a:r>
              <a:rPr lang="nl-BE" sz="2400" dirty="0" err="1"/>
              <a:t>Core</a:t>
            </a:r>
            <a:r>
              <a:rPr lang="nl-BE" sz="2400" dirty="0"/>
              <a:t> DB Provider</a:t>
            </a:r>
          </a:p>
          <a:p>
            <a:pPr marL="815363" lvl="1" indent="-457200">
              <a:buFont typeface="Wingdings" panose="05000000000000000000" pitchFamily="2" charset="2"/>
              <a:buChar char="ü"/>
            </a:pPr>
            <a:r>
              <a:rPr lang="nl-BE" sz="2400" dirty="0"/>
              <a:t>EF </a:t>
            </a:r>
            <a:r>
              <a:rPr lang="nl-BE" sz="2400" dirty="0" err="1"/>
              <a:t>Core</a:t>
            </a:r>
            <a:r>
              <a:rPr lang="nl-BE" sz="2400" dirty="0"/>
              <a:t> Tools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899BB-1012-4BF8-979F-7DC7E92AE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957552-B4C5-4358-90C3-D846D7CFE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F4D8E5-5B39-4695-A5AE-51CD3216F6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748BF9-31BB-E5F1-18CA-E477A68F8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637" y="3661102"/>
            <a:ext cx="9345329" cy="19624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A6A9C65-9760-4A0E-92D7-F5324846ED04}"/>
              </a:ext>
            </a:extLst>
          </p:cNvPr>
          <p:cNvSpPr/>
          <p:nvPr/>
        </p:nvSpPr>
        <p:spPr>
          <a:xfrm>
            <a:off x="1401035" y="4642314"/>
            <a:ext cx="4048044" cy="865238"/>
          </a:xfrm>
          <a:prstGeom prst="rect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53295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357A4-206D-4BEC-9418-9BDA9591C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Installatie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82961-1C47-40D7-B1CC-B9DABD767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178" y="1421539"/>
            <a:ext cx="9281274" cy="138915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DB Provider = RDBMS-specifieke package voor communicatie met </a:t>
            </a:r>
            <a:r>
              <a:rPr lang="nl-BE" dirty="0" err="1"/>
              <a:t>Entity</a:t>
            </a:r>
            <a:r>
              <a:rPr lang="nl-BE" dirty="0"/>
              <a:t> Framework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Installeer correcte provider voor gewenste database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57DCD6-CE86-4AC0-B71C-64690912C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DEEFE2-42DE-40A4-BC62-4B9CE504B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C0CBA8-6C64-45D1-B032-51FD47640C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D8BA019-0425-4DA7-A4B0-BFF493730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075670"/>
              </p:ext>
            </p:extLst>
          </p:nvPr>
        </p:nvGraphicFramePr>
        <p:xfrm>
          <a:off x="386419" y="3555515"/>
          <a:ext cx="61422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5416">
                  <a:extLst>
                    <a:ext uri="{9D8B030D-6E8A-4147-A177-3AD203B41FA5}">
                      <a16:colId xmlns:a16="http://schemas.microsoft.com/office/drawing/2014/main" val="1706701460"/>
                    </a:ext>
                  </a:extLst>
                </a:gridCol>
                <a:gridCol w="4326784">
                  <a:extLst>
                    <a:ext uri="{9D8B030D-6E8A-4147-A177-3AD203B41FA5}">
                      <a16:colId xmlns:a16="http://schemas.microsoft.com/office/drawing/2014/main" val="34099998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RDBMS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DB Provider (Package)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913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MS SQL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b="0" i="1" dirty="0" err="1"/>
                        <a:t>Microsoft.EntityFrameworkCore.SqlServer</a:t>
                      </a:r>
                      <a:endParaRPr lang="nl-BE" b="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491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 err="1"/>
                        <a:t>SQLite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b="0" i="1" dirty="0" err="1"/>
                        <a:t>Microsoft.EntityFrameworkCore.Sqlite</a:t>
                      </a:r>
                      <a:endParaRPr lang="nl-BE" b="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544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 err="1"/>
                        <a:t>PostgreSQL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b="0" i="1" dirty="0" err="1"/>
                        <a:t>Npgsql.EntityFrameworkCore.PostgreSQL</a:t>
                      </a:r>
                      <a:endParaRPr lang="nl-BE" b="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370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 err="1"/>
                        <a:t>MySQL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b="0" i="1" dirty="0" err="1"/>
                        <a:t>MySql.Data.EntityFrameworkCore</a:t>
                      </a:r>
                      <a:endParaRPr lang="nl-BE" b="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5899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A809266-7209-4FED-9625-42E2CC4C5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8213" y="3487654"/>
            <a:ext cx="4994383" cy="199342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B2D9422-637A-4EE5-8CA9-FEE8B28DB16D}"/>
              </a:ext>
            </a:extLst>
          </p:cNvPr>
          <p:cNvSpPr/>
          <p:nvPr/>
        </p:nvSpPr>
        <p:spPr>
          <a:xfrm>
            <a:off x="6755363" y="4652631"/>
            <a:ext cx="4497355" cy="757084"/>
          </a:xfrm>
          <a:prstGeom prst="rect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54024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ED2F4-788A-4DFD-808F-441F40309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Code-First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E82B3-602A-47E8-90DC-28077622D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82DB2B-5CDD-47A1-BA06-657C96F7E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CBCF8E-E0AF-4F71-AF89-5CD7CB257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10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5B5E377-A746-4819-B1D8-99F52AEA31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7907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C37C9-77B0-4088-AE5A-FD4CFFF67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EF </a:t>
            </a:r>
            <a:r>
              <a:rPr lang="nl-BE" dirty="0" err="1"/>
              <a:t>Core</a:t>
            </a:r>
            <a:r>
              <a:rPr lang="nl-BE" dirty="0"/>
              <a:t>: Code-First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CAD8E-EBD7-4C73-8C98-1B3463753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163" y="1898686"/>
            <a:ext cx="9281274" cy="376283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b="1" dirty="0">
                <a:solidFill>
                  <a:schemeClr val="accent6"/>
                </a:solidFill>
              </a:rPr>
              <a:t>Code-First</a:t>
            </a:r>
            <a:r>
              <a:rPr lang="nl-BE" b="1" dirty="0"/>
              <a:t>: </a:t>
            </a:r>
            <a:r>
              <a:rPr lang="nl-BE" dirty="0"/>
              <a:t>C#-</a:t>
            </a:r>
            <a:r>
              <a:rPr lang="nl-BE" dirty="0" err="1"/>
              <a:t>klasses</a:t>
            </a:r>
            <a:r>
              <a:rPr lang="nl-BE" dirty="0"/>
              <a:t> (= “</a:t>
            </a:r>
            <a:r>
              <a:rPr lang="nl-BE" dirty="0" err="1"/>
              <a:t>entity’s</a:t>
            </a:r>
            <a:r>
              <a:rPr lang="nl-BE" dirty="0"/>
              <a:t>”) zélf schrijven, database tabellen laten genereren door EF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Geschikt indien nog geen database ontwikkeld werd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Stappen:</a:t>
            </a:r>
          </a:p>
          <a:p>
            <a:pPr marL="872513" lvl="1" indent="-514350">
              <a:buFont typeface="+mj-lt"/>
              <a:buAutoNum type="arabicPeriod"/>
            </a:pPr>
            <a:r>
              <a:rPr lang="nl-BE" sz="2400" dirty="0" err="1"/>
              <a:t>Entity-klasses</a:t>
            </a:r>
            <a:r>
              <a:rPr lang="nl-BE" sz="2400" dirty="0"/>
              <a:t> schrijven</a:t>
            </a:r>
          </a:p>
          <a:p>
            <a:pPr marL="1234350" lvl="2" indent="-514350">
              <a:buFont typeface="Arial" panose="020B0604020202020204" pitchFamily="34" charset="0"/>
              <a:buChar char="•"/>
            </a:pPr>
            <a:r>
              <a:rPr lang="nl-BE" sz="2000" dirty="0"/>
              <a:t>Configuratie via conventies, </a:t>
            </a:r>
            <a:r>
              <a:rPr lang="nl-BE" sz="2000" dirty="0" err="1"/>
              <a:t>annotations</a:t>
            </a:r>
            <a:r>
              <a:rPr lang="nl-BE" sz="2000" dirty="0"/>
              <a:t> en </a:t>
            </a:r>
            <a:r>
              <a:rPr lang="nl-BE" sz="2000" dirty="0" err="1"/>
              <a:t>Fluent</a:t>
            </a:r>
            <a:r>
              <a:rPr lang="nl-BE" sz="2000" dirty="0"/>
              <a:t> API</a:t>
            </a:r>
          </a:p>
          <a:p>
            <a:pPr marL="872513" lvl="1" indent="-514350">
              <a:buFont typeface="+mj-lt"/>
              <a:buAutoNum type="arabicPeriod"/>
            </a:pPr>
            <a:r>
              <a:rPr lang="nl-BE" sz="2400" dirty="0" err="1"/>
              <a:t>DbContext</a:t>
            </a:r>
            <a:r>
              <a:rPr lang="nl-BE" sz="2400" dirty="0"/>
              <a:t>-klasse aanmaken</a:t>
            </a:r>
          </a:p>
          <a:p>
            <a:pPr marL="872513" lvl="1" indent="-514350">
              <a:buFont typeface="+mj-lt"/>
              <a:buAutoNum type="arabicPeriod"/>
            </a:pPr>
            <a:r>
              <a:rPr lang="nl-BE" sz="2400" dirty="0" err="1"/>
              <a:t>Add</a:t>
            </a:r>
            <a:r>
              <a:rPr lang="nl-BE" sz="2400" dirty="0"/>
              <a:t>-Migration + Update-Database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1BADAC-BD4D-4453-B95A-565BEAEE0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82368E-453E-41A3-A325-5FD630DFE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465347-CFF5-4113-9F26-F62F8C23D2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2162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348DE-74BD-439F-A160-3E18B6232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EF </a:t>
            </a:r>
            <a:r>
              <a:rPr lang="nl-BE" dirty="0" err="1"/>
              <a:t>Core</a:t>
            </a:r>
            <a:r>
              <a:rPr lang="nl-BE" dirty="0"/>
              <a:t>: Conventies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19F16-71B1-494F-BB9A-3B331E8F0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400" y="1212000"/>
            <a:ext cx="9281274" cy="107891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Database tabellen gegenereerd op basis van </a:t>
            </a:r>
            <a:r>
              <a:rPr lang="nl-BE" sz="2400" dirty="0" err="1"/>
              <a:t>Entity-klasses</a:t>
            </a:r>
            <a:endParaRPr lang="nl-BE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Convention</a:t>
            </a:r>
            <a:r>
              <a:rPr lang="nl-BE" sz="2400" dirty="0"/>
              <a:t>-over-</a:t>
            </a:r>
            <a:r>
              <a:rPr lang="nl-BE" sz="2400" dirty="0" err="1"/>
              <a:t>configuration</a:t>
            </a:r>
            <a:endParaRPr lang="nl-BE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E343C4-2BE1-421B-8118-E01644FFD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63BA4F-BD66-4F5F-9B73-4708EF70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03390D-6EF2-406F-A7A6-384F5697D3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185119-A56B-4ADC-8ED9-894D7F088C7C}"/>
              </a:ext>
            </a:extLst>
          </p:cNvPr>
          <p:cNvSpPr txBox="1"/>
          <p:nvPr/>
        </p:nvSpPr>
        <p:spPr>
          <a:xfrm>
            <a:off x="678291" y="3274057"/>
            <a:ext cx="4572000" cy="120032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2B91AF"/>
                </a:solidFill>
                <a:latin typeface="Consolas" panose="020B0609020204030204" pitchFamily="49" charset="0"/>
              </a:rPr>
              <a:t>Post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PostId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Title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Content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DateTime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PublicationDate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nl-BE" sz="12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3C7B1BB-AB4E-42CF-A3BE-978D70E3D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955" y="2988331"/>
            <a:ext cx="2832726" cy="1771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185FB063-3D73-4668-A644-CC11C08D0CB2}"/>
              </a:ext>
            </a:extLst>
          </p:cNvPr>
          <p:cNvSpPr/>
          <p:nvPr/>
        </p:nvSpPr>
        <p:spPr>
          <a:xfrm>
            <a:off x="5937003" y="3594002"/>
            <a:ext cx="865239" cy="560439"/>
          </a:xfrm>
          <a:prstGeom prst="rightArrow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63AC06-2EAD-4EED-B69C-ECC12F9EF533}"/>
              </a:ext>
            </a:extLst>
          </p:cNvPr>
          <p:cNvSpPr txBox="1"/>
          <p:nvPr/>
        </p:nvSpPr>
        <p:spPr>
          <a:xfrm>
            <a:off x="534291" y="5093110"/>
            <a:ext cx="6627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sym typeface="Wingdings" panose="05000000000000000000" pitchFamily="2" charset="2"/>
              </a:rPr>
              <a:t> </a:t>
            </a:r>
            <a:r>
              <a:rPr lang="nl-BE" dirty="0"/>
              <a:t>Tabel aangemaakt met zelfde naam als klasse</a:t>
            </a:r>
          </a:p>
        </p:txBody>
      </p:sp>
    </p:spTree>
    <p:extLst>
      <p:ext uri="{BB962C8B-B14F-4D97-AF65-F5344CB8AC3E}">
        <p14:creationId xmlns:p14="http://schemas.microsoft.com/office/powerpoint/2010/main" val="428423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348DE-74BD-439F-A160-3E18B6232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EF </a:t>
            </a:r>
            <a:r>
              <a:rPr lang="nl-BE" dirty="0" err="1"/>
              <a:t>Core</a:t>
            </a:r>
            <a:r>
              <a:rPr lang="nl-BE" dirty="0"/>
              <a:t>: Conventies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19F16-71B1-494F-BB9A-3B331E8F0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314721"/>
            <a:ext cx="9724665" cy="186549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Voor elke property in klasse wordt kolom gegenereerd binnen deze tabel (met dezelfde naam)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Type is afhankelijk van datatype van property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Indien datatype </a:t>
            </a:r>
            <a:r>
              <a:rPr lang="nl-BE" sz="2400" dirty="0" err="1"/>
              <a:t>nullable</a:t>
            </a:r>
            <a:r>
              <a:rPr lang="nl-BE" sz="2400" dirty="0"/>
              <a:t> is (bv.: string, int</a:t>
            </a:r>
            <a:r>
              <a:rPr lang="nl-BE" sz="2400" b="1" dirty="0">
                <a:solidFill>
                  <a:srgbClr val="C00000"/>
                </a:solidFill>
              </a:rPr>
              <a:t>?</a:t>
            </a:r>
            <a:r>
              <a:rPr lang="nl-BE" sz="2400" dirty="0"/>
              <a:t>, ...) </a:t>
            </a:r>
            <a:r>
              <a:rPr lang="nl-BE" sz="2400" dirty="0">
                <a:sym typeface="Wingdings" panose="05000000000000000000" pitchFamily="2" charset="2"/>
              </a:rPr>
              <a:t> kolom ook </a:t>
            </a:r>
            <a:r>
              <a:rPr lang="nl-BE" sz="2400" dirty="0" err="1">
                <a:sym typeface="Wingdings" panose="05000000000000000000" pitchFamily="2" charset="2"/>
              </a:rPr>
              <a:t>nullable</a:t>
            </a:r>
            <a:endParaRPr lang="nl-BE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E343C4-2BE1-421B-8118-E01644FFD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63BA4F-BD66-4F5F-9B73-4708EF70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03390D-6EF2-406F-A7A6-384F5697D3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9891CEE-C423-4E8F-8BB8-865B5063586E}"/>
              </a:ext>
            </a:extLst>
          </p:cNvPr>
          <p:cNvGrpSpPr/>
          <p:nvPr/>
        </p:nvGrpSpPr>
        <p:grpSpPr>
          <a:xfrm>
            <a:off x="1008834" y="3749204"/>
            <a:ext cx="9643390" cy="1771780"/>
            <a:chOff x="678291" y="2988331"/>
            <a:chExt cx="9643390" cy="177178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B185119-A56B-4ADC-8ED9-894D7F088C7C}"/>
                </a:ext>
              </a:extLst>
            </p:cNvPr>
            <p:cNvSpPr txBox="1"/>
            <p:nvPr/>
          </p:nvSpPr>
          <p:spPr>
            <a:xfrm>
              <a:off x="678291" y="3274057"/>
              <a:ext cx="4572000" cy="1200329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nl-BE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public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nl-BE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class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nl-BE" sz="12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Post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{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public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PostId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{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get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set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}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public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string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Title {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get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set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}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public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string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Content {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get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set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}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public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200" dirty="0" err="1">
                  <a:solidFill>
                    <a:srgbClr val="4F8291"/>
                  </a:solidFill>
                  <a:latin typeface="Consolas" panose="020B0609020204030204" pitchFamily="49" charset="0"/>
                </a:rPr>
                <a:t>DateTime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PublicationDate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{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get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set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}</a:t>
              </a:r>
            </a:p>
            <a:p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  <a:endParaRPr lang="nl-BE" sz="1200" dirty="0"/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13C7B1BB-AB4E-42CF-A3BE-978D70E3DC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8955" y="2988331"/>
              <a:ext cx="2832726" cy="17717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185FB063-3D73-4668-A644-CC11C08D0CB2}"/>
                </a:ext>
              </a:extLst>
            </p:cNvPr>
            <p:cNvSpPr/>
            <p:nvPr/>
          </p:nvSpPr>
          <p:spPr>
            <a:xfrm>
              <a:off x="5937003" y="3594002"/>
              <a:ext cx="865239" cy="560439"/>
            </a:xfrm>
            <a:prstGeom prst="rightArrow">
              <a:avLst/>
            </a:prstGeom>
            <a:solidFill>
              <a:schemeClr val="tx1"/>
            </a:solidFill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endParaRPr lang="nl-BE" sz="1600" b="1" dirty="0" err="1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3027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348DE-74BD-439F-A160-3E18B6232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EF </a:t>
            </a:r>
            <a:r>
              <a:rPr lang="nl-BE" dirty="0" err="1"/>
              <a:t>Core</a:t>
            </a:r>
            <a:r>
              <a:rPr lang="nl-BE" dirty="0"/>
              <a:t>: Conventies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19F16-71B1-494F-BB9A-3B331E8F0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701298"/>
            <a:ext cx="9724665" cy="129996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Voor property met naam </a:t>
            </a:r>
            <a:r>
              <a:rPr lang="nl-BE" sz="2400" i="1" dirty="0"/>
              <a:t>“</a:t>
            </a:r>
            <a:r>
              <a:rPr lang="nl-BE" sz="2400" i="1" dirty="0" err="1"/>
              <a:t>Id</a:t>
            </a:r>
            <a:r>
              <a:rPr lang="nl-BE" sz="2400" i="1" dirty="0"/>
              <a:t>”</a:t>
            </a:r>
            <a:r>
              <a:rPr lang="nl-BE" sz="2400" dirty="0"/>
              <a:t> of </a:t>
            </a:r>
            <a:r>
              <a:rPr lang="nl-BE" sz="2400" i="1" dirty="0"/>
              <a:t>“&lt;naam klasse&gt;</a:t>
            </a:r>
            <a:r>
              <a:rPr lang="nl-BE" sz="2400" i="1" dirty="0" err="1"/>
              <a:t>Id</a:t>
            </a:r>
            <a:r>
              <a:rPr lang="nl-BE" sz="2400" i="1" dirty="0"/>
              <a:t>”</a:t>
            </a:r>
            <a:r>
              <a:rPr lang="nl-BE" sz="2400" dirty="0"/>
              <a:t> wordt </a:t>
            </a:r>
            <a:r>
              <a:rPr lang="nl-BE" sz="2400" dirty="0" err="1"/>
              <a:t>Primary</a:t>
            </a:r>
            <a:r>
              <a:rPr lang="nl-BE" sz="2400" dirty="0"/>
              <a:t> </a:t>
            </a:r>
            <a:r>
              <a:rPr lang="nl-BE" sz="2400" dirty="0" err="1"/>
              <a:t>Key</a:t>
            </a:r>
            <a:r>
              <a:rPr lang="nl-BE" sz="2400" dirty="0"/>
              <a:t>-kolom gegenereerd (case </a:t>
            </a:r>
            <a:r>
              <a:rPr lang="nl-BE" sz="2400" dirty="0" err="1"/>
              <a:t>insensitive</a:t>
            </a:r>
            <a:r>
              <a:rPr lang="nl-BE" sz="24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E343C4-2BE1-421B-8118-E01644FFD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63BA4F-BD66-4F5F-9B73-4708EF70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03390D-6EF2-406F-A7A6-384F5697D3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92D02F9-4628-49F4-AB18-6EA59AA5380C}"/>
              </a:ext>
            </a:extLst>
          </p:cNvPr>
          <p:cNvGrpSpPr/>
          <p:nvPr/>
        </p:nvGrpSpPr>
        <p:grpSpPr>
          <a:xfrm>
            <a:off x="1116989" y="3440777"/>
            <a:ext cx="9643390" cy="1771780"/>
            <a:chOff x="1008834" y="3749204"/>
            <a:chExt cx="9643390" cy="177178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891CEE-C423-4E8F-8BB8-865B5063586E}"/>
                </a:ext>
              </a:extLst>
            </p:cNvPr>
            <p:cNvGrpSpPr/>
            <p:nvPr/>
          </p:nvGrpSpPr>
          <p:grpSpPr>
            <a:xfrm>
              <a:off x="1008834" y="3749204"/>
              <a:ext cx="9643390" cy="1771780"/>
              <a:chOff x="678291" y="2988331"/>
              <a:chExt cx="9643390" cy="1771780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B185119-A56B-4ADC-8ED9-894D7F088C7C}"/>
                  </a:ext>
                </a:extLst>
              </p:cNvPr>
              <p:cNvSpPr txBox="1"/>
              <p:nvPr/>
            </p:nvSpPr>
            <p:spPr>
              <a:xfrm>
                <a:off x="678291" y="3274057"/>
                <a:ext cx="4572000" cy="1200329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nl-BE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nl-BE" sz="12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public</a:t>
                </a:r>
                <a:r>
                  <a:rPr lang="nl-BE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nl-BE" sz="12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class</a:t>
                </a:r>
                <a:r>
                  <a:rPr lang="nl-BE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nl-BE" sz="1200" dirty="0">
                    <a:solidFill>
                      <a:srgbClr val="2B91AF"/>
                    </a:solidFill>
                    <a:latin typeface="Consolas" panose="020B0609020204030204" pitchFamily="49" charset="0"/>
                  </a:rPr>
                  <a:t>Post</a:t>
                </a:r>
                <a:r>
                  <a:rPr lang="nl-BE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{</a:t>
                </a: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</a:t>
                </a:r>
                <a:r>
                  <a:rPr lang="en-US" sz="12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public</a:t>
                </a: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2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int</a:t>
                </a: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200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PostId</a:t>
                </a: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{ </a:t>
                </a:r>
                <a:r>
                  <a:rPr lang="en-US" sz="12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get</a:t>
                </a: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; </a:t>
                </a:r>
                <a:r>
                  <a:rPr lang="en-US" sz="12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set</a:t>
                </a: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; }</a:t>
                </a: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</a:t>
                </a:r>
                <a:r>
                  <a:rPr lang="en-US" sz="12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public</a:t>
                </a: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2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string</a:t>
                </a: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Title { </a:t>
                </a:r>
                <a:r>
                  <a:rPr lang="en-US" sz="12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get</a:t>
                </a: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; </a:t>
                </a:r>
                <a:r>
                  <a:rPr lang="en-US" sz="12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set</a:t>
                </a: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; }</a:t>
                </a: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</a:t>
                </a:r>
                <a:r>
                  <a:rPr lang="en-US" sz="12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public</a:t>
                </a: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2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string</a:t>
                </a: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Content { </a:t>
                </a:r>
                <a:r>
                  <a:rPr lang="en-US" sz="12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get</a:t>
                </a: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; </a:t>
                </a:r>
                <a:r>
                  <a:rPr lang="en-US" sz="12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set</a:t>
                </a: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; }</a:t>
                </a: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</a:t>
                </a:r>
                <a:r>
                  <a:rPr lang="en-US" sz="12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public</a:t>
                </a: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200" dirty="0" err="1">
                    <a:solidFill>
                      <a:srgbClr val="4F8291"/>
                    </a:solidFill>
                    <a:latin typeface="Consolas" panose="020B0609020204030204" pitchFamily="49" charset="0"/>
                  </a:rPr>
                  <a:t>DateTime</a:t>
                </a: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200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PublicationDate</a:t>
                </a: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{ </a:t>
                </a:r>
                <a:r>
                  <a:rPr lang="en-US" sz="12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get</a:t>
                </a: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; </a:t>
                </a:r>
                <a:r>
                  <a:rPr lang="en-US" sz="12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set</a:t>
                </a: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; }</a:t>
                </a:r>
              </a:p>
              <a:p>
                <a:r>
                  <a:rPr lang="nl-BE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}</a:t>
                </a:r>
                <a:endParaRPr lang="nl-BE" sz="1200" dirty="0"/>
              </a:p>
            </p:txBody>
          </p:sp>
          <p:pic>
            <p:nvPicPr>
              <p:cNvPr id="1028" name="Picture 4">
                <a:extLst>
                  <a:ext uri="{FF2B5EF4-FFF2-40B4-BE49-F238E27FC236}">
                    <a16:creationId xmlns:a16="http://schemas.microsoft.com/office/drawing/2014/main" id="{13C7B1BB-AB4E-42CF-A3BE-978D70E3DC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8955" y="2988331"/>
                <a:ext cx="2832726" cy="17717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Arrow: Right 7">
                <a:extLst>
                  <a:ext uri="{FF2B5EF4-FFF2-40B4-BE49-F238E27FC236}">
                    <a16:creationId xmlns:a16="http://schemas.microsoft.com/office/drawing/2014/main" id="{185FB063-3D73-4668-A644-CC11C08D0CB2}"/>
                  </a:ext>
                </a:extLst>
              </p:cNvPr>
              <p:cNvSpPr/>
              <p:nvPr/>
            </p:nvSpPr>
            <p:spPr>
              <a:xfrm>
                <a:off x="5937003" y="3594002"/>
                <a:ext cx="865239" cy="560439"/>
              </a:xfrm>
              <a:prstGeom prst="rightArrow">
                <a:avLst/>
              </a:prstGeom>
              <a:solidFill>
                <a:schemeClr val="tx1"/>
              </a:solidFill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l"/>
                <a:endParaRPr lang="nl-BE" sz="1600" b="1" dirty="0" err="1">
                  <a:latin typeface="+mj-lt"/>
                </a:endParaRP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5D1BDE3-3A2C-4F0D-A20D-385234CBA7C2}"/>
                </a:ext>
              </a:extLst>
            </p:cNvPr>
            <p:cNvSpPr/>
            <p:nvPr/>
          </p:nvSpPr>
          <p:spPr>
            <a:xfrm>
              <a:off x="2408903" y="4247535"/>
              <a:ext cx="580103" cy="216000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/>
              <a:endParaRPr lang="nl-BE" sz="1600" b="1" dirty="0" err="1">
                <a:latin typeface="+mj-lt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6AC2380-6F17-417D-8A97-26CB079092DC}"/>
                </a:ext>
              </a:extLst>
            </p:cNvPr>
            <p:cNvSpPr/>
            <p:nvPr/>
          </p:nvSpPr>
          <p:spPr>
            <a:xfrm>
              <a:off x="7799832" y="4134464"/>
              <a:ext cx="1764000" cy="252000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/>
              <a:endParaRPr lang="nl-BE" sz="1600" b="1" dirty="0" err="1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4597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45013-7C4B-4699-A578-7ABED6BDE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Relaties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9D29D-5B3F-42F5-9FE1-4BCE88B16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886021-6AA3-430A-AD0A-F661372A2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CC7A6B-ADB2-4044-A68B-FB147E244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15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7BB2CB-7D72-403A-9399-DC5B5E4532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38588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4C558-5E7D-47EE-B3DF-026AC3E80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EF </a:t>
            </a:r>
            <a:r>
              <a:rPr lang="nl-BE" dirty="0" err="1"/>
              <a:t>Core</a:t>
            </a:r>
            <a:r>
              <a:rPr lang="nl-BE" dirty="0"/>
              <a:t>: Relaties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29027-883E-4E5A-856B-EFCB12B29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163" y="2234839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err="1"/>
              <a:t>Entity</a:t>
            </a:r>
            <a:r>
              <a:rPr lang="nl-BE" dirty="0"/>
              <a:t> Framework kan ook relaties tussen entiteiten beheren </a:t>
            </a:r>
            <a:r>
              <a:rPr lang="nl-BE" i="1" dirty="0"/>
              <a:t>(</a:t>
            </a:r>
            <a:r>
              <a:rPr lang="nl-BE" i="1" dirty="0" err="1"/>
              <a:t>one-to-one</a:t>
            </a:r>
            <a:r>
              <a:rPr lang="nl-BE" i="1" dirty="0"/>
              <a:t>, </a:t>
            </a:r>
            <a:r>
              <a:rPr lang="nl-BE" i="1" dirty="0" err="1"/>
              <a:t>one-to-many</a:t>
            </a:r>
            <a:r>
              <a:rPr lang="nl-BE" i="1" dirty="0"/>
              <a:t>, </a:t>
            </a:r>
            <a:r>
              <a:rPr lang="nl-BE" i="1" dirty="0" err="1"/>
              <a:t>many-to-many</a:t>
            </a:r>
            <a:r>
              <a:rPr lang="nl-BE" i="1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Mogelijk op twee manieren:</a:t>
            </a:r>
          </a:p>
          <a:p>
            <a:pPr marL="872513" lvl="1" indent="-514350">
              <a:buFont typeface="+mj-lt"/>
              <a:buAutoNum type="arabicPeriod"/>
            </a:pPr>
            <a:r>
              <a:rPr lang="nl-BE" sz="2400" dirty="0"/>
              <a:t>Conventies</a:t>
            </a:r>
          </a:p>
          <a:p>
            <a:pPr marL="872513" lvl="1" indent="-514350">
              <a:buFont typeface="+mj-lt"/>
              <a:buAutoNum type="arabicPeriod"/>
            </a:pPr>
            <a:r>
              <a:rPr lang="nl-BE" sz="2400" dirty="0" err="1"/>
              <a:t>Fluent</a:t>
            </a:r>
            <a:r>
              <a:rPr lang="nl-BE" sz="2400" dirty="0"/>
              <a:t> API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269949-C87D-47BA-89A0-3BBC99E91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EA39B5-2508-44DE-984C-48642759B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58AF42-C5F5-4034-91ED-39EE09DEDE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52062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9B620-F0FC-4003-BD1B-5C221FCB7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EF </a:t>
            </a:r>
            <a:r>
              <a:rPr lang="nl-BE" dirty="0" err="1"/>
              <a:t>Core</a:t>
            </a:r>
            <a:r>
              <a:rPr lang="nl-BE" dirty="0"/>
              <a:t>: </a:t>
            </a:r>
            <a:r>
              <a:rPr lang="nl-BE" dirty="0" err="1"/>
              <a:t>One-to-many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98DA3-EAEF-4A41-AD1E-21E651900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178" y="1575101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Manier 1: in </a:t>
            </a:r>
            <a:r>
              <a:rPr lang="nl-BE" dirty="0" err="1"/>
              <a:t>child</a:t>
            </a:r>
            <a:r>
              <a:rPr lang="nl-BE" dirty="0"/>
              <a:t>-klasse </a:t>
            </a:r>
            <a:r>
              <a:rPr lang="nl-BE" dirty="0" err="1"/>
              <a:t>reference</a:t>
            </a:r>
            <a:r>
              <a:rPr lang="nl-BE" dirty="0"/>
              <a:t> naar </a:t>
            </a:r>
            <a:r>
              <a:rPr lang="nl-BE" dirty="0" err="1"/>
              <a:t>parent</a:t>
            </a: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CC0ED3-7907-49DE-9809-FAF36C794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FA57B8-7077-4DEB-B2D9-3C6BAC6C8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47BFF8C-CB56-40E0-950A-B9B861980C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3AEE38A-C71B-4EA0-9D09-C317EEB23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9441" y="3253914"/>
            <a:ext cx="5924550" cy="187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112F59-BB3E-43F0-BBA4-C5E0A47D099C}"/>
              </a:ext>
            </a:extLst>
          </p:cNvPr>
          <p:cNvSpPr txBox="1"/>
          <p:nvPr/>
        </p:nvSpPr>
        <p:spPr>
          <a:xfrm>
            <a:off x="678291" y="2760966"/>
            <a:ext cx="4572000" cy="286232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2B91AF"/>
                </a:solidFill>
                <a:latin typeface="Consolas" panose="020B0609020204030204" pitchFamily="49" charset="0"/>
              </a:rPr>
              <a:t>Post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PostId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Title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Content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DateTime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PublicationDate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Comment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CommentId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Author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Content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DateTime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WrittenOn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Post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Post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{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set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</p:spTree>
    <p:extLst>
      <p:ext uri="{BB962C8B-B14F-4D97-AF65-F5344CB8AC3E}">
        <p14:creationId xmlns:p14="http://schemas.microsoft.com/office/powerpoint/2010/main" val="3913743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9B620-F0FC-4003-BD1B-5C221FCB7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EF </a:t>
            </a:r>
            <a:r>
              <a:rPr lang="nl-BE" dirty="0" err="1"/>
              <a:t>Core</a:t>
            </a:r>
            <a:r>
              <a:rPr lang="nl-BE" dirty="0"/>
              <a:t>: </a:t>
            </a:r>
            <a:r>
              <a:rPr lang="nl-BE" dirty="0" err="1"/>
              <a:t>One-to-many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98DA3-EAEF-4A41-AD1E-21E651900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178" y="1575101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Manier 2: collectie in </a:t>
            </a:r>
            <a:r>
              <a:rPr lang="nl-BE" dirty="0" err="1"/>
              <a:t>parent</a:t>
            </a:r>
            <a:r>
              <a:rPr lang="nl-BE" dirty="0"/>
              <a:t> met </a:t>
            </a:r>
            <a:r>
              <a:rPr lang="nl-BE" dirty="0" err="1"/>
              <a:t>child</a:t>
            </a:r>
            <a:r>
              <a:rPr lang="nl-BE" dirty="0"/>
              <a:t>-objecten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CC0ED3-7907-49DE-9809-FAF36C794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FA57B8-7077-4DEB-B2D9-3C6BAC6C8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47BFF8C-CB56-40E0-950A-B9B861980C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3AEE38A-C71B-4EA0-9D09-C317EEB23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272" y="3253914"/>
            <a:ext cx="5924550" cy="187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112F59-BB3E-43F0-BBA4-C5E0A47D099C}"/>
              </a:ext>
            </a:extLst>
          </p:cNvPr>
          <p:cNvSpPr txBox="1"/>
          <p:nvPr/>
        </p:nvSpPr>
        <p:spPr>
          <a:xfrm>
            <a:off x="534291" y="2760965"/>
            <a:ext cx="4857270" cy="286232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2B91AF"/>
                </a:solidFill>
                <a:latin typeface="Consolas" panose="020B0609020204030204" pitchFamily="49" charset="0"/>
              </a:rPr>
              <a:t>Post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PostId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Title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Content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DateTime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PublicationDate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nl-BE" sz="120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ICollection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nl-BE" sz="120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Comment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&gt; </a:t>
            </a:r>
            <a:r>
              <a:rPr lang="nl-BE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Comments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{ </a:t>
            </a:r>
            <a:r>
              <a:rPr lang="nl-BE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 </a:t>
            </a:r>
            <a:r>
              <a:rPr lang="nl-BE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set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 }</a:t>
            </a:r>
            <a:endParaRPr lang="en-US" sz="12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Comment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CommentId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Author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Content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DateTime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WrittenOn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</p:spTree>
    <p:extLst>
      <p:ext uri="{BB962C8B-B14F-4D97-AF65-F5344CB8AC3E}">
        <p14:creationId xmlns:p14="http://schemas.microsoft.com/office/powerpoint/2010/main" val="342186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E32F9-EA28-4CC1-A8EE-5F12D72D5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EF </a:t>
            </a:r>
            <a:r>
              <a:rPr lang="nl-BE" dirty="0" err="1"/>
              <a:t>Core</a:t>
            </a:r>
            <a:r>
              <a:rPr lang="nl-BE" dirty="0"/>
              <a:t>: </a:t>
            </a:r>
            <a:r>
              <a:rPr lang="nl-BE" dirty="0" err="1"/>
              <a:t>One-to-many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4D896-E1EA-4F58-9BB1-2AAF2A857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457807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Manier 3: combinatie manier 1 + manier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680C5F-A645-4CA2-BA4E-7A45EB3A4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DB3A15-D58C-4EB9-AF24-B1D1C9A75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999F9CE-A9D0-4451-A63F-547C07230B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1CB19B-F9A4-40DC-A2BC-072209F0FF62}"/>
              </a:ext>
            </a:extLst>
          </p:cNvPr>
          <p:cNvSpPr txBox="1"/>
          <p:nvPr/>
        </p:nvSpPr>
        <p:spPr>
          <a:xfrm>
            <a:off x="966911" y="2407004"/>
            <a:ext cx="4857270" cy="323165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2B91AF"/>
                </a:solidFill>
                <a:latin typeface="Consolas" panose="020B0609020204030204" pitchFamily="49" charset="0"/>
              </a:rPr>
              <a:t>Post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PostId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Title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Content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DateTime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PublicationDate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nl-BE" sz="120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ICollection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nl-BE" sz="120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Comment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&gt; </a:t>
            </a:r>
            <a:r>
              <a:rPr lang="nl-BE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Comments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{ </a:t>
            </a:r>
            <a:r>
              <a:rPr lang="nl-BE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 </a:t>
            </a:r>
            <a:r>
              <a:rPr lang="nl-BE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set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 }</a:t>
            </a:r>
            <a:endParaRPr lang="en-US" sz="12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Comment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CommentId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Author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Content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DateTime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WrittenOn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Post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Post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{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set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</p:spTree>
    <p:extLst>
      <p:ext uri="{BB962C8B-B14F-4D97-AF65-F5344CB8AC3E}">
        <p14:creationId xmlns:p14="http://schemas.microsoft.com/office/powerpoint/2010/main" val="2031408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E32F9-EA28-4CC1-A8EE-5F12D72D5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EF </a:t>
            </a:r>
            <a:r>
              <a:rPr lang="nl-BE" dirty="0" err="1"/>
              <a:t>Core</a:t>
            </a:r>
            <a:r>
              <a:rPr lang="nl-BE" dirty="0"/>
              <a:t>: </a:t>
            </a:r>
            <a:r>
              <a:rPr lang="nl-BE" dirty="0" err="1"/>
              <a:t>One-to-many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4D896-E1EA-4F58-9BB1-2AAF2A857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457807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Manier 4: met </a:t>
            </a:r>
            <a:r>
              <a:rPr lang="nl-BE" dirty="0" err="1"/>
              <a:t>foreign</a:t>
            </a:r>
            <a:r>
              <a:rPr lang="nl-BE" dirty="0"/>
              <a:t> </a:t>
            </a:r>
            <a:r>
              <a:rPr lang="nl-BE" dirty="0" err="1"/>
              <a:t>key</a:t>
            </a:r>
            <a:r>
              <a:rPr lang="nl-BE" dirty="0"/>
              <a:t>-property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680C5F-A645-4CA2-BA4E-7A45EB3A4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DB3A15-D58C-4EB9-AF24-B1D1C9A75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999F9CE-A9D0-4451-A63F-547C07230B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1CB19B-F9A4-40DC-A2BC-072209F0FF62}"/>
              </a:ext>
            </a:extLst>
          </p:cNvPr>
          <p:cNvSpPr txBox="1"/>
          <p:nvPr/>
        </p:nvSpPr>
        <p:spPr>
          <a:xfrm>
            <a:off x="750853" y="2309151"/>
            <a:ext cx="4857270" cy="34163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2B91AF"/>
                </a:solidFill>
                <a:latin typeface="Consolas" panose="020B0609020204030204" pitchFamily="49" charset="0"/>
              </a:rPr>
              <a:t>Post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PostId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Title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Content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DateTime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PublicationDate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nl-BE" sz="120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ICollection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nl-BE" sz="120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Comment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&gt; </a:t>
            </a:r>
            <a:r>
              <a:rPr lang="nl-BE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Comments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{ </a:t>
            </a:r>
            <a:r>
              <a:rPr lang="nl-BE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 </a:t>
            </a:r>
            <a:r>
              <a:rPr lang="nl-BE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set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 }</a:t>
            </a:r>
            <a:endParaRPr lang="en-US" sz="12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Comment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CommentId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Author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Content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DateTime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WrittenOn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PostId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{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set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Post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Post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{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set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FF8621-123F-449E-8120-7BB24B009803}"/>
              </a:ext>
            </a:extLst>
          </p:cNvPr>
          <p:cNvSpPr txBox="1"/>
          <p:nvPr/>
        </p:nvSpPr>
        <p:spPr>
          <a:xfrm>
            <a:off x="6351638" y="4248143"/>
            <a:ext cx="49226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 err="1"/>
              <a:t>PostId</a:t>
            </a:r>
            <a:r>
              <a:rPr lang="nl-BE" dirty="0"/>
              <a:t> </a:t>
            </a:r>
            <a:r>
              <a:rPr lang="nl-BE" dirty="0">
                <a:sym typeface="Wingdings" panose="05000000000000000000" pitchFamily="2" charset="2"/>
              </a:rPr>
              <a:t> naamgeving FK is conventie!</a:t>
            </a:r>
            <a:endParaRPr lang="nl-B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 err="1"/>
              <a:t>PostId</a:t>
            </a:r>
            <a:r>
              <a:rPr lang="nl-BE" dirty="0"/>
              <a:t> = int </a:t>
            </a:r>
            <a:r>
              <a:rPr lang="nl-BE" dirty="0">
                <a:sym typeface="Wingdings" panose="05000000000000000000" pitchFamily="2" charset="2"/>
              </a:rPr>
              <a:t> FK kan niet NULL zijn </a:t>
            </a:r>
            <a:br>
              <a:rPr lang="nl-BE" dirty="0">
                <a:sym typeface="Wingdings" panose="05000000000000000000" pitchFamily="2" charset="2"/>
              </a:rPr>
            </a:br>
            <a:r>
              <a:rPr lang="nl-BE" dirty="0">
                <a:sym typeface="Wingdings" panose="05000000000000000000" pitchFamily="2" charset="2"/>
              </a:rPr>
              <a:t> </a:t>
            </a:r>
            <a:r>
              <a:rPr lang="nl-BE" dirty="0" err="1">
                <a:sym typeface="Wingdings" panose="05000000000000000000" pitchFamily="2" charset="2"/>
              </a:rPr>
              <a:t>one-to-many</a:t>
            </a:r>
            <a:r>
              <a:rPr lang="nl-BE" dirty="0">
                <a:sym typeface="Wingdings" panose="05000000000000000000" pitchFamily="2" charset="2"/>
              </a:rPr>
              <a:t> is verplicht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>
                <a:sym typeface="Wingdings" panose="05000000000000000000" pitchFamily="2" charset="2"/>
              </a:rPr>
              <a:t>Indien optioneel  wijzig type van </a:t>
            </a:r>
            <a:r>
              <a:rPr lang="nl-BE" dirty="0" err="1">
                <a:sym typeface="Wingdings" panose="05000000000000000000" pitchFamily="2" charset="2"/>
              </a:rPr>
              <a:t>PostId</a:t>
            </a:r>
            <a:r>
              <a:rPr lang="nl-BE" dirty="0">
                <a:sym typeface="Wingdings" panose="05000000000000000000" pitchFamily="2" charset="2"/>
              </a:rPr>
              <a:t> naar </a:t>
            </a:r>
            <a:r>
              <a:rPr lang="nl-BE" dirty="0" err="1">
                <a:sym typeface="Wingdings" panose="05000000000000000000" pitchFamily="2" charset="2"/>
              </a:rPr>
              <a:t>nullable</a:t>
            </a:r>
            <a:r>
              <a:rPr lang="nl-BE" dirty="0">
                <a:sym typeface="Wingdings" panose="05000000000000000000" pitchFamily="2" charset="2"/>
              </a:rPr>
              <a:t> int (int?)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9693300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8B8F7-4140-44EF-ADC4-A77F19F75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EF </a:t>
            </a:r>
            <a:r>
              <a:rPr lang="nl-BE" dirty="0" err="1"/>
              <a:t>Core</a:t>
            </a:r>
            <a:r>
              <a:rPr lang="nl-BE" dirty="0"/>
              <a:t>: </a:t>
            </a:r>
            <a:r>
              <a:rPr lang="nl-BE" dirty="0" err="1"/>
              <a:t>One-to-one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9AB5C-9927-473D-8C38-AD47BECF4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447975"/>
            <a:ext cx="9281274" cy="58730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b="1" dirty="0" err="1"/>
              <a:t>One-to-one</a:t>
            </a:r>
            <a:r>
              <a:rPr lang="nl-BE" b="1" dirty="0"/>
              <a:t>:</a:t>
            </a:r>
            <a:r>
              <a:rPr lang="nl-BE" dirty="0"/>
              <a:t> </a:t>
            </a:r>
            <a:r>
              <a:rPr lang="nl-BE" dirty="0" err="1"/>
              <a:t>reference</a:t>
            </a:r>
            <a:r>
              <a:rPr lang="nl-BE" dirty="0"/>
              <a:t> + FK in </a:t>
            </a:r>
            <a:r>
              <a:rPr lang="nl-BE" dirty="0" err="1"/>
              <a:t>parent</a:t>
            </a:r>
            <a:r>
              <a:rPr lang="nl-BE" dirty="0"/>
              <a:t>-klasse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11DAA6-2956-4742-8BF9-C8FEFB4E4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931E8-3ADC-4137-8106-342C772D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078803-23DA-44EC-839B-06AEF2658F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6F54F9-ACCF-4F5B-9157-A5B19FFB2423}"/>
              </a:ext>
            </a:extLst>
          </p:cNvPr>
          <p:cNvSpPr txBox="1"/>
          <p:nvPr/>
        </p:nvSpPr>
        <p:spPr>
          <a:xfrm>
            <a:off x="750853" y="2309151"/>
            <a:ext cx="4361921" cy="34163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2B91AF"/>
                </a:solidFill>
                <a:latin typeface="Consolas" panose="020B0609020204030204" pitchFamily="49" charset="0"/>
              </a:rPr>
              <a:t>Person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Id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FirstName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200" dirty="0"/>
              <a:t>      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Address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Address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{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set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 }</a:t>
            </a:r>
            <a:endParaRPr lang="nl-BE" sz="1200" b="1" dirty="0">
              <a:highlight>
                <a:srgbClr val="FFFF00"/>
              </a:highlight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Address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Id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Street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Number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Zip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City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PersonId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{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set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 }</a:t>
            </a:r>
          </a:p>
          <a:p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Person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Person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{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set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 }</a:t>
            </a:r>
            <a:endParaRPr lang="nl-BE" sz="12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1A300C8-2872-4216-B23D-F66846028C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66"/>
          <a:stretch/>
        </p:blipFill>
        <p:spPr bwMode="auto">
          <a:xfrm>
            <a:off x="5847429" y="2862251"/>
            <a:ext cx="5924550" cy="231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EF33A1-879F-4565-98AD-1385A67EE9E7}"/>
              </a:ext>
            </a:extLst>
          </p:cNvPr>
          <p:cNvSpPr txBox="1"/>
          <p:nvPr/>
        </p:nvSpPr>
        <p:spPr>
          <a:xfrm>
            <a:off x="678291" y="5810175"/>
            <a:ext cx="665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dirty="0"/>
              <a:t>Opmerking: </a:t>
            </a:r>
            <a:r>
              <a:rPr lang="nl-BE" i="1" dirty="0" err="1"/>
              <a:t>PersonId</a:t>
            </a:r>
            <a:r>
              <a:rPr lang="nl-BE" dirty="0"/>
              <a:t> </a:t>
            </a:r>
            <a:r>
              <a:rPr lang="nl-BE" dirty="0">
                <a:sym typeface="Wingdings" panose="05000000000000000000" pitchFamily="2" charset="2"/>
              </a:rPr>
              <a:t> naamgeving van FK volgens </a:t>
            </a:r>
            <a:r>
              <a:rPr lang="nl-BE" b="1" dirty="0">
                <a:sym typeface="Wingdings" panose="05000000000000000000" pitchFamily="2" charset="2"/>
              </a:rPr>
              <a:t>conventie</a:t>
            </a:r>
            <a:r>
              <a:rPr lang="nl-BE" dirty="0">
                <a:sym typeface="Wingdings" panose="05000000000000000000" pitchFamily="2" charset="2"/>
              </a:rPr>
              <a:t>!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901734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66AC4-616C-45B5-A470-57EC0DCAB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Configuratie: </a:t>
            </a:r>
            <a:r>
              <a:rPr lang="nl-BE" dirty="0" err="1"/>
              <a:t>annotations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9FFE6-C72A-41D1-9921-E56DEBF26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BA5468-D026-421B-860E-261F280A2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F0614-8A6B-41A0-8989-30E027DFB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22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CC00F5-72D3-4EBC-AEB1-291083C02B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420369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F3462-138B-477D-9D86-62BA99A5B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EF </a:t>
            </a:r>
            <a:r>
              <a:rPr lang="nl-BE" dirty="0" err="1"/>
              <a:t>Core</a:t>
            </a:r>
            <a:r>
              <a:rPr lang="nl-BE" dirty="0"/>
              <a:t>: Configuratie via </a:t>
            </a:r>
            <a:r>
              <a:rPr lang="nl-BE" dirty="0" err="1"/>
              <a:t>annotations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685FC-1DFA-4DE8-A7A2-D13E8F7E9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314721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Om af te wijken van conventies: </a:t>
            </a:r>
            <a:r>
              <a:rPr lang="nl-BE" sz="2400" dirty="0" err="1"/>
              <a:t>entity</a:t>
            </a:r>
            <a:r>
              <a:rPr lang="nl-BE" sz="2400" dirty="0"/>
              <a:t> configureren via </a:t>
            </a:r>
            <a:r>
              <a:rPr lang="nl-BE" sz="2400" b="1" dirty="0" err="1">
                <a:solidFill>
                  <a:schemeClr val="accent6"/>
                </a:solidFill>
              </a:rPr>
              <a:t>annotations</a:t>
            </a:r>
            <a:r>
              <a:rPr lang="nl-BE" sz="2400" dirty="0"/>
              <a:t> </a:t>
            </a:r>
            <a:br>
              <a:rPr lang="nl-BE" sz="2400" dirty="0"/>
            </a:br>
            <a:r>
              <a:rPr lang="nl-BE" sz="2400" dirty="0"/>
              <a:t>(of </a:t>
            </a:r>
            <a:r>
              <a:rPr lang="nl-BE" sz="2400" i="1" dirty="0" err="1"/>
              <a:t>Fluent</a:t>
            </a:r>
            <a:r>
              <a:rPr lang="nl-BE" sz="2400" i="1" dirty="0"/>
              <a:t> API, zie later</a:t>
            </a:r>
            <a:r>
              <a:rPr lang="nl-BE" sz="2400"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052D8D-3B59-47D4-AAAD-41ED6D503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3FC3C-39BF-4A85-8BEA-F43790424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1FFF425-7A03-4268-954B-A879D06807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3FEC7F-AE14-4B1D-B7C0-9A0C2CDBF0FB}"/>
              </a:ext>
            </a:extLst>
          </p:cNvPr>
          <p:cNvSpPr txBox="1"/>
          <p:nvPr/>
        </p:nvSpPr>
        <p:spPr>
          <a:xfrm>
            <a:off x="822291" y="2539528"/>
            <a:ext cx="4851296" cy="34163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Table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MyPersonTable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2B91AF"/>
                </a:solidFill>
                <a:latin typeface="Consolas" panose="020B0609020204030204" pitchFamily="49" charset="0"/>
              </a:rPr>
              <a:t>Person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Key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Id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200" dirty="0">
                <a:solidFill>
                  <a:srgbClr val="4F8291"/>
                </a:solidFill>
                <a:latin typeface="Consolas" panose="020B0609020204030204" pitchFamily="49" charset="0"/>
              </a:rPr>
              <a:t>Column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FName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Required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FirstName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200" dirty="0">
                <a:solidFill>
                  <a:srgbClr val="4F8291"/>
                </a:solidFill>
                <a:latin typeface="Consolas" panose="020B0609020204030204" pitchFamily="49" charset="0"/>
              </a:rPr>
              <a:t>Column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LName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Required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DateTime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BirthDate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NotMapped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/* calculated -&gt; not stored in DB! */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Age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51174A-7275-49C6-A24E-B5C577266E00}"/>
              </a:ext>
            </a:extLst>
          </p:cNvPr>
          <p:cNvSpPr txBox="1"/>
          <p:nvPr/>
        </p:nvSpPr>
        <p:spPr>
          <a:xfrm>
            <a:off x="6400428" y="2680957"/>
            <a:ext cx="47100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dirty="0">
                <a:latin typeface="Consolas" panose="020B0609020204030204" pitchFamily="49" charset="0"/>
              </a:rPr>
              <a:t>[</a:t>
            </a:r>
            <a:r>
              <a:rPr lang="nl-BE" dirty="0" err="1">
                <a:latin typeface="Consolas" panose="020B0609020204030204" pitchFamily="49" charset="0"/>
              </a:rPr>
              <a:t>Table</a:t>
            </a:r>
            <a:r>
              <a:rPr lang="nl-BE" dirty="0">
                <a:latin typeface="Consolas" panose="020B0609020204030204" pitchFamily="49" charset="0"/>
              </a:rPr>
              <a:t>]</a:t>
            </a:r>
            <a:r>
              <a:rPr lang="nl-BE" sz="2000" dirty="0"/>
              <a:t>: naam van tabel bepalen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dirty="0">
                <a:latin typeface="Consolas" panose="020B0609020204030204" pitchFamily="49" charset="0"/>
              </a:rPr>
              <a:t>[Column]</a:t>
            </a:r>
            <a:r>
              <a:rPr lang="nl-BE" sz="2000" dirty="0"/>
              <a:t>: naam van kolom voor deze property bepalen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dirty="0">
                <a:latin typeface="Consolas" panose="020B0609020204030204" pitchFamily="49" charset="0"/>
              </a:rPr>
              <a:t>[</a:t>
            </a:r>
            <a:r>
              <a:rPr lang="nl-BE" dirty="0" err="1">
                <a:latin typeface="Consolas" panose="020B0609020204030204" pitchFamily="49" charset="0"/>
              </a:rPr>
              <a:t>Key</a:t>
            </a:r>
            <a:r>
              <a:rPr lang="nl-BE" dirty="0">
                <a:latin typeface="Consolas" panose="020B0609020204030204" pitchFamily="49" charset="0"/>
              </a:rPr>
              <a:t>]</a:t>
            </a:r>
            <a:r>
              <a:rPr lang="nl-BE" sz="2000" dirty="0"/>
              <a:t>: </a:t>
            </a:r>
            <a:r>
              <a:rPr lang="nl-BE" sz="2000" dirty="0" err="1"/>
              <a:t>primary</a:t>
            </a:r>
            <a:r>
              <a:rPr lang="nl-BE" sz="2000" dirty="0"/>
              <a:t> </a:t>
            </a:r>
            <a:r>
              <a:rPr lang="nl-BE" sz="2000" dirty="0" err="1"/>
              <a:t>key</a:t>
            </a:r>
            <a:r>
              <a:rPr lang="nl-BE" sz="2000" dirty="0"/>
              <a:t>-kolom aangeven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dirty="0">
                <a:latin typeface="Consolas" panose="020B0609020204030204" pitchFamily="49" charset="0"/>
              </a:rPr>
              <a:t>[</a:t>
            </a:r>
            <a:r>
              <a:rPr lang="nl-BE" dirty="0" err="1">
                <a:latin typeface="Consolas" panose="020B0609020204030204" pitchFamily="49" charset="0"/>
              </a:rPr>
              <a:t>Required</a:t>
            </a:r>
            <a:r>
              <a:rPr lang="nl-BE" dirty="0">
                <a:latin typeface="Consolas" panose="020B0609020204030204" pitchFamily="49" charset="0"/>
              </a:rPr>
              <a:t>]</a:t>
            </a:r>
            <a:r>
              <a:rPr lang="nl-BE" sz="2000" dirty="0"/>
              <a:t>: </a:t>
            </a:r>
            <a:r>
              <a:rPr lang="nl-BE" sz="2000" dirty="0" err="1"/>
              <a:t>not-null</a:t>
            </a:r>
            <a:r>
              <a:rPr lang="nl-BE" sz="2000" dirty="0"/>
              <a:t> kolom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dirty="0">
                <a:latin typeface="Consolas" panose="020B0609020204030204" pitchFamily="49" charset="0"/>
              </a:rPr>
              <a:t>[</a:t>
            </a:r>
            <a:r>
              <a:rPr lang="nl-BE" dirty="0" err="1">
                <a:latin typeface="Consolas" panose="020B0609020204030204" pitchFamily="49" charset="0"/>
              </a:rPr>
              <a:t>NotMapped</a:t>
            </a:r>
            <a:r>
              <a:rPr lang="nl-BE" dirty="0">
                <a:latin typeface="Consolas" panose="020B0609020204030204" pitchFamily="49" charset="0"/>
              </a:rPr>
              <a:t>]</a:t>
            </a:r>
            <a:r>
              <a:rPr lang="nl-BE" sz="2000" dirty="0"/>
              <a:t>: voor property wordt geen kolom gegenereerd (niet opgeslagen in DB, bv.: berekende velden)</a:t>
            </a:r>
          </a:p>
        </p:txBody>
      </p:sp>
    </p:spTree>
    <p:extLst>
      <p:ext uri="{BB962C8B-B14F-4D97-AF65-F5344CB8AC3E}">
        <p14:creationId xmlns:p14="http://schemas.microsoft.com/office/powerpoint/2010/main" val="14924294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F3462-138B-477D-9D86-62BA99A5B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EF </a:t>
            </a:r>
            <a:r>
              <a:rPr lang="nl-BE" dirty="0" err="1"/>
              <a:t>Core</a:t>
            </a:r>
            <a:r>
              <a:rPr lang="nl-BE" dirty="0"/>
              <a:t>: Configuratie via </a:t>
            </a:r>
            <a:r>
              <a:rPr lang="nl-BE" dirty="0" err="1"/>
              <a:t>annotations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685FC-1DFA-4DE8-A7A2-D13E8F7E9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700981"/>
            <a:ext cx="9710922" cy="270427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Ook restrictie op minimale/maximale lengte van een string via </a:t>
            </a:r>
            <a:r>
              <a:rPr lang="nl-BE" sz="2400" dirty="0" err="1"/>
              <a:t>annotations</a:t>
            </a:r>
            <a:endParaRPr lang="nl-B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052D8D-3B59-47D4-AAAD-41ED6D503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3FC3C-39BF-4A85-8BEA-F43790424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1FFF425-7A03-4268-954B-A879D06807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3FEC7F-AE14-4B1D-B7C0-9A0C2CDBF0FB}"/>
              </a:ext>
            </a:extLst>
          </p:cNvPr>
          <p:cNvSpPr txBox="1"/>
          <p:nvPr/>
        </p:nvSpPr>
        <p:spPr>
          <a:xfrm>
            <a:off x="1126969" y="2848695"/>
            <a:ext cx="4398761" cy="230832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2B91AF"/>
                </a:solidFill>
                <a:latin typeface="Consolas" panose="020B0609020204030204" pitchFamily="49" charset="0"/>
              </a:rPr>
              <a:t>Account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Id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MinLength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(8)]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Password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MaxLength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(100)]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Username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StringLength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(200,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MinimumLength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= 3)]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Email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</p:spTree>
    <p:extLst>
      <p:ext uri="{BB962C8B-B14F-4D97-AF65-F5344CB8AC3E}">
        <p14:creationId xmlns:p14="http://schemas.microsoft.com/office/powerpoint/2010/main" val="2672043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484B7-F4A4-4B56-973D-562CD0AD2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EF </a:t>
            </a:r>
            <a:r>
              <a:rPr lang="nl-BE" dirty="0" err="1"/>
              <a:t>Core</a:t>
            </a:r>
            <a:r>
              <a:rPr lang="nl-BE" dirty="0"/>
              <a:t>: Configuratie via </a:t>
            </a:r>
            <a:r>
              <a:rPr lang="nl-BE" dirty="0" err="1"/>
              <a:t>annotations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740D1-C468-4730-A544-5A0326C00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242257"/>
            <a:ext cx="9281274" cy="94113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Met </a:t>
            </a:r>
            <a:r>
              <a:rPr lang="nl-BE" sz="2400" dirty="0">
                <a:latin typeface="Consolas" panose="020B0609020204030204" pitchFamily="49" charset="0"/>
              </a:rPr>
              <a:t>[</a:t>
            </a:r>
            <a:r>
              <a:rPr lang="nl-BE" sz="2400" dirty="0" err="1">
                <a:latin typeface="Consolas" panose="020B0609020204030204" pitchFamily="49" charset="0"/>
              </a:rPr>
              <a:t>ForeignKey</a:t>
            </a:r>
            <a:r>
              <a:rPr lang="nl-BE" sz="2400" dirty="0">
                <a:latin typeface="Consolas" panose="020B0609020204030204" pitchFamily="49" charset="0"/>
              </a:rPr>
              <a:t>]</a:t>
            </a:r>
            <a:r>
              <a:rPr lang="nl-BE" dirty="0"/>
              <a:t>-attribuut kan je aangeven dat een property gebruikt wordt als FK in een relatie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18B6F2-1DD6-439F-BBF1-1E1F5DC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5805AA-2399-4536-986B-1F44A7248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428B451-844F-45B6-8E0A-330248B76F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7B8EF0-CA8C-4D52-90C7-43EFF92B8CC0}"/>
              </a:ext>
            </a:extLst>
          </p:cNvPr>
          <p:cNvSpPr txBox="1"/>
          <p:nvPr/>
        </p:nvSpPr>
        <p:spPr>
          <a:xfrm>
            <a:off x="278653" y="3814735"/>
            <a:ext cx="3467437" cy="161582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Book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BookId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Title {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4F8291"/>
                </a:solidFill>
                <a:latin typeface="Consolas" panose="020B0609020204030204" pitchFamily="49" charset="0"/>
              </a:rPr>
              <a:t>Author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Author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nl-BE" sz="11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ForeignKey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b="1" dirty="0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"Author"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AuthorFK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496EB3-9876-41A7-A446-6B1F598BB30A}"/>
              </a:ext>
            </a:extLst>
          </p:cNvPr>
          <p:cNvSpPr txBox="1"/>
          <p:nvPr/>
        </p:nvSpPr>
        <p:spPr>
          <a:xfrm>
            <a:off x="4062398" y="3814735"/>
            <a:ext cx="3467437" cy="161582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Book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BookId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Title {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[</a:t>
            </a:r>
            <a:r>
              <a:rPr lang="nl-BE" sz="11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ForeignKey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100" b="1" dirty="0" err="1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AuthorFK</a:t>
            </a:r>
            <a:r>
              <a:rPr lang="nl-BE" sz="11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4F8291"/>
                </a:solidFill>
                <a:latin typeface="Consolas" panose="020B0609020204030204" pitchFamily="49" charset="0"/>
              </a:rPr>
              <a:t>Author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Author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AuthorFK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19B895-D9D3-4078-8D5D-CDEBF5F0468D}"/>
              </a:ext>
            </a:extLst>
          </p:cNvPr>
          <p:cNvSpPr txBox="1"/>
          <p:nvPr/>
        </p:nvSpPr>
        <p:spPr>
          <a:xfrm>
            <a:off x="7846142" y="3306903"/>
            <a:ext cx="3941438" cy="263149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Book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>
                <a:solidFill>
                  <a:srgbClr val="008000"/>
                </a:solidFill>
                <a:latin typeface="Consolas" panose="020B0609020204030204" pitchFamily="49" charset="0"/>
              </a:rPr>
              <a:t>/* andere </a:t>
            </a:r>
            <a:r>
              <a:rPr lang="nl-BE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property's</a:t>
            </a:r>
            <a:r>
              <a:rPr lang="nl-BE" sz="1100" dirty="0">
                <a:solidFill>
                  <a:srgbClr val="008000"/>
                </a:solidFill>
                <a:latin typeface="Consolas" panose="020B0609020204030204" pitchFamily="49" charset="0"/>
              </a:rPr>
              <a:t> */</a:t>
            </a: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1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ForeignKey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AuthorFK</a:t>
            </a:r>
            <a:r>
              <a:rPr lang="nl-BE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 panose="020B0609020204030204" pitchFamily="49" charset="0"/>
              </a:rPr>
              <a:t>Author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Author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AuthorFK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 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2B91AF"/>
                </a:solidFill>
                <a:latin typeface="Consolas" panose="020B0609020204030204" pitchFamily="49" charset="0"/>
              </a:rPr>
              <a:t>Author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AuthorId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FirstName {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1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ForeignKey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AuthorFK</a:t>
            </a:r>
            <a:r>
              <a:rPr lang="nl-BE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ICollection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100" dirty="0">
                <a:solidFill>
                  <a:srgbClr val="2B91AF"/>
                </a:solidFill>
                <a:latin typeface="Consolas" panose="020B0609020204030204" pitchFamily="49" charset="0"/>
              </a:rPr>
              <a:t>Book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&gt; Books {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71BA54-CD72-457E-A030-49E34549F3D2}"/>
              </a:ext>
            </a:extLst>
          </p:cNvPr>
          <p:cNvSpPr txBox="1"/>
          <p:nvPr/>
        </p:nvSpPr>
        <p:spPr>
          <a:xfrm>
            <a:off x="278653" y="3468328"/>
            <a:ext cx="2772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u="sng" dirty="0"/>
              <a:t>Manier 1: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D1BF8C-67D8-4033-9F3C-82D95E7C02EF}"/>
              </a:ext>
            </a:extLst>
          </p:cNvPr>
          <p:cNvSpPr txBox="1"/>
          <p:nvPr/>
        </p:nvSpPr>
        <p:spPr>
          <a:xfrm>
            <a:off x="4062397" y="3468328"/>
            <a:ext cx="2772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u="sng" dirty="0"/>
              <a:t>Manier 2: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C67D89-7F8D-4185-A0E8-44F4509BD4BF}"/>
              </a:ext>
            </a:extLst>
          </p:cNvPr>
          <p:cNvSpPr txBox="1"/>
          <p:nvPr/>
        </p:nvSpPr>
        <p:spPr>
          <a:xfrm>
            <a:off x="7846142" y="2968349"/>
            <a:ext cx="2772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u="sng" dirty="0"/>
              <a:t>Manier 3:</a:t>
            </a:r>
          </a:p>
        </p:txBody>
      </p:sp>
    </p:spTree>
    <p:extLst>
      <p:ext uri="{BB962C8B-B14F-4D97-AF65-F5344CB8AC3E}">
        <p14:creationId xmlns:p14="http://schemas.microsoft.com/office/powerpoint/2010/main" val="456021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5C074-A7F9-4034-8359-BC380C101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DbContext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A56F2-D2F7-4D35-9BEC-057351416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3EE5CC-3CA9-4A9D-8EA7-56D29FEC7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EEBCA1-85EF-483A-B114-E82AEEFD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26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243C3A-ECFA-4831-96B3-BBBF0F9BAC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608676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D2C58-4AEB-40B8-96D8-D3654668B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is </a:t>
            </a:r>
            <a:r>
              <a:rPr lang="nl-BE" dirty="0" err="1"/>
              <a:t>DbContext</a:t>
            </a:r>
            <a:r>
              <a:rPr lang="nl-BE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93531-ED2E-4CF1-ACF8-CF17AEDD4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246" y="2234839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err="1"/>
              <a:t>DbContext</a:t>
            </a:r>
            <a:r>
              <a:rPr lang="nl-BE" dirty="0"/>
              <a:t> is klasse die sessie met database representeert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Connectie naar database (server, </a:t>
            </a:r>
            <a:r>
              <a:rPr lang="nl-BE" sz="2400" dirty="0" err="1"/>
              <a:t>credentials</a:t>
            </a:r>
            <a:r>
              <a:rPr lang="nl-BE" sz="2400" dirty="0"/>
              <a:t>, ...)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Interactie met database (INSERT, UPDATE, DELETE, SELECT)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Model Building en Data </a:t>
            </a:r>
            <a:r>
              <a:rPr lang="nl-BE" sz="2400" dirty="0" err="1"/>
              <a:t>mapping</a:t>
            </a:r>
            <a:r>
              <a:rPr lang="nl-BE" sz="2400" dirty="0"/>
              <a:t> (</a:t>
            </a:r>
            <a:r>
              <a:rPr lang="nl-BE" sz="2400" dirty="0" err="1"/>
              <a:t>Fluent</a:t>
            </a:r>
            <a:r>
              <a:rPr lang="nl-BE" sz="2400" dirty="0"/>
              <a:t> API)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Transactie-management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...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D03705-6A50-4E70-841C-62E3CAE93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715E4-62CB-4A45-A07F-87DFE0330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661A59-FAC6-46C8-92E2-991082B17B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925929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D2C58-4AEB-40B8-96D8-D3654668B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is </a:t>
            </a:r>
            <a:r>
              <a:rPr lang="nl-BE" dirty="0" err="1"/>
              <a:t>DbContext</a:t>
            </a:r>
            <a:r>
              <a:rPr lang="nl-BE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93531-ED2E-4CF1-ACF8-CF17AEDD4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1810138"/>
            <a:ext cx="9281274" cy="281251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Eigen klasse maken die overerft van </a:t>
            </a:r>
            <a:r>
              <a:rPr lang="nl-BE" sz="2000" dirty="0" err="1">
                <a:latin typeface="Consolas" panose="020B0609020204030204" pitchFamily="49" charset="0"/>
              </a:rPr>
              <a:t>DbContext</a:t>
            </a:r>
            <a:endParaRPr lang="nl-BE" sz="2400" dirty="0">
              <a:latin typeface="Consolas" panose="020B06090202040302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Constructor</a:t>
            </a:r>
            <a:r>
              <a:rPr lang="nl-BE" sz="2400" dirty="0"/>
              <a:t> toevoegen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Parameter: </a:t>
            </a:r>
            <a:r>
              <a:rPr lang="nl-BE" sz="1800" dirty="0" err="1">
                <a:latin typeface="Consolas" panose="020B0609020204030204" pitchFamily="49" charset="0"/>
              </a:rPr>
              <a:t>DbContextOptions</a:t>
            </a:r>
            <a:r>
              <a:rPr lang="nl-BE" sz="1800" dirty="0">
                <a:latin typeface="Consolas" panose="020B0609020204030204" pitchFamily="49" charset="0"/>
              </a:rPr>
              <a:t>&lt;T&gt;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Base-</a:t>
            </a:r>
            <a:r>
              <a:rPr lang="nl-BE" sz="2000" dirty="0" err="1"/>
              <a:t>constructor</a:t>
            </a:r>
            <a:r>
              <a:rPr lang="nl-BE" sz="2000" dirty="0"/>
              <a:t> aanroepen </a:t>
            </a:r>
            <a:r>
              <a:rPr lang="nl-BE" sz="2000" dirty="0">
                <a:sym typeface="Wingdings" panose="05000000000000000000" pitchFamily="2" charset="2"/>
              </a:rPr>
              <a:t> options doorgeven als parameter</a:t>
            </a:r>
            <a:endParaRPr lang="nl-BE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D03705-6A50-4E70-841C-62E3CAE93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715E4-62CB-4A45-A07F-87DFE0330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661A59-FAC6-46C8-92E2-991082B17B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51BCE6-D58E-49F8-BE83-782B2A68BA26}"/>
              </a:ext>
            </a:extLst>
          </p:cNvPr>
          <p:cNvSpPr txBox="1"/>
          <p:nvPr/>
        </p:nvSpPr>
        <p:spPr>
          <a:xfrm>
            <a:off x="1299785" y="3956198"/>
            <a:ext cx="9098319" cy="123110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BlogDbContext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: </a:t>
            </a:r>
            <a:r>
              <a:rPr lang="nl-BE" sz="1200" b="1" dirty="0" err="1">
                <a:solidFill>
                  <a:srgbClr val="2B91AF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DbContext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2B91A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BlogDbContext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200" dirty="0" err="1">
                <a:solidFill>
                  <a:srgbClr val="2B91A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DbContextOptions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2B91A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BlogDbContext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 options) :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base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(options) 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l-BE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//empty </a:t>
            </a:r>
            <a:r>
              <a:rPr lang="nl-BE" sz="12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constructor</a:t>
            </a:r>
            <a:endParaRPr lang="nl-BE" sz="1400" dirty="0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nl-BE" sz="1200" dirty="0"/>
          </a:p>
        </p:txBody>
      </p:sp>
    </p:spTree>
    <p:extLst>
      <p:ext uri="{BB962C8B-B14F-4D97-AF65-F5344CB8AC3E}">
        <p14:creationId xmlns:p14="http://schemas.microsoft.com/office/powerpoint/2010/main" val="7778947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639F1-CE32-4F04-A5C7-709DFE726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DbContext</a:t>
            </a:r>
            <a:r>
              <a:rPr lang="nl-BE" dirty="0"/>
              <a:t>: Connection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D5064-DA70-48AF-89DE-48E2FE6BC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0" y="1634088"/>
            <a:ext cx="10515600" cy="391060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Connection string bevat informatie om te connecteren naar een data source </a:t>
            </a:r>
            <a:br>
              <a:rPr lang="nl-BE" sz="2400" dirty="0"/>
            </a:br>
            <a:r>
              <a:rPr lang="nl-BE" sz="2400" dirty="0"/>
              <a:t>(bv.: een databank)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sz="2400" dirty="0"/>
              <a:t>Structuur is afhankelijk van gebruikte RDBMS</a:t>
            </a:r>
          </a:p>
          <a:p>
            <a:pPr marL="701063" lvl="1" indent="-342900">
              <a:buFont typeface="Arial" panose="020B0604020202020204" pitchFamily="34" charset="0"/>
              <a:buChar char="•"/>
            </a:pPr>
            <a:r>
              <a:rPr lang="nl-BE" sz="2000" dirty="0"/>
              <a:t>Zie documentatie </a:t>
            </a:r>
            <a:r>
              <a:rPr lang="nl-BE" sz="2000" dirty="0">
                <a:hlinkClick r:id="rId2"/>
              </a:rPr>
              <a:t>https://www.connectionstrings.com/</a:t>
            </a:r>
            <a:endParaRPr lang="nl-BE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Tijdens de lessen: MS SQL Server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Installeer DB-provider (</a:t>
            </a:r>
            <a:r>
              <a:rPr lang="nl-BE" sz="2000" i="1" dirty="0" err="1"/>
              <a:t>Microsoft.EntityFrameworkCore.SqlServer</a:t>
            </a:r>
            <a:r>
              <a:rPr lang="nl-BE" sz="2000" i="1" dirty="0"/>
              <a:t>) via </a:t>
            </a:r>
            <a:r>
              <a:rPr lang="nl-BE" sz="2000" i="1" dirty="0" err="1"/>
              <a:t>NuGet</a:t>
            </a:r>
            <a:endParaRPr lang="nl-BE" sz="2000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DF74FE-C073-4D53-83B3-338D4E8DA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4E32-91E5-4D7F-8566-E16B6797E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B3BF74-5D48-486F-AEF3-362FED5FBF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1C74BA-5308-4A8E-B1F3-5077773303B1}"/>
              </a:ext>
            </a:extLst>
          </p:cNvPr>
          <p:cNvSpPr txBox="1"/>
          <p:nvPr/>
        </p:nvSpPr>
        <p:spPr>
          <a:xfrm>
            <a:off x="1120490" y="4245773"/>
            <a:ext cx="10073400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Server=(</a:t>
            </a:r>
            <a:r>
              <a:rPr lang="en-US" sz="1400" dirty="0" err="1">
                <a:solidFill>
                  <a:srgbClr val="800000"/>
                </a:solidFill>
                <a:latin typeface="Consolas" panose="020B0609020204030204" pitchFamily="49" charset="0"/>
              </a:rPr>
              <a:t>localdb</a:t>
            </a:r>
            <a:r>
              <a:rPr 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)\</a:t>
            </a:r>
            <a:r>
              <a:rPr lang="en-US" sz="1400" dirty="0" err="1">
                <a:solidFill>
                  <a:srgbClr val="800000"/>
                </a:solidFill>
                <a:latin typeface="Consolas" panose="020B0609020204030204" pitchFamily="49" charset="0"/>
              </a:rPr>
              <a:t>mssqllocaldb;Database</a:t>
            </a:r>
            <a:r>
              <a:rPr 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 err="1">
                <a:solidFill>
                  <a:srgbClr val="800000"/>
                </a:solidFill>
                <a:latin typeface="Consolas" panose="020B0609020204030204" pitchFamily="49" charset="0"/>
              </a:rPr>
              <a:t>MyBlogDB;Trusted_Connection</a:t>
            </a:r>
            <a:r>
              <a:rPr 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=True;</a:t>
            </a:r>
            <a:r>
              <a:rPr lang="nl-BE" altLang="nl-BE" sz="1400" dirty="0" err="1">
                <a:solidFill>
                  <a:srgbClr val="800000"/>
                </a:solidFill>
                <a:latin typeface="Consolas" panose="020B0609020204030204" pitchFamily="49" charset="0"/>
              </a:rPr>
              <a:t>TrustServerCertificate</a:t>
            </a:r>
            <a:r>
              <a:rPr lang="nl-BE" altLang="nl-BE" sz="1400" dirty="0">
                <a:solidFill>
                  <a:srgbClr val="800000"/>
                </a:solidFill>
                <a:latin typeface="Consolas" panose="020B0609020204030204" pitchFamily="49" charset="0"/>
              </a:rPr>
              <a:t>=True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944CBF-9B51-46F0-AFD3-695B0A37E0FE}"/>
              </a:ext>
            </a:extLst>
          </p:cNvPr>
          <p:cNvSpPr txBox="1"/>
          <p:nvPr/>
        </p:nvSpPr>
        <p:spPr>
          <a:xfrm>
            <a:off x="1120490" y="4725956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b="1" dirty="0"/>
              <a:t>Server:</a:t>
            </a:r>
            <a:r>
              <a:rPr lang="nl-BE" dirty="0"/>
              <a:t> </a:t>
            </a:r>
            <a:r>
              <a:rPr lang="nl-BE" i="1" dirty="0"/>
              <a:t>(</a:t>
            </a:r>
            <a:r>
              <a:rPr lang="nl-BE" i="1" dirty="0" err="1"/>
              <a:t>localdb</a:t>
            </a:r>
            <a:r>
              <a:rPr lang="nl-BE" i="1" dirty="0"/>
              <a:t>)</a:t>
            </a:r>
            <a:r>
              <a:rPr lang="nl-BE" dirty="0"/>
              <a:t> </a:t>
            </a:r>
            <a:r>
              <a:rPr lang="nl-BE" dirty="0">
                <a:sym typeface="Wingdings" panose="05000000000000000000" pitchFamily="2" charset="2"/>
              </a:rPr>
              <a:t> bestand op de harde schijf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b="1" dirty="0">
                <a:sym typeface="Wingdings" panose="05000000000000000000" pitchFamily="2" charset="2"/>
              </a:rPr>
              <a:t>Database:</a:t>
            </a:r>
            <a:r>
              <a:rPr lang="nl-BE" dirty="0">
                <a:sym typeface="Wingdings" panose="05000000000000000000" pitchFamily="2" charset="2"/>
              </a:rPr>
              <a:t> naam voor database </a:t>
            </a:r>
            <a:r>
              <a:rPr lang="nl-BE" i="1" dirty="0">
                <a:sym typeface="Wingdings" panose="05000000000000000000" pitchFamily="2" charset="2"/>
              </a:rPr>
              <a:t>(zelf kiezen)</a:t>
            </a:r>
          </a:p>
        </p:txBody>
      </p:sp>
    </p:spTree>
    <p:extLst>
      <p:ext uri="{BB962C8B-B14F-4D97-AF65-F5344CB8AC3E}">
        <p14:creationId xmlns:p14="http://schemas.microsoft.com/office/powerpoint/2010/main" val="15321409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BEC30-33DA-EFF0-33E9-E9B212400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DbContext</a:t>
            </a:r>
            <a:r>
              <a:rPr lang="nl-BE" dirty="0"/>
              <a:t>: Connection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16CC8-7950-E260-9D58-09C7B8C58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105" y="1868355"/>
            <a:ext cx="11131789" cy="47638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Connection string definiëren in </a:t>
            </a:r>
            <a:r>
              <a:rPr lang="nl-BE" i="1" dirty="0" err="1"/>
              <a:t>appsettings.json</a:t>
            </a: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5A5F8A-654E-065E-1B13-39E340FD3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DF11A-B23E-CA07-2DBA-CF4966FB7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6A14FB-B959-95DE-9804-A8690F10B9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A7089D-E1ED-593D-8BBE-9B1ABE4DF063}"/>
              </a:ext>
            </a:extLst>
          </p:cNvPr>
          <p:cNvSpPr txBox="1"/>
          <p:nvPr/>
        </p:nvSpPr>
        <p:spPr>
          <a:xfrm>
            <a:off x="861246" y="2571076"/>
            <a:ext cx="10602595" cy="230832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nl-BE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nl-BE" sz="1200" b="1" dirty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nl-BE" sz="1200" b="1" dirty="0" err="1">
                <a:solidFill>
                  <a:srgbClr val="2E75B6"/>
                </a:solidFill>
                <a:latin typeface="Cascadia Mono" panose="020B0609020000020004" pitchFamily="49" charset="0"/>
              </a:rPr>
              <a:t>ConnectionStrings</a:t>
            </a:r>
            <a:r>
              <a:rPr lang="nl-BE" sz="1200" b="1" dirty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nl-BE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: {</a:t>
            </a:r>
          </a:p>
          <a:p>
            <a:r>
              <a:rPr lang="nl-BE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200" b="1" dirty="0">
                <a:solidFill>
                  <a:srgbClr val="2E75B6"/>
                </a:solidFill>
                <a:latin typeface="Cascadia Mono" panose="020B0609020000020004" pitchFamily="49" charset="0"/>
              </a:rPr>
              <a:t>"Default"</a:t>
            </a:r>
            <a:r>
              <a:rPr lang="nl-BE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nl-BE" sz="1200" b="1" dirty="0">
                <a:solidFill>
                  <a:srgbClr val="A31515"/>
                </a:solidFill>
                <a:latin typeface="Cascadia Mono" panose="020B0609020000020004" pitchFamily="49" charset="0"/>
              </a:rPr>
              <a:t>"Server=(</a:t>
            </a:r>
            <a:r>
              <a:rPr lang="nl-BE" sz="12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localdb</a:t>
            </a:r>
            <a:r>
              <a:rPr lang="nl-BE" sz="1200" b="1" dirty="0">
                <a:solidFill>
                  <a:srgbClr val="A31515"/>
                </a:solidFill>
                <a:latin typeface="Cascadia Mono" panose="020B0609020000020004" pitchFamily="49" charset="0"/>
              </a:rPr>
              <a:t>)\\</a:t>
            </a:r>
            <a:r>
              <a:rPr lang="nl-BE" sz="12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mssqllocaldb;Database</a:t>
            </a:r>
            <a:r>
              <a:rPr lang="nl-BE" sz="1200" b="1" dirty="0">
                <a:solidFill>
                  <a:srgbClr val="A31515"/>
                </a:solidFill>
                <a:latin typeface="Cascadia Mono" panose="020B0609020000020004" pitchFamily="49" charset="0"/>
              </a:rPr>
              <a:t>=</a:t>
            </a:r>
            <a:r>
              <a:rPr lang="nl-BE" sz="12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MyBlogDB;Trusted_Connection</a:t>
            </a:r>
            <a:r>
              <a:rPr lang="nl-BE" sz="1200" b="1" dirty="0">
                <a:solidFill>
                  <a:srgbClr val="A31515"/>
                </a:solidFill>
                <a:latin typeface="Cascadia Mono" panose="020B0609020000020004" pitchFamily="49" charset="0"/>
              </a:rPr>
              <a:t>=</a:t>
            </a:r>
            <a:r>
              <a:rPr lang="nl-BE" sz="1200" b="1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True;TrustServerCertificate</a:t>
            </a:r>
            <a:r>
              <a:rPr lang="nl-BE" sz="1200" b="1" dirty="0">
                <a:solidFill>
                  <a:srgbClr val="A31515"/>
                </a:solidFill>
                <a:latin typeface="Cascadia Mono" panose="020B0609020000020004" pitchFamily="49" charset="0"/>
              </a:rPr>
              <a:t>=True"</a:t>
            </a:r>
            <a:endParaRPr lang="nl-BE" sz="12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},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nl-BE" sz="1200" dirty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nl-BE" sz="1200" dirty="0" err="1">
                <a:solidFill>
                  <a:srgbClr val="2E75B6"/>
                </a:solidFill>
                <a:latin typeface="Cascadia Mono" panose="020B0609020000020004" pitchFamily="49" charset="0"/>
              </a:rPr>
              <a:t>Logging</a:t>
            </a:r>
            <a:r>
              <a:rPr lang="nl-BE" sz="1200" dirty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: {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200" dirty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nl-BE" sz="1200" dirty="0" err="1">
                <a:solidFill>
                  <a:srgbClr val="2E75B6"/>
                </a:solidFill>
                <a:latin typeface="Cascadia Mono" panose="020B0609020000020004" pitchFamily="49" charset="0"/>
              </a:rPr>
              <a:t>LogLevel</a:t>
            </a:r>
            <a:r>
              <a:rPr lang="nl-BE" sz="1200" dirty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: {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nl-BE" sz="1200" dirty="0">
                <a:solidFill>
                  <a:srgbClr val="2E75B6"/>
                </a:solidFill>
                <a:latin typeface="Cascadia Mono" panose="020B0609020000020004" pitchFamily="49" charset="0"/>
              </a:rPr>
              <a:t>"Default"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nl-BE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"Information"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nl-BE" sz="1200" dirty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nl-BE" sz="1200" dirty="0" err="1">
                <a:solidFill>
                  <a:srgbClr val="2E75B6"/>
                </a:solidFill>
                <a:latin typeface="Cascadia Mono" panose="020B0609020000020004" pitchFamily="49" charset="0"/>
              </a:rPr>
              <a:t>Microsoft.AspNetCore</a:t>
            </a:r>
            <a:r>
              <a:rPr lang="nl-BE" sz="1200" dirty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nl-BE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nl-BE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Warning</a:t>
            </a:r>
            <a:r>
              <a:rPr lang="nl-BE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},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nl-BE" sz="1200" dirty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nl-BE" sz="1200" dirty="0" err="1">
                <a:solidFill>
                  <a:srgbClr val="2E75B6"/>
                </a:solidFill>
                <a:latin typeface="Cascadia Mono" panose="020B0609020000020004" pitchFamily="49" charset="0"/>
              </a:rPr>
              <a:t>AllowedHosts</a:t>
            </a:r>
            <a:r>
              <a:rPr lang="nl-BE" sz="1200" dirty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nl-BE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"*"</a:t>
            </a:r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698750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BEC30-33DA-EFF0-33E9-E9B212400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DbContext</a:t>
            </a:r>
            <a:r>
              <a:rPr lang="nl-BE" dirty="0"/>
              <a:t>: Connection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16CC8-7950-E260-9D58-09C7B8C58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105" y="1569117"/>
            <a:ext cx="11131789" cy="164061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err="1"/>
              <a:t>DbContext</a:t>
            </a:r>
            <a:r>
              <a:rPr lang="nl-BE" dirty="0"/>
              <a:t> registreren in </a:t>
            </a:r>
            <a:r>
              <a:rPr lang="nl-BE" dirty="0" err="1"/>
              <a:t>Program.cs</a:t>
            </a:r>
            <a:endParaRPr lang="nl-BE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Connection string ophalen en doorgeven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Kan vervolgens </a:t>
            </a:r>
            <a:r>
              <a:rPr lang="nl-BE" sz="2400" i="1" dirty="0"/>
              <a:t>geïnjecteerd</a:t>
            </a:r>
            <a:r>
              <a:rPr lang="nl-BE" sz="2400" dirty="0"/>
              <a:t> worden in andere </a:t>
            </a:r>
            <a:r>
              <a:rPr lang="nl-BE" sz="2400" dirty="0" err="1"/>
              <a:t>klasses</a:t>
            </a:r>
            <a:endParaRPr lang="nl-B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5A5F8A-654E-065E-1B13-39E340FD3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DF11A-B23E-CA07-2DBA-CF4966FB7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6A14FB-B959-95DE-9804-A8690F10B9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A7089D-E1ED-593D-8BBE-9B1ABE4DF063}"/>
              </a:ext>
            </a:extLst>
          </p:cNvPr>
          <p:cNvSpPr txBox="1"/>
          <p:nvPr/>
        </p:nvSpPr>
        <p:spPr>
          <a:xfrm>
            <a:off x="1364962" y="3094415"/>
            <a:ext cx="8577676" cy="267765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Demo_View.Data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nl-BE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Microsoft.EntityFrameworkCore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builder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WebApplication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en-US" sz="1200" dirty="0" err="1">
                <a:solidFill>
                  <a:srgbClr val="74531F"/>
                </a:solidFill>
                <a:latin typeface="Cascadia Mono" panose="020B0609020000020004" pitchFamily="49" charset="0"/>
              </a:rPr>
              <a:t>CreateBuilder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// Add services to the container.</a:t>
            </a:r>
          </a:p>
          <a:p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</a:t>
            </a:r>
            <a:r>
              <a:rPr lang="nl-BE" sz="1200" dirty="0" err="1">
                <a:solidFill>
                  <a:srgbClr val="74531F"/>
                </a:solidFill>
                <a:latin typeface="Cascadia Mono" panose="020B0609020000020004" pitchFamily="49" charset="0"/>
              </a:rPr>
              <a:t>AddControllersWithViews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b="1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conString</a:t>
            </a:r>
            <a:r>
              <a:rPr lang="en-US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2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builder.Configuration.</a:t>
            </a:r>
            <a:r>
              <a:rPr lang="en-US" sz="1200" b="1" dirty="0" err="1">
                <a:solidFill>
                  <a:srgbClr val="74531F"/>
                </a:solidFill>
                <a:latin typeface="Cascadia Mono" panose="020B0609020000020004" pitchFamily="49" charset="0"/>
              </a:rPr>
              <a:t>GetConnectionString</a:t>
            </a:r>
            <a:r>
              <a:rPr lang="en-US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b="1" dirty="0">
                <a:solidFill>
                  <a:srgbClr val="A31515"/>
                </a:solidFill>
                <a:latin typeface="Cascadia Mono" panose="020B0609020000020004" pitchFamily="49" charset="0"/>
              </a:rPr>
              <a:t>"Default"</a:t>
            </a:r>
            <a:r>
              <a:rPr lang="en-US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2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</a:t>
            </a:r>
            <a:r>
              <a:rPr lang="nl-BE" sz="1200" b="1" dirty="0" err="1">
                <a:solidFill>
                  <a:srgbClr val="74531F"/>
                </a:solidFill>
                <a:latin typeface="Cascadia Mono" panose="020B0609020000020004" pitchFamily="49" charset="0"/>
              </a:rPr>
              <a:t>AddDbContext</a:t>
            </a:r>
            <a:r>
              <a:rPr lang="nl-BE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nl-BE" sz="12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BlogDbContext</a:t>
            </a:r>
            <a:r>
              <a:rPr lang="nl-BE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&gt;(x =&gt; </a:t>
            </a:r>
            <a:r>
              <a:rPr lang="nl-BE" sz="12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x.</a:t>
            </a:r>
            <a:r>
              <a:rPr lang="nl-BE" sz="1200" b="1" dirty="0" err="1">
                <a:solidFill>
                  <a:srgbClr val="74531F"/>
                </a:solidFill>
                <a:latin typeface="Cascadia Mono" panose="020B0609020000020004" pitchFamily="49" charset="0"/>
              </a:rPr>
              <a:t>UseSqlServer</a:t>
            </a:r>
            <a:r>
              <a:rPr lang="nl-BE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conString</a:t>
            </a:r>
            <a:r>
              <a:rPr lang="nl-BE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app =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</a:t>
            </a:r>
            <a:r>
              <a:rPr lang="nl-BE" sz="1200" dirty="0" err="1">
                <a:solidFill>
                  <a:srgbClr val="74531F"/>
                </a:solidFill>
                <a:latin typeface="Cascadia Mono" panose="020B0609020000020004" pitchFamily="49" charset="0"/>
              </a:rPr>
              <a:t>Build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//...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14BD1D0A-67F6-D8CE-252E-DC0FCB24809F}"/>
              </a:ext>
            </a:extLst>
          </p:cNvPr>
          <p:cNvSpPr/>
          <p:nvPr/>
        </p:nvSpPr>
        <p:spPr>
          <a:xfrm>
            <a:off x="8320689" y="4531439"/>
            <a:ext cx="102637" cy="513184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127472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FF2DE-85F5-49C8-957F-503577B24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DbContext</a:t>
            </a:r>
            <a:r>
              <a:rPr lang="nl-BE" dirty="0"/>
              <a:t>: </a:t>
            </a:r>
            <a:r>
              <a:rPr lang="nl-BE" dirty="0" err="1"/>
              <a:t>DbSet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22875-2A8B-4E6C-A5BC-01B04AC25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0" y="1295999"/>
            <a:ext cx="10233309" cy="393476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 err="1">
                <a:solidFill>
                  <a:schemeClr val="accent6"/>
                </a:solidFill>
              </a:rPr>
              <a:t>DbSet</a:t>
            </a:r>
            <a:r>
              <a:rPr lang="nl-BE" sz="2400" dirty="0"/>
              <a:t> = </a:t>
            </a:r>
            <a:r>
              <a:rPr lang="nl-BE" sz="2400" dirty="0" err="1"/>
              <a:t>collection</a:t>
            </a:r>
            <a:r>
              <a:rPr lang="nl-BE" sz="2400" dirty="0"/>
              <a:t> van </a:t>
            </a:r>
            <a:r>
              <a:rPr lang="nl-BE" sz="2400" dirty="0" err="1"/>
              <a:t>entity’s</a:t>
            </a:r>
            <a:r>
              <a:rPr lang="nl-BE" sz="2400" dirty="0"/>
              <a:t> van specifiek type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Gebruikt om </a:t>
            </a:r>
            <a:r>
              <a:rPr lang="nl-BE" sz="2400" b="1" dirty="0">
                <a:solidFill>
                  <a:schemeClr val="accent6"/>
                </a:solidFill>
              </a:rPr>
              <a:t>tabel</a:t>
            </a:r>
            <a:r>
              <a:rPr lang="nl-BE" sz="2400" dirty="0"/>
              <a:t> van deze </a:t>
            </a:r>
            <a:r>
              <a:rPr lang="nl-BE" sz="2400" dirty="0" err="1"/>
              <a:t>Entity</a:t>
            </a:r>
            <a:r>
              <a:rPr lang="nl-BE" sz="2400" dirty="0"/>
              <a:t> (en gerelateerde </a:t>
            </a:r>
            <a:r>
              <a:rPr lang="nl-BE" sz="2400" dirty="0" err="1"/>
              <a:t>Entity’s</a:t>
            </a:r>
            <a:r>
              <a:rPr lang="nl-BE" sz="2400" dirty="0"/>
              <a:t>) te benaderen </a:t>
            </a:r>
            <a:r>
              <a:rPr lang="nl-BE" sz="2400" i="1" dirty="0"/>
              <a:t>(INSERT/UPDATE/DELETE/SELECT)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>
                <a:solidFill>
                  <a:schemeClr val="accent6"/>
                </a:solidFill>
              </a:rPr>
              <a:t>Property</a:t>
            </a:r>
            <a:r>
              <a:rPr lang="nl-BE" sz="2400" dirty="0"/>
              <a:t> van type </a:t>
            </a:r>
            <a:r>
              <a:rPr lang="nl-BE" sz="2400" dirty="0" err="1"/>
              <a:t>DbSet</a:t>
            </a:r>
            <a:r>
              <a:rPr lang="nl-BE" sz="2400" dirty="0"/>
              <a:t>&lt;</a:t>
            </a:r>
            <a:r>
              <a:rPr lang="nl-BE" sz="2400" dirty="0" err="1"/>
              <a:t>Entity</a:t>
            </a:r>
            <a:r>
              <a:rPr lang="nl-BE" sz="2400" dirty="0"/>
              <a:t>&gt; toevoegen aan </a:t>
            </a:r>
            <a:r>
              <a:rPr lang="nl-BE" sz="2400" dirty="0" err="1"/>
              <a:t>DbContext</a:t>
            </a:r>
            <a:r>
              <a:rPr lang="nl-BE" sz="2400" dirty="0"/>
              <a:t> voor elk type waarvan je tabel wilt benaderen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Voor elk type (+ gerelateerde </a:t>
            </a:r>
            <a:r>
              <a:rPr lang="nl-BE" sz="2000" dirty="0" err="1"/>
              <a:t>entity’s</a:t>
            </a:r>
            <a:r>
              <a:rPr lang="nl-BE" sz="2000" dirty="0"/>
              <a:t>) zal bijhorende tabel gegenereerd worden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4EA31-B6E8-4446-920D-6C018B4E3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6CBA24-3D85-4C41-91EF-7E9495E9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BC7876-3579-4015-9029-AEE88E7B6A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4827AF-29CC-4EA6-9A13-50CA1358D27E}"/>
              </a:ext>
            </a:extLst>
          </p:cNvPr>
          <p:cNvSpPr txBox="1"/>
          <p:nvPr/>
        </p:nvSpPr>
        <p:spPr>
          <a:xfrm>
            <a:off x="861246" y="4114818"/>
            <a:ext cx="10233309" cy="101566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BlogDbContext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DbContext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DbSet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sz="1200" b="1" dirty="0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Post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&gt; Posts {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set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 }</a:t>
            </a:r>
          </a:p>
          <a:p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DbSet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sz="1200" b="1" dirty="0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Person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&gt; Persons {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set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 }</a:t>
            </a:r>
            <a:endParaRPr lang="nl-BE" sz="12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</p:spTree>
    <p:extLst>
      <p:ext uri="{BB962C8B-B14F-4D97-AF65-F5344CB8AC3E}">
        <p14:creationId xmlns:p14="http://schemas.microsoft.com/office/powerpoint/2010/main" val="28984893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BEC30-33DA-EFF0-33E9-E9B212400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DbContext</a:t>
            </a:r>
            <a:r>
              <a:rPr lang="nl-BE" dirty="0"/>
              <a:t>: 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16CC8-7950-E260-9D58-09C7B8C58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105" y="1569117"/>
            <a:ext cx="11131789" cy="164061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err="1"/>
              <a:t>DbContext</a:t>
            </a:r>
            <a:r>
              <a:rPr lang="nl-BE" dirty="0"/>
              <a:t> gebruiken in andere </a:t>
            </a:r>
            <a:r>
              <a:rPr lang="nl-BE" dirty="0" err="1"/>
              <a:t>klasses</a:t>
            </a:r>
            <a:endParaRPr lang="nl-BE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Geef klasse </a:t>
            </a:r>
            <a:r>
              <a:rPr lang="nl-BE" sz="2400" dirty="0" err="1"/>
              <a:t>constructor</a:t>
            </a:r>
            <a:r>
              <a:rPr lang="nl-BE" sz="2400" dirty="0"/>
              <a:t> met parameter van </a:t>
            </a:r>
            <a:r>
              <a:rPr lang="nl-BE" sz="2400" dirty="0" err="1"/>
              <a:t>DbContext</a:t>
            </a:r>
            <a:r>
              <a:rPr lang="nl-BE" sz="2400" dirty="0"/>
              <a:t>-type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Zal via </a:t>
            </a:r>
            <a:r>
              <a:rPr lang="nl-BE" sz="2400" b="1" dirty="0" err="1">
                <a:solidFill>
                  <a:schemeClr val="accent6"/>
                </a:solidFill>
              </a:rPr>
              <a:t>dependency</a:t>
            </a:r>
            <a:r>
              <a:rPr lang="nl-BE" sz="2400" b="1" dirty="0">
                <a:solidFill>
                  <a:schemeClr val="accent6"/>
                </a:solidFill>
              </a:rPr>
              <a:t> </a:t>
            </a:r>
            <a:r>
              <a:rPr lang="nl-BE" sz="2400" b="1" dirty="0" err="1">
                <a:solidFill>
                  <a:schemeClr val="accent6"/>
                </a:solidFill>
              </a:rPr>
              <a:t>injection</a:t>
            </a:r>
            <a:r>
              <a:rPr lang="nl-BE" sz="2400" b="1" dirty="0">
                <a:solidFill>
                  <a:schemeClr val="accent6"/>
                </a:solidFill>
              </a:rPr>
              <a:t> </a:t>
            </a:r>
            <a:r>
              <a:rPr lang="nl-BE" sz="2400" dirty="0"/>
              <a:t>automatisch opgevuld worden bij creatie controller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5A5F8A-654E-065E-1B13-39E340FD3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DF11A-B23E-CA07-2DBA-CF4966FB7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6A14FB-B959-95DE-9804-A8690F10B9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A7089D-E1ED-593D-8BBE-9B1ABE4DF063}"/>
              </a:ext>
            </a:extLst>
          </p:cNvPr>
          <p:cNvSpPr txBox="1"/>
          <p:nvPr/>
        </p:nvSpPr>
        <p:spPr>
          <a:xfrm>
            <a:off x="1374292" y="3209730"/>
            <a:ext cx="7032589" cy="230832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PostRepository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BlogDbContext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_context;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PostRepository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2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BlogDbContext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context) {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_context = context;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}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>
                <a:solidFill>
                  <a:srgbClr val="4F8291"/>
                </a:solidFill>
                <a:latin typeface="Cascadia Mono" panose="020B0609020000020004" pitchFamily="49" charset="0"/>
              </a:rPr>
              <a:t>List</a:t>
            </a:r>
            <a:r>
              <a:rPr lang="nl-BE" sz="1200" dirty="0">
                <a:solidFill>
                  <a:schemeClr val="tx2"/>
                </a:solidFill>
                <a:latin typeface="Cascadia Mono" panose="020B0609020000020004" pitchFamily="49" charset="0"/>
              </a:rPr>
              <a:t>&lt;</a:t>
            </a:r>
            <a:r>
              <a:rPr lang="nl-BE" sz="1200" dirty="0">
                <a:solidFill>
                  <a:srgbClr val="4F8291"/>
                </a:solidFill>
                <a:latin typeface="Cascadia Mono" panose="020B0609020000020004" pitchFamily="49" charset="0"/>
              </a:rPr>
              <a:t>Post</a:t>
            </a:r>
            <a:r>
              <a:rPr lang="nl-BE" sz="1200" dirty="0">
                <a:solidFill>
                  <a:schemeClr val="tx2"/>
                </a:solidFill>
                <a:latin typeface="Cascadia Mono" panose="020B0609020000020004" pitchFamily="49" charset="0"/>
              </a:rPr>
              <a:t>&gt;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74531F"/>
                </a:solidFill>
                <a:latin typeface="Cascadia Mono" panose="020B0609020000020004" pitchFamily="49" charset="0"/>
              </a:rPr>
              <a:t>GetAll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_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context.Posts.</a:t>
            </a:r>
            <a:r>
              <a:rPr lang="en-US" sz="1200" dirty="0" err="1">
                <a:solidFill>
                  <a:srgbClr val="74531F"/>
                </a:solidFill>
                <a:latin typeface="Cascadia Mono" panose="020B0609020000020004" pitchFamily="49" charset="0"/>
              </a:rPr>
              <a:t>ToList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}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nl-BE" sz="1200" dirty="0">
              <a:solidFill>
                <a:srgbClr val="008000"/>
              </a:solidFill>
              <a:latin typeface="Cascadia Mono" panose="020B0609020000020004" pitchFamily="49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77553C9-590C-BB53-449F-C70F6A5C12E9}"/>
              </a:ext>
            </a:extLst>
          </p:cNvPr>
          <p:cNvCxnSpPr>
            <a:cxnSpLocks/>
          </p:cNvCxnSpPr>
          <p:nvPr/>
        </p:nvCxnSpPr>
        <p:spPr>
          <a:xfrm flipH="1" flipV="1">
            <a:off x="5719665" y="4077478"/>
            <a:ext cx="1203649" cy="46653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98B394-E6CD-2BE8-D42E-916647F0510F}"/>
              </a:ext>
            </a:extLst>
          </p:cNvPr>
          <p:cNvSpPr txBox="1"/>
          <p:nvPr/>
        </p:nvSpPr>
        <p:spPr>
          <a:xfrm>
            <a:off x="6923314" y="4455421"/>
            <a:ext cx="182436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BE" sz="1400" b="1" dirty="0" err="1"/>
              <a:t>Dependency</a:t>
            </a:r>
            <a:r>
              <a:rPr lang="nl-BE" sz="1400" b="1" dirty="0"/>
              <a:t> </a:t>
            </a:r>
            <a:r>
              <a:rPr lang="nl-BE" sz="1400" b="1" dirty="0" err="1"/>
              <a:t>injection</a:t>
            </a:r>
            <a:endParaRPr lang="nl-BE" sz="1400" b="1" dirty="0"/>
          </a:p>
        </p:txBody>
      </p:sp>
    </p:spTree>
    <p:extLst>
      <p:ext uri="{BB962C8B-B14F-4D97-AF65-F5344CB8AC3E}">
        <p14:creationId xmlns:p14="http://schemas.microsoft.com/office/powerpoint/2010/main" val="30723444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BEC30-33DA-EFF0-33E9-E9B212400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DbContext</a:t>
            </a:r>
            <a:r>
              <a:rPr lang="nl-BE" dirty="0"/>
              <a:t>: 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16CC8-7950-E260-9D58-09C7B8C58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105" y="1569117"/>
            <a:ext cx="11131789" cy="164061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Indien je deze klasse op zijn beurt wilt gebruiken in een andere klasse, dien je deze ook te registreren als service in je </a:t>
            </a:r>
            <a:r>
              <a:rPr lang="nl-BE" sz="2400" i="1" dirty="0" err="1"/>
              <a:t>Program.cs</a:t>
            </a:r>
            <a:endParaRPr lang="nl-BE" sz="2400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5A5F8A-654E-065E-1B13-39E340FD3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DF11A-B23E-CA07-2DBA-CF4966FB7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6A14FB-B959-95DE-9804-A8690F10B9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A7089D-E1ED-593D-8BBE-9B1ABE4DF063}"/>
              </a:ext>
            </a:extLst>
          </p:cNvPr>
          <p:cNvSpPr txBox="1"/>
          <p:nvPr/>
        </p:nvSpPr>
        <p:spPr>
          <a:xfrm>
            <a:off x="530106" y="3151932"/>
            <a:ext cx="5840878" cy="230832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BlogController</a:t>
            </a:r>
            <a:r>
              <a:rPr lang="nl-BE" sz="1200" dirty="0">
                <a:solidFill>
                  <a:srgbClr val="4F8291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>
                <a:solidFill>
                  <a:schemeClr val="tx2"/>
                </a:solidFill>
                <a:latin typeface="Cascadia Mono" panose="020B0609020000020004" pitchFamily="49" charset="0"/>
              </a:rPr>
              <a:t>:</a:t>
            </a:r>
            <a:r>
              <a:rPr lang="nl-BE" sz="1200" dirty="0">
                <a:solidFill>
                  <a:srgbClr val="4F8291"/>
                </a:solidFill>
                <a:latin typeface="Cascadia Mono" panose="020B0609020000020004" pitchFamily="49" charset="0"/>
              </a:rPr>
              <a:t> Controller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PostRepository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_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postRepository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BlogController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2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PostRepository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postRepository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_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postRepository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postRepository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}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IActionResult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>
                <a:solidFill>
                  <a:srgbClr val="74531F"/>
                </a:solidFill>
                <a:latin typeface="Cascadia Mono" panose="020B0609020000020004" pitchFamily="49" charset="0"/>
              </a:rPr>
              <a:t>Index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74531F"/>
                </a:solidFill>
                <a:latin typeface="Cascadia Mono" panose="020B0609020000020004" pitchFamily="49" charset="0"/>
              </a:rPr>
              <a:t>View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(_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postRepository.</a:t>
            </a:r>
            <a:r>
              <a:rPr lang="en-US" sz="1200" dirty="0" err="1">
                <a:solidFill>
                  <a:srgbClr val="74531F"/>
                </a:solidFill>
                <a:latin typeface="Cascadia Mono" panose="020B0609020000020004" pitchFamily="49" charset="0"/>
              </a:rPr>
              <a:t>GetAll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());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}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nl-BE" sz="1200" dirty="0">
              <a:solidFill>
                <a:srgbClr val="008000"/>
              </a:solidFill>
              <a:latin typeface="Cascadia Mono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A532D2-EBD5-F54F-85D5-4E70D2A2F2C5}"/>
              </a:ext>
            </a:extLst>
          </p:cNvPr>
          <p:cNvSpPr txBox="1"/>
          <p:nvPr/>
        </p:nvSpPr>
        <p:spPr>
          <a:xfrm>
            <a:off x="6654958" y="3151932"/>
            <a:ext cx="5201996" cy="193899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builder = </a:t>
            </a:r>
            <a:r>
              <a:rPr lang="en-US" sz="12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WebApplication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en-US" sz="1200" dirty="0" err="1">
                <a:solidFill>
                  <a:srgbClr val="74531F"/>
                </a:solidFill>
                <a:latin typeface="Cascadia Mono" panose="020B0609020000020004" pitchFamily="49" charset="0"/>
              </a:rPr>
              <a:t>CreateBuilder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// Add services to the container.</a:t>
            </a:r>
          </a:p>
          <a:p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</a:t>
            </a:r>
            <a:r>
              <a:rPr lang="nl-BE" sz="1200" dirty="0" err="1">
                <a:solidFill>
                  <a:srgbClr val="74531F"/>
                </a:solidFill>
                <a:latin typeface="Cascadia Mono" panose="020B0609020000020004" pitchFamily="49" charset="0"/>
              </a:rPr>
              <a:t>AddControllersWithViews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//andere services (zoals </a:t>
            </a:r>
            <a:r>
              <a:rPr lang="nl-BE" sz="12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DbContext</a:t>
            </a:r>
            <a:r>
              <a:rPr lang="nl-BE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 etc.)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</a:t>
            </a:r>
            <a:r>
              <a:rPr lang="nl-BE" sz="1200" dirty="0" err="1">
                <a:solidFill>
                  <a:srgbClr val="74531F"/>
                </a:solidFill>
                <a:latin typeface="Cascadia Mono" panose="020B0609020000020004" pitchFamily="49" charset="0"/>
              </a:rPr>
              <a:t>AddScoped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nl-BE" sz="12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PostRepository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app =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</a:t>
            </a:r>
            <a:r>
              <a:rPr lang="nl-BE" sz="1200" dirty="0" err="1">
                <a:solidFill>
                  <a:srgbClr val="74531F"/>
                </a:solidFill>
                <a:latin typeface="Cascadia Mono" panose="020B0609020000020004" pitchFamily="49" charset="0"/>
              </a:rPr>
              <a:t>Build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nl-BE" sz="1200" dirty="0">
              <a:solidFill>
                <a:srgbClr val="008000"/>
              </a:solidFill>
              <a:latin typeface="Cascadia Mono" panose="020B0609020000020004" pitchFamily="49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8B2DEFC-E0B1-8DB7-A021-81A7EE7CAFFE}"/>
              </a:ext>
            </a:extLst>
          </p:cNvPr>
          <p:cNvCxnSpPr>
            <a:cxnSpLocks/>
          </p:cNvCxnSpPr>
          <p:nvPr/>
        </p:nvCxnSpPr>
        <p:spPr>
          <a:xfrm flipH="1" flipV="1">
            <a:off x="5178287" y="4025348"/>
            <a:ext cx="1476671" cy="5168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09009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A13FB-E57D-4CD6-A0C2-98AC5858F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DbContext</a:t>
            </a:r>
            <a:r>
              <a:rPr lang="nl-BE" dirty="0"/>
              <a:t>: </a:t>
            </a:r>
            <a:r>
              <a:rPr lang="nl-BE" dirty="0" err="1"/>
              <a:t>Fluent</a:t>
            </a:r>
            <a:r>
              <a:rPr lang="nl-BE" dirty="0"/>
              <a:t> API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31A06-4343-4B77-B8C1-724F75B7B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7F032-0FE4-4D84-B771-3D5D7DD28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444A7C-9FB5-4279-A9BA-7272DE830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35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6E7EF8-E4DE-4CF4-963D-2E9C436210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153530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D5CE1-8220-4A95-B149-E1CFADD65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DbContext</a:t>
            </a:r>
            <a:r>
              <a:rPr lang="nl-BE" dirty="0"/>
              <a:t>: </a:t>
            </a:r>
            <a:r>
              <a:rPr lang="nl-BE" dirty="0" err="1"/>
              <a:t>Fluent</a:t>
            </a:r>
            <a:r>
              <a:rPr lang="nl-BE" dirty="0"/>
              <a:t>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9F666-CFE1-45AB-89D8-5D796DC01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883734"/>
            <a:ext cx="10090219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In </a:t>
            </a:r>
            <a:r>
              <a:rPr lang="nl-BE" dirty="0" err="1"/>
              <a:t>DbContext</a:t>
            </a:r>
            <a:r>
              <a:rPr lang="nl-BE" dirty="0"/>
              <a:t>: mogelijk om </a:t>
            </a:r>
            <a:r>
              <a:rPr lang="nl-BE" dirty="0" err="1"/>
              <a:t>entity’s</a:t>
            </a:r>
            <a:r>
              <a:rPr lang="nl-BE" dirty="0"/>
              <a:t> te configureren via </a:t>
            </a:r>
            <a:r>
              <a:rPr lang="nl-BE" dirty="0" err="1"/>
              <a:t>Fluent</a:t>
            </a:r>
            <a:r>
              <a:rPr lang="nl-BE" dirty="0"/>
              <a:t> API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Meer controle dan Data </a:t>
            </a:r>
            <a:r>
              <a:rPr lang="nl-BE" sz="2400" dirty="0" err="1"/>
              <a:t>Annotations</a:t>
            </a:r>
            <a:endParaRPr lang="nl-BE" sz="24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Biedt complexere configuratie-opties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Beter geschikt voor grote projecten of afzonderlijke configuratiebestanden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err="1"/>
              <a:t>Override</a:t>
            </a:r>
            <a:r>
              <a:rPr lang="nl-BE" dirty="0"/>
              <a:t> methode </a:t>
            </a:r>
            <a:r>
              <a:rPr lang="nl-BE" sz="2400" dirty="0" err="1">
                <a:latin typeface="Consolas" panose="020B0609020204030204" pitchFamily="49" charset="0"/>
              </a:rPr>
              <a:t>OnModelCreating</a:t>
            </a:r>
            <a:endParaRPr lang="nl-BE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675656-B14A-4766-8997-A105781F2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5FDB4-1CCE-4788-9E03-D17110354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88D825-691B-40E4-AD1C-45E6686A75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578405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E7A14-C366-4ED9-8DF6-E20255B42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DbContext</a:t>
            </a:r>
            <a:r>
              <a:rPr lang="nl-BE" dirty="0"/>
              <a:t>: </a:t>
            </a:r>
            <a:r>
              <a:rPr lang="nl-BE" dirty="0" err="1"/>
              <a:t>Fluent</a:t>
            </a:r>
            <a:r>
              <a:rPr lang="nl-BE" dirty="0"/>
              <a:t> API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69FBA1-AD9F-47A2-B837-44922D06F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5FE72-02F5-4DC6-9D59-2549538DE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E61CC6-1D50-47B2-B550-8A338E21B8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1627E4-94B5-4F1D-B0C4-55E9BDE6F89F}"/>
              </a:ext>
            </a:extLst>
          </p:cNvPr>
          <p:cNvSpPr txBox="1"/>
          <p:nvPr/>
        </p:nvSpPr>
        <p:spPr>
          <a:xfrm>
            <a:off x="930072" y="4277973"/>
            <a:ext cx="7000567" cy="193899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AppDbContext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DbContext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protected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OnModelCreating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ModelBuilder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modelBuilder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modelBuilder.Entity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nl-BE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Blog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&gt;()</a:t>
            </a: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.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HasOne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(x =&gt; 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x.Header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.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WithOne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(x =&gt; 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x.Blog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.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HasForeignKey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BlogHeader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&gt;(x =&gt;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x.BlogId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nl-BE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nl-BE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IsRequired</a:t>
            </a:r>
            <a:r>
              <a:rPr lang="nl-BE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6D81C5-C1D2-4444-A294-30F2AC9E0E13}"/>
              </a:ext>
            </a:extLst>
          </p:cNvPr>
          <p:cNvSpPr txBox="1"/>
          <p:nvPr/>
        </p:nvSpPr>
        <p:spPr>
          <a:xfrm>
            <a:off x="930072" y="1348269"/>
            <a:ext cx="3327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Voorbeeld </a:t>
            </a:r>
            <a:r>
              <a:rPr lang="nl-BE" b="1" i="1" u="sng" dirty="0" err="1"/>
              <a:t>one-to-one</a:t>
            </a:r>
            <a:r>
              <a:rPr lang="nl-BE" b="1" i="1" u="sng" dirty="0"/>
              <a:t> (verplicht):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6AFDA9-3745-3C84-1AC6-4539343C0271}"/>
              </a:ext>
            </a:extLst>
          </p:cNvPr>
          <p:cNvSpPr txBox="1"/>
          <p:nvPr/>
        </p:nvSpPr>
        <p:spPr>
          <a:xfrm>
            <a:off x="930072" y="1887418"/>
            <a:ext cx="8228191" cy="212365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Blog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BlogHeader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? Header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Reference navigation to dependent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</a:p>
          <a:p>
            <a:endParaRPr lang="nl-BE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nl-BE" sz="12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Dependent</a:t>
            </a:r>
            <a:r>
              <a:rPr lang="nl-BE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l-BE" sz="12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child</a:t>
            </a:r>
            <a:r>
              <a:rPr lang="nl-BE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nl-BE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BlogHeader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BlogId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Required foreign key property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Blog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Blog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!;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Required reference navigation to principal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  <a:endParaRPr lang="nl-BE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646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65F47-B281-EBC5-534F-95A11303D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CFED4-3B8C-4F07-7994-412800AD0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DbContext</a:t>
            </a:r>
            <a:r>
              <a:rPr lang="nl-BE" dirty="0"/>
              <a:t>: </a:t>
            </a:r>
            <a:r>
              <a:rPr lang="nl-BE" dirty="0" err="1"/>
              <a:t>Fluent</a:t>
            </a:r>
            <a:r>
              <a:rPr lang="nl-BE" dirty="0"/>
              <a:t> API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99B367-13BA-0779-0048-33000882D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106ABD-93F0-C5E8-8EF9-AAB9EC0E8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D53406A-FE7A-D722-3606-3E05BF1E32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73136A-38B6-A77E-D4D6-AECB867B5782}"/>
              </a:ext>
            </a:extLst>
          </p:cNvPr>
          <p:cNvSpPr txBox="1"/>
          <p:nvPr/>
        </p:nvSpPr>
        <p:spPr>
          <a:xfrm>
            <a:off x="930072" y="4277973"/>
            <a:ext cx="7000567" cy="193899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AppDbContext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DbContext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protected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OnModelCreating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ModelBuilder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modelBuilder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modelBuilder.Entity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nl-BE" sz="1200" dirty="0">
                <a:solidFill>
                  <a:srgbClr val="4F829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Blog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&gt;()</a:t>
            </a: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.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HasOne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(e =&gt; 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e.Header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.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WithOne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(e =&gt; 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e.Blog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.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HasForeignKey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nl-BE" sz="1200" dirty="0" err="1">
                <a:solidFill>
                  <a:srgbClr val="4F829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BlogHeader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&gt;(e =&gt; 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e.BlogId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</a:t>
            </a:r>
            <a:r>
              <a:rPr lang="nl-BE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nl-BE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IsRequired</a:t>
            </a:r>
            <a:r>
              <a:rPr lang="nl-BE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12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nl-BE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8B53A1-E7C9-9DA3-F73B-4D20B2F2EA45}"/>
              </a:ext>
            </a:extLst>
          </p:cNvPr>
          <p:cNvSpPr txBox="1"/>
          <p:nvPr/>
        </p:nvSpPr>
        <p:spPr>
          <a:xfrm>
            <a:off x="930072" y="1348269"/>
            <a:ext cx="3327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Voorbeeld </a:t>
            </a:r>
            <a:r>
              <a:rPr lang="nl-BE" b="1" i="1" u="sng" dirty="0" err="1"/>
              <a:t>one-to-one</a:t>
            </a:r>
            <a:r>
              <a:rPr lang="nl-BE" b="1" i="1" u="sng" dirty="0"/>
              <a:t> (optioneel):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A0184C-B5A6-8E61-CAEA-FA1440695A5A}"/>
              </a:ext>
            </a:extLst>
          </p:cNvPr>
          <p:cNvSpPr txBox="1"/>
          <p:nvPr/>
        </p:nvSpPr>
        <p:spPr>
          <a:xfrm>
            <a:off x="930072" y="1764847"/>
            <a:ext cx="8228191" cy="230832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 </a:t>
            </a:r>
            <a:r>
              <a:rPr lang="nl-BE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// </a:t>
            </a:r>
            <a:r>
              <a:rPr lang="nl-BE" sz="12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Principal</a:t>
            </a:r>
            <a:r>
              <a:rPr lang="nl-BE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 (</a:t>
            </a:r>
            <a:r>
              <a:rPr lang="nl-BE" sz="12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parent</a:t>
            </a:r>
            <a:r>
              <a:rPr lang="nl-BE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)</a:t>
            </a:r>
            <a:endParaRPr lang="nl-BE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 </a:t>
            </a:r>
            <a:r>
              <a:rPr lang="nl-BE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Blog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 Id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BlogHeader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? Header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; }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// Reference navigation to dependent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 }</a:t>
            </a:r>
          </a:p>
          <a:p>
            <a:endParaRPr lang="nl-BE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 </a:t>
            </a:r>
            <a:r>
              <a:rPr lang="nl-BE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// </a:t>
            </a:r>
            <a:r>
              <a:rPr lang="nl-BE" sz="12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Dependent</a:t>
            </a:r>
            <a:r>
              <a:rPr lang="nl-BE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 (</a:t>
            </a:r>
            <a:r>
              <a:rPr lang="nl-BE" sz="12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child</a:t>
            </a:r>
            <a:r>
              <a:rPr lang="nl-BE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)</a:t>
            </a:r>
            <a:endParaRPr lang="nl-BE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BlogHeader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 Id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int</a:t>
            </a:r>
            <a:r>
              <a:rPr lang="en-US" sz="12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?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BlogId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; }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// Optional foreign key property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Blog</a:t>
            </a:r>
            <a:r>
              <a:rPr lang="en-US" sz="12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?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 Blog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; }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// Optional reference navigation to principal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ascadia Code" panose="020B0609020000020004" pitchFamily="49" charset="0"/>
              </a:rPr>
              <a:t> }</a:t>
            </a:r>
            <a:endParaRPr lang="nl-BE" sz="1000" dirty="0"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6759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BC7B8-93E8-ED33-C805-BB8E860AC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F2D6B-068B-444F-B461-A8C1221F2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DbContext</a:t>
            </a:r>
            <a:r>
              <a:rPr lang="nl-BE" dirty="0"/>
              <a:t>: </a:t>
            </a:r>
            <a:r>
              <a:rPr lang="nl-BE" dirty="0" err="1"/>
              <a:t>Fluent</a:t>
            </a:r>
            <a:r>
              <a:rPr lang="nl-BE" dirty="0"/>
              <a:t> API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4D8A67-A03E-F035-A805-49ACD6E4A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8F2C9C-6804-42D2-1E29-8BA9EF8BB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C3AC46B-2B87-69DA-AFC7-F30453A9FA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CF7557-66FD-7AC0-0F0C-550196F9B9A8}"/>
              </a:ext>
            </a:extLst>
          </p:cNvPr>
          <p:cNvSpPr txBox="1"/>
          <p:nvPr/>
        </p:nvSpPr>
        <p:spPr>
          <a:xfrm>
            <a:off x="930072" y="4277973"/>
            <a:ext cx="7000567" cy="193899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AppDbContext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DbContext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protected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OnModelCreating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ModelBuilder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modelBuilder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modelBuilder.Entity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nl-BE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Blog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&gt;()</a:t>
            </a: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.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HasMany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(e =&gt; 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e.Posts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.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WithOne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(e =&gt; 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e.Blog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.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HasForeignKey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(e =&gt; 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e.BlogId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nl-BE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nl-BE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IsRequired</a:t>
            </a:r>
            <a:r>
              <a:rPr lang="nl-BE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27E5EE-AB1A-A817-B6C7-B093AEACA994}"/>
              </a:ext>
            </a:extLst>
          </p:cNvPr>
          <p:cNvSpPr txBox="1"/>
          <p:nvPr/>
        </p:nvSpPr>
        <p:spPr>
          <a:xfrm>
            <a:off x="930072" y="1348269"/>
            <a:ext cx="4045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Voorbeeld </a:t>
            </a:r>
            <a:r>
              <a:rPr lang="nl-BE" b="1" i="1" u="sng" dirty="0" err="1"/>
              <a:t>one-to-many</a:t>
            </a:r>
            <a:r>
              <a:rPr lang="nl-BE" b="1" i="1" u="sng" dirty="0"/>
              <a:t> (verplicht):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8BE51C-C20D-6EE2-FAA0-F59E10E3E914}"/>
              </a:ext>
            </a:extLst>
          </p:cNvPr>
          <p:cNvSpPr txBox="1"/>
          <p:nvPr/>
        </p:nvSpPr>
        <p:spPr>
          <a:xfrm>
            <a:off x="930072" y="1764847"/>
            <a:ext cx="9766503" cy="230832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nl-BE" sz="12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Principal</a:t>
            </a:r>
            <a:r>
              <a:rPr lang="nl-BE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l-BE" sz="12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parent</a:t>
            </a:r>
            <a:r>
              <a:rPr lang="nl-BE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nl-BE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Blog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ICollection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Post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Posts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Post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&gt;();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Collection navigation containing dependents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</a:p>
          <a:p>
            <a:endParaRPr lang="nl-BE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nl-BE" sz="12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Dependent</a:t>
            </a:r>
            <a:r>
              <a:rPr lang="nl-BE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l-BE" sz="12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child</a:t>
            </a:r>
            <a:r>
              <a:rPr lang="nl-BE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nl-BE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Post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BlogId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Required foreign key property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Blog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Blog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!;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Required reference navigation to principal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  <a:endParaRPr lang="nl-BE" sz="1000" dirty="0"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6112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441C0-ABAD-6E10-6F04-7612A264E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04719-6BAF-5F3D-61F3-C03586D9D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DbContext</a:t>
            </a:r>
            <a:r>
              <a:rPr lang="nl-BE" dirty="0"/>
              <a:t>: </a:t>
            </a:r>
            <a:r>
              <a:rPr lang="nl-BE" dirty="0" err="1"/>
              <a:t>Fluent</a:t>
            </a:r>
            <a:r>
              <a:rPr lang="nl-BE" dirty="0"/>
              <a:t> API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12C9BB-2DD1-2C60-0243-8CD78C253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1F6C59-1024-DFF8-4406-3FA6AF71B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486705-2FCF-1369-3796-F1B216A7C0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4C5765-7E15-4936-2F11-7393516B94CB}"/>
              </a:ext>
            </a:extLst>
          </p:cNvPr>
          <p:cNvSpPr txBox="1"/>
          <p:nvPr/>
        </p:nvSpPr>
        <p:spPr>
          <a:xfrm>
            <a:off x="930072" y="4277973"/>
            <a:ext cx="7000567" cy="193899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AppDbContext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DbContext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protected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OnModelCreating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ModelBuilder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modelBuilder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modelBuilder.Entity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nl-BE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Blog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&gt;()</a:t>
            </a: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.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HasMany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(e =&gt; 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e.Posts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.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WithOne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(e =&gt; 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e.Blog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.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HasForeignKey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(e =&gt; 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e.BlogId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.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IsRequired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409ECF-2FCC-01FC-427E-C565AD5245A6}"/>
              </a:ext>
            </a:extLst>
          </p:cNvPr>
          <p:cNvSpPr txBox="1"/>
          <p:nvPr/>
        </p:nvSpPr>
        <p:spPr>
          <a:xfrm>
            <a:off x="930072" y="1348269"/>
            <a:ext cx="4045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Voorbeeld </a:t>
            </a:r>
            <a:r>
              <a:rPr lang="nl-BE" b="1" i="1" u="sng" dirty="0" err="1"/>
              <a:t>one-to-many</a:t>
            </a:r>
            <a:r>
              <a:rPr lang="nl-BE" b="1" i="1" u="sng" dirty="0"/>
              <a:t> (optioneel):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063E72-14FA-5ADA-D35A-A009637799C6}"/>
              </a:ext>
            </a:extLst>
          </p:cNvPr>
          <p:cNvSpPr txBox="1"/>
          <p:nvPr/>
        </p:nvSpPr>
        <p:spPr>
          <a:xfrm>
            <a:off x="930072" y="1764847"/>
            <a:ext cx="9766503" cy="230832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nl-BE" sz="12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Principal</a:t>
            </a:r>
            <a:r>
              <a:rPr lang="nl-BE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l-BE" sz="12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parent</a:t>
            </a:r>
            <a:r>
              <a:rPr lang="nl-BE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nl-BE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Blog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ICollection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Post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Posts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Post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&gt;();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Collection navigation containing dependents</a:t>
            </a: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</a:p>
          <a:p>
            <a:endParaRPr lang="nl-BE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nl-BE" sz="12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Dependent</a:t>
            </a:r>
            <a:r>
              <a:rPr lang="nl-BE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l-BE" sz="12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child</a:t>
            </a:r>
            <a:r>
              <a:rPr lang="nl-BE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nl-BE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Post</a:t>
            </a:r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?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BlogId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Optional (nullable) foreign key property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Blog</a:t>
            </a:r>
            <a:r>
              <a:rPr lang="en-US" sz="12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?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Blog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Optional </a:t>
            </a:r>
            <a:r>
              <a:rPr lang="en-US" sz="120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(nullable)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reference navigation to principal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  <a:endParaRPr lang="nl-BE" sz="1000" dirty="0"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7823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90EE4-3D96-2A97-EE57-EED88812B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Opmerkingen relaties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B5C4F-E5C3-4B76-D399-C8C5F4D3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491" y="1876268"/>
            <a:ext cx="10515599" cy="380767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Relaties hoeven slechts langs </a:t>
            </a:r>
            <a:r>
              <a:rPr lang="nl-BE" sz="2400" b="1" dirty="0">
                <a:solidFill>
                  <a:schemeClr val="accent6"/>
                </a:solidFill>
              </a:rPr>
              <a:t>één kant </a:t>
            </a:r>
            <a:r>
              <a:rPr lang="nl-BE" sz="2400" dirty="0"/>
              <a:t>gedefinieerd te worden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Bv.: Blog </a:t>
            </a:r>
            <a:r>
              <a:rPr lang="nl-BE" sz="2000" dirty="0">
                <a:sym typeface="Wingdings" panose="05000000000000000000" pitchFamily="2" charset="2"/>
              </a:rPr>
              <a:t> Post </a:t>
            </a:r>
            <a:r>
              <a:rPr lang="nl-BE" sz="2000" i="1" dirty="0">
                <a:sym typeface="Wingdings" panose="05000000000000000000" pitchFamily="2" charset="2"/>
              </a:rPr>
              <a:t>(</a:t>
            </a:r>
            <a:r>
              <a:rPr lang="nl-BE" sz="2000" i="1" dirty="0" err="1">
                <a:sym typeface="Wingdings" panose="05000000000000000000" pitchFamily="2" charset="2"/>
              </a:rPr>
              <a:t>one-to-many</a:t>
            </a:r>
            <a:r>
              <a:rPr lang="nl-BE" sz="2000" i="1" dirty="0">
                <a:sym typeface="Wingdings" panose="05000000000000000000" pitchFamily="2" charset="2"/>
              </a:rPr>
              <a:t>)</a:t>
            </a:r>
            <a:r>
              <a:rPr lang="nl-BE" sz="2000" dirty="0">
                <a:sym typeface="Wingdings" panose="05000000000000000000" pitchFamily="2" charset="2"/>
              </a:rPr>
              <a:t> </a:t>
            </a:r>
            <a:r>
              <a:rPr lang="nl-BE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ÓF</a:t>
            </a:r>
            <a:r>
              <a:rPr lang="nl-BE" sz="2000" dirty="0">
                <a:sym typeface="Wingdings" panose="05000000000000000000" pitchFamily="2" charset="2"/>
              </a:rPr>
              <a:t> Post  Blog </a:t>
            </a:r>
            <a:r>
              <a:rPr lang="nl-BE" sz="2000" i="1" dirty="0">
                <a:sym typeface="Wingdings" panose="05000000000000000000" pitchFamily="2" charset="2"/>
              </a:rPr>
              <a:t>(</a:t>
            </a:r>
            <a:r>
              <a:rPr lang="nl-BE" sz="2000" i="1" dirty="0" err="1">
                <a:sym typeface="Wingdings" panose="05000000000000000000" pitchFamily="2" charset="2"/>
              </a:rPr>
              <a:t>many-to-one</a:t>
            </a:r>
            <a:r>
              <a:rPr lang="nl-BE" sz="2000" i="1" dirty="0">
                <a:sym typeface="Wingdings" panose="05000000000000000000" pitchFamily="2" charset="2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>
                <a:sym typeface="Wingdings" panose="05000000000000000000" pitchFamily="2" charset="2"/>
              </a:rPr>
              <a:t>Soms is het niet gewenst om </a:t>
            </a:r>
            <a:r>
              <a:rPr lang="nl-BE" sz="2400" dirty="0" err="1">
                <a:sym typeface="Wingdings" panose="05000000000000000000" pitchFamily="2" charset="2"/>
              </a:rPr>
              <a:t>Foreign</a:t>
            </a:r>
            <a:r>
              <a:rPr lang="nl-BE" sz="2400" dirty="0">
                <a:sym typeface="Wingdings" panose="05000000000000000000" pitchFamily="2" charset="2"/>
              </a:rPr>
              <a:t> </a:t>
            </a:r>
            <a:r>
              <a:rPr lang="nl-BE" sz="2400" dirty="0" err="1">
                <a:sym typeface="Wingdings" panose="05000000000000000000" pitchFamily="2" charset="2"/>
              </a:rPr>
              <a:t>Key</a:t>
            </a:r>
            <a:r>
              <a:rPr lang="nl-BE" sz="2400" dirty="0">
                <a:sym typeface="Wingdings" panose="05000000000000000000" pitchFamily="2" charset="2"/>
              </a:rPr>
              <a:t> op te nemen in </a:t>
            </a:r>
            <a:r>
              <a:rPr lang="nl-BE" sz="2400" dirty="0" err="1">
                <a:sym typeface="Wingdings" panose="05000000000000000000" pitchFamily="2" charset="2"/>
              </a:rPr>
              <a:t>Entity</a:t>
            </a:r>
            <a:r>
              <a:rPr lang="nl-BE" sz="2400" dirty="0">
                <a:sym typeface="Wingdings" panose="05000000000000000000" pitchFamily="2" charset="2"/>
              </a:rPr>
              <a:t>-klasse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i="1" dirty="0">
                <a:sym typeface="Wingdings" panose="05000000000000000000" pitchFamily="2" charset="2"/>
              </a:rPr>
              <a:t>In dit geval: maak gebruik van </a:t>
            </a:r>
            <a:r>
              <a:rPr lang="nl-BE" sz="2000" b="1" i="1" dirty="0" err="1">
                <a:solidFill>
                  <a:schemeClr val="accent6"/>
                </a:solidFill>
                <a:sym typeface="Wingdings" panose="05000000000000000000" pitchFamily="2" charset="2"/>
              </a:rPr>
              <a:t>shadow</a:t>
            </a:r>
            <a:r>
              <a:rPr lang="nl-BE" sz="2000" b="1" i="1" dirty="0">
                <a:solidFill>
                  <a:schemeClr val="accent6"/>
                </a:solidFill>
                <a:sym typeface="Wingdings" panose="05000000000000000000" pitchFamily="2" charset="2"/>
              </a:rPr>
              <a:t> FK </a:t>
            </a:r>
            <a:r>
              <a:rPr lang="nl-BE" sz="2000" i="1" dirty="0">
                <a:sym typeface="Wingdings" panose="05000000000000000000" pitchFamily="2" charset="2"/>
              </a:rPr>
              <a:t>(zie </a:t>
            </a:r>
            <a:r>
              <a:rPr lang="nl-BE" sz="2000" i="1" dirty="0">
                <a:sym typeface="Wingdings" panose="05000000000000000000" pitchFamily="2" charset="2"/>
                <a:hlinkClick r:id="rId2"/>
              </a:rPr>
              <a:t>documentatie</a:t>
            </a:r>
            <a:r>
              <a:rPr lang="nl-BE" sz="2000" i="1" dirty="0">
                <a:sym typeface="Wingdings" panose="05000000000000000000" pitchFamily="2" charset="2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i="1" dirty="0">
                <a:sym typeface="Wingdings" panose="05000000000000000000" pitchFamily="2" charset="2"/>
              </a:rPr>
              <a:t>Hetzelfde geldt voor </a:t>
            </a:r>
            <a:r>
              <a:rPr lang="nl-BE" sz="2400" i="1" dirty="0" err="1">
                <a:sym typeface="Wingdings" panose="05000000000000000000" pitchFamily="2" charset="2"/>
              </a:rPr>
              <a:t>navigation</a:t>
            </a:r>
            <a:r>
              <a:rPr lang="nl-BE" sz="2400" i="1" dirty="0">
                <a:sym typeface="Wingdings" panose="05000000000000000000" pitchFamily="2" charset="2"/>
              </a:rPr>
              <a:t> </a:t>
            </a:r>
            <a:r>
              <a:rPr lang="nl-BE" sz="2400" i="1" dirty="0" err="1">
                <a:sym typeface="Wingdings" panose="05000000000000000000" pitchFamily="2" charset="2"/>
              </a:rPr>
              <a:t>properties</a:t>
            </a:r>
            <a:endParaRPr lang="nl-BE" sz="2400" i="1" dirty="0">
              <a:sym typeface="Wingdings" panose="05000000000000000000" pitchFamily="2" charset="2"/>
            </a:endParaRP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i="1" dirty="0">
                <a:sym typeface="Wingdings" panose="05000000000000000000" pitchFamily="2" charset="2"/>
              </a:rPr>
              <a:t>Bv.: geen </a:t>
            </a:r>
            <a:r>
              <a:rPr lang="nl-BE" sz="2000" i="1" dirty="0" err="1">
                <a:sym typeface="Wingdings" panose="05000000000000000000" pitchFamily="2" charset="2"/>
              </a:rPr>
              <a:t>reference</a:t>
            </a:r>
            <a:r>
              <a:rPr lang="nl-BE" sz="2000" i="1" dirty="0">
                <a:sym typeface="Wingdings" panose="05000000000000000000" pitchFamily="2" charset="2"/>
              </a:rPr>
              <a:t> van </a:t>
            </a:r>
            <a:r>
              <a:rPr lang="nl-BE" sz="2000" i="1" dirty="0" err="1">
                <a:sym typeface="Wingdings" panose="05000000000000000000" pitchFamily="2" charset="2"/>
              </a:rPr>
              <a:t>child</a:t>
            </a:r>
            <a:r>
              <a:rPr lang="nl-BE" sz="2000" i="1" dirty="0">
                <a:sym typeface="Wingdings" panose="05000000000000000000" pitchFamily="2" charset="2"/>
              </a:rPr>
              <a:t> naar </a:t>
            </a:r>
            <a:r>
              <a:rPr lang="nl-BE" sz="2000" i="1" dirty="0" err="1">
                <a:sym typeface="Wingdings" panose="05000000000000000000" pitchFamily="2" charset="2"/>
              </a:rPr>
              <a:t>parent</a:t>
            </a:r>
            <a:r>
              <a:rPr lang="nl-BE" sz="2000" i="1" dirty="0">
                <a:sym typeface="Wingdings" panose="05000000000000000000" pitchFamily="2" charset="2"/>
              </a:rPr>
              <a:t> (of omgekeerd)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i="1" dirty="0">
                <a:sym typeface="Wingdings" panose="05000000000000000000" pitchFamily="2" charset="2"/>
              </a:rPr>
              <a:t>In dit geval ook specifieke configuratie vereist (zie </a:t>
            </a:r>
            <a:r>
              <a:rPr lang="nl-BE" sz="2000" i="1" dirty="0">
                <a:sym typeface="Wingdings" panose="05000000000000000000" pitchFamily="2" charset="2"/>
                <a:hlinkClick r:id="rId3"/>
              </a:rPr>
              <a:t>documentatie</a:t>
            </a:r>
            <a:r>
              <a:rPr lang="nl-BE" sz="2000" i="1" dirty="0">
                <a:sym typeface="Wingdings" panose="05000000000000000000" pitchFamily="2" charset="2"/>
              </a:rPr>
              <a:t>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400" i="1" dirty="0">
              <a:sym typeface="Wingdings" panose="05000000000000000000" pitchFamily="2" charset="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i="1" dirty="0">
                <a:sym typeface="Wingdings" panose="05000000000000000000" pitchFamily="2" charset="2"/>
              </a:rPr>
              <a:t>Meer mogelijkheden van </a:t>
            </a:r>
            <a:r>
              <a:rPr lang="nl-BE" sz="2400" i="1" dirty="0" err="1">
                <a:sym typeface="Wingdings" panose="05000000000000000000" pitchFamily="2" charset="2"/>
              </a:rPr>
              <a:t>Fluent</a:t>
            </a:r>
            <a:r>
              <a:rPr lang="nl-BE" sz="2400" i="1" dirty="0">
                <a:sym typeface="Wingdings" panose="05000000000000000000" pitchFamily="2" charset="2"/>
              </a:rPr>
              <a:t> API: </a:t>
            </a:r>
            <a:r>
              <a:rPr lang="nl-BE" sz="1600" i="1" dirty="0">
                <a:hlinkClick r:id="rId4"/>
              </a:rPr>
              <a:t>https://www.learnentityframeworkcore.com/configuration/fluent-api</a:t>
            </a:r>
            <a:r>
              <a:rPr lang="nl-BE" sz="1600" i="1" dirty="0"/>
              <a:t> 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400" i="1" dirty="0">
              <a:sym typeface="Wingdings" panose="05000000000000000000" pitchFamily="2" charset="2"/>
            </a:endParaRPr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400" i="1" dirty="0">
              <a:sym typeface="Wingdings" panose="05000000000000000000" pitchFamily="2" charset="2"/>
            </a:endParaRPr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400" i="1" dirty="0">
              <a:sym typeface="Wingdings" panose="05000000000000000000" pitchFamily="2" charset="2"/>
            </a:endParaRPr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400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1A1A1-E3E0-CD8B-D475-E8AA3E1B2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5021F3-BAF9-172E-69F3-E671F3293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D160DD3-B481-6523-0931-610F5DBD43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774459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C2065A7-AF04-E9CB-CD09-572F37985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F1A87-9611-452D-D0E0-989D66DC9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DbContext</a:t>
            </a:r>
            <a:r>
              <a:rPr lang="nl-BE" dirty="0"/>
              <a:t>: </a:t>
            </a:r>
            <a:r>
              <a:rPr lang="nl-BE" dirty="0" err="1"/>
              <a:t>Fluent</a:t>
            </a:r>
            <a:r>
              <a:rPr lang="nl-BE" dirty="0"/>
              <a:t> API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3385E5-115B-A2B5-211F-645E4F602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390064-285F-6197-FD7D-D2FA6E9DD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78E85C-51A3-FBFD-D4BC-A98956A76B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F58E6E-A402-8069-28D5-48F900E47B79}"/>
              </a:ext>
            </a:extLst>
          </p:cNvPr>
          <p:cNvSpPr txBox="1"/>
          <p:nvPr/>
        </p:nvSpPr>
        <p:spPr>
          <a:xfrm>
            <a:off x="861245" y="4239575"/>
            <a:ext cx="7000567" cy="193899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PersonDbContext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DbContext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protected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OnModelCreating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ModelBuilder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modelBuilder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modelBuilder.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Entity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>
                <a:solidFill>
                  <a:srgbClr val="4F8291"/>
                </a:solidFill>
                <a:latin typeface="Consolas" panose="020B0609020204030204" pitchFamily="49" charset="0"/>
              </a:rPr>
              <a:t>Person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&gt;()</a:t>
            </a:r>
          </a:p>
          <a:p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.</a:t>
            </a:r>
            <a:r>
              <a:rPr lang="nl-BE" sz="1200" b="1" dirty="0" err="1">
                <a:solidFill>
                  <a:srgbClr val="74561F"/>
                </a:solidFill>
                <a:latin typeface="Consolas" panose="020B0609020204030204" pitchFamily="49" charset="0"/>
              </a:rPr>
              <a:t>HasOne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(x =&gt; </a:t>
            </a:r>
            <a:r>
              <a:rPr lang="nl-BE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x.Address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.</a:t>
            </a:r>
            <a:r>
              <a:rPr lang="nl-BE" sz="1200" b="1" dirty="0" err="1">
                <a:solidFill>
                  <a:srgbClr val="74561F"/>
                </a:solidFill>
                <a:latin typeface="Consolas" panose="020B0609020204030204" pitchFamily="49" charset="0"/>
              </a:rPr>
              <a:t>WithOne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(x =&gt; </a:t>
            </a:r>
            <a:r>
              <a:rPr lang="nl-BE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x.Person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.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IsRequired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758926-6AB4-0B8B-B04A-33F5C2A10B80}"/>
              </a:ext>
            </a:extLst>
          </p:cNvPr>
          <p:cNvSpPr txBox="1"/>
          <p:nvPr/>
        </p:nvSpPr>
        <p:spPr>
          <a:xfrm>
            <a:off x="861246" y="1703061"/>
            <a:ext cx="7000567" cy="193899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BlogDbContext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DbContext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protected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OnModelCreating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ModelBuilder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modelBuilder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modelBuilder.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Entity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>
                <a:solidFill>
                  <a:srgbClr val="4F8291"/>
                </a:solidFill>
                <a:latin typeface="Consolas" panose="020B0609020204030204" pitchFamily="49" charset="0"/>
              </a:rPr>
              <a:t>Post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&gt;()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.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HasMany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(x =&gt;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x.Comments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.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WithOne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(x =&gt;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x.Post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.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IsRequired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.</a:t>
            </a:r>
            <a:r>
              <a:rPr lang="nl-BE" sz="1200" b="1" dirty="0" err="1">
                <a:solidFill>
                  <a:srgbClr val="74561F"/>
                </a:solidFill>
                <a:latin typeface="Consolas" panose="020B0609020204030204" pitchFamily="49" charset="0"/>
              </a:rPr>
              <a:t>OnDelete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DeleteBehavior</a:t>
            </a:r>
            <a:r>
              <a:rPr lang="nl-BE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.Cascade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);     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87750A-CFA9-A13A-9217-5E8E409282D6}"/>
              </a:ext>
            </a:extLst>
          </p:cNvPr>
          <p:cNvSpPr txBox="1"/>
          <p:nvPr/>
        </p:nvSpPr>
        <p:spPr>
          <a:xfrm>
            <a:off x="930072" y="1296000"/>
            <a:ext cx="3327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Voorbeeld </a:t>
            </a:r>
            <a:r>
              <a:rPr lang="nl-BE" b="1" i="1" u="sng" dirty="0"/>
              <a:t>on delete cascade: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D00D23-0924-A502-1C76-12E18CC2AA7C}"/>
              </a:ext>
            </a:extLst>
          </p:cNvPr>
          <p:cNvSpPr txBox="1"/>
          <p:nvPr/>
        </p:nvSpPr>
        <p:spPr>
          <a:xfrm>
            <a:off x="8150942" y="2038958"/>
            <a:ext cx="34412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Andere </a:t>
            </a:r>
            <a:r>
              <a:rPr lang="nl-BE" dirty="0" err="1"/>
              <a:t>DeleteBehavior</a:t>
            </a:r>
            <a:r>
              <a:rPr lang="nl-BE" dirty="0"/>
              <a:t>: </a:t>
            </a:r>
            <a:r>
              <a:rPr lang="nl-BE" dirty="0" err="1">
                <a:latin typeface="Consolas" panose="020B0609020204030204" pitchFamily="49" charset="0"/>
              </a:rPr>
              <a:t>SetNull</a:t>
            </a:r>
            <a:r>
              <a:rPr lang="nl-BE" dirty="0"/>
              <a:t> </a:t>
            </a:r>
            <a:r>
              <a:rPr lang="nl-BE" dirty="0">
                <a:sym typeface="Wingdings" panose="05000000000000000000" pitchFamily="2" charset="2"/>
              </a:rPr>
              <a:t> rij wordt niet verwijderd, maar FK wordt op NULL gezet</a:t>
            </a:r>
            <a:endParaRPr lang="nl-B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719DE4-E67E-3F97-4FC4-F726701161C4}"/>
              </a:ext>
            </a:extLst>
          </p:cNvPr>
          <p:cNvSpPr txBox="1"/>
          <p:nvPr/>
        </p:nvSpPr>
        <p:spPr>
          <a:xfrm>
            <a:off x="930072" y="3827421"/>
            <a:ext cx="3327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Voorbeeld </a:t>
            </a:r>
            <a:r>
              <a:rPr lang="nl-BE" b="1" i="1" u="sng" dirty="0" err="1"/>
              <a:t>one-to-one</a:t>
            </a:r>
            <a:r>
              <a:rPr lang="nl-BE" b="1" i="1" u="sng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863492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20278-E130-4DBC-80DE-92C160E53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DbContext</a:t>
            </a:r>
            <a:r>
              <a:rPr lang="nl-BE" dirty="0"/>
              <a:t>: </a:t>
            </a:r>
            <a:r>
              <a:rPr lang="nl-BE" dirty="0" err="1"/>
              <a:t>Fluent</a:t>
            </a:r>
            <a:r>
              <a:rPr lang="nl-BE" dirty="0"/>
              <a:t>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3E520-B15C-4248-91FD-89F9A6CC8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408645"/>
            <a:ext cx="4751303" cy="365125"/>
          </a:xfrm>
        </p:spPr>
        <p:txBody>
          <a:bodyPr/>
          <a:lstStyle/>
          <a:p>
            <a:r>
              <a:rPr lang="nl-BE" sz="1800" b="1" i="1" u="sng" dirty="0"/>
              <a:t>Voorbeeld </a:t>
            </a:r>
            <a:r>
              <a:rPr lang="nl-BE" sz="1800" b="1" i="1" u="sng" dirty="0" err="1"/>
              <a:t>one-to-many</a:t>
            </a:r>
            <a:r>
              <a:rPr lang="nl-BE" sz="1800" b="1" i="1" u="sng" dirty="0"/>
              <a:t> (FK wijkt af van conventie):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239FE9-E6ED-4A65-8CD8-D5F3D25D5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992B60-2309-476A-AB20-C8EB61ECC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AC1B9A2-C68F-4B22-A734-5B119012BD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1ACE38-2C7F-49AA-9900-B95DEFEC6669}"/>
              </a:ext>
            </a:extLst>
          </p:cNvPr>
          <p:cNvSpPr txBox="1"/>
          <p:nvPr/>
        </p:nvSpPr>
        <p:spPr>
          <a:xfrm>
            <a:off x="5653800" y="2647037"/>
            <a:ext cx="6391103" cy="17543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BlogDbContext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DbContext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protected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OnModelCreating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ModelBuilder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modelBuilder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modelBuilder.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Entity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Comment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&gt;()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.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HasOne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(x =&gt;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x.Post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.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WithMany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(x =&gt;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x.Comments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nl-BE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nl-BE" sz="1200" dirty="0" err="1">
                <a:solidFill>
                  <a:srgbClr val="74561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HasForeignKey</a:t>
            </a:r>
            <a:r>
              <a:rPr lang="nl-BE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(x =&gt; 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x.</a:t>
            </a:r>
            <a:r>
              <a:rPr lang="nl-BE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PostFK</a:t>
            </a:r>
            <a:r>
              <a:rPr lang="nl-BE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);     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9C998B-010E-4B07-962A-BB9EC3651F5E}"/>
              </a:ext>
            </a:extLst>
          </p:cNvPr>
          <p:cNvSpPr txBox="1"/>
          <p:nvPr/>
        </p:nvSpPr>
        <p:spPr>
          <a:xfrm>
            <a:off x="418350" y="2004603"/>
            <a:ext cx="5000592" cy="323165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Comment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Id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Author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Content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DateTime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WrittenOn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PostFK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4F8291"/>
                </a:solidFill>
                <a:latin typeface="Consolas" panose="020B0609020204030204" pitchFamily="49" charset="0"/>
              </a:rPr>
              <a:t>Post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Post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 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2B91AF"/>
                </a:solidFill>
                <a:latin typeface="Consolas" panose="020B0609020204030204" pitchFamily="49" charset="0"/>
              </a:rPr>
              <a:t>Post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PostId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Title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Content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DateTime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PublicationDate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ICollection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Comment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Comments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</p:spTree>
    <p:extLst>
      <p:ext uri="{BB962C8B-B14F-4D97-AF65-F5344CB8AC3E}">
        <p14:creationId xmlns:p14="http://schemas.microsoft.com/office/powerpoint/2010/main" val="42355737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11317-A2E2-4154-9618-A254390DA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DbContext</a:t>
            </a:r>
            <a:r>
              <a:rPr lang="nl-BE" dirty="0"/>
              <a:t>: </a:t>
            </a:r>
            <a:r>
              <a:rPr lang="nl-BE" dirty="0" err="1"/>
              <a:t>Fluent</a:t>
            </a:r>
            <a:r>
              <a:rPr lang="nl-BE" dirty="0"/>
              <a:t>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C2141-B99D-4BF2-8FE5-A262C06E3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630295"/>
            <a:ext cx="9956728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Via </a:t>
            </a:r>
            <a:r>
              <a:rPr lang="nl-BE" dirty="0" err="1"/>
              <a:t>Fluent</a:t>
            </a:r>
            <a:r>
              <a:rPr lang="nl-BE" dirty="0"/>
              <a:t> API ook mogelijk om andere eigenschappen van </a:t>
            </a:r>
            <a:r>
              <a:rPr lang="nl-BE" dirty="0" err="1"/>
              <a:t>Entity</a:t>
            </a:r>
            <a:r>
              <a:rPr lang="nl-BE" dirty="0"/>
              <a:t> te configureren (bv.: </a:t>
            </a:r>
            <a:r>
              <a:rPr lang="nl-BE" dirty="0" err="1"/>
              <a:t>primary</a:t>
            </a:r>
            <a:r>
              <a:rPr lang="nl-BE" dirty="0"/>
              <a:t> </a:t>
            </a:r>
            <a:r>
              <a:rPr lang="nl-BE" dirty="0" err="1"/>
              <a:t>key</a:t>
            </a:r>
            <a:r>
              <a:rPr lang="nl-BE" dirty="0"/>
              <a:t>, </a:t>
            </a:r>
            <a:r>
              <a:rPr lang="nl-BE" dirty="0" err="1"/>
              <a:t>not-null</a:t>
            </a:r>
            <a:r>
              <a:rPr lang="nl-BE" dirty="0"/>
              <a:t> kolommen, ...)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97216-DE7B-42D8-9AA8-278236895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56B88-0BC7-470A-98C5-6EEC96F88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82A2A5-BEC8-44C6-A3FD-D0E6577D1C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229863-5A10-4D6F-8EC7-F1681138B98F}"/>
              </a:ext>
            </a:extLst>
          </p:cNvPr>
          <p:cNvSpPr txBox="1"/>
          <p:nvPr/>
        </p:nvSpPr>
        <p:spPr>
          <a:xfrm>
            <a:off x="949737" y="2978465"/>
            <a:ext cx="7000567" cy="156966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PersonDbContext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DbContext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protected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OnModelCreating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ModelBuilder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modelBuilder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modelBuilder.</a:t>
            </a:r>
            <a:r>
              <a:rPr lang="en-US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Entity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4F8291"/>
                </a:solidFill>
                <a:latin typeface="Consolas" panose="020B0609020204030204" pitchFamily="49" charset="0"/>
              </a:rPr>
              <a:t>Person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&gt;().</a:t>
            </a:r>
            <a:r>
              <a:rPr lang="en-US" sz="1200" dirty="0">
                <a:solidFill>
                  <a:srgbClr val="74561F"/>
                </a:solidFill>
                <a:latin typeface="Consolas" panose="020B0609020204030204" pitchFamily="49" charset="0"/>
              </a:rPr>
              <a:t>Property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(x =&gt;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x.FirstName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).</a:t>
            </a:r>
            <a:r>
              <a:rPr lang="en-US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IsRequired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modelBuilder.</a:t>
            </a:r>
            <a:r>
              <a:rPr lang="en-US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Entity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4F8291"/>
                </a:solidFill>
                <a:latin typeface="Consolas" panose="020B0609020204030204" pitchFamily="49" charset="0"/>
              </a:rPr>
              <a:t>Person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&gt;().</a:t>
            </a:r>
            <a:r>
              <a:rPr lang="en-US" sz="1200" dirty="0">
                <a:solidFill>
                  <a:srgbClr val="74561F"/>
                </a:solidFill>
                <a:latin typeface="Consolas" panose="020B0609020204030204" pitchFamily="49" charset="0"/>
              </a:rPr>
              <a:t>Property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(x =&gt;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x.LastName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).</a:t>
            </a:r>
            <a:r>
              <a:rPr lang="en-US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IsRequired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modelBuilder.</a:t>
            </a:r>
            <a:r>
              <a:rPr lang="en-US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Entity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4F8291"/>
                </a:solidFill>
                <a:latin typeface="Consolas" panose="020B0609020204030204" pitchFamily="49" charset="0"/>
              </a:rPr>
              <a:t>Person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&gt;().</a:t>
            </a:r>
            <a:r>
              <a:rPr lang="en-US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HasKey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(x =&gt;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x.Id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3E62E9-1F53-412C-8C1D-B8FDE32A2DD9}"/>
              </a:ext>
            </a:extLst>
          </p:cNvPr>
          <p:cNvSpPr txBox="1"/>
          <p:nvPr/>
        </p:nvSpPr>
        <p:spPr>
          <a:xfrm>
            <a:off x="747252" y="5102940"/>
            <a:ext cx="9956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i="1" dirty="0"/>
              <a:t>Meer informatie over </a:t>
            </a:r>
            <a:r>
              <a:rPr lang="nl-BE" i="1" dirty="0" err="1"/>
              <a:t>Fluent</a:t>
            </a:r>
            <a:r>
              <a:rPr lang="nl-BE" i="1" dirty="0"/>
              <a:t> API: zie </a:t>
            </a:r>
            <a:r>
              <a:rPr lang="nl-BE" i="1" dirty="0">
                <a:hlinkClick r:id="rId2"/>
              </a:rPr>
              <a:t>https://www.learnentityframeworkcore.com/configuration/fluent-api</a:t>
            </a:r>
            <a:r>
              <a:rPr lang="nl-BE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62679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18127-01BA-4901-9F27-7A22C9B97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Migrations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89329-9AB5-4EAB-8077-A8ECB4E8F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D8DDF4-0EB4-4740-B983-0ED994AFC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E6102F-742B-4ED2-9DBB-AEA104924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45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94B3D74-2D7D-4AA5-B2B1-611044684A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251086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CB625-2B94-43F3-B45F-D1AB9B2FD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Migrations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7BB15-258C-4C26-92A1-100272F86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246" y="1608431"/>
            <a:ext cx="10229541" cy="420243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Om wijzigingen aan model (</a:t>
            </a:r>
            <a:r>
              <a:rPr lang="nl-BE" dirty="0" err="1"/>
              <a:t>Entity’s</a:t>
            </a:r>
            <a:r>
              <a:rPr lang="nl-BE" dirty="0"/>
              <a:t>) door te voeren: </a:t>
            </a:r>
            <a:br>
              <a:rPr lang="nl-BE" dirty="0"/>
            </a:br>
            <a:r>
              <a:rPr lang="nl-BE" dirty="0"/>
              <a:t>werken in twee stappen:</a:t>
            </a:r>
          </a:p>
          <a:p>
            <a:pPr marL="872513" lvl="1" indent="-514350">
              <a:buFont typeface="+mj-lt"/>
              <a:buAutoNum type="arabicPeriod"/>
            </a:pPr>
            <a:r>
              <a:rPr lang="nl-BE" sz="2400" dirty="0"/>
              <a:t>Migratie maken</a:t>
            </a:r>
          </a:p>
          <a:p>
            <a:pPr marL="1234350" lvl="2" indent="-514350">
              <a:buFont typeface="Arial" panose="020B0604020202020204" pitchFamily="34" charset="0"/>
              <a:buChar char="•"/>
            </a:pPr>
            <a:r>
              <a:rPr lang="nl-BE" sz="2400" dirty="0"/>
              <a:t>Bevat code om databank te updaten</a:t>
            </a:r>
          </a:p>
          <a:p>
            <a:pPr marL="872513" lvl="1" indent="-514350">
              <a:buFont typeface="+mj-lt"/>
              <a:buAutoNum type="arabicPeriod"/>
            </a:pPr>
            <a:r>
              <a:rPr lang="nl-BE" sz="2400" dirty="0"/>
              <a:t>Migratie toepassen op DB</a:t>
            </a:r>
          </a:p>
          <a:p>
            <a:pPr marL="1234350" lvl="2" indent="-514350">
              <a:buFont typeface="Arial" panose="020B0604020202020204" pitchFamily="34" charset="0"/>
              <a:buChar char="•"/>
            </a:pPr>
            <a:r>
              <a:rPr lang="nl-BE" sz="2400" dirty="0"/>
              <a:t>Code in migratie uitvoeren op databank</a:t>
            </a:r>
          </a:p>
          <a:p>
            <a:pPr marL="1234350" lvl="2" indent="-514350">
              <a:buFont typeface="Arial" panose="020B0604020202020204" pitchFamily="34" charset="0"/>
              <a:buChar char="•"/>
            </a:pPr>
            <a:endParaRPr lang="nl-BE" sz="2400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nl-BE" sz="2400" dirty="0"/>
              <a:t>Gebeurt via commando’s in Package Manager-console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nl-BE" sz="2400" dirty="0"/>
              <a:t>Package </a:t>
            </a:r>
            <a:r>
              <a:rPr lang="nl-BE" sz="2400" i="1" dirty="0" err="1"/>
              <a:t>Microsoft.EntityFrameworkCore.Tools</a:t>
            </a:r>
            <a:r>
              <a:rPr lang="nl-BE" sz="2400" dirty="0"/>
              <a:t> nodig! (installeren via </a:t>
            </a:r>
            <a:r>
              <a:rPr lang="nl-BE" sz="2400" dirty="0" err="1"/>
              <a:t>NuGet</a:t>
            </a:r>
            <a:r>
              <a:rPr lang="nl-BE" sz="2400"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5E24B-72E3-4B6F-BD94-B01F87C29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2525DB-AD50-463A-B470-8263F0B49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AD680E-9858-4BEF-87DE-F708FC4731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350669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ACD9C-DD1F-4AAE-8C53-748D59996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Migrations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83971-5C6E-46B5-9EE0-2B205F123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1226231"/>
            <a:ext cx="9704574" cy="3090532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nl-BE" sz="2400" dirty="0"/>
              <a:t>Open Package manager-console </a:t>
            </a:r>
            <a:r>
              <a:rPr lang="nl-BE" sz="2400" i="1" dirty="0"/>
              <a:t>(Tools &gt; </a:t>
            </a:r>
            <a:r>
              <a:rPr lang="nl-BE" sz="2400" i="1" dirty="0" err="1"/>
              <a:t>NuGet</a:t>
            </a:r>
            <a:r>
              <a:rPr lang="nl-BE" sz="2400" i="1" dirty="0"/>
              <a:t> Package Manager &gt; Package Manager Console)</a:t>
            </a:r>
          </a:p>
          <a:p>
            <a:pPr marL="514350" indent="-514350">
              <a:buFont typeface="+mj-lt"/>
              <a:buAutoNum type="arabicPeriod"/>
            </a:pPr>
            <a:r>
              <a:rPr lang="nl-BE" sz="2400" dirty="0"/>
              <a:t>Voer commando uit: </a:t>
            </a:r>
            <a:r>
              <a:rPr lang="nl-BE" sz="2000" dirty="0" err="1">
                <a:latin typeface="Consolas" panose="020B0609020204030204" pitchFamily="49" charset="0"/>
              </a:rPr>
              <a:t>Add</a:t>
            </a:r>
            <a:r>
              <a:rPr lang="nl-BE" sz="2000" dirty="0">
                <a:latin typeface="Consolas" panose="020B0609020204030204" pitchFamily="49" charset="0"/>
              </a:rPr>
              <a:t>-Migration &lt;naam&gt;</a:t>
            </a:r>
            <a:endParaRPr lang="nl-BE" sz="2400" dirty="0">
              <a:latin typeface="Consolas" panose="020B0609020204030204" pitchFamily="49" charset="0"/>
            </a:endParaRPr>
          </a:p>
          <a:p>
            <a:pPr marL="872513" lvl="1" indent="-514350">
              <a:buFont typeface="Arial" panose="020B0604020202020204" pitchFamily="34" charset="0"/>
              <a:buChar char="•"/>
            </a:pPr>
            <a:r>
              <a:rPr lang="nl-BE" sz="2000" dirty="0"/>
              <a:t>Bv.: </a:t>
            </a:r>
            <a:r>
              <a:rPr lang="nl-BE" sz="1800" dirty="0" err="1">
                <a:latin typeface="Consolas" panose="020B0609020204030204" pitchFamily="49" charset="0"/>
              </a:rPr>
              <a:t>Add</a:t>
            </a:r>
            <a:r>
              <a:rPr lang="nl-BE" sz="1800" dirty="0">
                <a:latin typeface="Consolas" panose="020B0609020204030204" pitchFamily="49" charset="0"/>
              </a:rPr>
              <a:t>-Migration </a:t>
            </a:r>
            <a:r>
              <a:rPr lang="nl-BE" sz="1800" dirty="0" err="1">
                <a:latin typeface="Consolas" panose="020B0609020204030204" pitchFamily="49" charset="0"/>
              </a:rPr>
              <a:t>Initial</a:t>
            </a:r>
            <a:endParaRPr lang="nl-BE" sz="20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nl-BE" sz="2400" dirty="0"/>
              <a:t>Voer commando uit: </a:t>
            </a:r>
            <a:r>
              <a:rPr lang="nl-BE" sz="2000" dirty="0">
                <a:latin typeface="Consolas" panose="020B0609020204030204" pitchFamily="49" charset="0"/>
              </a:rPr>
              <a:t>Update-Database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B234BE-A2C4-4778-8220-F4DDC5D78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055646-5FAE-4876-B698-21579123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B206E3-A108-417C-83B1-B0DCA7D1B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DD8147-AF7F-474F-A86A-D08E2994B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993" y="3566163"/>
            <a:ext cx="5464013" cy="288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190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4575D-3D93-49D7-9E03-FBE6EEE2D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Migrations</a:t>
            </a: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15EB09-0869-454A-AA2B-BAF19F75C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B64C32-0D36-4E1B-A49F-C4037C7D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A8DECDC-45C0-48E5-A31A-4BD4CCF663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migration">
            <a:hlinkClick r:id="" action="ppaction://media"/>
            <a:extLst>
              <a:ext uri="{FF2B5EF4-FFF2-40B4-BE49-F238E27FC236}">
                <a16:creationId xmlns:a16="http://schemas.microsoft.com/office/drawing/2014/main" id="{F2707763-1C9C-4AE9-8344-C91F887A5CD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96181" y="1033620"/>
            <a:ext cx="9257966" cy="499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79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4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4194C-8DD2-4286-B019-F720AAB29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Migrations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0ACE9-727D-4FDB-BE10-E468B6F8A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2903150"/>
            <a:ext cx="9281274" cy="204247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b="1" dirty="0"/>
              <a:t>Opgelet: </a:t>
            </a:r>
            <a:r>
              <a:rPr lang="nl-BE" dirty="0"/>
              <a:t>deze twee commando’s na elke wijziging uitvoeren om wijzigingen door te voeren naar database!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Bij </a:t>
            </a:r>
            <a:r>
              <a:rPr lang="nl-BE" sz="2400" dirty="0" err="1">
                <a:latin typeface="Consolas" panose="020B0609020204030204" pitchFamily="49" charset="0"/>
              </a:rPr>
              <a:t>Add</a:t>
            </a:r>
            <a:r>
              <a:rPr lang="nl-BE" sz="2400" dirty="0">
                <a:latin typeface="Consolas" panose="020B0609020204030204" pitchFamily="49" charset="0"/>
              </a:rPr>
              <a:t>-Migration</a:t>
            </a:r>
            <a:r>
              <a:rPr lang="nl-BE" dirty="0"/>
              <a:t>: naam van migratie moet telkens verschillend zijn (vrije keuze)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E6F590-ABE5-42E0-8577-4E4345990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8F999B-0816-4464-BB45-471DBEDC7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E88CD3-4E11-4A1C-A7EB-ED88CBE35C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D6C3FC-52B6-4BF0-BC47-C3E121E1B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197" y="410716"/>
            <a:ext cx="2336390" cy="194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3299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1F64B-74BF-4E41-99A9-3948FFBB6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Seeding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D2CA4-35B4-434A-9878-2D39C7EA0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874370-6C2F-4156-B573-6A29BA259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FE8163-2842-49C1-B271-AB27D8C03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50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EF4A5E6-37B8-4BCC-8BA7-B9F76D0D66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877907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36C19-6F7B-48F6-BE75-9FA2F2207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is </a:t>
            </a:r>
            <a:r>
              <a:rPr lang="nl-BE" dirty="0" err="1"/>
              <a:t>seeding</a:t>
            </a:r>
            <a:r>
              <a:rPr lang="nl-BE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22930-3086-4522-86F3-ADB0F4291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385" y="1886859"/>
            <a:ext cx="9460955" cy="367463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Het is mogelijk om bij het genereren van de database-tabellen deze reeds te voorzien van de nodige data (= </a:t>
            </a:r>
            <a:r>
              <a:rPr lang="nl-BE" b="1" dirty="0" err="1">
                <a:solidFill>
                  <a:schemeClr val="accent6"/>
                </a:solidFill>
              </a:rPr>
              <a:t>seeding</a:t>
            </a:r>
            <a:r>
              <a:rPr lang="nl-BE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Bijvoorbeeld: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Testdata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Data die applicatie nodig heeft om op te starten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Vaste data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...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Configuratie in </a:t>
            </a:r>
            <a:r>
              <a:rPr lang="nl-BE" sz="2400" dirty="0" err="1">
                <a:latin typeface="Consolas" panose="020B0609020204030204" pitchFamily="49" charset="0"/>
              </a:rPr>
              <a:t>DbContext</a:t>
            </a:r>
            <a:r>
              <a:rPr lang="nl-BE" dirty="0"/>
              <a:t> (</a:t>
            </a:r>
            <a:r>
              <a:rPr lang="nl-BE" dirty="0" err="1"/>
              <a:t>override</a:t>
            </a:r>
            <a:r>
              <a:rPr lang="nl-BE" dirty="0"/>
              <a:t> </a:t>
            </a:r>
            <a:r>
              <a:rPr lang="nl-BE" sz="2400" dirty="0" err="1">
                <a:latin typeface="Consolas" panose="020B0609020204030204" pitchFamily="49" charset="0"/>
              </a:rPr>
              <a:t>OnModelCreating</a:t>
            </a:r>
            <a:r>
              <a:rPr lang="nl-BE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2311B3-810C-487E-848E-F7AF8287A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BA50B2-7140-4343-A100-43FDECEE4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F35FA2D-9A52-4D85-A926-4DA7346A8D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937560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3F68F-0910-4026-B804-CC9E8364D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Voorbeeld </a:t>
            </a:r>
            <a:r>
              <a:rPr lang="nl-BE" dirty="0" err="1"/>
              <a:t>seeding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75999-E812-41DB-9645-4D19D700C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09" y="1296000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Voorbeeld (gerelateerde data)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b="1" dirty="0"/>
              <a:t>Opgelet: </a:t>
            </a:r>
            <a:r>
              <a:rPr lang="nl-BE" sz="2400" dirty="0"/>
              <a:t>ook waarde meegeven voor auto-increment </a:t>
            </a:r>
            <a:r>
              <a:rPr lang="nl-BE" sz="2400" dirty="0" err="1"/>
              <a:t>id</a:t>
            </a:r>
            <a:r>
              <a:rPr lang="nl-BE" sz="2400" dirty="0"/>
              <a:t>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5FFA83-9E42-4B3D-858C-8F75CD22B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2002D-7CFE-4768-B4ED-0408031C1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184F75-5B4E-418F-939F-A93214B4A6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DAFD97-13E1-4002-9459-26F910876D5D}"/>
              </a:ext>
            </a:extLst>
          </p:cNvPr>
          <p:cNvSpPr txBox="1"/>
          <p:nvPr/>
        </p:nvSpPr>
        <p:spPr>
          <a:xfrm>
            <a:off x="534291" y="2452237"/>
            <a:ext cx="11172200" cy="280076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BlogDbContext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DbContext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protected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OnModelCreating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ModelBuilder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modelBuilder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modelBuilder.</a:t>
            </a:r>
            <a:r>
              <a:rPr lang="nl-BE" sz="1100" dirty="0" err="1">
                <a:solidFill>
                  <a:srgbClr val="74561F"/>
                </a:solidFill>
                <a:latin typeface="Consolas" panose="020B0609020204030204" pitchFamily="49" charset="0"/>
              </a:rPr>
              <a:t>Entity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>
                <a:solidFill>
                  <a:srgbClr val="4F8291"/>
                </a:solidFill>
                <a:latin typeface="Consolas" panose="020B0609020204030204" pitchFamily="49" charset="0"/>
              </a:rPr>
              <a:t>Post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&gt;().</a:t>
            </a:r>
            <a:r>
              <a:rPr lang="nl-BE" sz="1100" dirty="0" err="1">
                <a:solidFill>
                  <a:srgbClr val="74561F"/>
                </a:solidFill>
                <a:latin typeface="Consolas" panose="020B0609020204030204" pitchFamily="49" charset="0"/>
              </a:rPr>
              <a:t>HasData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4F8291"/>
                </a:solidFill>
                <a:latin typeface="Consolas" panose="020B0609020204030204" pitchFamily="49" charset="0"/>
              </a:rPr>
              <a:t>Post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() { </a:t>
            </a:r>
            <a:r>
              <a:rPr lang="en-US" sz="11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PostId</a:t>
            </a:r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1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, Title =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"my first blog post"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, Content =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"Lorem ipsum..."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PublicationDate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DateTime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(2021, 2, 14) },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4F8291"/>
                </a:solidFill>
                <a:latin typeface="Consolas" panose="020B0609020204030204" pitchFamily="49" charset="0"/>
              </a:rPr>
              <a:t>Post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() { </a:t>
            </a:r>
            <a:r>
              <a:rPr lang="en-US" sz="11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PostId</a:t>
            </a:r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2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, Title =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"my second blog post"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, Content =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"Lorem ipsum..."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PublicationDate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DateTime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(2021, 2, 18)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);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modelBuilder.</a:t>
            </a:r>
            <a:r>
              <a:rPr lang="nl-BE" sz="1100" dirty="0" err="1">
                <a:solidFill>
                  <a:srgbClr val="74561F"/>
                </a:solidFill>
                <a:latin typeface="Consolas" panose="020B0609020204030204" pitchFamily="49" charset="0"/>
              </a:rPr>
              <a:t>Entity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Comment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&gt;().</a:t>
            </a:r>
            <a:r>
              <a:rPr lang="nl-BE" sz="1100" dirty="0" err="1">
                <a:solidFill>
                  <a:srgbClr val="74561F"/>
                </a:solidFill>
                <a:latin typeface="Consolas" panose="020B0609020204030204" pitchFamily="49" charset="0"/>
              </a:rPr>
              <a:t>HasData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4F8291"/>
                </a:solidFill>
                <a:latin typeface="Consolas" panose="020B0609020204030204" pitchFamily="49" charset="0"/>
              </a:rPr>
              <a:t>Comment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() { </a:t>
            </a:r>
            <a:r>
              <a:rPr lang="en-US" sz="11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CommentId</a:t>
            </a:r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=1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, Author =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"Sam"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, Content =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"My Comment"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WrittenOn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DateTime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(2021, 2, 16), </a:t>
            </a:r>
            <a:r>
              <a:rPr lang="en-US" sz="11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PostId</a:t>
            </a:r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1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4F8291"/>
                </a:solidFill>
                <a:latin typeface="Consolas" panose="020B0609020204030204" pitchFamily="49" charset="0"/>
              </a:rPr>
              <a:t>Comment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() { </a:t>
            </a:r>
            <a:r>
              <a:rPr lang="en-US" sz="11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CommentId</a:t>
            </a:r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=2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, Author =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"John Doe"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, Content =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"Another comment"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WrittenOn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DateTime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(2021, 2, 23), </a:t>
            </a:r>
            <a:r>
              <a:rPr lang="en-US" sz="11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PostId</a:t>
            </a:r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1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DbSet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100" dirty="0">
                <a:solidFill>
                  <a:srgbClr val="4F8291"/>
                </a:solidFill>
                <a:latin typeface="Consolas" panose="020B0609020204030204" pitchFamily="49" charset="0"/>
              </a:rPr>
              <a:t>Post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&gt; Posts {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100" dirty="0"/>
          </a:p>
        </p:txBody>
      </p:sp>
    </p:spTree>
    <p:extLst>
      <p:ext uri="{BB962C8B-B14F-4D97-AF65-F5344CB8AC3E}">
        <p14:creationId xmlns:p14="http://schemas.microsoft.com/office/powerpoint/2010/main" val="979462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7DE5C-9DDD-4AAD-9BFF-224FEB6BD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CRUD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8E803-21FB-4CE3-937C-01F8FB8CD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FF533B-9B2F-43CD-802A-72FAA71FD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C6843C-604C-4301-8DC2-29BADF93E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53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E2A4A1-13C0-423A-8E49-FAF0811DFA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417856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5CBD6-F0AB-4CD3-B947-D47E8763C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CRUD-operaties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84332-3AD0-4855-B910-D406A6F22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5871" y="2313212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Dankzij </a:t>
            </a:r>
            <a:r>
              <a:rPr lang="nl-BE" dirty="0" err="1"/>
              <a:t>Entity</a:t>
            </a:r>
            <a:r>
              <a:rPr lang="nl-BE" dirty="0"/>
              <a:t> Framework: CRUD-operaties in DB zo eenvoudig als operaties op </a:t>
            </a:r>
            <a:r>
              <a:rPr lang="nl-BE" dirty="0" err="1"/>
              <a:t>collections</a:t>
            </a:r>
            <a:endParaRPr lang="nl-BE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Worden achter de schermen vertaald naar SQL-statements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Query: via LINQ </a:t>
            </a:r>
            <a:r>
              <a:rPr lang="nl-BE" dirty="0">
                <a:sym typeface="Wingdings" panose="05000000000000000000" pitchFamily="2" charset="2"/>
              </a:rPr>
              <a:t> wordt vertaald naar SELECT-statement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>
                <a:sym typeface="Wingdings" panose="05000000000000000000" pitchFamily="2" charset="2"/>
              </a:rPr>
              <a:t>CRUD-operaties verlopen via </a:t>
            </a:r>
            <a:r>
              <a:rPr lang="nl-BE" dirty="0" err="1">
                <a:sym typeface="Wingdings" panose="05000000000000000000" pitchFamily="2" charset="2"/>
              </a:rPr>
              <a:t>DbContext</a:t>
            </a:r>
            <a:r>
              <a:rPr lang="nl-BE" dirty="0">
                <a:sym typeface="Wingdings" panose="05000000000000000000" pitchFamily="2" charset="2"/>
              </a:rPr>
              <a:t>-klasse</a:t>
            </a: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E4EBB4-7789-4ACC-95DB-420FF6522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84E397-42DD-4BF3-BC49-5A44872F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563309-B896-46BE-A28F-0422024035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069439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A5E35-3AEC-4EFB-B74F-7867B0C14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CRUD: </a:t>
            </a:r>
            <a:r>
              <a:rPr lang="nl-BE" dirty="0" err="1"/>
              <a:t>Create</a:t>
            </a:r>
            <a:r>
              <a:rPr lang="nl-BE" dirty="0"/>
              <a:t> (INSERT)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67CE7-68E2-4F63-B869-466079BE0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1554546"/>
            <a:ext cx="9281274" cy="343418"/>
          </a:xfrm>
        </p:spPr>
        <p:txBody>
          <a:bodyPr/>
          <a:lstStyle/>
          <a:p>
            <a:r>
              <a:rPr lang="nl-BE" sz="2000" b="1" u="sng" dirty="0"/>
              <a:t>Voorbeeld INSERT (één </a:t>
            </a:r>
            <a:r>
              <a:rPr lang="nl-BE" sz="2000" b="1" u="sng" dirty="0" err="1"/>
              <a:t>entity</a:t>
            </a:r>
            <a:r>
              <a:rPr lang="nl-BE" sz="2000" b="1" u="sng" dirty="0"/>
              <a:t>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1B7E90-0E0C-4687-B0D5-237ACD8B9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83C9C-D856-4B64-814E-A9D961721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DBD375-F382-4122-B5B4-F6AB41E5E7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3ABCB0-053F-413F-A52F-381E1D1783EF}"/>
              </a:ext>
            </a:extLst>
          </p:cNvPr>
          <p:cNvSpPr txBox="1"/>
          <p:nvPr/>
        </p:nvSpPr>
        <p:spPr>
          <a:xfrm>
            <a:off x="678290" y="2083615"/>
            <a:ext cx="4865259" cy="212365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2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BlogDbContext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context =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BlogDbContext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())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200" dirty="0">
                <a:solidFill>
                  <a:srgbClr val="4F8291"/>
                </a:solidFill>
                <a:latin typeface="Cascadia Mono" panose="020B0609020000020004" pitchFamily="49" charset="0"/>
              </a:rPr>
              <a:t>Post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post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>
                <a:solidFill>
                  <a:srgbClr val="4F8291"/>
                </a:solidFill>
                <a:latin typeface="Cascadia Mono" panose="020B0609020000020004" pitchFamily="49" charset="0"/>
              </a:rPr>
              <a:t>Post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Title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"My Blog Post"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Content = 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"The content of the post"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};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</a:t>
            </a:r>
            <a:r>
              <a:rPr lang="nl-BE" sz="12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Add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(post);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</a:t>
            </a:r>
            <a:r>
              <a:rPr lang="nl-BE" sz="12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SaveChanges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nl-BE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6059F2-D396-4AB8-BC31-3F047DEE51AB}"/>
              </a:ext>
            </a:extLst>
          </p:cNvPr>
          <p:cNvSpPr txBox="1"/>
          <p:nvPr/>
        </p:nvSpPr>
        <p:spPr>
          <a:xfrm>
            <a:off x="3692935" y="3736308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400" b="1" dirty="0" err="1"/>
              <a:t>commit</a:t>
            </a:r>
            <a:r>
              <a:rPr lang="nl-BE" sz="1400" b="1" dirty="0"/>
              <a:t> niet vergeten!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499D44-4008-428F-B50D-399F86041FE8}"/>
              </a:ext>
            </a:extLst>
          </p:cNvPr>
          <p:cNvCxnSpPr/>
          <p:nvPr/>
        </p:nvCxnSpPr>
        <p:spPr>
          <a:xfrm flipH="1">
            <a:off x="3150626" y="3890197"/>
            <a:ext cx="54230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EDE848C-8632-4AEA-8F17-924A630EEE12}"/>
              </a:ext>
            </a:extLst>
          </p:cNvPr>
          <p:cNvSpPr txBox="1"/>
          <p:nvPr/>
        </p:nvSpPr>
        <p:spPr>
          <a:xfrm>
            <a:off x="6096000" y="2163097"/>
            <a:ext cx="524059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000" dirty="0"/>
              <a:t>Door </a:t>
            </a:r>
            <a:r>
              <a:rPr lang="nl-BE" sz="1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context.Add</a:t>
            </a:r>
            <a:r>
              <a:rPr lang="nl-BE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r>
              <a:rPr lang="nl-BE" sz="2000" dirty="0"/>
              <a:t> </a:t>
            </a:r>
            <a:r>
              <a:rPr lang="nl-BE" sz="2000" dirty="0">
                <a:sym typeface="Wingdings" panose="05000000000000000000" pitchFamily="2" charset="2"/>
              </a:rPr>
              <a:t> state van post-object naar </a:t>
            </a:r>
            <a:r>
              <a:rPr lang="nl-BE" sz="1600" dirty="0" err="1">
                <a:latin typeface="Cascadia Mono" panose="020B0609020000020004" pitchFamily="49" charset="0"/>
                <a:cs typeface="Cascadia Mono" panose="020B0609020000020004" pitchFamily="49" charset="0"/>
                <a:sym typeface="Wingdings" panose="05000000000000000000" pitchFamily="2" charset="2"/>
              </a:rPr>
              <a:t>Added</a:t>
            </a:r>
            <a:r>
              <a:rPr lang="nl-BE" sz="2000" dirty="0">
                <a:sym typeface="Wingdings" panose="05000000000000000000" pitchFamily="2" charset="2"/>
              </a:rPr>
              <a:t>  wordt vanaf nu getrackt</a:t>
            </a:r>
            <a:endParaRPr lang="nl-B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000" dirty="0"/>
              <a:t>Bij Auto-increment </a:t>
            </a:r>
            <a:r>
              <a:rPr lang="nl-BE" sz="2000" dirty="0">
                <a:sym typeface="Wingdings" panose="05000000000000000000" pitchFamily="2" charset="2"/>
              </a:rPr>
              <a:t> </a:t>
            </a:r>
            <a:r>
              <a:rPr lang="nl-BE" sz="2000" dirty="0" err="1"/>
              <a:t>id</a:t>
            </a:r>
            <a:r>
              <a:rPr lang="nl-BE" sz="2000" dirty="0"/>
              <a:t> wordt automatisch ingevuld door databank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000" dirty="0"/>
              <a:t>Na </a:t>
            </a:r>
            <a:r>
              <a:rPr lang="nl-BE" sz="1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SaveChanges</a:t>
            </a:r>
            <a:r>
              <a:rPr lang="nl-BE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r>
              <a:rPr lang="nl-BE" sz="2000" dirty="0"/>
              <a:t> is </a:t>
            </a:r>
            <a:r>
              <a:rPr lang="nl-BE" sz="2000" dirty="0" err="1"/>
              <a:t>id</a:t>
            </a:r>
            <a:r>
              <a:rPr lang="nl-BE" sz="2000" dirty="0"/>
              <a:t> ingevuld in object: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FF9EF3-4381-4BF4-950D-EF32700AE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19794" y="4336445"/>
            <a:ext cx="4491806" cy="130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4819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A5E35-3AEC-4EFB-B74F-7867B0C14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CRUD: </a:t>
            </a:r>
            <a:r>
              <a:rPr lang="nl-BE" dirty="0" err="1"/>
              <a:t>Create</a:t>
            </a:r>
            <a:r>
              <a:rPr lang="nl-BE" dirty="0"/>
              <a:t> (INSERT)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67CE7-68E2-4F63-B869-466079BE0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1554546"/>
            <a:ext cx="9281274" cy="343418"/>
          </a:xfrm>
        </p:spPr>
        <p:txBody>
          <a:bodyPr/>
          <a:lstStyle/>
          <a:p>
            <a:r>
              <a:rPr lang="nl-BE" sz="2000" b="1" u="sng" dirty="0"/>
              <a:t>Voorbeeld INSERT (gelinkte </a:t>
            </a:r>
            <a:r>
              <a:rPr lang="nl-BE" sz="2000" b="1" u="sng" dirty="0" err="1"/>
              <a:t>entity</a:t>
            </a:r>
            <a:r>
              <a:rPr lang="nl-BE" sz="2000" b="1" u="sng" dirty="0"/>
              <a:t>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1B7E90-0E0C-4687-B0D5-237ACD8B9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83C9C-D856-4B64-814E-A9D961721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DBD375-F382-4122-B5B4-F6AB41E5E7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3ABCB0-053F-413F-A52F-381E1D1783EF}"/>
              </a:ext>
            </a:extLst>
          </p:cNvPr>
          <p:cNvSpPr txBox="1"/>
          <p:nvPr/>
        </p:nvSpPr>
        <p:spPr>
          <a:xfrm>
            <a:off x="678290" y="2083615"/>
            <a:ext cx="4865259" cy="360098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2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BlogDbContext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context =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BlogDbContext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())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200" dirty="0">
                <a:solidFill>
                  <a:srgbClr val="4F8291"/>
                </a:solidFill>
                <a:latin typeface="Cascadia Mono" panose="020B0609020000020004" pitchFamily="49" charset="0"/>
              </a:rPr>
              <a:t>Post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post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>
                <a:solidFill>
                  <a:srgbClr val="4F8291"/>
                </a:solidFill>
                <a:latin typeface="Cascadia Mono" panose="020B0609020000020004" pitchFamily="49" charset="0"/>
              </a:rPr>
              <a:t>Post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Title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"My Blog Post"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Content = 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"The content of the post"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Comments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>
                <a:solidFill>
                  <a:srgbClr val="4F8291"/>
                </a:solidFill>
                <a:latin typeface="Cascadia Mono" panose="020B0609020000020004" pitchFamily="49" charset="0"/>
              </a:rPr>
              <a:t>List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nl-BE" sz="12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Comment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&gt;()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nl-BE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Comment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Author = </a:t>
            </a:r>
            <a:r>
              <a:rPr lang="nl-BE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"John Doe"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Content = </a:t>
            </a:r>
            <a:r>
              <a:rPr lang="nl-BE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"Great post!"</a:t>
            </a:r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};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</a:t>
            </a:r>
            <a:r>
              <a:rPr lang="nl-BE" sz="12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Add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(post);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</a:t>
            </a:r>
            <a:r>
              <a:rPr lang="nl-BE" sz="12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SaveChanges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nl-BE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DE848C-8632-4AEA-8F17-924A630EEE12}"/>
              </a:ext>
            </a:extLst>
          </p:cNvPr>
          <p:cNvSpPr txBox="1"/>
          <p:nvPr/>
        </p:nvSpPr>
        <p:spPr>
          <a:xfrm>
            <a:off x="6096000" y="2163097"/>
            <a:ext cx="5240594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000" dirty="0"/>
              <a:t>Bij bewaren van Post-</a:t>
            </a:r>
            <a:r>
              <a:rPr lang="nl-BE" sz="2000" dirty="0" err="1"/>
              <a:t>entity</a:t>
            </a:r>
            <a:r>
              <a:rPr lang="nl-BE" sz="2000" dirty="0"/>
              <a:t>, worden gelinkte </a:t>
            </a:r>
            <a:r>
              <a:rPr lang="nl-BE" sz="2000" dirty="0" err="1"/>
              <a:t>Comment-entities</a:t>
            </a:r>
            <a:r>
              <a:rPr lang="nl-BE" sz="2000" dirty="0"/>
              <a:t> mee bewaard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000" dirty="0"/>
              <a:t>Door </a:t>
            </a:r>
            <a:r>
              <a:rPr lang="nl-BE" sz="1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context.Add</a:t>
            </a:r>
            <a:r>
              <a:rPr lang="nl-BE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r>
              <a:rPr lang="nl-BE" sz="2000" dirty="0"/>
              <a:t> </a:t>
            </a:r>
            <a:r>
              <a:rPr lang="nl-BE" sz="2000" dirty="0">
                <a:sym typeface="Wingdings" panose="05000000000000000000" pitchFamily="2" charset="2"/>
              </a:rPr>
              <a:t> state van post-object naar </a:t>
            </a:r>
            <a:r>
              <a:rPr lang="nl-BE" sz="1600" dirty="0" err="1">
                <a:latin typeface="Cascadia Mono" panose="020B0609020000020004" pitchFamily="49" charset="0"/>
                <a:cs typeface="Cascadia Mono" panose="020B0609020000020004" pitchFamily="49" charset="0"/>
                <a:sym typeface="Wingdings" panose="05000000000000000000" pitchFamily="2" charset="2"/>
              </a:rPr>
              <a:t>Added</a:t>
            </a:r>
            <a:r>
              <a:rPr lang="nl-BE" sz="2000" dirty="0">
                <a:sym typeface="Wingdings" panose="05000000000000000000" pitchFamily="2" charset="2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/>
              <a:t>Nieuw </a:t>
            </a:r>
            <a:r>
              <a:rPr lang="nl-BE" dirty="0" err="1"/>
              <a:t>comment</a:t>
            </a:r>
            <a:r>
              <a:rPr lang="nl-BE" dirty="0"/>
              <a:t>-object ook nog niet gekend door EF (huidige status = </a:t>
            </a:r>
            <a:r>
              <a:rPr lang="nl-BE" sz="1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Detached</a:t>
            </a:r>
            <a:r>
              <a:rPr lang="nl-BE" dirty="0"/>
              <a:t>) </a:t>
            </a:r>
            <a:br>
              <a:rPr lang="nl-BE" dirty="0"/>
            </a:br>
            <a:r>
              <a:rPr lang="nl-BE" dirty="0">
                <a:sym typeface="Wingdings" panose="05000000000000000000" pitchFamily="2" charset="2"/>
              </a:rPr>
              <a:t> na </a:t>
            </a:r>
            <a:r>
              <a:rPr lang="nl-BE" sz="1600" dirty="0" err="1">
                <a:latin typeface="Cascadia Mono" panose="020B0609020000020004" pitchFamily="49" charset="0"/>
                <a:cs typeface="Cascadia Mono" panose="020B0609020000020004" pitchFamily="49" charset="0"/>
                <a:sym typeface="Wingdings" panose="05000000000000000000" pitchFamily="2" charset="2"/>
              </a:rPr>
              <a:t>context.Add</a:t>
            </a:r>
            <a:r>
              <a:rPr lang="nl-BE" sz="1600" dirty="0">
                <a:latin typeface="Cascadia Mono" panose="020B0609020000020004" pitchFamily="49" charset="0"/>
                <a:cs typeface="Cascadia Mono" panose="020B0609020000020004" pitchFamily="49" charset="0"/>
                <a:sym typeface="Wingdings" panose="05000000000000000000" pitchFamily="2" charset="2"/>
              </a:rPr>
              <a:t>()</a:t>
            </a:r>
            <a:r>
              <a:rPr lang="nl-BE" dirty="0">
                <a:sym typeface="Wingdings" panose="05000000000000000000" pitchFamily="2" charset="2"/>
              </a:rPr>
              <a:t> ook </a:t>
            </a:r>
            <a:r>
              <a:rPr lang="nl-BE" sz="1600" dirty="0" err="1">
                <a:latin typeface="Cascadia Mono" panose="020B0609020000020004" pitchFamily="49" charset="0"/>
                <a:cs typeface="Cascadia Mono" panose="020B0609020000020004" pitchFamily="49" charset="0"/>
                <a:sym typeface="Wingdings" panose="05000000000000000000" pitchFamily="2" charset="2"/>
              </a:rPr>
              <a:t>Added</a:t>
            </a:r>
            <a:endParaRPr lang="nl-BE" sz="1600" dirty="0">
              <a:latin typeface="Cascadia Mono" panose="020B0609020000020004" pitchFamily="49" charset="0"/>
              <a:cs typeface="Cascadia Mono" panose="020B0609020000020004" pitchFamily="49" charset="0"/>
              <a:sym typeface="Wingdings" panose="05000000000000000000" pitchFamily="2" charset="2"/>
            </a:endParaRPr>
          </a:p>
          <a:p>
            <a:pPr lvl="1"/>
            <a:r>
              <a:rPr lang="nl-BE" sz="1600" dirty="0">
                <a:latin typeface="Cascadia Mono" panose="020B0609020000020004" pitchFamily="49" charset="0"/>
                <a:cs typeface="Cascadia Mono" panose="020B0609020000020004" pitchFamily="49" charset="0"/>
                <a:sym typeface="Wingdings" panose="05000000000000000000" pitchFamily="2" charset="2"/>
              </a:rPr>
              <a:t> </a:t>
            </a:r>
            <a:r>
              <a:rPr lang="nl-BE" dirty="0" err="1">
                <a:sym typeface="Wingdings" panose="05000000000000000000" pitchFamily="2" charset="2"/>
              </a:rPr>
              <a:t>comment</a:t>
            </a:r>
            <a:r>
              <a:rPr lang="nl-BE" dirty="0">
                <a:sym typeface="Wingdings" panose="05000000000000000000" pitchFamily="2" charset="2"/>
              </a:rPr>
              <a:t> wordt ook bewaard in DB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0540343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A5E35-3AEC-4EFB-B74F-7867B0C14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CRUD: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67CE7-68E2-4F63-B869-466079BE0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2030833"/>
            <a:ext cx="9281274" cy="343418"/>
          </a:xfrm>
        </p:spPr>
        <p:txBody>
          <a:bodyPr/>
          <a:lstStyle/>
          <a:p>
            <a:r>
              <a:rPr lang="nl-BE" sz="2000" b="1" u="sng" dirty="0"/>
              <a:t>Voorbeeld UPDATE: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1B7E90-0E0C-4687-B0D5-237ACD8B9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83C9C-D856-4B64-814E-A9D961721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DBD375-F382-4122-B5B4-F6AB41E5E7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3ABCB0-053F-413F-A52F-381E1D1783EF}"/>
              </a:ext>
            </a:extLst>
          </p:cNvPr>
          <p:cNvSpPr txBox="1"/>
          <p:nvPr/>
        </p:nvSpPr>
        <p:spPr>
          <a:xfrm>
            <a:off x="678291" y="2531290"/>
            <a:ext cx="4865259" cy="212365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2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BlogDbContext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context =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BlogDbContext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())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4F8291"/>
                </a:solidFill>
                <a:latin typeface="Cascadia Mono" panose="020B0609020000020004" pitchFamily="49" charset="0"/>
              </a:rPr>
              <a:t>Post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foundPost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context.Posts.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Find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(1);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foundPost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== </a:t>
            </a:r>
            <a:r>
              <a:rPr lang="nl-BE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throw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4F8291"/>
                </a:solidFill>
                <a:latin typeface="Cascadia Mono" panose="020B0609020000020004" pitchFamily="49" charset="0"/>
              </a:rPr>
              <a:t>Exception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"Post not found"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foundPost.Title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"A New Title"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</a:t>
            </a:r>
            <a:r>
              <a:rPr lang="nl-BE" sz="12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SaveChanges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DE848C-8632-4AEA-8F17-924A630EEE12}"/>
              </a:ext>
            </a:extLst>
          </p:cNvPr>
          <p:cNvSpPr txBox="1"/>
          <p:nvPr/>
        </p:nvSpPr>
        <p:spPr>
          <a:xfrm>
            <a:off x="6000749" y="2536448"/>
            <a:ext cx="541770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nl-BE" sz="2000" dirty="0"/>
              <a:t>Bestaande </a:t>
            </a:r>
            <a:r>
              <a:rPr lang="nl-BE" sz="2000" dirty="0" err="1"/>
              <a:t>entity</a:t>
            </a:r>
            <a:r>
              <a:rPr lang="nl-BE" sz="2000" dirty="0"/>
              <a:t> ophalen uit context</a:t>
            </a: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nl-BE" dirty="0" err="1">
                <a:sym typeface="Wingdings" panose="05000000000000000000" pitchFamily="2" charset="2"/>
              </a:rPr>
              <a:t>entity</a:t>
            </a:r>
            <a:r>
              <a:rPr lang="nl-BE" dirty="0">
                <a:sym typeface="Wingdings" panose="05000000000000000000" pitchFamily="2" charset="2"/>
              </a:rPr>
              <a:t> wordt getrackt (status: </a:t>
            </a:r>
            <a:r>
              <a:rPr lang="nl-BE" sz="1600" dirty="0" err="1">
                <a:latin typeface="Cascadia Mono" panose="020B0609020000020004" pitchFamily="49" charset="0"/>
                <a:cs typeface="Cascadia Mono" panose="020B0609020000020004" pitchFamily="49" charset="0"/>
                <a:sym typeface="Wingdings" panose="05000000000000000000" pitchFamily="2" charset="2"/>
              </a:rPr>
              <a:t>Unchanged</a:t>
            </a:r>
            <a:r>
              <a:rPr lang="nl-BE" dirty="0">
                <a:sym typeface="Wingdings" panose="05000000000000000000" pitchFamily="2" charset="2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nl-BE" dirty="0">
                <a:sym typeface="Wingdings" panose="05000000000000000000" pitchFamily="2" charset="2"/>
              </a:rPr>
              <a:t>Wijzigingen aanbrengen aan object</a:t>
            </a: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nl-BE" dirty="0">
                <a:sym typeface="Wingdings" panose="05000000000000000000" pitchFamily="2" charset="2"/>
              </a:rPr>
              <a:t>Wijzigingen worden getrackt (status: </a:t>
            </a:r>
            <a:r>
              <a:rPr lang="nl-BE" sz="1600" dirty="0" err="1">
                <a:latin typeface="Cascadia Mono" panose="020B0609020000020004" pitchFamily="49" charset="0"/>
                <a:cs typeface="Cascadia Mono" panose="020B0609020000020004" pitchFamily="49" charset="0"/>
                <a:sym typeface="Wingdings" panose="05000000000000000000" pitchFamily="2" charset="2"/>
              </a:rPr>
              <a:t>Modified</a:t>
            </a:r>
            <a:r>
              <a:rPr lang="nl-BE" dirty="0">
                <a:sym typeface="Wingdings" panose="05000000000000000000" pitchFamily="2" charset="2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nl-BE" dirty="0">
                <a:sym typeface="Wingdings" panose="05000000000000000000" pitchFamily="2" charset="2"/>
              </a:rPr>
              <a:t>Wijzigingen bewaren in database (</a:t>
            </a:r>
            <a:r>
              <a:rPr lang="nl-BE" sz="1600" dirty="0" err="1">
                <a:latin typeface="Cascadia Mono" panose="020B0609020000020004" pitchFamily="49" charset="0"/>
                <a:cs typeface="Cascadia Mono" panose="020B0609020000020004" pitchFamily="49" charset="0"/>
                <a:sym typeface="Wingdings" panose="05000000000000000000" pitchFamily="2" charset="2"/>
              </a:rPr>
              <a:t>SaveChanges</a:t>
            </a:r>
            <a:r>
              <a:rPr lang="nl-BE" sz="1600" dirty="0">
                <a:latin typeface="Cascadia Mono" panose="020B0609020000020004" pitchFamily="49" charset="0"/>
                <a:cs typeface="Cascadia Mono" panose="020B0609020000020004" pitchFamily="49" charset="0"/>
                <a:sym typeface="Wingdings" panose="05000000000000000000" pitchFamily="2" charset="2"/>
              </a:rPr>
              <a:t>()</a:t>
            </a:r>
            <a:r>
              <a:rPr lang="nl-BE" dirty="0">
                <a:sym typeface="Wingdings" panose="05000000000000000000" pitchFamily="2" charset="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962646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5CBD6-F0AB-4CD3-B947-D47E8763C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CRUD: UPDATE (</a:t>
            </a:r>
            <a:r>
              <a:rPr lang="nl-BE" dirty="0" err="1"/>
              <a:t>disconnected</a:t>
            </a:r>
            <a:r>
              <a:rPr lang="nl-BE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84332-3AD0-4855-B910-D406A6F22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178" y="1314721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/>
              <a:t>MAAR:</a:t>
            </a:r>
            <a:r>
              <a:rPr lang="nl-BE" sz="2400" dirty="0"/>
              <a:t> dit is enkel mogelijk indien de drie stappen binnen dezelfde instantie van </a:t>
            </a:r>
            <a:r>
              <a:rPr lang="nl-BE" sz="2400" dirty="0" err="1"/>
              <a:t>DbContext</a:t>
            </a:r>
            <a:r>
              <a:rPr lang="nl-BE" sz="2400" dirty="0"/>
              <a:t> worden uitgevoerd!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In veel applicaties gebeurt dit echter in twee fases:</a:t>
            </a:r>
          </a:p>
          <a:p>
            <a:pPr marL="1234350" lvl="2" indent="-514350">
              <a:buFont typeface="+mj-lt"/>
              <a:buAutoNum type="arabicPeriod"/>
            </a:pPr>
            <a:r>
              <a:rPr lang="nl-BE" sz="2000" dirty="0"/>
              <a:t>Initiële entiteit opvragen in context A</a:t>
            </a:r>
          </a:p>
          <a:p>
            <a:pPr marL="1234350" lvl="2" indent="-514350">
              <a:buFont typeface="+mj-lt"/>
              <a:buAutoNum type="arabicPeriod"/>
            </a:pPr>
            <a:r>
              <a:rPr lang="nl-BE" sz="2000" dirty="0"/>
              <a:t>Wijzigingen doorvoeren in context B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E4EBB4-7789-4ACC-95DB-420FF6522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84E397-42DD-4BF3-BC49-5A44872F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563309-B896-46BE-A28F-0422024035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65800B-00D6-B810-864D-799D33516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605" y="3375026"/>
            <a:ext cx="5136789" cy="24890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E86762-8626-CB89-AF39-EF4E79272B28}"/>
              </a:ext>
            </a:extLst>
          </p:cNvPr>
          <p:cNvSpPr txBox="1"/>
          <p:nvPr/>
        </p:nvSpPr>
        <p:spPr>
          <a:xfrm flipH="1">
            <a:off x="2267553" y="5987212"/>
            <a:ext cx="7797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/>
            <a:r>
              <a:rPr lang="en-US" sz="1400" dirty="0">
                <a:effectLst/>
                <a:latin typeface="Times New Roman" panose="02020603050405020304" pitchFamily="18" charset="0"/>
              </a:rPr>
              <a:t>Smith, J. (2021). </a:t>
            </a:r>
            <a:r>
              <a:rPr lang="en-US" sz="1400" i="1" dirty="0">
                <a:effectLst/>
                <a:latin typeface="Times New Roman" panose="02020603050405020304" pitchFamily="18" charset="0"/>
              </a:rPr>
              <a:t>Entity Framework Core in Action, Second Edition</a:t>
            </a:r>
            <a:r>
              <a:rPr lang="en-US" sz="1400" dirty="0">
                <a:effectLst/>
                <a:latin typeface="Times New Roman" panose="02020603050405020304" pitchFamily="18" charset="0"/>
              </a:rPr>
              <a:t>. Manning.</a:t>
            </a:r>
          </a:p>
        </p:txBody>
      </p:sp>
    </p:spTree>
    <p:extLst>
      <p:ext uri="{BB962C8B-B14F-4D97-AF65-F5344CB8AC3E}">
        <p14:creationId xmlns:p14="http://schemas.microsoft.com/office/powerpoint/2010/main" val="28355766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5CBD6-F0AB-4CD3-B947-D47E8763C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CRUD: UPDATE (</a:t>
            </a:r>
            <a:r>
              <a:rPr lang="nl-BE" dirty="0" err="1"/>
              <a:t>disconnected</a:t>
            </a:r>
            <a:r>
              <a:rPr lang="nl-BE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84332-3AD0-4855-B910-D406A6F22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2057671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b="1" dirty="0"/>
              <a:t>Twee mogelijkheden om </a:t>
            </a:r>
            <a:r>
              <a:rPr lang="nl-BE" b="1" dirty="0" err="1"/>
              <a:t>disconnected</a:t>
            </a:r>
            <a:r>
              <a:rPr lang="nl-BE" b="1" dirty="0"/>
              <a:t> </a:t>
            </a:r>
            <a:r>
              <a:rPr lang="nl-BE" b="1" dirty="0" err="1"/>
              <a:t>entities</a:t>
            </a:r>
            <a:r>
              <a:rPr lang="nl-BE" b="1" dirty="0"/>
              <a:t> te updaten:</a:t>
            </a:r>
          </a:p>
          <a:p>
            <a:pPr marL="815363" lvl="1" indent="-457200">
              <a:buFont typeface="+mj-lt"/>
              <a:buAutoNum type="arabicPeriod"/>
            </a:pPr>
            <a:r>
              <a:rPr lang="nl-BE" sz="2400" dirty="0"/>
              <a:t>Client stuurt enkel de gegevens door die moeten aangepast worden</a:t>
            </a:r>
          </a:p>
          <a:p>
            <a:pPr marL="1177200" lvl="2" indent="-457200">
              <a:buFont typeface="Arial" panose="020B0604020202020204" pitchFamily="34" charset="0"/>
              <a:buChar char="•"/>
            </a:pPr>
            <a:r>
              <a:rPr lang="nl-BE" sz="2400" dirty="0"/>
              <a:t>Via apart </a:t>
            </a:r>
            <a:r>
              <a:rPr lang="nl-BE" sz="2400" dirty="0" err="1"/>
              <a:t>request</a:t>
            </a:r>
            <a:r>
              <a:rPr lang="nl-BE" sz="2400" dirty="0"/>
              <a:t>-object</a:t>
            </a:r>
          </a:p>
          <a:p>
            <a:pPr marL="1177200" lvl="2" indent="-457200">
              <a:buFont typeface="Arial" panose="020B0604020202020204" pitchFamily="34" charset="0"/>
              <a:buChar char="•"/>
            </a:pPr>
            <a:r>
              <a:rPr lang="nl-BE" sz="2400" dirty="0"/>
              <a:t>Update gaat sneller</a:t>
            </a:r>
          </a:p>
          <a:p>
            <a:pPr marL="1177200" lvl="2" indent="-457200">
              <a:buFont typeface="Arial" panose="020B0604020202020204" pitchFamily="34" charset="0"/>
              <a:buChar char="•"/>
            </a:pPr>
            <a:r>
              <a:rPr lang="nl-BE" sz="2400" dirty="0"/>
              <a:t>Beveiliging: meer controle over </a:t>
            </a:r>
            <a:r>
              <a:rPr lang="nl-BE" sz="2400" dirty="0" err="1"/>
              <a:t>properties</a:t>
            </a:r>
            <a:r>
              <a:rPr lang="nl-BE" sz="2400" dirty="0"/>
              <a:t> die geüpdatet worden</a:t>
            </a:r>
          </a:p>
          <a:p>
            <a:pPr marL="815363" lvl="1" indent="-457200">
              <a:buFont typeface="+mj-lt"/>
              <a:buAutoNum type="arabicPeriod"/>
            </a:pPr>
            <a:r>
              <a:rPr lang="nl-BE" sz="2400" dirty="0"/>
              <a:t>Client stuurt alle gegevens naar server om </a:t>
            </a:r>
            <a:r>
              <a:rPr lang="nl-BE" sz="2400" dirty="0" err="1"/>
              <a:t>entity</a:t>
            </a:r>
            <a:r>
              <a:rPr lang="nl-BE" sz="2400" dirty="0"/>
              <a:t> op te bouwen</a:t>
            </a:r>
          </a:p>
          <a:p>
            <a:pPr marL="1177200" lvl="2" indent="-457200">
              <a:buFont typeface="Arial" panose="020B0604020202020204" pitchFamily="34" charset="0"/>
              <a:buChar char="•"/>
            </a:pPr>
            <a:r>
              <a:rPr lang="nl-BE" sz="2400" dirty="0"/>
              <a:t>Alle kolommen worden geüpdatet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E4EBB4-7789-4ACC-95DB-420FF6522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84E397-42DD-4BF3-BC49-5A44872F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563309-B896-46BE-A28F-0422024035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620115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E1763-6E4A-4672-89A7-DB1C7C9C2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CRUD: UPDATE (</a:t>
            </a:r>
            <a:r>
              <a:rPr lang="nl-BE" dirty="0" err="1"/>
              <a:t>disconnected</a:t>
            </a:r>
            <a:r>
              <a:rPr lang="nl-BE" dirty="0"/>
              <a:t>) – Scenario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40140-5964-4FC2-98CF-2C22D3140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529350"/>
            <a:ext cx="4590159" cy="365125"/>
          </a:xfrm>
        </p:spPr>
        <p:txBody>
          <a:bodyPr/>
          <a:lstStyle/>
          <a:p>
            <a:r>
              <a:rPr lang="nl-BE" sz="2000" b="1" u="sng" dirty="0"/>
              <a:t>Voorbeeld Scenario 1 (gedeeltelijke update):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D106DE-8BF0-4E05-8DCD-F52F69A9D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8DBE52-95B3-41A6-B41D-DBF678A01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672503-DEC5-4608-A2BB-CBC403C81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AA60E6-E959-42BA-A5D7-62C23BDB5710}"/>
              </a:ext>
            </a:extLst>
          </p:cNvPr>
          <p:cNvSpPr txBox="1"/>
          <p:nvPr/>
        </p:nvSpPr>
        <p:spPr>
          <a:xfrm>
            <a:off x="534291" y="2002903"/>
            <a:ext cx="6847584" cy="397031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ChangeTitleDto</a:t>
            </a:r>
            <a:endParaRPr lang="nl-B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PostId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CurrentTitle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NewTitle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nl-B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nl-B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4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BlogDbContext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context =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BlogDbContext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())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4F8291"/>
                </a:solidFill>
                <a:latin typeface="Cascadia Mono" panose="020B0609020000020004" pitchFamily="49" charset="0"/>
              </a:rPr>
              <a:t>Post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foundPost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context.Posts.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Find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changeTitleDto.PostId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nl-B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foundPost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== </a:t>
            </a:r>
            <a:r>
              <a:rPr lang="nl-BE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throw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4F8291"/>
                </a:solidFill>
                <a:latin typeface="Cascadia Mono" panose="020B0609020000020004" pitchFamily="49" charset="0"/>
              </a:rPr>
              <a:t>Exception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"Post not found"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nl-B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foundPost.Title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changeTitleDto.NewTitle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  </a:t>
            </a:r>
          </a:p>
          <a:p>
            <a:endParaRPr lang="nl-B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</a:t>
            </a:r>
            <a:r>
              <a:rPr lang="nl-BE" sz="14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SaveChanges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nl-BE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A134E2-697F-9246-2B66-9AFB94E69A23}"/>
              </a:ext>
            </a:extLst>
          </p:cNvPr>
          <p:cNvSpPr txBox="1"/>
          <p:nvPr/>
        </p:nvSpPr>
        <p:spPr>
          <a:xfrm>
            <a:off x="7562850" y="4947166"/>
            <a:ext cx="323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dirty="0"/>
              <a:t>Wijziging wordt getrackt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9A51270-0B3D-09CC-38C8-DB5CDF8C165F}"/>
              </a:ext>
            </a:extLst>
          </p:cNvPr>
          <p:cNvCxnSpPr>
            <a:stCxn id="9" idx="1"/>
          </p:cNvCxnSpPr>
          <p:nvPr/>
        </p:nvCxnSpPr>
        <p:spPr>
          <a:xfrm flipH="1">
            <a:off x="5553075" y="5131832"/>
            <a:ext cx="200977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6284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E1763-6E4A-4672-89A7-DB1C7C9C2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CRUD: UPDATE (</a:t>
            </a:r>
            <a:r>
              <a:rPr lang="nl-BE" dirty="0" err="1"/>
              <a:t>disconnected</a:t>
            </a:r>
            <a:r>
              <a:rPr lang="nl-BE" dirty="0"/>
              <a:t>) – Scenario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40140-5964-4FC2-98CF-2C22D3140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529350"/>
            <a:ext cx="4590159" cy="365125"/>
          </a:xfrm>
        </p:spPr>
        <p:txBody>
          <a:bodyPr/>
          <a:lstStyle/>
          <a:p>
            <a:r>
              <a:rPr lang="nl-BE" sz="2000" b="1" u="sng" dirty="0"/>
              <a:t>Voorbeeld Scenario 2 (volledige update):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D106DE-8BF0-4E05-8DCD-F52F69A9D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8DBE52-95B3-41A6-B41D-DBF678A01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672503-DEC5-4608-A2BB-CBC403C81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AA60E6-E959-42BA-A5D7-62C23BDB5710}"/>
              </a:ext>
            </a:extLst>
          </p:cNvPr>
          <p:cNvSpPr txBox="1"/>
          <p:nvPr/>
        </p:nvSpPr>
        <p:spPr>
          <a:xfrm>
            <a:off x="534291" y="2002903"/>
            <a:ext cx="6847584" cy="353943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4F8291"/>
                </a:solidFill>
                <a:latin typeface="Cascadia Mono" panose="020B0609020000020004" pitchFamily="49" charset="0"/>
              </a:rPr>
              <a:t>Post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existingPost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nl-B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BlogDbContext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context =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BlogDbContext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())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existingPost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context.Posts.</a:t>
            </a:r>
            <a:r>
              <a:rPr lang="nl-BE" sz="14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Find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(4);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nl-B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//vanaf hier is </a:t>
            </a:r>
            <a:r>
              <a:rPr lang="nl-BE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existingPost</a:t>
            </a:r>
            <a:r>
              <a:rPr lang="nl-BE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Detached</a:t>
            </a:r>
            <a:r>
              <a:rPr lang="nl-BE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!</a:t>
            </a:r>
            <a:endParaRPr lang="nl-B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existingPost.Title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nl-BE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Another</a:t>
            </a:r>
            <a:r>
              <a:rPr lang="nl-BE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Title</a:t>
            </a:r>
            <a:r>
              <a:rPr lang="nl-BE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existingPost.Content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"New content"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nl-B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BlogDbContext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context =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BlogDbContext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())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</a:t>
            </a:r>
            <a:r>
              <a:rPr lang="nl-BE" sz="14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Update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existingPost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</a:t>
            </a:r>
            <a:r>
              <a:rPr lang="nl-BE" sz="14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SaveChanges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nl-BE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A134E2-697F-9246-2B66-9AFB94E69A23}"/>
              </a:ext>
            </a:extLst>
          </p:cNvPr>
          <p:cNvSpPr txBox="1"/>
          <p:nvPr/>
        </p:nvSpPr>
        <p:spPr>
          <a:xfrm>
            <a:off x="6353175" y="2691884"/>
            <a:ext cx="189547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BE" b="1" dirty="0"/>
              <a:t>Fase 1 (context 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C1BD27-6DE9-7730-1BEF-D7D520BC34E6}"/>
              </a:ext>
            </a:extLst>
          </p:cNvPr>
          <p:cNvSpPr txBox="1"/>
          <p:nvPr/>
        </p:nvSpPr>
        <p:spPr>
          <a:xfrm>
            <a:off x="5095875" y="3671321"/>
            <a:ext cx="398055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BE" b="1" dirty="0" err="1"/>
              <a:t>Entity</a:t>
            </a:r>
            <a:r>
              <a:rPr lang="nl-BE" b="1" dirty="0"/>
              <a:t> verlaat context </a:t>
            </a:r>
            <a:r>
              <a:rPr lang="nl-BE" b="1" dirty="0">
                <a:sym typeface="Wingdings" panose="05000000000000000000" pitchFamily="2" charset="2"/>
              </a:rPr>
              <a:t> wordt </a:t>
            </a:r>
            <a:r>
              <a:rPr lang="nl-BE" b="1" dirty="0" err="1">
                <a:sym typeface="Wingdings" panose="05000000000000000000" pitchFamily="2" charset="2"/>
              </a:rPr>
              <a:t>Detached</a:t>
            </a:r>
            <a:endParaRPr lang="nl-BE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ECC11D-ACC3-27D1-BA7B-BE2E690CF683}"/>
              </a:ext>
            </a:extLst>
          </p:cNvPr>
          <p:cNvSpPr txBox="1"/>
          <p:nvPr/>
        </p:nvSpPr>
        <p:spPr>
          <a:xfrm>
            <a:off x="6272214" y="4736476"/>
            <a:ext cx="398055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BE" b="1" dirty="0"/>
              <a:t>Update van volledige object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E6BEA8E4-2E99-5F68-5DB3-A0B0B06A9FEB}"/>
              </a:ext>
            </a:extLst>
          </p:cNvPr>
          <p:cNvSpPr/>
          <p:nvPr/>
        </p:nvSpPr>
        <p:spPr>
          <a:xfrm>
            <a:off x="6086475" y="2419350"/>
            <a:ext cx="190500" cy="914400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1F40C7C0-9D5A-C5E3-ADF2-EE7A4C084A84}"/>
              </a:ext>
            </a:extLst>
          </p:cNvPr>
          <p:cNvSpPr/>
          <p:nvPr/>
        </p:nvSpPr>
        <p:spPr>
          <a:xfrm>
            <a:off x="4905375" y="3543300"/>
            <a:ext cx="190500" cy="684000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524F4353-8147-6DAA-0D8D-52826A2701DF}"/>
              </a:ext>
            </a:extLst>
          </p:cNvPr>
          <p:cNvSpPr/>
          <p:nvPr/>
        </p:nvSpPr>
        <p:spPr>
          <a:xfrm>
            <a:off x="6086475" y="4428537"/>
            <a:ext cx="190500" cy="1008000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8050710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34FC1-0F9D-487E-9D2B-7940E4239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CRUD: Delete (DELETE)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F40E1-B8E4-4E86-9B0F-7FF22F14F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000" y="2039560"/>
            <a:ext cx="2803465" cy="453998"/>
          </a:xfrm>
        </p:spPr>
        <p:txBody>
          <a:bodyPr/>
          <a:lstStyle/>
          <a:p>
            <a:r>
              <a:rPr lang="nl-BE" sz="2000" b="1" u="sng" dirty="0"/>
              <a:t>Voorbeeld DELETE: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57AFBE-5825-40DF-994B-03898C7A2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07812-171F-43F0-BCF8-3274DD994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AEB2A2-FDB9-42C8-BC16-A1ADDDE544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F50B2B-CB60-474F-BACA-74F114147B32}"/>
              </a:ext>
            </a:extLst>
          </p:cNvPr>
          <p:cNvSpPr txBox="1"/>
          <p:nvPr/>
        </p:nvSpPr>
        <p:spPr>
          <a:xfrm>
            <a:off x="569000" y="2644170"/>
            <a:ext cx="5989116" cy="156966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context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F8291"/>
                </a:solidFill>
                <a:latin typeface="Consolas" panose="020B0609020204030204" pitchFamily="49" charset="0"/>
              </a:rPr>
              <a:t>BlogDbContext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 </a:t>
            </a:r>
            <a:r>
              <a:rPr lang="nl-BE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600" dirty="0">
                <a:solidFill>
                  <a:srgbClr val="4F8291"/>
                </a:solidFill>
                <a:latin typeface="Consolas" panose="020B0609020204030204" pitchFamily="49" charset="0"/>
              </a:rPr>
              <a:t>Post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toRemove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context.Posts.</a:t>
            </a:r>
            <a:r>
              <a:rPr lang="en-US" sz="1600" dirty="0" err="1">
                <a:solidFill>
                  <a:srgbClr val="74561F"/>
                </a:solidFill>
                <a:latin typeface="Consolas" panose="020B0609020204030204" pitchFamily="49" charset="0"/>
              </a:rPr>
              <a:t>Find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(1);</a:t>
            </a:r>
          </a:p>
          <a:p>
            <a:r>
              <a:rPr lang="nl-BE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</a:p>
          <a:p>
            <a:r>
              <a:rPr lang="nl-BE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</a:t>
            </a:r>
            <a:r>
              <a:rPr lang="nl-BE" sz="1600" dirty="0" err="1">
                <a:solidFill>
                  <a:srgbClr val="74561F"/>
                </a:solidFill>
                <a:latin typeface="Consolas" panose="020B0609020204030204" pitchFamily="49" charset="0"/>
              </a:rPr>
              <a:t>Remove</a:t>
            </a:r>
            <a:r>
              <a:rPr lang="nl-BE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toRemove</a:t>
            </a:r>
            <a:r>
              <a:rPr lang="nl-BE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</a:t>
            </a:r>
            <a:r>
              <a:rPr lang="nl-BE" sz="1600" dirty="0" err="1">
                <a:solidFill>
                  <a:srgbClr val="74561F"/>
                </a:solidFill>
                <a:latin typeface="Consolas" panose="020B0609020204030204" pitchFamily="49" charset="0"/>
              </a:rPr>
              <a:t>SaveChanges</a:t>
            </a:r>
            <a:r>
              <a:rPr lang="nl-BE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370BD9-0CD7-7742-56D9-4A84ECFBBBC3}"/>
              </a:ext>
            </a:extLst>
          </p:cNvPr>
          <p:cNvSpPr txBox="1"/>
          <p:nvPr/>
        </p:nvSpPr>
        <p:spPr>
          <a:xfrm>
            <a:off x="569000" y="4562475"/>
            <a:ext cx="7451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i="1" dirty="0"/>
              <a:t>Opmerking: de </a:t>
            </a:r>
            <a:r>
              <a:rPr lang="nl-BE" i="1" dirty="0" err="1"/>
              <a:t>entity</a:t>
            </a:r>
            <a:r>
              <a:rPr lang="nl-BE" i="1" dirty="0"/>
              <a:t> die verwijderd wordt, hoeft niet getrackt de zijn</a:t>
            </a:r>
          </a:p>
        </p:txBody>
      </p:sp>
    </p:spTree>
    <p:extLst>
      <p:ext uri="{BB962C8B-B14F-4D97-AF65-F5344CB8AC3E}">
        <p14:creationId xmlns:p14="http://schemas.microsoft.com/office/powerpoint/2010/main" val="10093499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9D4D1-47F5-446E-B509-C13A9F592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CRUD: Delete (DELETE)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A314D-61E4-4FBC-B3D9-2E513B71C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0" y="1791300"/>
            <a:ext cx="10674483" cy="3090532"/>
          </a:xfrm>
        </p:spPr>
        <p:txBody>
          <a:bodyPr/>
          <a:lstStyle/>
          <a:p>
            <a:r>
              <a:rPr lang="nl-BE" sz="2400" b="1" dirty="0"/>
              <a:t>Opmerking: </a:t>
            </a:r>
            <a:r>
              <a:rPr lang="nl-BE" sz="2400" dirty="0"/>
              <a:t>in praktijk worden rijen nooit volledig verwijderd uit database. </a:t>
            </a:r>
            <a:br>
              <a:rPr lang="nl-BE" sz="2400" dirty="0"/>
            </a:br>
            <a:r>
              <a:rPr lang="nl-BE" sz="2400" dirty="0"/>
              <a:t>In plaats daarvan: property </a:t>
            </a:r>
            <a:r>
              <a:rPr lang="nl-BE" sz="2400" i="1" dirty="0" err="1"/>
              <a:t>IsDeleted</a:t>
            </a:r>
            <a:r>
              <a:rPr lang="nl-BE" sz="2400" i="1" dirty="0"/>
              <a:t> </a:t>
            </a:r>
            <a:r>
              <a:rPr lang="nl-BE" sz="2400" dirty="0"/>
              <a:t>die aangeeft of </a:t>
            </a:r>
            <a:r>
              <a:rPr lang="nl-BE" sz="2400" dirty="0" err="1"/>
              <a:t>entity</a:t>
            </a:r>
            <a:r>
              <a:rPr lang="nl-BE" sz="2400" dirty="0"/>
              <a:t> verwijderd is. </a:t>
            </a:r>
            <a:br>
              <a:rPr lang="nl-BE" sz="2400" dirty="0"/>
            </a:br>
            <a:r>
              <a:rPr lang="nl-BE" sz="2400" dirty="0"/>
              <a:t>Bij verwijderen </a:t>
            </a:r>
            <a:r>
              <a:rPr lang="nl-BE" sz="2400" dirty="0">
                <a:sym typeface="Wingdings" panose="05000000000000000000" pitchFamily="2" charset="2"/>
              </a:rPr>
              <a:t> property wordt op </a:t>
            </a:r>
            <a:r>
              <a:rPr lang="nl-BE" sz="2400" i="1" dirty="0" err="1">
                <a:sym typeface="Wingdings" panose="05000000000000000000" pitchFamily="2" charset="2"/>
              </a:rPr>
              <a:t>true</a:t>
            </a:r>
            <a:r>
              <a:rPr lang="nl-BE" sz="2400" dirty="0">
                <a:sym typeface="Wingdings" panose="05000000000000000000" pitchFamily="2" charset="2"/>
              </a:rPr>
              <a:t> gezet</a:t>
            </a:r>
            <a:endParaRPr lang="nl-B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51C69E-37F4-4666-90CA-82F1C6914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C4C0A0-F9C1-4EA4-A2E2-07629B736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D29F0FF-B946-4A20-B476-832178FE97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3409ED-C340-4D6C-A25C-AABFEE284FEE}"/>
              </a:ext>
            </a:extLst>
          </p:cNvPr>
          <p:cNvSpPr txBox="1"/>
          <p:nvPr/>
        </p:nvSpPr>
        <p:spPr>
          <a:xfrm>
            <a:off x="678291" y="3336566"/>
            <a:ext cx="4926096" cy="138499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context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BlogDbContext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 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4F8291"/>
                </a:solidFill>
                <a:latin typeface="Consolas" panose="020B0609020204030204" pitchFamily="49" charset="0"/>
              </a:rPr>
              <a:t>     Post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toRemove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context.Posts.Find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(1);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toRemove.IsDeleted</a:t>
            </a:r>
            <a:r>
              <a:rPr lang="nl-BE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nl-BE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context.SaveChanges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46EC3E-1C33-40E4-ACF7-2B01A13EDBF4}"/>
              </a:ext>
            </a:extLst>
          </p:cNvPr>
          <p:cNvSpPr txBox="1"/>
          <p:nvPr/>
        </p:nvSpPr>
        <p:spPr>
          <a:xfrm>
            <a:off x="534290" y="5165722"/>
            <a:ext cx="11149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000" i="1" dirty="0"/>
              <a:t>Dit principe wordt “soft delete” genoemd</a:t>
            </a:r>
          </a:p>
        </p:txBody>
      </p:sp>
    </p:spTree>
    <p:extLst>
      <p:ext uri="{BB962C8B-B14F-4D97-AF65-F5344CB8AC3E}">
        <p14:creationId xmlns:p14="http://schemas.microsoft.com/office/powerpoint/2010/main" val="286979482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9D4D1-47F5-446E-B509-C13A9F592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CRUD: Delete (DELETE)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A314D-61E4-4FBC-B3D9-2E513B71C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0" y="1791300"/>
            <a:ext cx="10674483" cy="365125"/>
          </a:xfrm>
        </p:spPr>
        <p:txBody>
          <a:bodyPr/>
          <a:lstStyle/>
          <a:p>
            <a:r>
              <a:rPr lang="nl-BE" sz="2400" b="1" dirty="0" err="1">
                <a:solidFill>
                  <a:srgbClr val="C00000"/>
                </a:solidFill>
              </a:rPr>
              <a:t>QueryFilter</a:t>
            </a:r>
            <a:r>
              <a:rPr lang="nl-BE" sz="2400" dirty="0"/>
              <a:t> definiëren om ervoor te zorgen dat records niet opgehaald worden: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51C69E-37F4-4666-90CA-82F1C6914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C4C0A0-F9C1-4EA4-A2E2-07629B736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D29F0FF-B946-4A20-B476-832178FE97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3409ED-C340-4D6C-A25C-AABFEE284FEE}"/>
              </a:ext>
            </a:extLst>
          </p:cNvPr>
          <p:cNvSpPr txBox="1"/>
          <p:nvPr/>
        </p:nvSpPr>
        <p:spPr>
          <a:xfrm>
            <a:off x="678292" y="2338720"/>
            <a:ext cx="8303784" cy="73866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protected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override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OnModelCreating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4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ModelBuilder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modelBuilder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modelBuilder.</a:t>
            </a:r>
            <a:r>
              <a:rPr lang="nl-BE" sz="14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Entity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nl-BE" sz="1400" dirty="0">
                <a:solidFill>
                  <a:srgbClr val="4F8291"/>
                </a:solidFill>
                <a:latin typeface="Cascadia Mono" panose="020B0609020000020004" pitchFamily="49" charset="0"/>
              </a:rPr>
              <a:t>Post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&gt;().</a:t>
            </a:r>
            <a:r>
              <a:rPr lang="nl-BE" sz="14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HasQueryFilter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(x =&gt;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x.IsDeleted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== </a:t>
            </a:r>
            <a:r>
              <a:rPr lang="nl-BE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false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  <a:endParaRPr lang="nl-BE" sz="1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2D542E6-199A-3B9E-E12E-8C8B32AE5899}"/>
              </a:ext>
            </a:extLst>
          </p:cNvPr>
          <p:cNvSpPr txBox="1">
            <a:spLocks/>
          </p:cNvSpPr>
          <p:nvPr/>
        </p:nvSpPr>
        <p:spPr>
          <a:xfrm>
            <a:off x="534290" y="3696300"/>
            <a:ext cx="10674483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163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sz="2400" b="1" dirty="0"/>
              <a:t>Indien nodig kan dit “overruled” worden in query:</a:t>
            </a:r>
            <a:endParaRPr lang="nl-BE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EF272D-3623-1C6F-FBD5-DF2906353A41}"/>
              </a:ext>
            </a:extLst>
          </p:cNvPr>
          <p:cNvSpPr txBox="1"/>
          <p:nvPr/>
        </p:nvSpPr>
        <p:spPr>
          <a:xfrm>
            <a:off x="678292" y="4243720"/>
            <a:ext cx="8303784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context.Posts.</a:t>
            </a:r>
            <a:r>
              <a:rPr lang="nl-BE" sz="1800" b="1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IgnoreQueryFilters</a:t>
            </a:r>
            <a:r>
              <a:rPr lang="nl-BE" sz="1800" b="1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  <a:r>
              <a:rPr lang="nl-B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nl-BE" sz="18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Where</a:t>
            </a:r>
            <a:r>
              <a:rPr lang="nl-B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(...);</a:t>
            </a:r>
            <a:endParaRPr lang="nl-BE" sz="1400" dirty="0"/>
          </a:p>
        </p:txBody>
      </p:sp>
    </p:spTree>
    <p:extLst>
      <p:ext uri="{BB962C8B-B14F-4D97-AF65-F5344CB8AC3E}">
        <p14:creationId xmlns:p14="http://schemas.microsoft.com/office/powerpoint/2010/main" val="3073333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673B6-1A2C-42EB-93F5-8E3DBBE58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CRUD: Query’s (SELECT)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7762D-C29B-4463-9E69-C736C6ED6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346" y="1341023"/>
            <a:ext cx="9281274" cy="115757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Query’s via LINQ op </a:t>
            </a:r>
            <a:r>
              <a:rPr lang="nl-BE" dirty="0" err="1"/>
              <a:t>DbSet</a:t>
            </a:r>
            <a:r>
              <a:rPr lang="nl-BE" dirty="0"/>
              <a:t>&lt;&gt;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LINQ-query wordt vertaald naar SQL SELECT-statement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9622D1-5E85-4B57-9DAC-39E706865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8461BB-35CC-433E-997B-C3ACCC5F9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D7E335-7427-4AB5-96B5-2ABDB7BDDB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9DC453-45C8-4B25-BE95-84BFE557BC9F}"/>
              </a:ext>
            </a:extLst>
          </p:cNvPr>
          <p:cNvSpPr txBox="1"/>
          <p:nvPr/>
        </p:nvSpPr>
        <p:spPr>
          <a:xfrm>
            <a:off x="822291" y="2920181"/>
            <a:ext cx="3946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Voorbeeld (ophalen op basis van PK):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4A2F39-2A3A-41E0-BA2D-A0DEFAD122C3}"/>
              </a:ext>
            </a:extLst>
          </p:cNvPr>
          <p:cNvSpPr txBox="1"/>
          <p:nvPr/>
        </p:nvSpPr>
        <p:spPr>
          <a:xfrm>
            <a:off x="943897" y="3349218"/>
            <a:ext cx="3549445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4F8291"/>
                </a:solidFill>
                <a:latin typeface="Consolas" panose="020B0609020204030204" pitchFamily="49" charset="0"/>
              </a:rPr>
              <a:t>Post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post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context.Posts.</a:t>
            </a:r>
            <a:r>
              <a:rPr lang="nl-BE" sz="1400" dirty="0" err="1">
                <a:solidFill>
                  <a:srgbClr val="74561F"/>
                </a:solidFill>
                <a:latin typeface="Consolas" panose="020B0609020204030204" pitchFamily="49" charset="0"/>
              </a:rPr>
              <a:t>Find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(1);</a:t>
            </a:r>
            <a:endParaRPr lang="nl-BE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0BB01F-D185-40DF-A689-F046A52CF676}"/>
              </a:ext>
            </a:extLst>
          </p:cNvPr>
          <p:cNvSpPr txBox="1"/>
          <p:nvPr/>
        </p:nvSpPr>
        <p:spPr>
          <a:xfrm>
            <a:off x="6636775" y="3319116"/>
            <a:ext cx="519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dirty="0" err="1">
                <a:latin typeface="Consolas" panose="020B0609020204030204" pitchFamily="49" charset="0"/>
              </a:rPr>
              <a:t>Find</a:t>
            </a:r>
            <a:r>
              <a:rPr lang="nl-BE" sz="1600" dirty="0">
                <a:latin typeface="Consolas" panose="020B0609020204030204" pitchFamily="49" charset="0"/>
              </a:rPr>
              <a:t>()</a:t>
            </a:r>
            <a:r>
              <a:rPr lang="nl-BE" dirty="0"/>
              <a:t>-methode: ophalen op basis van PK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3820E3-6746-456D-8264-182AA2F55CE3}"/>
              </a:ext>
            </a:extLst>
          </p:cNvPr>
          <p:cNvSpPr txBox="1"/>
          <p:nvPr/>
        </p:nvSpPr>
        <p:spPr>
          <a:xfrm>
            <a:off x="822291" y="4324800"/>
            <a:ext cx="3946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Voorbeeld (alle records ophalen):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6DC69A-D2D7-4831-BD3A-24FB6538D4B8}"/>
              </a:ext>
            </a:extLst>
          </p:cNvPr>
          <p:cNvSpPr txBox="1"/>
          <p:nvPr/>
        </p:nvSpPr>
        <p:spPr>
          <a:xfrm>
            <a:off x="943897" y="4753837"/>
            <a:ext cx="4817806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4F8291"/>
                </a:solidFill>
                <a:latin typeface="Consolas" panose="020B0609020204030204" pitchFamily="49" charset="0"/>
              </a:rPr>
              <a:t>List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400" dirty="0">
                <a:solidFill>
                  <a:srgbClr val="4F8291"/>
                </a:solidFill>
                <a:latin typeface="Consolas" panose="020B0609020204030204" pitchFamily="49" charset="0"/>
              </a:rPr>
              <a:t>Post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allPosts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context.Posts.</a:t>
            </a:r>
            <a:r>
              <a:rPr lang="nl-BE" sz="1400" dirty="0" err="1">
                <a:solidFill>
                  <a:srgbClr val="74561F"/>
                </a:solidFill>
                <a:latin typeface="Consolas" panose="020B0609020204030204" pitchFamily="49" charset="0"/>
              </a:rPr>
              <a:t>ToList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nl-BE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BFFDA1-AFF9-445E-8BE6-02286F981C9B}"/>
              </a:ext>
            </a:extLst>
          </p:cNvPr>
          <p:cNvSpPr txBox="1"/>
          <p:nvPr/>
        </p:nvSpPr>
        <p:spPr>
          <a:xfrm>
            <a:off x="6636775" y="4692282"/>
            <a:ext cx="519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dirty="0" err="1">
                <a:latin typeface="Consolas" panose="020B0609020204030204" pitchFamily="49" charset="0"/>
              </a:rPr>
              <a:t>ToList</a:t>
            </a:r>
            <a:r>
              <a:rPr lang="nl-BE" sz="1600" dirty="0">
                <a:latin typeface="Consolas" panose="020B0609020204030204" pitchFamily="49" charset="0"/>
              </a:rPr>
              <a:t>()</a:t>
            </a:r>
            <a:r>
              <a:rPr lang="nl-BE" dirty="0"/>
              <a:t>-methode: resultaat als List&lt;&gt;</a:t>
            </a:r>
          </a:p>
        </p:txBody>
      </p:sp>
    </p:spTree>
    <p:extLst>
      <p:ext uri="{BB962C8B-B14F-4D97-AF65-F5344CB8AC3E}">
        <p14:creationId xmlns:p14="http://schemas.microsoft.com/office/powerpoint/2010/main" val="424541605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EA44A-C560-4F74-91A0-C87CE5B2A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CRUD: Query’s (SELECT)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6F1FC-0C23-48A3-9600-0458B6399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A4F8D3-F241-4CC3-9E56-80C572FE5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C8C4C5-B23C-4146-93D5-A555AD5ADD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1A79BD-7E36-49AF-8A2A-CDBD757E6A60}"/>
              </a:ext>
            </a:extLst>
          </p:cNvPr>
          <p:cNvSpPr txBox="1"/>
          <p:nvPr/>
        </p:nvSpPr>
        <p:spPr>
          <a:xfrm>
            <a:off x="412685" y="1443948"/>
            <a:ext cx="4739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Voorbeeld (filteren, één of geen resultaat):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81B0B0-6251-4DB4-8873-35528CE8F33D}"/>
              </a:ext>
            </a:extLst>
          </p:cNvPr>
          <p:cNvSpPr txBox="1"/>
          <p:nvPr/>
        </p:nvSpPr>
        <p:spPr>
          <a:xfrm>
            <a:off x="534291" y="1872985"/>
            <a:ext cx="8668704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4F8291"/>
                </a:solidFill>
                <a:latin typeface="Consolas" panose="020B0609020204030204" pitchFamily="49" charset="0"/>
              </a:rPr>
              <a:t>Post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result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context.Posts.</a:t>
            </a:r>
            <a:r>
              <a:rPr lang="en-US" sz="1400" b="1" dirty="0" err="1">
                <a:solidFill>
                  <a:srgbClr val="74561F"/>
                </a:solidFill>
                <a:latin typeface="Consolas" panose="020B0609020204030204" pitchFamily="49" charset="0"/>
              </a:rPr>
              <a:t>Where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(x =&gt;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x.Title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"My Blog Post"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).</a:t>
            </a:r>
            <a:r>
              <a:rPr lang="en-US" sz="1400" dirty="0" err="1">
                <a:solidFill>
                  <a:srgbClr val="74561F"/>
                </a:solidFill>
                <a:latin typeface="Consolas" panose="020B0609020204030204" pitchFamily="49" charset="0"/>
              </a:rPr>
              <a:t>SingleOrDefault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nl-BE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FFACD6-F81C-4902-8AA4-15A97287914F}"/>
              </a:ext>
            </a:extLst>
          </p:cNvPr>
          <p:cNvSpPr txBox="1"/>
          <p:nvPr/>
        </p:nvSpPr>
        <p:spPr>
          <a:xfrm>
            <a:off x="410178" y="2265671"/>
            <a:ext cx="8540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i="1" dirty="0"/>
              <a:t>Opmerking: </a:t>
            </a:r>
            <a:r>
              <a:rPr lang="nl-BE" sz="1600" i="1" dirty="0" err="1">
                <a:latin typeface="Consolas" panose="020B0609020204030204" pitchFamily="49" charset="0"/>
              </a:rPr>
              <a:t>SingleOrDefault</a:t>
            </a:r>
            <a:r>
              <a:rPr lang="nl-BE" sz="1600" i="1" dirty="0">
                <a:latin typeface="Consolas" panose="020B0609020204030204" pitchFamily="49" charset="0"/>
              </a:rPr>
              <a:t>()</a:t>
            </a:r>
            <a:r>
              <a:rPr lang="nl-BE" i="1" dirty="0"/>
              <a:t> </a:t>
            </a:r>
            <a:r>
              <a:rPr lang="nl-BE" i="1" dirty="0" err="1"/>
              <a:t>returnt</a:t>
            </a:r>
            <a:r>
              <a:rPr lang="nl-BE" i="1" dirty="0"/>
              <a:t> </a:t>
            </a:r>
            <a:r>
              <a:rPr lang="nl-BE" i="1" dirty="0" err="1"/>
              <a:t>null</a:t>
            </a:r>
            <a:r>
              <a:rPr lang="nl-BE" i="1" dirty="0"/>
              <a:t> indien geen resultaten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06589A-7F7C-4FAC-9865-A01C506BD5E0}"/>
              </a:ext>
            </a:extLst>
          </p:cNvPr>
          <p:cNvSpPr txBox="1"/>
          <p:nvPr/>
        </p:nvSpPr>
        <p:spPr>
          <a:xfrm>
            <a:off x="412685" y="2923703"/>
            <a:ext cx="4739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Voorbeeld (filteren, meerdere resultaten):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E647E9-4BDC-46EA-83B3-E34F29C6933D}"/>
              </a:ext>
            </a:extLst>
          </p:cNvPr>
          <p:cNvSpPr txBox="1"/>
          <p:nvPr/>
        </p:nvSpPr>
        <p:spPr>
          <a:xfrm>
            <a:off x="534291" y="3365342"/>
            <a:ext cx="8668704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4F8291"/>
                </a:solidFill>
                <a:latin typeface="Consolas" panose="020B0609020204030204" pitchFamily="49" charset="0"/>
              </a:rPr>
              <a:t>List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4F8291"/>
                </a:solidFill>
                <a:latin typeface="Consolas" panose="020B0609020204030204" pitchFamily="49" charset="0"/>
              </a:rPr>
              <a:t>Post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 result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context.Posts.</a:t>
            </a:r>
            <a:r>
              <a:rPr lang="en-US" sz="1400" dirty="0" err="1">
                <a:solidFill>
                  <a:srgbClr val="74561F"/>
                </a:solidFill>
                <a:latin typeface="Consolas" panose="020B0609020204030204" pitchFamily="49" charset="0"/>
              </a:rPr>
              <a:t>Where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(x =&gt; !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x.IsDeleted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).</a:t>
            </a:r>
            <a:r>
              <a:rPr lang="en-US" sz="1400" dirty="0" err="1">
                <a:solidFill>
                  <a:srgbClr val="74561F"/>
                </a:solidFill>
                <a:latin typeface="Consolas" panose="020B0609020204030204" pitchFamily="49" charset="0"/>
              </a:rPr>
              <a:t>ToList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nl-BE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DFB7B4-5008-4A20-B477-38A3258E25D3}"/>
              </a:ext>
            </a:extLst>
          </p:cNvPr>
          <p:cNvSpPr txBox="1"/>
          <p:nvPr/>
        </p:nvSpPr>
        <p:spPr>
          <a:xfrm>
            <a:off x="396000" y="4081711"/>
            <a:ext cx="4739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Voorbeeld (filteren, en sorteren):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A68677-54CD-4272-8E72-039D09E0307F}"/>
              </a:ext>
            </a:extLst>
          </p:cNvPr>
          <p:cNvSpPr txBox="1"/>
          <p:nvPr/>
        </p:nvSpPr>
        <p:spPr>
          <a:xfrm>
            <a:off x="517606" y="4523350"/>
            <a:ext cx="8668704" cy="73866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4F8291"/>
                </a:solidFill>
                <a:latin typeface="Consolas" panose="020B0609020204030204" pitchFamily="49" charset="0"/>
              </a:rPr>
              <a:t>List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400" dirty="0">
                <a:solidFill>
                  <a:srgbClr val="4F8291"/>
                </a:solidFill>
                <a:latin typeface="Consolas" panose="020B0609020204030204" pitchFamily="49" charset="0"/>
              </a:rPr>
              <a:t>Post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context.Posts.</a:t>
            </a:r>
            <a:r>
              <a:rPr lang="nl-BE" sz="1400" dirty="0" err="1">
                <a:solidFill>
                  <a:srgbClr val="74561F"/>
                </a:solidFill>
                <a:latin typeface="Consolas" panose="020B0609020204030204" pitchFamily="49" charset="0"/>
              </a:rPr>
              <a:t>Where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(x =&gt; !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x.IsDeleted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nl-BE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.</a:t>
            </a:r>
            <a:r>
              <a:rPr lang="nl-BE" sz="1400" b="1" dirty="0" err="1">
                <a:solidFill>
                  <a:srgbClr val="74561F"/>
                </a:solidFill>
                <a:latin typeface="Consolas" panose="020B0609020204030204" pitchFamily="49" charset="0"/>
              </a:rPr>
              <a:t>OrderByDescending</a:t>
            </a:r>
            <a:r>
              <a:rPr lang="nl-BE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(x =&gt; </a:t>
            </a:r>
            <a:r>
              <a:rPr lang="nl-BE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x.PublicationDate</a:t>
            </a:r>
            <a:r>
              <a:rPr lang="nl-BE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.</a:t>
            </a:r>
            <a:r>
              <a:rPr lang="nl-BE" sz="1400" dirty="0" err="1">
                <a:solidFill>
                  <a:srgbClr val="74561F"/>
                </a:solidFill>
                <a:latin typeface="Consolas" panose="020B0609020204030204" pitchFamily="49" charset="0"/>
              </a:rPr>
              <a:t>ToList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nl-BE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F87FD5-9218-4290-B5C4-457F582684D8}"/>
              </a:ext>
            </a:extLst>
          </p:cNvPr>
          <p:cNvSpPr txBox="1"/>
          <p:nvPr/>
        </p:nvSpPr>
        <p:spPr>
          <a:xfrm>
            <a:off x="517606" y="5621332"/>
            <a:ext cx="8809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i="1" dirty="0"/>
              <a:t>Meer voorbeelden: zie </a:t>
            </a:r>
            <a:r>
              <a:rPr lang="nl-BE" i="1" dirty="0">
                <a:hlinkClick r:id="rId2"/>
              </a:rPr>
              <a:t>https://www.learnentityframeworkcore.com/dbset/querying-data</a:t>
            </a:r>
            <a:r>
              <a:rPr lang="nl-BE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0472589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7841E-28C8-496F-8B87-E77E9C889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Lazy</a:t>
            </a:r>
            <a:r>
              <a:rPr lang="nl-BE" dirty="0"/>
              <a:t> </a:t>
            </a:r>
            <a:r>
              <a:rPr lang="nl-BE" dirty="0" err="1"/>
              <a:t>Loading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BCB49-9EDD-4B05-AE8C-3BC82F1D3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5CA39-3B96-45EF-9424-5AEDEF1C7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362F44-1E97-4E84-A903-8C1F87656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67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3E6735D-EEEF-46BC-A86C-3312E68BAA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2708164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8091-C239-442E-835F-DC2066C4A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is </a:t>
            </a:r>
            <a:r>
              <a:rPr lang="nl-BE" dirty="0" err="1"/>
              <a:t>Lazy</a:t>
            </a:r>
            <a:r>
              <a:rPr lang="nl-BE" dirty="0"/>
              <a:t> </a:t>
            </a:r>
            <a:r>
              <a:rPr lang="nl-BE" dirty="0" err="1"/>
              <a:t>Loading</a:t>
            </a:r>
            <a:r>
              <a:rPr lang="nl-BE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0A0B0-27B5-47A6-A643-6591FBCDA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381" y="2234839"/>
            <a:ext cx="9281274" cy="35170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Bij grote hoeveelheid data is het niet performant om alle relaties van </a:t>
            </a:r>
            <a:r>
              <a:rPr lang="nl-BE" dirty="0" err="1"/>
              <a:t>entity</a:t>
            </a:r>
            <a:r>
              <a:rPr lang="nl-BE" dirty="0"/>
              <a:t> op te halen (bv.: overzichtspagina)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Standaard worden bij ophalen van </a:t>
            </a:r>
            <a:r>
              <a:rPr lang="nl-BE" dirty="0" err="1"/>
              <a:t>entity</a:t>
            </a:r>
            <a:r>
              <a:rPr lang="nl-BE" dirty="0"/>
              <a:t> relaties </a:t>
            </a:r>
            <a:r>
              <a:rPr lang="nl-BE" b="1" dirty="0"/>
              <a:t>niet</a:t>
            </a:r>
            <a:r>
              <a:rPr lang="nl-BE" dirty="0"/>
              <a:t> mee opgehaald (= </a:t>
            </a:r>
            <a:r>
              <a:rPr lang="nl-BE" b="1" dirty="0" err="1">
                <a:solidFill>
                  <a:schemeClr val="accent6"/>
                </a:solidFill>
              </a:rPr>
              <a:t>lazy</a:t>
            </a:r>
            <a:r>
              <a:rPr lang="nl-BE" b="1" dirty="0">
                <a:solidFill>
                  <a:schemeClr val="accent6"/>
                </a:solidFill>
              </a:rPr>
              <a:t> </a:t>
            </a:r>
            <a:r>
              <a:rPr lang="nl-BE" b="1" dirty="0" err="1">
                <a:solidFill>
                  <a:schemeClr val="accent6"/>
                </a:solidFill>
              </a:rPr>
              <a:t>loading</a:t>
            </a:r>
            <a:r>
              <a:rPr lang="nl-BE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Voordeel: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Minder data ophalen + geen JOIN nodig </a:t>
            </a:r>
            <a:r>
              <a:rPr lang="nl-BE" sz="2400" dirty="0">
                <a:sym typeface="Wingdings" panose="05000000000000000000" pitchFamily="2" charset="2"/>
              </a:rPr>
              <a:t> performance</a:t>
            </a:r>
            <a:endParaRPr lang="nl-B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2E72CD-4F41-4702-841C-B48F668F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9888A3-2C06-4373-97D0-3444EED78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93F3F0-6844-4880-9C4D-FB26B92DF3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563212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1BEC6-A9B8-4149-8CA8-818B7A8F3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Lazy</a:t>
            </a:r>
            <a:r>
              <a:rPr lang="nl-BE" dirty="0"/>
              <a:t> </a:t>
            </a:r>
            <a:r>
              <a:rPr lang="nl-BE" dirty="0" err="1"/>
              <a:t>Loading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5952C-DDE1-4750-8DAC-D6D8D7F85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841152"/>
            <a:ext cx="9281274" cy="12362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Bij ophalen van data zijn relaties standaard leeg (</a:t>
            </a:r>
            <a:r>
              <a:rPr lang="nl-BE" dirty="0" err="1"/>
              <a:t>null</a:t>
            </a:r>
            <a:r>
              <a:rPr lang="nl-BE" dirty="0"/>
              <a:t>)</a:t>
            </a:r>
          </a:p>
          <a:p>
            <a:pPr lvl="2"/>
            <a:r>
              <a:rPr lang="nl-BE" sz="2400" b="1" i="1" dirty="0">
                <a:solidFill>
                  <a:srgbClr val="C00000"/>
                </a:solidFill>
              </a:rPr>
              <a:t>OPGELET VOOR </a:t>
            </a:r>
            <a:r>
              <a:rPr lang="nl-BE" sz="2400" b="1" i="1" dirty="0" err="1">
                <a:solidFill>
                  <a:srgbClr val="C00000"/>
                </a:solidFill>
              </a:rPr>
              <a:t>NullReferenceExceptions</a:t>
            </a:r>
            <a:r>
              <a:rPr lang="nl-BE" sz="2400" b="1" i="1" dirty="0">
                <a:solidFill>
                  <a:srgbClr val="C00000"/>
                </a:solidFill>
              </a:rPr>
              <a:t>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D149B-BDD5-4115-9D25-A4F9AA252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D01BA-EEE0-43C1-A4C7-C5F5CCA89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540EF3-EA77-466E-88F1-A066242B62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DED155-FF76-41E7-9887-A4CDB225A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864" y="3171095"/>
            <a:ext cx="5326127" cy="26234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1B1A972-37B0-4033-AC58-BF0247E94E7F}"/>
              </a:ext>
            </a:extLst>
          </p:cNvPr>
          <p:cNvSpPr/>
          <p:nvPr/>
        </p:nvSpPr>
        <p:spPr>
          <a:xfrm>
            <a:off x="3156155" y="4188541"/>
            <a:ext cx="2379406" cy="432000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149079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E98AD-707F-4F9C-B8E7-2FCAF5267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Lazy</a:t>
            </a:r>
            <a:r>
              <a:rPr lang="nl-BE" dirty="0"/>
              <a:t> </a:t>
            </a:r>
            <a:r>
              <a:rPr lang="nl-BE" dirty="0" err="1"/>
              <a:t>Loading</a:t>
            </a:r>
            <a:r>
              <a:rPr lang="nl-BE" dirty="0"/>
              <a:t>: relaties ophalen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D4D33-8945-43D1-A8D9-9B8997FBE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532118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Relaties nodig: ophalen via </a:t>
            </a:r>
            <a:r>
              <a:rPr lang="nl-BE" sz="2400" dirty="0" err="1">
                <a:latin typeface="Consolas" panose="020B0609020204030204" pitchFamily="49" charset="0"/>
              </a:rPr>
              <a:t>Include</a:t>
            </a:r>
            <a:r>
              <a:rPr lang="nl-BE" sz="2400" dirty="0">
                <a:latin typeface="Consolas" panose="020B0609020204030204" pitchFamily="49" charset="0"/>
              </a:rPr>
              <a:t>(...)</a:t>
            </a:r>
            <a:endParaRPr lang="nl-BE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85DBA6-B058-4ED8-8E7C-EB5B61EBB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5A591C-3C93-491A-A0F7-D6DC5D2E5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70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1DAB22-8DB5-4A03-BDC9-DFD5E34D24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C97605-36AC-4F78-9322-644B1F182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710" y="2802081"/>
            <a:ext cx="5298186" cy="22484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906330-AAFD-43B8-B1CC-02A59581326C}"/>
              </a:ext>
            </a:extLst>
          </p:cNvPr>
          <p:cNvSpPr txBox="1"/>
          <p:nvPr/>
        </p:nvSpPr>
        <p:spPr>
          <a:xfrm>
            <a:off x="534291" y="3044262"/>
            <a:ext cx="4972413" cy="160043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context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BlogDbContext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 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400" dirty="0">
                <a:solidFill>
                  <a:srgbClr val="4F8291"/>
                </a:solidFill>
                <a:latin typeface="Consolas" panose="020B0609020204030204" pitchFamily="49" charset="0"/>
              </a:rPr>
              <a:t>Post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post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context.Posts</a:t>
            </a:r>
            <a:endParaRPr lang="nl-BE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.</a:t>
            </a:r>
            <a:r>
              <a:rPr lang="nl-BE" sz="1400" b="1" dirty="0" err="1">
                <a:solidFill>
                  <a:srgbClr val="74561F"/>
                </a:solidFill>
                <a:latin typeface="Consolas" panose="020B0609020204030204" pitchFamily="49" charset="0"/>
              </a:rPr>
              <a:t>Include</a:t>
            </a:r>
            <a:r>
              <a:rPr lang="nl-BE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(x =&gt; </a:t>
            </a:r>
            <a:r>
              <a:rPr lang="nl-BE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x.Category</a:t>
            </a:r>
            <a:r>
              <a:rPr lang="nl-BE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nl-BE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.</a:t>
            </a:r>
            <a:r>
              <a:rPr lang="nl-BE" sz="1400" b="1" dirty="0" err="1">
                <a:solidFill>
                  <a:srgbClr val="74561F"/>
                </a:solidFill>
                <a:latin typeface="Consolas" panose="020B0609020204030204" pitchFamily="49" charset="0"/>
              </a:rPr>
              <a:t>Include</a:t>
            </a:r>
            <a:r>
              <a:rPr lang="nl-BE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(x =&gt; </a:t>
            </a:r>
            <a:r>
              <a:rPr lang="nl-BE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x.Comments</a:t>
            </a:r>
            <a:r>
              <a:rPr lang="nl-BE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.</a:t>
            </a:r>
            <a:r>
              <a:rPr lang="en-US" sz="1400" dirty="0">
                <a:solidFill>
                  <a:srgbClr val="74561F"/>
                </a:solidFill>
                <a:latin typeface="Consolas" panose="020B0609020204030204" pitchFamily="49" charset="0"/>
              </a:rPr>
              <a:t>Where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(x =&gt;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x.PostId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1)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.</a:t>
            </a:r>
            <a:r>
              <a:rPr lang="nl-BE" sz="1400" dirty="0" err="1">
                <a:solidFill>
                  <a:srgbClr val="74561F"/>
                </a:solidFill>
                <a:latin typeface="Consolas" panose="020B0609020204030204" pitchFamily="49" charset="0"/>
              </a:rPr>
              <a:t>SingleOrDefault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EECCFB-3D0B-4EE8-A21F-F89C4FBEE6C1}"/>
              </a:ext>
            </a:extLst>
          </p:cNvPr>
          <p:cNvSpPr/>
          <p:nvPr/>
        </p:nvSpPr>
        <p:spPr>
          <a:xfrm>
            <a:off x="7671428" y="3671002"/>
            <a:ext cx="3708000" cy="396000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0379469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E98AD-707F-4F9C-B8E7-2FCAF5267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Lazy</a:t>
            </a:r>
            <a:r>
              <a:rPr lang="nl-BE" dirty="0"/>
              <a:t> </a:t>
            </a:r>
            <a:r>
              <a:rPr lang="nl-BE" dirty="0" err="1"/>
              <a:t>Loading</a:t>
            </a:r>
            <a:r>
              <a:rPr lang="nl-BE" dirty="0"/>
              <a:t>: relaties ophalen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D4D33-8945-43D1-A8D9-9B8997FBE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532118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Indien gerelateerde objecten op hun beurt relaties hebben die mee opgehaald moeten worden, maak je gebruik van </a:t>
            </a:r>
            <a:r>
              <a:rPr lang="nl-BE" sz="2400" dirty="0" err="1">
                <a:latin typeface="Consolas" panose="020B0609020204030204" pitchFamily="49" charset="0"/>
              </a:rPr>
              <a:t>ThenInclude</a:t>
            </a:r>
            <a:r>
              <a:rPr lang="nl-BE" sz="2400" dirty="0">
                <a:latin typeface="Consolas" panose="020B0609020204030204" pitchFamily="49" charset="0"/>
              </a:rPr>
              <a:t>(...)</a:t>
            </a:r>
            <a:endParaRPr lang="nl-BE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85DBA6-B058-4ED8-8E7C-EB5B61EBB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5A591C-3C93-491A-A0F7-D6DC5D2E5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71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1DAB22-8DB5-4A03-BDC9-DFD5E34D24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906330-AAFD-43B8-B1CC-02A59581326C}"/>
              </a:ext>
            </a:extLst>
          </p:cNvPr>
          <p:cNvSpPr txBox="1"/>
          <p:nvPr/>
        </p:nvSpPr>
        <p:spPr>
          <a:xfrm>
            <a:off x="822291" y="3364048"/>
            <a:ext cx="4972413" cy="181588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context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BlogDbContext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 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400" dirty="0">
                <a:solidFill>
                  <a:srgbClr val="4F8291"/>
                </a:solidFill>
                <a:latin typeface="Consolas" panose="020B0609020204030204" pitchFamily="49" charset="0"/>
              </a:rPr>
              <a:t>Post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post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context.Posts</a:t>
            </a:r>
            <a:endParaRPr lang="nl-BE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.</a:t>
            </a:r>
            <a:r>
              <a:rPr lang="nl-BE" sz="1400" dirty="0" err="1">
                <a:solidFill>
                  <a:schemeClr val="accent6"/>
                </a:solidFill>
                <a:latin typeface="Consolas" panose="020B0609020204030204" pitchFamily="49" charset="0"/>
              </a:rPr>
              <a:t>Include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(x =&gt;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x.Category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.</a:t>
            </a:r>
            <a:r>
              <a:rPr lang="nl-BE" sz="1400" dirty="0" err="1">
                <a:solidFill>
                  <a:schemeClr val="accent6"/>
                </a:solidFill>
                <a:latin typeface="Consolas" panose="020B0609020204030204" pitchFamily="49" charset="0"/>
              </a:rPr>
              <a:t>Include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(x =&gt;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x.Comments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nl-BE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.</a:t>
            </a:r>
            <a:r>
              <a:rPr lang="nl-BE" sz="1400" b="1" dirty="0" err="1">
                <a:solidFill>
                  <a:schemeClr val="accent6"/>
                </a:solidFill>
                <a:latin typeface="Consolas" panose="020B0609020204030204" pitchFamily="49" charset="0"/>
              </a:rPr>
              <a:t>ThenInclude</a:t>
            </a:r>
            <a:r>
              <a:rPr lang="nl-BE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(x =&gt; </a:t>
            </a:r>
            <a:r>
              <a:rPr lang="nl-BE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x.Author</a:t>
            </a:r>
            <a:r>
              <a:rPr lang="nl-BE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.</a:t>
            </a:r>
            <a:r>
              <a:rPr lang="nl-BE" sz="1400" dirty="0" err="1">
                <a:solidFill>
                  <a:schemeClr val="accent6"/>
                </a:solidFill>
                <a:latin typeface="Consolas" panose="020B0609020204030204" pitchFamily="49" charset="0"/>
              </a:rPr>
              <a:t>Where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(x =&gt;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x.PostId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postId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.</a:t>
            </a:r>
            <a:r>
              <a:rPr lang="nl-BE" sz="1400" dirty="0" err="1">
                <a:solidFill>
                  <a:schemeClr val="accent6"/>
                </a:solidFill>
                <a:latin typeface="Consolas" panose="020B0609020204030204" pitchFamily="49" charset="0"/>
              </a:rPr>
              <a:t>SingleOrDefault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8CA378-8BB1-4F1F-880D-AD6B7A06F142}"/>
              </a:ext>
            </a:extLst>
          </p:cNvPr>
          <p:cNvSpPr txBox="1"/>
          <p:nvPr/>
        </p:nvSpPr>
        <p:spPr>
          <a:xfrm>
            <a:off x="6397298" y="3810324"/>
            <a:ext cx="45228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/>
              <a:t>Voor elk </a:t>
            </a:r>
            <a:r>
              <a:rPr lang="nl-BE" dirty="0" err="1"/>
              <a:t>Comment</a:t>
            </a:r>
            <a:r>
              <a:rPr lang="nl-BE" dirty="0"/>
              <a:t>-object zal het gerelateerde Author-object opgehaald worden uit de databank</a:t>
            </a:r>
          </a:p>
        </p:txBody>
      </p:sp>
    </p:spTree>
    <p:extLst>
      <p:ext uri="{BB962C8B-B14F-4D97-AF65-F5344CB8AC3E}">
        <p14:creationId xmlns:p14="http://schemas.microsoft.com/office/powerpoint/2010/main" val="189164526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5B779-BD34-44A8-95F7-6EC2D6275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Lazy</a:t>
            </a:r>
            <a:r>
              <a:rPr lang="nl-BE" dirty="0"/>
              <a:t> </a:t>
            </a:r>
            <a:r>
              <a:rPr lang="nl-BE" dirty="0" err="1"/>
              <a:t>Loading</a:t>
            </a:r>
            <a:r>
              <a:rPr lang="nl-BE" dirty="0"/>
              <a:t>: Tip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5F3B9-6FBA-439C-950A-2D114C19E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0" y="1296000"/>
            <a:ext cx="10233309" cy="1285394"/>
          </a:xfrm>
        </p:spPr>
        <p:txBody>
          <a:bodyPr/>
          <a:lstStyle/>
          <a:p>
            <a:r>
              <a:rPr lang="nl-BE" b="1" dirty="0"/>
              <a:t>Tip: </a:t>
            </a:r>
            <a:r>
              <a:rPr lang="nl-BE" dirty="0"/>
              <a:t>maak apart </a:t>
            </a:r>
            <a:r>
              <a:rPr lang="nl-BE" b="1" dirty="0" err="1">
                <a:solidFill>
                  <a:schemeClr val="accent6"/>
                </a:solidFill>
              </a:rPr>
              <a:t>ViewModel</a:t>
            </a:r>
            <a:r>
              <a:rPr lang="nl-BE" dirty="0"/>
              <a:t> zonder relaties </a:t>
            </a:r>
            <a:br>
              <a:rPr lang="nl-BE" dirty="0"/>
            </a:br>
            <a:r>
              <a:rPr lang="nl-BE" dirty="0"/>
              <a:t>    </a:t>
            </a:r>
            <a:r>
              <a:rPr lang="nl-BE" dirty="0">
                <a:sym typeface="Wingdings" panose="05000000000000000000" pitchFamily="2" charset="2"/>
              </a:rPr>
              <a:t> vermijd </a:t>
            </a:r>
            <a:r>
              <a:rPr lang="nl-BE" dirty="0" err="1">
                <a:sym typeface="Wingdings" panose="05000000000000000000" pitchFamily="2" charset="2"/>
              </a:rPr>
              <a:t>NullReferenceExceptions</a:t>
            </a:r>
            <a:r>
              <a:rPr lang="nl-BE" dirty="0">
                <a:sym typeface="Wingdings" panose="05000000000000000000" pitchFamily="2" charset="2"/>
              </a:rPr>
              <a:t>  </a:t>
            </a: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EC65C7-AA9C-4CA5-853C-4142F8525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E847FB-739E-4B8C-B3E1-5D0EE1502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72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586DF7-774C-481A-A064-7527376F81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47C5DD-97E1-4C49-A35D-F0E1A07DEA90}"/>
              </a:ext>
            </a:extLst>
          </p:cNvPr>
          <p:cNvSpPr txBox="1"/>
          <p:nvPr/>
        </p:nvSpPr>
        <p:spPr>
          <a:xfrm>
            <a:off x="410178" y="3280978"/>
            <a:ext cx="5313413" cy="138499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PostListViewModel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   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Id {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Title {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Content {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DateTime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PublicationDate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19AB67-49E4-4A89-A431-106487CF3806}"/>
              </a:ext>
            </a:extLst>
          </p:cNvPr>
          <p:cNvSpPr txBox="1"/>
          <p:nvPr/>
        </p:nvSpPr>
        <p:spPr>
          <a:xfrm>
            <a:off x="6293569" y="3045500"/>
            <a:ext cx="5313413" cy="24622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context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BlogDbContext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 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4F8291"/>
                </a:solidFill>
                <a:latin typeface="Consolas" panose="020B0609020204030204" pitchFamily="49" charset="0"/>
              </a:rPr>
              <a:t>List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PostListViewModel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 posts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context.Posts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.</a:t>
            </a:r>
            <a:r>
              <a:rPr lang="nl-BE" sz="1400" b="1" dirty="0">
                <a:solidFill>
                  <a:srgbClr val="74561F"/>
                </a:solidFill>
                <a:latin typeface="Consolas" panose="020B0609020204030204" pitchFamily="49" charset="0"/>
              </a:rPr>
              <a:t>Select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(x =&gt; 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PostListViewModel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Id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x.PostId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Title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x.Title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Content =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x.Content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PublicationDate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x.PublicationDate</a:t>
            </a:r>
            <a:endParaRPr lang="nl-BE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})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.</a:t>
            </a:r>
            <a:r>
              <a:rPr lang="nl-BE" sz="1400" dirty="0" err="1">
                <a:solidFill>
                  <a:srgbClr val="74561F"/>
                </a:solidFill>
                <a:latin typeface="Consolas" panose="020B0609020204030204" pitchFamily="49" charset="0"/>
              </a:rPr>
              <a:t>ToList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nl-BE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400" dirty="0"/>
          </a:p>
        </p:txBody>
      </p:sp>
    </p:spTree>
    <p:extLst>
      <p:ext uri="{BB962C8B-B14F-4D97-AF65-F5344CB8AC3E}">
        <p14:creationId xmlns:p14="http://schemas.microsoft.com/office/powerpoint/2010/main" val="168618104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494F0-1985-5811-93C1-F7A4C617D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Cascading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7A05D-69B2-83E1-F9B5-33C401848C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D2D09E-9AC6-3B12-2E61-375B43185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797FE1-B73E-E515-B030-DB30B3EA5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73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DE212E-0CD1-CF45-5402-FD7E8975CE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3791116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36C17-8EEE-A3A5-110B-F53A96387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F048E-3CE2-03B2-A3AD-139C7B365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is </a:t>
            </a:r>
            <a:r>
              <a:rPr lang="nl-BE" dirty="0" err="1"/>
              <a:t>cascading</a:t>
            </a:r>
            <a:r>
              <a:rPr lang="nl-BE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6A90B-43FB-8D33-AD16-FDF641E9B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177" y="1930039"/>
            <a:ext cx="10819797" cy="385163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Bij het verwijderen van entiteiten moet </a:t>
            </a:r>
            <a:r>
              <a:rPr lang="nl-BE" sz="2400" dirty="0" err="1"/>
              <a:t>referentiële</a:t>
            </a:r>
            <a:r>
              <a:rPr lang="nl-BE" sz="2400" dirty="0"/>
              <a:t> integriteit gewaarborgd blijven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Wat met relaties wanneer </a:t>
            </a:r>
            <a:r>
              <a:rPr lang="nl-BE" sz="2400" dirty="0" err="1"/>
              <a:t>owner</a:t>
            </a:r>
            <a:r>
              <a:rPr lang="nl-BE" sz="2400" dirty="0"/>
              <a:t>-kant verwijderd wordt?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Child-objecten mee verwijderen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Foreign</a:t>
            </a:r>
            <a:r>
              <a:rPr lang="nl-BE" sz="2400" dirty="0"/>
              <a:t> </a:t>
            </a:r>
            <a:r>
              <a:rPr lang="nl-BE" sz="2400" dirty="0" err="1"/>
              <a:t>Key</a:t>
            </a:r>
            <a:r>
              <a:rPr lang="nl-BE" sz="2400" dirty="0"/>
              <a:t> van </a:t>
            </a:r>
            <a:r>
              <a:rPr lang="nl-BE" sz="2400" dirty="0" err="1"/>
              <a:t>children</a:t>
            </a:r>
            <a:r>
              <a:rPr lang="nl-BE" sz="2400" dirty="0"/>
              <a:t> op NULL zetten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Verwijderen tegenhouden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Gedrag kan ingesteld worden via </a:t>
            </a:r>
            <a:r>
              <a:rPr lang="nl-BE" sz="2400" dirty="0" err="1"/>
              <a:t>Fluent</a:t>
            </a:r>
            <a:r>
              <a:rPr lang="nl-BE" sz="2400" dirty="0"/>
              <a:t> API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Maak gebruik van methode 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OnDelete</a:t>
            </a:r>
            <a:endParaRPr lang="nl-B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5C5101-E466-8EF6-E4C8-8F68BE10A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84997A-B322-A421-8EDE-D30371F3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74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6FA5806-5B3A-53C9-5E2A-A228DC4D8D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3419320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34FC1-0F9D-487E-9D2B-7940E4239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Cascade: opties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F40E1-B8E4-4E86-9B0F-7FF22F14F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000" y="2975002"/>
            <a:ext cx="3555928" cy="453998"/>
          </a:xfrm>
        </p:spPr>
        <p:txBody>
          <a:bodyPr/>
          <a:lstStyle/>
          <a:p>
            <a:r>
              <a:rPr lang="nl-BE" sz="1800" b="1" u="sng" dirty="0"/>
              <a:t>Voorbeeld ON DELETE CASCADE: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57AFBE-5825-40DF-994B-03898C7A2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07812-171F-43F0-BCF8-3274DD994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75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AEB2A2-FDB9-42C8-BC16-A1ADDDE544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F50B2B-CB60-474F-BACA-74F114147B32}"/>
              </a:ext>
            </a:extLst>
          </p:cNvPr>
          <p:cNvSpPr txBox="1"/>
          <p:nvPr/>
        </p:nvSpPr>
        <p:spPr>
          <a:xfrm>
            <a:off x="568999" y="3320445"/>
            <a:ext cx="6460451" cy="138499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protected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override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OnModelCreating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2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ModelBuilder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modelBuilder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base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nl-BE" sz="12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OnModelCreating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modelBuilder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modelBuilder.</a:t>
            </a:r>
            <a:r>
              <a:rPr lang="nl-BE" sz="12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Entity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nl-BE" sz="1200" dirty="0">
                <a:solidFill>
                  <a:srgbClr val="4F8291"/>
                </a:solidFill>
                <a:latin typeface="Cascadia Mono" panose="020B0609020000020004" pitchFamily="49" charset="0"/>
              </a:rPr>
              <a:t>Post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&gt;()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.</a:t>
            </a:r>
            <a:r>
              <a:rPr lang="nl-BE" sz="12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HasMany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(x =&gt;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x.Comments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.</a:t>
            </a:r>
            <a:r>
              <a:rPr lang="nl-BE" sz="12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WithOne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nl-BE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nl-BE" sz="1200" b="1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OnDelete</a:t>
            </a:r>
            <a:r>
              <a:rPr lang="nl-BE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200" b="1" dirty="0" err="1">
                <a:solidFill>
                  <a:srgbClr val="4F8291"/>
                </a:solidFill>
                <a:latin typeface="Cascadia Mono" panose="020B0609020000020004" pitchFamily="49" charset="0"/>
              </a:rPr>
              <a:t>DeleteBehavior</a:t>
            </a:r>
            <a:r>
              <a:rPr lang="nl-BE" sz="12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.Cascade</a:t>
            </a:r>
            <a:r>
              <a:rPr lang="nl-BE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  <a:endParaRPr lang="nl-BE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370BD9-0CD7-7742-56D9-4A84ECFBBBC3}"/>
              </a:ext>
            </a:extLst>
          </p:cNvPr>
          <p:cNvSpPr txBox="1"/>
          <p:nvPr/>
        </p:nvSpPr>
        <p:spPr>
          <a:xfrm>
            <a:off x="534291" y="5206396"/>
            <a:ext cx="7451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i="1" dirty="0"/>
              <a:t>Opmerking: kan </a:t>
            </a:r>
            <a:r>
              <a:rPr lang="nl-BE" b="1" i="1" dirty="0"/>
              <a:t>enkel</a:t>
            </a:r>
            <a:r>
              <a:rPr lang="nl-BE" i="1" dirty="0"/>
              <a:t> via </a:t>
            </a:r>
            <a:r>
              <a:rPr lang="nl-BE" i="1" dirty="0" err="1"/>
              <a:t>Fluent</a:t>
            </a:r>
            <a:r>
              <a:rPr lang="nl-BE" i="1" dirty="0"/>
              <a:t> API geconfigureerd worden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0A96E10-8054-4223-99E6-6D1442B04CEE}"/>
              </a:ext>
            </a:extLst>
          </p:cNvPr>
          <p:cNvSpPr txBox="1">
            <a:spLocks/>
          </p:cNvSpPr>
          <p:nvPr/>
        </p:nvSpPr>
        <p:spPr>
          <a:xfrm>
            <a:off x="410178" y="1475404"/>
            <a:ext cx="9695847" cy="115941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163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nl-BE" sz="2400" b="1" dirty="0"/>
              <a:t>Keuze voor gedrag is afhankelijk van </a:t>
            </a:r>
            <a:r>
              <a:rPr lang="nl-BE" sz="2400" b="1" dirty="0" err="1"/>
              <a:t>use</a:t>
            </a:r>
            <a:r>
              <a:rPr lang="nl-BE" sz="2400" b="1" dirty="0"/>
              <a:t>-case</a:t>
            </a:r>
            <a:endParaRPr lang="nl-BE" sz="2400" dirty="0"/>
          </a:p>
          <a:p>
            <a:pPr marL="701063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nl-BE" sz="2000" b="1" dirty="0"/>
              <a:t>ON DELETE CASCADE: </a:t>
            </a:r>
            <a:r>
              <a:rPr lang="nl-BE" sz="2000" dirty="0"/>
              <a:t>bij verwijderen </a:t>
            </a:r>
            <a:r>
              <a:rPr lang="nl-BE" sz="2000" dirty="0" err="1"/>
              <a:t>parent</a:t>
            </a:r>
            <a:r>
              <a:rPr lang="nl-BE" sz="2000" dirty="0"/>
              <a:t> worden </a:t>
            </a:r>
            <a:r>
              <a:rPr lang="nl-BE" sz="2000" dirty="0" err="1"/>
              <a:t>child</a:t>
            </a:r>
            <a:r>
              <a:rPr lang="nl-BE" sz="2000" dirty="0"/>
              <a:t>-objecten mee verwijderd</a:t>
            </a:r>
          </a:p>
          <a:p>
            <a:pPr marL="701063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nl-BE" sz="2000" b="1" dirty="0"/>
              <a:t>ON DELETE SET NULL: </a:t>
            </a:r>
            <a:r>
              <a:rPr lang="nl-BE" sz="2000" dirty="0"/>
              <a:t>bij verwijderen </a:t>
            </a:r>
            <a:r>
              <a:rPr lang="nl-BE" sz="2000" dirty="0" err="1"/>
              <a:t>parent</a:t>
            </a:r>
            <a:r>
              <a:rPr lang="nl-BE" sz="2000" dirty="0"/>
              <a:t> worden </a:t>
            </a:r>
            <a:r>
              <a:rPr lang="nl-BE" sz="2000" dirty="0" err="1"/>
              <a:t>foreign-keys</a:t>
            </a:r>
            <a:r>
              <a:rPr lang="nl-BE" sz="2000" dirty="0"/>
              <a:t> op NULL gezet</a:t>
            </a:r>
          </a:p>
        </p:txBody>
      </p:sp>
    </p:spTree>
    <p:extLst>
      <p:ext uri="{BB962C8B-B14F-4D97-AF65-F5344CB8AC3E}">
        <p14:creationId xmlns:p14="http://schemas.microsoft.com/office/powerpoint/2010/main" val="151118502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34FC1-0F9D-487E-9D2B-7940E4239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Cascade (voorbeeld)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F40E1-B8E4-4E86-9B0F-7FF22F14F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350" y="2361652"/>
            <a:ext cx="3555928" cy="453998"/>
          </a:xfrm>
        </p:spPr>
        <p:txBody>
          <a:bodyPr/>
          <a:lstStyle/>
          <a:p>
            <a:r>
              <a:rPr lang="nl-BE" sz="1800" b="1" u="sng" dirty="0"/>
              <a:t>Voorbeeld ON DELETE SET NULL: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57AFBE-5825-40DF-994B-03898C7A2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07812-171F-43F0-BCF8-3274DD994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76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AEB2A2-FDB9-42C8-BC16-A1ADDDE544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F50B2B-CB60-474F-BACA-74F114147B32}"/>
              </a:ext>
            </a:extLst>
          </p:cNvPr>
          <p:cNvSpPr txBox="1"/>
          <p:nvPr/>
        </p:nvSpPr>
        <p:spPr>
          <a:xfrm>
            <a:off x="702350" y="2747772"/>
            <a:ext cx="6460451" cy="138499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protected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override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OnModelCreating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2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ModelBuilder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modelBuilder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modelBuilder.</a:t>
            </a:r>
            <a:r>
              <a:rPr lang="nl-BE" sz="12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Entity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nl-BE" sz="1200" dirty="0">
                <a:solidFill>
                  <a:srgbClr val="4F8291"/>
                </a:solidFill>
                <a:latin typeface="Cascadia Mono" panose="020B0609020000020004" pitchFamily="49" charset="0"/>
              </a:rPr>
              <a:t>Team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&gt;()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.</a:t>
            </a:r>
            <a:r>
              <a:rPr lang="nl-BE" sz="12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HasMany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(x =&gt;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x.Players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.</a:t>
            </a:r>
            <a:r>
              <a:rPr lang="nl-BE" sz="12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WithOne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.</a:t>
            </a:r>
            <a:r>
              <a:rPr lang="nl-BE" sz="12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IsRequired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false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.</a:t>
            </a:r>
            <a:r>
              <a:rPr lang="nl-BE" sz="1200" dirty="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OnDelete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2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DeleteBehavior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.SetNull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  <a:endParaRPr lang="nl-BE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370BD9-0CD7-7742-56D9-4A84ECFBBBC3}"/>
              </a:ext>
            </a:extLst>
          </p:cNvPr>
          <p:cNvSpPr txBox="1"/>
          <p:nvPr/>
        </p:nvSpPr>
        <p:spPr>
          <a:xfrm>
            <a:off x="667641" y="4298985"/>
            <a:ext cx="7451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i="1" dirty="0"/>
              <a:t>Opmerking: kan enkel bij optionele relaties!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0A96E10-8054-4223-99E6-6D1442B04CEE}"/>
              </a:ext>
            </a:extLst>
          </p:cNvPr>
          <p:cNvSpPr txBox="1">
            <a:spLocks/>
          </p:cNvSpPr>
          <p:nvPr/>
        </p:nvSpPr>
        <p:spPr>
          <a:xfrm>
            <a:off x="410178" y="1680094"/>
            <a:ext cx="9695847" cy="50907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163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31787000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34FC1-0F9D-487E-9D2B-7940E4239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Cascade: opties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57AFBE-5825-40DF-994B-03898C7A2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07812-171F-43F0-BCF8-3274DD994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77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AEB2A2-FDB9-42C8-BC16-A1ADDDE544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0A96E10-8054-4223-99E6-6D1442B04CEE}"/>
              </a:ext>
            </a:extLst>
          </p:cNvPr>
          <p:cNvSpPr txBox="1">
            <a:spLocks/>
          </p:cNvSpPr>
          <p:nvPr/>
        </p:nvSpPr>
        <p:spPr>
          <a:xfrm>
            <a:off x="410178" y="1680094"/>
            <a:ext cx="9695847" cy="50907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163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endParaRPr lang="nl-BE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E96CEC5-B250-D7FE-6D74-5C8DE3EB3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646" y="1296000"/>
            <a:ext cx="6977089" cy="48007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C38F0F4-6EEA-3BC9-6771-478B606AFF34}"/>
              </a:ext>
            </a:extLst>
          </p:cNvPr>
          <p:cNvSpPr txBox="1"/>
          <p:nvPr/>
        </p:nvSpPr>
        <p:spPr>
          <a:xfrm flipH="1">
            <a:off x="2267553" y="6131727"/>
            <a:ext cx="7797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/>
            <a:r>
              <a:rPr lang="en-US" sz="1400" dirty="0">
                <a:effectLst/>
                <a:latin typeface="Times New Roman" panose="02020603050405020304" pitchFamily="18" charset="0"/>
              </a:rPr>
              <a:t>Smith, J. (2021). </a:t>
            </a:r>
            <a:r>
              <a:rPr lang="en-US" sz="1400" i="1" dirty="0">
                <a:effectLst/>
                <a:latin typeface="Times New Roman" panose="02020603050405020304" pitchFamily="18" charset="0"/>
              </a:rPr>
              <a:t>Entity Framework Core in Action, Second Edition</a:t>
            </a:r>
            <a:r>
              <a:rPr lang="en-US" sz="1400" dirty="0">
                <a:effectLst/>
                <a:latin typeface="Times New Roman" panose="02020603050405020304" pitchFamily="18" charset="0"/>
              </a:rPr>
              <a:t>. Manning.</a:t>
            </a:r>
          </a:p>
        </p:txBody>
      </p:sp>
    </p:spTree>
    <p:extLst>
      <p:ext uri="{BB962C8B-B14F-4D97-AF65-F5344CB8AC3E}">
        <p14:creationId xmlns:p14="http://schemas.microsoft.com/office/powerpoint/2010/main" val="125159593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78F97-A9F2-627F-41F0-BAD5F7B1C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38DCF-677D-44E5-14D4-F0F945EC8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Cascading</a:t>
            </a:r>
            <a:r>
              <a:rPr lang="nl-BE" dirty="0"/>
              <a:t> Opdracht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61DE9-E287-9809-7914-D90FCAD81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1709854"/>
            <a:ext cx="10819797" cy="385163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Download het zip-bestand </a:t>
            </a:r>
            <a:r>
              <a:rPr lang="nl-BE" sz="2400" i="1" dirty="0"/>
              <a:t>DemoCascading.zip</a:t>
            </a:r>
            <a:r>
              <a:rPr lang="nl-BE" sz="2400" dirty="0"/>
              <a:t> van Toledo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Implementeer de </a:t>
            </a:r>
            <a:r>
              <a:rPr lang="nl-BE" sz="2400" i="1" dirty="0" err="1"/>
              <a:t>one-to-many</a:t>
            </a:r>
            <a:r>
              <a:rPr lang="nl-BE" sz="2400" dirty="0"/>
              <a:t> relatie tussen </a:t>
            </a:r>
            <a:r>
              <a:rPr lang="nl-BE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Team</a:t>
            </a:r>
            <a:r>
              <a:rPr lang="nl-BE" sz="2400" dirty="0"/>
              <a:t> en </a:t>
            </a:r>
            <a:r>
              <a:rPr lang="nl-BE" sz="20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Player</a:t>
            </a:r>
            <a:endParaRPr lang="nl-BE" sz="2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Maak gebruik van de </a:t>
            </a:r>
            <a:r>
              <a:rPr lang="nl-BE" sz="2400" dirty="0" err="1"/>
              <a:t>Fluent</a:t>
            </a:r>
            <a:r>
              <a:rPr lang="nl-BE" sz="2400" dirty="0"/>
              <a:t> API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De relatie is </a:t>
            </a:r>
            <a:r>
              <a:rPr lang="nl-BE" sz="2400" b="1" dirty="0"/>
              <a:t>optioneel</a:t>
            </a:r>
            <a:endParaRPr lang="nl-BE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Onderzoek het verschil tussen de optie </a:t>
            </a:r>
            <a:r>
              <a:rPr lang="nl-BE" sz="2000" i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ClientSetNull</a:t>
            </a:r>
            <a:r>
              <a:rPr lang="nl-BE" sz="2400" i="1" dirty="0"/>
              <a:t> </a:t>
            </a:r>
            <a:r>
              <a:rPr lang="nl-BE" sz="2400" dirty="0"/>
              <a:t>en </a:t>
            </a:r>
            <a:r>
              <a:rPr lang="nl-BE" sz="2000" i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SetNull</a:t>
            </a:r>
            <a:endParaRPr lang="nl-BE" sz="2400" i="1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i="1" dirty="0"/>
              <a:t>Configureer telkens een andere </a:t>
            </a:r>
            <a:r>
              <a:rPr lang="nl-BE" sz="2400" i="1" dirty="0" err="1"/>
              <a:t>DeleteBehavior</a:t>
            </a:r>
            <a:endParaRPr lang="nl-BE" sz="2400" i="1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i="1" dirty="0"/>
              <a:t>Vergelijk de gegenereerde SQL-code in beide situaties (zie console-output)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i="1" dirty="0"/>
              <a:t>Maak een onderscheid tussen mét </a:t>
            </a:r>
            <a:r>
              <a:rPr lang="nl-BE" sz="2400" i="1" dirty="0" err="1"/>
              <a:t>include</a:t>
            </a:r>
            <a:r>
              <a:rPr lang="nl-BE" sz="2400" i="1" dirty="0"/>
              <a:t> van </a:t>
            </a:r>
            <a:r>
              <a:rPr lang="nl-BE" sz="2400" i="1" dirty="0" err="1"/>
              <a:t>child</a:t>
            </a:r>
            <a:r>
              <a:rPr lang="nl-BE" sz="2400" i="1" dirty="0"/>
              <a:t>-objecten en zonder </a:t>
            </a:r>
            <a:r>
              <a:rPr lang="nl-BE" sz="2400" i="1" dirty="0" err="1"/>
              <a:t>include</a:t>
            </a:r>
            <a:endParaRPr lang="nl-BE" sz="2400" i="1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b="1" i="1" dirty="0"/>
              <a:t>Vergeet niet om na elke wijziging van </a:t>
            </a:r>
            <a:r>
              <a:rPr lang="nl-BE" sz="2400" b="1" i="1" dirty="0" err="1"/>
              <a:t>behavior</a:t>
            </a:r>
            <a:r>
              <a:rPr lang="nl-BE" sz="2400" b="1" i="1" dirty="0"/>
              <a:t> een nieuwe migratie aan te maken!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C9A8E4-E322-100A-6C49-5DBD4278A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E5A578-2005-AC89-2EA0-CD6E5D1DD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78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590A-ED79-E888-332C-89D1CAB27B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8" name="Picture 7" descr="A close-up of a magnifying glass&#10;&#10;AI-generated content may be incorrect.">
            <a:extLst>
              <a:ext uri="{FF2B5EF4-FFF2-40B4-BE49-F238E27FC236}">
                <a16:creationId xmlns:a16="http://schemas.microsoft.com/office/drawing/2014/main" id="{3666B498-CB08-3915-8B18-3E03B8641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7987" y="748145"/>
            <a:ext cx="2564013" cy="209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39662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256BE-6B01-DE10-FBF4-2F57C9FD6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BA56A-A3D3-DB1D-6A66-0212BFD8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Cascading</a:t>
            </a:r>
            <a:r>
              <a:rPr lang="nl-BE" dirty="0"/>
              <a:t> Opdracht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A40EA9-12F3-7D41-B02E-E059F7753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BAD-entity framework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3FF103-61DF-F106-1ACB-67C96F5D4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79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B8FE36-F58E-75EB-8DB3-D4DB3AEF94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03C8D13-6772-E7D6-FD98-6D842DABAD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956820"/>
              </p:ext>
            </p:extLst>
          </p:nvPr>
        </p:nvGraphicFramePr>
        <p:xfrm>
          <a:off x="790264" y="2983254"/>
          <a:ext cx="10611471" cy="2521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7157">
                  <a:extLst>
                    <a:ext uri="{9D8B030D-6E8A-4147-A177-3AD203B41FA5}">
                      <a16:colId xmlns:a16="http://schemas.microsoft.com/office/drawing/2014/main" val="2262455040"/>
                    </a:ext>
                  </a:extLst>
                </a:gridCol>
                <a:gridCol w="3537157">
                  <a:extLst>
                    <a:ext uri="{9D8B030D-6E8A-4147-A177-3AD203B41FA5}">
                      <a16:colId xmlns:a16="http://schemas.microsoft.com/office/drawing/2014/main" val="1077704900"/>
                    </a:ext>
                  </a:extLst>
                </a:gridCol>
                <a:gridCol w="3537157">
                  <a:extLst>
                    <a:ext uri="{9D8B030D-6E8A-4147-A177-3AD203B41FA5}">
                      <a16:colId xmlns:a16="http://schemas.microsoft.com/office/drawing/2014/main" val="3804746045"/>
                    </a:ext>
                  </a:extLst>
                </a:gridCol>
              </a:tblGrid>
              <a:tr h="420255">
                <a:tc>
                  <a:txBody>
                    <a:bodyPr/>
                    <a:lstStyle/>
                    <a:p>
                      <a:r>
                        <a:rPr lang="nl-BE" dirty="0"/>
                        <a:t>Delete </a:t>
                      </a:r>
                      <a:r>
                        <a:rPr lang="nl-BE" dirty="0" err="1"/>
                        <a:t>Behavior</a:t>
                      </a:r>
                      <a:endParaRPr lang="nl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Children</a:t>
                      </a:r>
                      <a:endParaRPr lang="nl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Resultaat (zie SQL-output)?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2417901"/>
                  </a:ext>
                </a:extLst>
              </a:tr>
              <a:tr h="420255">
                <a:tc>
                  <a:txBody>
                    <a:bodyPr/>
                    <a:lstStyle/>
                    <a:p>
                      <a:r>
                        <a:rPr lang="nl-BE" dirty="0" err="1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ClientSetNull</a:t>
                      </a:r>
                      <a:endParaRPr lang="nl-BE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Zonder </a:t>
                      </a:r>
                      <a:r>
                        <a:rPr lang="nl-BE" dirty="0" err="1"/>
                        <a:t>Include</a:t>
                      </a:r>
                      <a:endParaRPr lang="nl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185353"/>
                  </a:ext>
                </a:extLst>
              </a:tr>
              <a:tr h="420255">
                <a:tc>
                  <a:txBody>
                    <a:bodyPr/>
                    <a:lstStyle/>
                    <a:p>
                      <a:r>
                        <a:rPr lang="nl-BE" dirty="0" err="1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ClientSetNull</a:t>
                      </a:r>
                      <a:endParaRPr lang="nl-BE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Mét </a:t>
                      </a:r>
                      <a:r>
                        <a:rPr lang="nl-BE" dirty="0" err="1"/>
                        <a:t>Include</a:t>
                      </a:r>
                      <a:endParaRPr lang="nl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nl-BE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3339801"/>
                  </a:ext>
                </a:extLst>
              </a:tr>
              <a:tr h="420255">
                <a:tc gridSpan="3">
                  <a:txBody>
                    <a:bodyPr/>
                    <a:lstStyle/>
                    <a:p>
                      <a:pPr algn="ctr"/>
                      <a:r>
                        <a:rPr lang="nl-BE" b="1" dirty="0" err="1">
                          <a:solidFill>
                            <a:srgbClr val="C00000"/>
                          </a:solidFill>
                          <a:latin typeface="+mj-lt"/>
                          <a:cs typeface="Cascadia Code" panose="020B0609020000020004" pitchFamily="49" charset="0"/>
                        </a:rPr>
                        <a:t>Add</a:t>
                      </a:r>
                      <a:r>
                        <a:rPr lang="nl-BE" b="1" dirty="0">
                          <a:solidFill>
                            <a:srgbClr val="C00000"/>
                          </a:solidFill>
                          <a:latin typeface="+mj-lt"/>
                          <a:cs typeface="Cascadia Code" panose="020B0609020000020004" pitchFamily="49" charset="0"/>
                        </a:rPr>
                        <a:t>-Migration + Update-Database na wijziging van Delete </a:t>
                      </a:r>
                      <a:r>
                        <a:rPr lang="nl-BE" b="1" dirty="0" err="1">
                          <a:solidFill>
                            <a:srgbClr val="C00000"/>
                          </a:solidFill>
                          <a:latin typeface="+mj-lt"/>
                          <a:cs typeface="Cascadia Code" panose="020B0609020000020004" pitchFamily="49" charset="0"/>
                        </a:rPr>
                        <a:t>Behavior</a:t>
                      </a:r>
                      <a:r>
                        <a:rPr lang="nl-BE" b="1" dirty="0">
                          <a:solidFill>
                            <a:srgbClr val="C00000"/>
                          </a:solidFill>
                          <a:latin typeface="+mj-lt"/>
                          <a:cs typeface="Cascadia Code" panose="020B0609020000020004" pitchFamily="49" charset="0"/>
                        </a:rPr>
                        <a:t>!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nl-BE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nl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9764129"/>
                  </a:ext>
                </a:extLst>
              </a:tr>
              <a:tr h="420255">
                <a:tc>
                  <a:txBody>
                    <a:bodyPr/>
                    <a:lstStyle/>
                    <a:p>
                      <a:r>
                        <a:rPr lang="nl-BE" dirty="0" err="1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SetNull</a:t>
                      </a:r>
                      <a:endParaRPr lang="nl-BE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Zonder </a:t>
                      </a:r>
                      <a:r>
                        <a:rPr lang="nl-BE" dirty="0" err="1"/>
                        <a:t>Include</a:t>
                      </a:r>
                      <a:endParaRPr lang="nl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1195486"/>
                  </a:ext>
                </a:extLst>
              </a:tr>
              <a:tr h="420255">
                <a:tc>
                  <a:txBody>
                    <a:bodyPr/>
                    <a:lstStyle/>
                    <a:p>
                      <a:r>
                        <a:rPr lang="nl-BE" dirty="0" err="1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SetNull</a:t>
                      </a:r>
                      <a:endParaRPr lang="nl-BE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Mét </a:t>
                      </a:r>
                      <a:r>
                        <a:rPr lang="nl-BE" dirty="0" err="1"/>
                        <a:t>Include</a:t>
                      </a:r>
                      <a:endParaRPr lang="nl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05747"/>
                  </a:ext>
                </a:extLst>
              </a:tr>
            </a:tbl>
          </a:graphicData>
        </a:graphic>
      </p:graphicFrame>
      <p:pic>
        <p:nvPicPr>
          <p:cNvPr id="10" name="Picture 9" descr="A close-up of a magnifying glass&#10;&#10;AI-generated content may be incorrect.">
            <a:extLst>
              <a:ext uri="{FF2B5EF4-FFF2-40B4-BE49-F238E27FC236}">
                <a16:creationId xmlns:a16="http://schemas.microsoft.com/office/drawing/2014/main" id="{1A178848-1CC0-DC7B-E56A-0ED1E198D4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7987" y="488370"/>
            <a:ext cx="2564013" cy="209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92745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disee_2">
      <a:dk1>
        <a:srgbClr val="1F416B"/>
      </a:dk1>
      <a:lt1>
        <a:srgbClr val="FFFFFF"/>
      </a:lt1>
      <a:dk2>
        <a:srgbClr val="181716"/>
      </a:dk2>
      <a:lt2>
        <a:srgbClr val="E7E6E6"/>
      </a:lt2>
      <a:accent1>
        <a:srgbClr val="00639C"/>
      </a:accent1>
      <a:accent2>
        <a:srgbClr val="E73F16"/>
      </a:accent2>
      <a:accent3>
        <a:srgbClr val="3CB497"/>
      </a:accent3>
      <a:accent4>
        <a:srgbClr val="D3DDF2"/>
      </a:accent4>
      <a:accent5>
        <a:srgbClr val="A3E1D2"/>
      </a:accent5>
      <a:accent6>
        <a:srgbClr val="96280E"/>
      </a:accent6>
      <a:hlink>
        <a:srgbClr val="0563C1"/>
      </a:hlink>
      <a:folHlink>
        <a:srgbClr val="954F72"/>
      </a:folHlink>
    </a:clrScheme>
    <a:fontScheme name="Odisee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</a:spPr>
      <a:bodyPr wrap="square" lIns="0" tIns="0" rIns="0" bIns="0" rtlCol="0" anchor="ctr">
        <a:spAutoFit/>
      </a:bodyPr>
      <a:lstStyle>
        <a:defPPr algn="l">
          <a:defRPr sz="1600" b="1" dirty="0" err="1">
            <a:latin typeface="+mj-lt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disee_2">
    <a:dk1>
      <a:srgbClr val="1F416B"/>
    </a:dk1>
    <a:lt1>
      <a:srgbClr val="FFFFFF"/>
    </a:lt1>
    <a:dk2>
      <a:srgbClr val="181716"/>
    </a:dk2>
    <a:lt2>
      <a:srgbClr val="E7E6E6"/>
    </a:lt2>
    <a:accent1>
      <a:srgbClr val="00639C"/>
    </a:accent1>
    <a:accent2>
      <a:srgbClr val="E73F16"/>
    </a:accent2>
    <a:accent3>
      <a:srgbClr val="3CB497"/>
    </a:accent3>
    <a:accent4>
      <a:srgbClr val="D3DDF2"/>
    </a:accent4>
    <a:accent5>
      <a:srgbClr val="A3E1D2"/>
    </a:accent5>
    <a:accent6>
      <a:srgbClr val="96280E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pVersion xmlns="2e590e29-c89d-4e1a-bf06-0c489d371682" xsi:nil="true"/>
    <Invited_Students xmlns="2e590e29-c89d-4e1a-bf06-0c489d371682" xsi:nil="true"/>
    <Owner xmlns="2e590e29-c89d-4e1a-bf06-0c489d371682">
      <UserInfo>
        <DisplayName/>
        <AccountId xsi:nil="true"/>
        <AccountType/>
      </UserInfo>
    </Owner>
    <Teams_Channel_Section_Location xmlns="2e590e29-c89d-4e1a-bf06-0c489d371682" xsi:nil="true"/>
    <TeamsChannelId xmlns="2e590e29-c89d-4e1a-bf06-0c489d371682" xsi:nil="true"/>
    <Invited_Teachers xmlns="2e590e29-c89d-4e1a-bf06-0c489d371682" xsi:nil="true"/>
    <DefaultSectionNames xmlns="2e590e29-c89d-4e1a-bf06-0c489d371682" xsi:nil="true"/>
    <Self_Registration_Enabled xmlns="2e590e29-c89d-4e1a-bf06-0c489d371682" xsi:nil="true"/>
    <FolderType xmlns="2e590e29-c89d-4e1a-bf06-0c489d371682" xsi:nil="true"/>
    <CultureName xmlns="2e590e29-c89d-4e1a-bf06-0c489d371682" xsi:nil="true"/>
    <Student_Groups xmlns="2e590e29-c89d-4e1a-bf06-0c489d371682">
      <UserInfo>
        <DisplayName/>
        <AccountId xsi:nil="true"/>
        <AccountType/>
      </UserInfo>
    </Student_Groups>
    <Is_Collaboration_Space_Locked xmlns="2e590e29-c89d-4e1a-bf06-0c489d371682" xsi:nil="true"/>
    <Templates xmlns="2e590e29-c89d-4e1a-bf06-0c489d371682" xsi:nil="true"/>
    <Teachers xmlns="2e590e29-c89d-4e1a-bf06-0c489d371682">
      <UserInfo>
        <DisplayName/>
        <AccountId xsi:nil="true"/>
        <AccountType/>
      </UserInfo>
    </Teachers>
    <Students xmlns="2e590e29-c89d-4e1a-bf06-0c489d371682">
      <UserInfo>
        <DisplayName/>
        <AccountId xsi:nil="true"/>
        <AccountType/>
      </UserInfo>
    </Students>
    <lcf76f155ced4ddcb4097134ff3c332f xmlns="2e590e29-c89d-4e1a-bf06-0c489d371682">
      <Terms xmlns="http://schemas.microsoft.com/office/infopath/2007/PartnerControls"/>
    </lcf76f155ced4ddcb4097134ff3c332f>
    <LMS_Mappings xmlns="2e590e29-c89d-4e1a-bf06-0c489d371682" xsi:nil="true"/>
    <IsNotebookLocked xmlns="2e590e29-c89d-4e1a-bf06-0c489d371682" xsi:nil="true"/>
    <TaxCatchAll xmlns="5870f8f2-d835-4d1e-84f7-7c5a365f9c0a" xsi:nil="true"/>
    <Math_Settings xmlns="2e590e29-c89d-4e1a-bf06-0c489d371682" xsi:nil="true"/>
    <Has_Teacher_Only_SectionGroup xmlns="2e590e29-c89d-4e1a-bf06-0c489d371682" xsi:nil="true"/>
    <NotebookType xmlns="2e590e29-c89d-4e1a-bf06-0c489d371682" xsi:nil="true"/>
    <Distribution_Groups xmlns="2e590e29-c89d-4e1a-bf06-0c489d37168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8049F6D630AF47BB18DF5F87B80949" ma:contentTypeVersion="40" ma:contentTypeDescription="Een nieuw document maken." ma:contentTypeScope="" ma:versionID="a9e6d75ef9adede1cf206f88e0d4b107">
  <xsd:schema xmlns:xsd="http://www.w3.org/2001/XMLSchema" xmlns:xs="http://www.w3.org/2001/XMLSchema" xmlns:p="http://schemas.microsoft.com/office/2006/metadata/properties" xmlns:ns2="2e590e29-c89d-4e1a-bf06-0c489d371682" xmlns:ns3="5870f8f2-d835-4d1e-84f7-7c5a365f9c0a" targetNamespace="http://schemas.microsoft.com/office/2006/metadata/properties" ma:root="true" ma:fieldsID="65fb40e55a7a3fd51a5d8b3af476fe6e" ns2:_="" ns3:_="">
    <xsd:import namespace="2e590e29-c89d-4e1a-bf06-0c489d371682"/>
    <xsd:import namespace="5870f8f2-d835-4d1e-84f7-7c5a365f9c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590e29-c89d-4e1a-bf06-0c489d3716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NotebookType" ma:index="20" nillable="true" ma:displayName="Notebook Type" ma:internalName="NotebookType">
      <xsd:simpleType>
        <xsd:restriction base="dms:Text"/>
      </xsd:simpleType>
    </xsd:element>
    <xsd:element name="FolderType" ma:index="21" nillable="true" ma:displayName="Folder Type" ma:internalName="FolderType">
      <xsd:simpleType>
        <xsd:restriction base="dms:Text"/>
      </xsd:simpleType>
    </xsd:element>
    <xsd:element name="CultureName" ma:index="22" nillable="true" ma:displayName="Culture Name" ma:internalName="CultureName">
      <xsd:simpleType>
        <xsd:restriction base="dms:Text"/>
      </xsd:simpleType>
    </xsd:element>
    <xsd:element name="AppVersion" ma:index="23" nillable="true" ma:displayName="App Version" ma:internalName="AppVersion">
      <xsd:simpleType>
        <xsd:restriction base="dms:Text"/>
      </xsd:simpleType>
    </xsd:element>
    <xsd:element name="TeamsChannelId" ma:index="24" nillable="true" ma:displayName="Teams Channel Id" ma:internalName="TeamsChannelId">
      <xsd:simpleType>
        <xsd:restriction base="dms:Text"/>
      </xsd:simpleType>
    </xsd:element>
    <xsd:element name="Owner" ma:index="2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6" nillable="true" ma:displayName="Math Settings" ma:internalName="Math_Settings">
      <xsd:simpleType>
        <xsd:restriction base="dms:Text"/>
      </xsd:simpleType>
    </xsd:element>
    <xsd:element name="DefaultSectionNames" ma:index="27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8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9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30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1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2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3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4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5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6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7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8" nillable="true" ma:displayName="Is Collaboration Space Locked" ma:internalName="Is_Collaboration_Space_Locked">
      <xsd:simpleType>
        <xsd:restriction base="dms:Boolean"/>
      </xsd:simpleType>
    </xsd:element>
    <xsd:element name="IsNotebookLocked" ma:index="39" nillable="true" ma:displayName="Is Notebook Locked" ma:internalName="IsNotebookLocked">
      <xsd:simpleType>
        <xsd:restriction base="dms:Boolean"/>
      </xsd:simpleType>
    </xsd:element>
    <xsd:element name="Teams_Channel_Section_Location" ma:index="40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43" nillable="true" ma:taxonomy="true" ma:internalName="lcf76f155ced4ddcb4097134ff3c332f" ma:taxonomyFieldName="MediaServiceImageTags" ma:displayName="Afbeeldingtags" ma:readOnly="false" ma:fieldId="{5cf76f15-5ced-4ddc-b409-7134ff3c332f}" ma:taxonomyMulti="true" ma:sspId="6010e5f2-6256-435c-892d-4495c8ac23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4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70f8f2-d835-4d1e-84f7-7c5a365f9c0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44" nillable="true" ma:displayName="Taxonomy Catch All Column" ma:hidden="true" ma:list="{18f5e209-b2fc-4ef1-b802-39e3b60cddd6}" ma:internalName="TaxCatchAll" ma:showField="CatchAllData" ma:web="5870f8f2-d835-4d1e-84f7-7c5a365f9c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9AE00E-E7C9-4E30-BE76-9CB6D41DC02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D9F1A6-48F9-4244-A185-50B8D9ABCF24}">
  <ds:schemaRefs>
    <ds:schemaRef ds:uri="http://schemas.microsoft.com/office/2006/metadata/properties"/>
    <ds:schemaRef ds:uri="http://schemas.microsoft.com/office/infopath/2007/PartnerControls"/>
    <ds:schemaRef ds:uri="2e590e29-c89d-4e1a-bf06-0c489d371682"/>
    <ds:schemaRef ds:uri="5870f8f2-d835-4d1e-84f7-7c5a365f9c0a"/>
  </ds:schemaRefs>
</ds:datastoreItem>
</file>

<file path=customXml/itemProps3.xml><?xml version="1.0" encoding="utf-8"?>
<ds:datastoreItem xmlns:ds="http://schemas.openxmlformats.org/officeDocument/2006/customXml" ds:itemID="{E3D23605-2031-4A33-AAF0-35E7087942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590e29-c89d-4e1a-bf06-0c489d371682"/>
    <ds:schemaRef ds:uri="5870f8f2-d835-4d1e-84f7-7c5a365f9c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13833</TotalTime>
  <Words>6164</Words>
  <Application>Microsoft Office PowerPoint</Application>
  <PresentationFormat>Widescreen</PresentationFormat>
  <Paragraphs>1048</Paragraphs>
  <Slides>79</Slides>
  <Notes>3</Notes>
  <HiddenSlides>3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8" baseType="lpstr">
      <vt:lpstr>Arial</vt:lpstr>
      <vt:lpstr>Calibri</vt:lpstr>
      <vt:lpstr>Calibri Light</vt:lpstr>
      <vt:lpstr>Cascadia Code</vt:lpstr>
      <vt:lpstr>Cascadia Mono</vt:lpstr>
      <vt:lpstr>Consolas</vt:lpstr>
      <vt:lpstr>Times New Roman</vt:lpstr>
      <vt:lpstr>Wingdings</vt:lpstr>
      <vt:lpstr>Kantoorthema</vt:lpstr>
      <vt:lpstr>PowerPoint Presentation</vt:lpstr>
      <vt:lpstr>Business Application Development</vt:lpstr>
      <vt:lpstr>PowerPoint Presentation</vt:lpstr>
      <vt:lpstr>Inleiding</vt:lpstr>
      <vt:lpstr>Wat is Entity Framework?</vt:lpstr>
      <vt:lpstr>Wat is Entity Framework?</vt:lpstr>
      <vt:lpstr>Waarom Entity Framework gebruiken?</vt:lpstr>
      <vt:lpstr>Installatie</vt:lpstr>
      <vt:lpstr>Installatie</vt:lpstr>
      <vt:lpstr>Code-First</vt:lpstr>
      <vt:lpstr>EF Core: Code-First</vt:lpstr>
      <vt:lpstr>EF Core: Conventies</vt:lpstr>
      <vt:lpstr>EF Core: Conventies</vt:lpstr>
      <vt:lpstr>EF Core: Conventies</vt:lpstr>
      <vt:lpstr>Relaties</vt:lpstr>
      <vt:lpstr>EF Core: Relaties </vt:lpstr>
      <vt:lpstr>EF Core: One-to-many</vt:lpstr>
      <vt:lpstr>EF Core: One-to-many</vt:lpstr>
      <vt:lpstr>EF Core: One-to-many</vt:lpstr>
      <vt:lpstr>EF Core: One-to-many</vt:lpstr>
      <vt:lpstr>EF Core: One-to-one</vt:lpstr>
      <vt:lpstr>Configuratie: annotations</vt:lpstr>
      <vt:lpstr>EF Core: Configuratie via annotations</vt:lpstr>
      <vt:lpstr>EF Core: Configuratie via annotations</vt:lpstr>
      <vt:lpstr>EF Core: Configuratie via annotations</vt:lpstr>
      <vt:lpstr>DbContext</vt:lpstr>
      <vt:lpstr>Wat is DbContext?</vt:lpstr>
      <vt:lpstr>Wat is DbContext?</vt:lpstr>
      <vt:lpstr>DbContext: Connection String</vt:lpstr>
      <vt:lpstr>DbContext: Connection String</vt:lpstr>
      <vt:lpstr>DbContext: Connection String</vt:lpstr>
      <vt:lpstr>DbContext: DbSet</vt:lpstr>
      <vt:lpstr>DbContext: Dependency Injection</vt:lpstr>
      <vt:lpstr>DbContext: Dependency Injection</vt:lpstr>
      <vt:lpstr>DbContext: Fluent API</vt:lpstr>
      <vt:lpstr>DbContext: Fluent API</vt:lpstr>
      <vt:lpstr>DbContext: Fluent API</vt:lpstr>
      <vt:lpstr>DbContext: Fluent API</vt:lpstr>
      <vt:lpstr>DbContext: Fluent API</vt:lpstr>
      <vt:lpstr>DbContext: Fluent API</vt:lpstr>
      <vt:lpstr>Opmerkingen relaties</vt:lpstr>
      <vt:lpstr>DbContext: Fluent API</vt:lpstr>
      <vt:lpstr>DbContext: Fluent API</vt:lpstr>
      <vt:lpstr>DbContext: Fluent API</vt:lpstr>
      <vt:lpstr>Migrations</vt:lpstr>
      <vt:lpstr>Migrations</vt:lpstr>
      <vt:lpstr>Migrations</vt:lpstr>
      <vt:lpstr>Migrations</vt:lpstr>
      <vt:lpstr>Migrations</vt:lpstr>
      <vt:lpstr>Seeding</vt:lpstr>
      <vt:lpstr>Wat is seeding?</vt:lpstr>
      <vt:lpstr>Voorbeeld seeding</vt:lpstr>
      <vt:lpstr>CRUD</vt:lpstr>
      <vt:lpstr>CRUD-operaties</vt:lpstr>
      <vt:lpstr>CRUD: Create (INSERT)</vt:lpstr>
      <vt:lpstr>CRUD: Create (INSERT)</vt:lpstr>
      <vt:lpstr>CRUD: UPDATE</vt:lpstr>
      <vt:lpstr>CRUD: UPDATE (disconnected)</vt:lpstr>
      <vt:lpstr>CRUD: UPDATE (disconnected)</vt:lpstr>
      <vt:lpstr>CRUD: UPDATE (disconnected) – Scenario 1</vt:lpstr>
      <vt:lpstr>CRUD: UPDATE (disconnected) – Scenario 2</vt:lpstr>
      <vt:lpstr>CRUD: Delete (DELETE)</vt:lpstr>
      <vt:lpstr>CRUD: Delete (DELETE)</vt:lpstr>
      <vt:lpstr>CRUD: Delete (DELETE)</vt:lpstr>
      <vt:lpstr>CRUD: Query’s (SELECT)</vt:lpstr>
      <vt:lpstr>CRUD: Query’s (SELECT)</vt:lpstr>
      <vt:lpstr>Lazy Loading</vt:lpstr>
      <vt:lpstr>Wat is Lazy Loading?</vt:lpstr>
      <vt:lpstr>Lazy Loading</vt:lpstr>
      <vt:lpstr>Lazy Loading: relaties ophalen</vt:lpstr>
      <vt:lpstr>Lazy Loading: relaties ophalen</vt:lpstr>
      <vt:lpstr>Lazy Loading: Tip</vt:lpstr>
      <vt:lpstr>Cascading</vt:lpstr>
      <vt:lpstr>Wat is cascading?</vt:lpstr>
      <vt:lpstr>Cascade: opties</vt:lpstr>
      <vt:lpstr>Cascade (voorbeeld)</vt:lpstr>
      <vt:lpstr>Cascade: opties</vt:lpstr>
      <vt:lpstr>Cascading Opdracht</vt:lpstr>
      <vt:lpstr>Cascading Opdracht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arn bollen</dc:creator>
  <cp:lastModifiedBy>Sam Van Buggenhout (u0132146)</cp:lastModifiedBy>
  <cp:revision>766</cp:revision>
  <dcterms:created xsi:type="dcterms:W3CDTF">2019-09-02T13:39:39Z</dcterms:created>
  <dcterms:modified xsi:type="dcterms:W3CDTF">2026-03-09T17:38:43Z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0x010100958049F6D630AF47BB18DF5F87B80949</vt:lpwstr>
  </property>
  <property fmtid="{D5CDD505-2E9C-101B-9397-08002B2CF9AE}" pid="3" name="MediaServiceImageTags">
    <vt:lpwstr/>
  </property>
</Properties>
</file>