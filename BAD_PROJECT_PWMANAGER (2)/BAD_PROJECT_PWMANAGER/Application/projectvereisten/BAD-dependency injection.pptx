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sldIdLst>
    <p:sldId id="261" r:id="rId5"/>
    <p:sldId id="256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4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7" r:id="rId29"/>
    <p:sldId id="288" r:id="rId30"/>
    <p:sldId id="289" r:id="rId31"/>
    <p:sldId id="290" r:id="rId32"/>
    <p:sldId id="291" r:id="rId33"/>
    <p:sldId id="292" r:id="rId3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009999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Van Buggenhout (u0132146)" userId="77de8a13-220e-4226-a82f-c9f4c6ce0102" providerId="ADAL" clId="{FE8A2003-6204-4F5F-B3DC-4D4150888483}"/>
    <pc:docChg chg="modSld">
      <pc:chgData name="Sam Van Buggenhout (u0132146)" userId="77de8a13-220e-4226-a82f-c9f4c6ce0102" providerId="ADAL" clId="{FE8A2003-6204-4F5F-B3DC-4D4150888483}" dt="2026-03-17T08:42:13.864" v="3" actId="20577"/>
      <pc:docMkLst>
        <pc:docMk/>
      </pc:docMkLst>
      <pc:sldChg chg="modSp mod">
        <pc:chgData name="Sam Van Buggenhout (u0132146)" userId="77de8a13-220e-4226-a82f-c9f4c6ce0102" providerId="ADAL" clId="{FE8A2003-6204-4F5F-B3DC-4D4150888483}" dt="2026-03-17T08:42:13.864" v="3" actId="20577"/>
        <pc:sldMkLst>
          <pc:docMk/>
          <pc:sldMk cId="1410289600" sldId="256"/>
        </pc:sldMkLst>
        <pc:spChg chg="mod">
          <ac:chgData name="Sam Van Buggenhout (u0132146)" userId="77de8a13-220e-4226-a82f-c9f4c6ce0102" providerId="ADAL" clId="{FE8A2003-6204-4F5F-B3DC-4D4150888483}" dt="2026-03-17T08:42:13.864" v="3" actId="20577"/>
          <ac:spMkLst>
            <pc:docMk/>
            <pc:sldMk cId="1410289600" sldId="256"/>
            <ac:spMk id="7" creationId="{38443782-7588-4BA1-A888-94A8DEFEE0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BF3A7-A7E5-42B6-9154-500A7CB5E3E8}" type="datetimeFigureOut">
              <a:rPr lang="nl-BE" smtClean="0"/>
              <a:t>17/03/2026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FAF20-346D-4074-B74A-C2F29A046F4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157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EE442BF-C82A-418E-8E62-533CFEF9E15F}"/>
              </a:ext>
            </a:extLst>
          </p:cNvPr>
          <p:cNvSpPr/>
          <p:nvPr userDrawn="1"/>
        </p:nvSpPr>
        <p:spPr>
          <a:xfrm>
            <a:off x="1" y="6024716"/>
            <a:ext cx="12192000" cy="833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F5AD292-FAF8-44FC-84B3-0842804A0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"/>
            <a:ext cx="12192000" cy="685782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4236" y="5516542"/>
            <a:ext cx="1300725" cy="4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73CF8604-A629-44C9-BC34-FAB18A435DEF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9340FA-55B0-4685-ABAD-FAD25820F9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248" y="1424767"/>
            <a:ext cx="9806754" cy="1447247"/>
          </a:xfrm>
        </p:spPr>
        <p:txBody>
          <a:bodyPr anchor="b"/>
          <a:lstStyle>
            <a:lvl1pPr algn="l">
              <a:defRPr sz="5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AD34407-B861-42C6-BCDB-C4A7F1C446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1248" y="2793963"/>
            <a:ext cx="9144000" cy="544660"/>
          </a:xfr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197536-820C-433C-9FB6-7C7030EE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CCD3E8-9D74-4800-8114-49569A20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Gelijkbenige driehoek 6">
            <a:extLst>
              <a:ext uri="{FF2B5EF4-FFF2-40B4-BE49-F238E27FC236}">
                <a16:creationId xmlns:a16="http://schemas.microsoft.com/office/drawing/2014/main" id="{5EFC5DA7-42AD-4163-B81C-BC60400CFDEF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D3931E4-AE84-4614-95BF-CFF1449B84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3051" y="3999147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3622B796-191D-402D-B39A-CDE2C6DA4F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0603" y="4493298"/>
            <a:ext cx="4662487" cy="1617663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2F4CE03C-2446-4EC5-B5DD-A041A68BBF35}"/>
              </a:ext>
            </a:extLst>
          </p:cNvPr>
          <p:cNvSpPr/>
          <p:nvPr userDrawn="1"/>
        </p:nvSpPr>
        <p:spPr>
          <a:xfrm rot="8100000">
            <a:off x="945998" y="4240087"/>
            <a:ext cx="309905" cy="30990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D6C2FF9A-F000-4BFA-9764-458F26D2BEB8}"/>
              </a:ext>
            </a:extLst>
          </p:cNvPr>
          <p:cNvSpPr/>
          <p:nvPr userDrawn="1"/>
        </p:nvSpPr>
        <p:spPr>
          <a:xfrm>
            <a:off x="945193" y="4401743"/>
            <a:ext cx="311510" cy="3115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225852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CCEBE6B7-490D-4A8D-9B9C-C75E430100F2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77031" y="1852225"/>
            <a:ext cx="5365733" cy="3090532"/>
          </a:xfrm>
        </p:spPr>
        <p:txBody>
          <a:bodyPr/>
          <a:lstStyle>
            <a:lvl1pPr marL="0" indent="0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3200" b="1">
                <a:solidFill>
                  <a:schemeClr val="tx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77031" y="62640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304FD9A2-98F2-4A5B-A452-66B8C41A89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49883" y="1859599"/>
            <a:ext cx="1345923" cy="3090532"/>
          </a:xfrm>
        </p:spPr>
        <p:txBody>
          <a:bodyPr/>
          <a:lstStyle>
            <a:lvl1pPr marL="0" indent="0" algn="r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1.</a:t>
            </a:r>
          </a:p>
          <a:p>
            <a:pPr lvl="0"/>
            <a:r>
              <a:rPr lang="nl-NL" dirty="0"/>
              <a:t>2.</a:t>
            </a:r>
          </a:p>
          <a:p>
            <a:pPr lvl="0"/>
            <a:r>
              <a:rPr lang="nl-NL" dirty="0"/>
              <a:t>3.</a:t>
            </a:r>
          </a:p>
          <a:p>
            <a:pPr lvl="0"/>
            <a:r>
              <a:rPr lang="nl-NL" dirty="0"/>
              <a:t>4.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DC82B8D-FA17-4BE4-A52F-A63703B07994}"/>
              </a:ext>
            </a:extLst>
          </p:cNvPr>
          <p:cNvSpPr txBox="1"/>
          <p:nvPr userDrawn="1"/>
        </p:nvSpPr>
        <p:spPr>
          <a:xfrm>
            <a:off x="532389" y="285502"/>
            <a:ext cx="1846251" cy="3077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nl-BE" sz="1400" b="1" dirty="0">
                <a:solidFill>
                  <a:schemeClr val="bg1"/>
                </a:solidFill>
                <a:latin typeface="+mj-lt"/>
              </a:rPr>
              <a:t>INHOUDSTAFEL</a:t>
            </a:r>
          </a:p>
        </p:txBody>
      </p:sp>
      <p:sp>
        <p:nvSpPr>
          <p:cNvPr id="15" name="Gelijkbenige driehoek 14">
            <a:extLst>
              <a:ext uri="{FF2B5EF4-FFF2-40B4-BE49-F238E27FC236}">
                <a16:creationId xmlns:a16="http://schemas.microsoft.com/office/drawing/2014/main" id="{F826CAAD-37E1-417F-AE93-7A7F7F6D5FE8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12610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2736000"/>
            <a:ext cx="9281274" cy="309053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358163" indent="0">
              <a:lnSpc>
                <a:spcPct val="100000"/>
              </a:lnSpc>
              <a:buNone/>
              <a:defRPr/>
            </a:lvl2pPr>
            <a:lvl3pPr marL="720000" indent="0">
              <a:lnSpc>
                <a:spcPct val="100000"/>
              </a:lnSpc>
              <a:buNone/>
              <a:defRPr/>
            </a:lvl3pPr>
            <a:lvl4pPr marL="1080000" indent="0">
              <a:lnSpc>
                <a:spcPct val="100000"/>
              </a:lnSpc>
              <a:buNone/>
              <a:defRPr/>
            </a:lvl4pPr>
            <a:lvl5pPr marL="14400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618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9291600" cy="3132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buFont typeface="Arial" panose="020B0604020202020204" pitchFamily="34" charset="0"/>
              <a:buChar char="•"/>
              <a:defRPr/>
            </a:lvl3pPr>
            <a:lvl4pPr marL="1080000" indent="-180000">
              <a:buFont typeface="Arial" panose="020B0604020202020204" pitchFamily="34" charset="0"/>
              <a:buChar char="•"/>
              <a:defRPr/>
            </a:lvl4pPr>
            <a:lvl5pPr marL="144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90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5158C-C5F8-4FA4-8D48-8495226D3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CB0CE7-11E3-4438-919C-EA7601B2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0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C456A98-2404-4694-96D5-FDAB6BA7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9CE115-B374-4617-BCB4-65CE9967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0D3D96-5DFD-4E22-A20C-C1B8E4E8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F20995-02CF-40E9-A9E3-07D0889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D35A45E-59A3-4C31-A9F3-DD73EF3BB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041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97EFFFE8-8662-44ED-9D46-72EA0C894BB5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13" name="Afbeelding 12" descr="Afbeelding met bijl&#10;&#10;Automatisch gegenereerde beschrijving">
            <a:extLst>
              <a:ext uri="{FF2B5EF4-FFF2-40B4-BE49-F238E27FC236}">
                <a16:creationId xmlns:a16="http://schemas.microsoft.com/office/drawing/2014/main" id="{26190394-04D1-435B-872B-98D9438B95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9842"/>
            <a:ext cx="2485770" cy="49583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AD43DC2-455F-4EDF-A084-FEE83CFC4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4829" y="2226013"/>
            <a:ext cx="7759257" cy="1429415"/>
          </a:xfrm>
        </p:spPr>
        <p:txBody>
          <a:bodyPr anchor="b"/>
          <a:lstStyle>
            <a:lvl1pPr>
              <a:defRPr sz="4400" spc="17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04646-7228-4188-9EAC-6994DE76A2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74829" y="3619988"/>
            <a:ext cx="77592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946962-0A67-44EB-A18D-73C07F93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16FD36-254F-49C1-A06F-1DBD00D9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849368-50CE-404F-865E-EF0DB778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Gelijkbenige driehoek 7">
            <a:extLst>
              <a:ext uri="{FF2B5EF4-FFF2-40B4-BE49-F238E27FC236}">
                <a16:creationId xmlns:a16="http://schemas.microsoft.com/office/drawing/2014/main" id="{939230B4-815F-440B-888A-070C90C48BA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A854FE4-B9A5-46C1-BF2D-13E51D44B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293" y="1353110"/>
            <a:ext cx="1660525" cy="2808287"/>
          </a:xfrm>
        </p:spPr>
        <p:txBody>
          <a:bodyPr anchor="b"/>
          <a:lstStyle>
            <a:lvl1pPr marL="0" indent="0" algn="r">
              <a:buNone/>
              <a:defRPr sz="9000" b="1">
                <a:solidFill>
                  <a:schemeClr val="accent2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1.</a:t>
            </a:r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2DBF72E-0CB1-45B4-9813-C3B6894F6D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0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4114800" cy="309053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  <a:lvl4pPr marL="108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4pPr>
            <a:lvl5pPr marL="144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2000" y="0"/>
            <a:ext cx="5400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481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E5744A9E-4C9D-4407-95E8-93A822A070AB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999" y="594002"/>
            <a:ext cx="3099759" cy="15180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099759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000" y="0"/>
            <a:ext cx="6858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83AC5738-621C-4857-A498-30728DB03399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32897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727183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7" name="Gelijkbenige driehoek 16">
            <a:extLst>
              <a:ext uri="{FF2B5EF4-FFF2-40B4-BE49-F238E27FC236}">
                <a16:creationId xmlns:a16="http://schemas.microsoft.com/office/drawing/2014/main" id="{C9E84D4C-76DA-4E4E-9F21-DB0F8DC87F6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BE966C4-F2D9-4A05-8182-0E3CB210AD5F}"/>
              </a:ext>
            </a:extLst>
          </p:cNvPr>
          <p:cNvSpPr/>
          <p:nvPr userDrawn="1"/>
        </p:nvSpPr>
        <p:spPr>
          <a:xfrm>
            <a:off x="10179781" y="5632057"/>
            <a:ext cx="2012219" cy="1225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015E38-B67E-4A5F-B168-2C2166D851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 met na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615" y="4537479"/>
            <a:ext cx="1008000" cy="1008000"/>
          </a:xfrm>
        </p:spPr>
        <p:txBody>
          <a:bodyPr anchor="ctr"/>
          <a:lstStyle>
            <a:lvl1pPr marL="0" indent="0" algn="ctr">
              <a:buNone/>
              <a:defRPr sz="2000" baseline="-25000"/>
            </a:lvl1pPr>
          </a:lstStyle>
          <a:p>
            <a:endParaRPr lang="nl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185019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65E274DD-5F46-4B35-A5AC-31E6BE89C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5982" y="4574866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A29B528-8ACF-4D4D-B37B-A6AAB88026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5982" y="5041479"/>
            <a:ext cx="1909500" cy="466613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691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 en inh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843A7B-9F3B-480D-AD2E-C3AACED1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4671" y="1769806"/>
            <a:ext cx="4036181" cy="126955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DAC10B-1AED-4A32-B7C4-E04362F3B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4672" y="3047450"/>
            <a:ext cx="4036182" cy="2549854"/>
          </a:xfrm>
        </p:spPr>
        <p:txBody>
          <a:bodyPr/>
          <a:lstStyle>
            <a:lvl1pPr marL="0" indent="0">
              <a:buNone/>
              <a:defRPr/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6001" y="1295400"/>
            <a:ext cx="6401310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966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280400" y="1295400"/>
            <a:ext cx="9301567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913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CCE59-2411-4F31-B2FA-A0E3C2D3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E3473E5-12B3-4067-8FAB-0C045297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205202-803B-40C0-8FCF-E7381AE4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488137-6613-43C0-B311-4B1FB099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91161BA-2045-41AE-B361-A0AB563B57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9349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7DF97DE-814F-4A02-925B-4FA8DC17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9C6991-A2F7-45F1-A24C-12CAC083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1E0077-B4BD-4C07-BC35-57BD3CDF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335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A2C12ED-88A7-4813-9ECA-D67FA6D8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612000"/>
            <a:ext cx="10515600" cy="68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5F5B42-3528-42D1-A27E-87182BBD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328" y="2729021"/>
            <a:ext cx="9281274" cy="3090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F6AD4E-0376-4AAB-8907-1E42C4537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8576" y="6264004"/>
            <a:ext cx="27432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41D534-2D3B-4E3E-93F0-6E17F620A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46" y="6264211"/>
            <a:ext cx="41148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C6B2CE-C5EC-498A-A0F1-8E7B718B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4291" y="6264211"/>
            <a:ext cx="2880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54CFD1D-AE9F-4E01-BB96-1FD87EDE6CC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073" y="6073683"/>
            <a:ext cx="1153603" cy="370307"/>
          </a:xfrm>
          <a:prstGeom prst="rect">
            <a:avLst/>
          </a:prstGeom>
        </p:spPr>
      </p:pic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91F4572B-450D-4A18-A92E-3CDA65745A0D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85333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7" r:id="rId3"/>
    <p:sldLayoutId id="2147483650" r:id="rId4"/>
    <p:sldLayoutId id="2147483661" r:id="rId5"/>
    <p:sldLayoutId id="2147483652" r:id="rId6"/>
    <p:sldLayoutId id="2147483651" r:id="rId7"/>
    <p:sldLayoutId id="2147483663" r:id="rId8"/>
    <p:sldLayoutId id="2147483666" r:id="rId9"/>
    <p:sldLayoutId id="2147483664" r:id="rId10"/>
    <p:sldLayoutId id="2147483665" r:id="rId11"/>
    <p:sldLayoutId id="2147483653" r:id="rId12"/>
    <p:sldLayoutId id="2147483669" r:id="rId13"/>
    <p:sldLayoutId id="2147483654" r:id="rId14"/>
    <p:sldLayoutId id="2147483655" r:id="rId1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718ED56-9B95-423B-8216-9F178AD2C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247" y="1424767"/>
            <a:ext cx="10287043" cy="1447247"/>
          </a:xfrm>
        </p:spPr>
        <p:txBody>
          <a:bodyPr/>
          <a:lstStyle/>
          <a:p>
            <a:r>
              <a:rPr lang="nl-BE" dirty="0"/>
              <a:t>Business Application Development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124F62E7-84EB-4132-BAC4-04FD56CAD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8169475-DD59-4D84-BD2E-FA0DFEC69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0603" y="3988604"/>
            <a:ext cx="6308725" cy="466613"/>
          </a:xfrm>
        </p:spPr>
        <p:txBody>
          <a:bodyPr/>
          <a:lstStyle/>
          <a:p>
            <a:r>
              <a:rPr lang="nl-BE" dirty="0"/>
              <a:t>Sam Van Buggenhout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8443782-7588-4BA1-A888-94A8DEFEE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0603" y="4486230"/>
            <a:ext cx="4662487" cy="1617663"/>
          </a:xfrm>
        </p:spPr>
        <p:txBody>
          <a:bodyPr/>
          <a:lstStyle/>
          <a:p>
            <a:r>
              <a:rPr lang="nl-BE"/>
              <a:t>Academiejaar 2025-2026</a:t>
            </a:r>
            <a:endParaRPr lang="nl-BE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3EA1070-FA06-4A00-A759-4ACED8B0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C613BBA-66FF-4B29-8641-2A8DBF9F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1028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9A78874-CA76-4C66-8AB0-DB046775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384" y="1464297"/>
            <a:ext cx="6354671" cy="3689593"/>
          </a:xfrm>
        </p:spPr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r>
              <a:rPr lang="nl-BE" dirty="0"/>
              <a:t>?</a:t>
            </a:r>
          </a:p>
          <a:p>
            <a:r>
              <a:rPr lang="nl-BE" dirty="0"/>
              <a:t>Low </a:t>
            </a:r>
            <a:r>
              <a:rPr lang="nl-BE" dirty="0" err="1"/>
              <a:t>coupling</a:t>
            </a:r>
            <a:endParaRPr lang="nl-BE" dirty="0"/>
          </a:p>
          <a:p>
            <a:r>
              <a:rPr lang="nl-BE" dirty="0"/>
              <a:t>Services registreren</a:t>
            </a:r>
          </a:p>
          <a:p>
            <a:r>
              <a:rPr lang="nl-BE" dirty="0"/>
              <a:t>Meerdere services registeren</a:t>
            </a:r>
          </a:p>
          <a:p>
            <a:r>
              <a:rPr lang="nl-BE" dirty="0" err="1"/>
              <a:t>Lifetime</a:t>
            </a:r>
            <a:r>
              <a:rPr lang="nl-BE" dirty="0"/>
              <a:t> van services</a:t>
            </a:r>
          </a:p>
          <a:p>
            <a:endParaRPr lang="nl-BE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1EB6E6A-9EE0-4FEF-9807-DEC31A15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9CE2FD-DE76-4295-BF54-E1613FC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7740E662-A7E0-4313-9F07-59FA85CA3D9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099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206A-8F21-48CC-8687-51C34466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36F11-62FA-4102-9B51-BAD370BBF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97A10-0D89-4E9B-A299-CDA2B064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C4537-B431-41A1-A649-B028AF61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70DD5E-0738-4BE7-BDA8-34C855B49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47798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9FC4-B8E0-4AE6-9D68-8ECB73B7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0DED3-5F67-4A20-A1E3-A5580ACB5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433673"/>
            <a:ext cx="10368400" cy="160509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Vaak hebben </a:t>
            </a:r>
            <a:r>
              <a:rPr lang="nl-BE" sz="2400" dirty="0" err="1"/>
              <a:t>klasses</a:t>
            </a:r>
            <a:r>
              <a:rPr lang="nl-BE" sz="2400" dirty="0"/>
              <a:t> nood aan andere </a:t>
            </a:r>
            <a:r>
              <a:rPr lang="nl-BE" sz="2400" dirty="0" err="1"/>
              <a:t>klasses</a:t>
            </a:r>
            <a:r>
              <a:rPr lang="nl-BE" sz="2400" dirty="0"/>
              <a:t> binnen een applicatie </a:t>
            </a:r>
            <a:br>
              <a:rPr lang="nl-BE" sz="2400" dirty="0"/>
            </a:br>
            <a:r>
              <a:rPr lang="nl-BE" sz="2400" dirty="0"/>
              <a:t>(bv.: </a:t>
            </a:r>
            <a:r>
              <a:rPr lang="nl-BE" sz="2400" dirty="0" err="1"/>
              <a:t>UserController</a:t>
            </a:r>
            <a:r>
              <a:rPr lang="nl-BE" sz="2400" dirty="0"/>
              <a:t> heeft </a:t>
            </a:r>
            <a:r>
              <a:rPr lang="nl-BE" sz="2400" dirty="0" err="1"/>
              <a:t>EmailSender</a:t>
            </a:r>
            <a:r>
              <a:rPr lang="nl-BE" sz="2400" dirty="0"/>
              <a:t>-klasse nodig om bevestiging te versturen)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In dit geval is de klasse </a:t>
            </a:r>
            <a:r>
              <a:rPr lang="nl-BE" sz="2000" i="1" dirty="0" err="1"/>
              <a:t>EmailSender</a:t>
            </a:r>
            <a:r>
              <a:rPr lang="nl-BE" sz="2000" dirty="0"/>
              <a:t> een </a:t>
            </a:r>
            <a:r>
              <a:rPr lang="nl-BE" sz="2000" b="1" dirty="0" err="1">
                <a:solidFill>
                  <a:schemeClr val="accent6"/>
                </a:solidFill>
              </a:rPr>
              <a:t>Dependency</a:t>
            </a:r>
            <a:r>
              <a:rPr lang="nl-BE" sz="2000" dirty="0"/>
              <a:t> voor de </a:t>
            </a:r>
            <a:r>
              <a:rPr lang="nl-BE" sz="2000" i="1" dirty="0" err="1"/>
              <a:t>UserController</a:t>
            </a:r>
            <a:endParaRPr lang="nl-BE" sz="20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0EF53-1FBA-4865-861D-30C08FFA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63BE5-CFC7-4B0A-ACD2-0AD59533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B8C3F8-9FBF-41CE-A12E-26B3D0E7C5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5968E-3163-4A21-B608-EAFB6E12FD69}"/>
              </a:ext>
            </a:extLst>
          </p:cNvPr>
          <p:cNvSpPr txBox="1"/>
          <p:nvPr/>
        </p:nvSpPr>
        <p:spPr>
          <a:xfrm>
            <a:off x="1341537" y="3334328"/>
            <a:ext cx="7269018" cy="18158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400" dirty="0">
                <a:solidFill>
                  <a:srgbClr val="2B91AF"/>
                </a:solidFill>
                <a:latin typeface="Consolas" panose="020B0609020204030204" pitchFamily="49" charset="0"/>
              </a:rPr>
              <a:t>Controller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9999"/>
                </a:solidFill>
                <a:latin typeface="Consolas" panose="020B0609020204030204" pitchFamily="49" charset="0"/>
              </a:rPr>
              <a:t>IActionResult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RegisterUser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username) 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4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</a:t>
            </a:r>
            <a:r>
              <a:rPr lang="nl-BE" sz="1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emailSender</a:t>
            </a:r>
            <a:r>
              <a:rPr lang="nl-BE" sz="1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nl-BE" sz="14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nl-BE" sz="1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EmailSender</a:t>
            </a:r>
            <a:r>
              <a:rPr lang="nl-BE" sz="14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emailSender.</a:t>
            </a:r>
            <a:r>
              <a:rPr lang="nl-BE" sz="1400" dirty="0" err="1">
                <a:solidFill>
                  <a:srgbClr val="663300"/>
                </a:solidFill>
                <a:latin typeface="Consolas" panose="020B0609020204030204" pitchFamily="49" charset="0"/>
              </a:rPr>
              <a:t>SendEmail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(username);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663300"/>
                </a:solidFill>
                <a:latin typeface="Consolas" panose="020B0609020204030204" pitchFamily="49" charset="0"/>
              </a:rPr>
              <a:t>View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98642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273C-8532-4FBE-8971-BBF456F0A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6D83-6FF6-4325-B324-87390AAE4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184291"/>
            <a:ext cx="10515600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dirty="0"/>
              <a:t>De </a:t>
            </a:r>
            <a:r>
              <a:rPr lang="nl-BE" sz="2000" dirty="0" err="1"/>
              <a:t>klasses</a:t>
            </a:r>
            <a:r>
              <a:rPr lang="nl-BE" sz="2000" dirty="0"/>
              <a:t> </a:t>
            </a:r>
            <a:r>
              <a:rPr lang="nl-BE" sz="2000" i="1" dirty="0" err="1"/>
              <a:t>EmailSender</a:t>
            </a:r>
            <a:r>
              <a:rPr lang="nl-BE" sz="2000" dirty="0"/>
              <a:t> en </a:t>
            </a:r>
            <a:r>
              <a:rPr lang="nl-BE" sz="2000" i="1" dirty="0" err="1"/>
              <a:t>NetworkClient</a:t>
            </a:r>
            <a:r>
              <a:rPr lang="nl-BE" sz="2000" dirty="0"/>
              <a:t> maken op hun beurt gebruik van andere </a:t>
            </a:r>
            <a:r>
              <a:rPr lang="nl-BE" sz="2000" dirty="0" err="1"/>
              <a:t>klasses</a:t>
            </a:r>
            <a:r>
              <a:rPr lang="nl-BE" sz="2000" dirty="0"/>
              <a:t>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0D15B-DDC6-44D3-989B-466A460D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0CAEE-8FC6-4F55-8F6A-36DF7B2AF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3AB008-CA25-42D8-8847-1829B0A1D1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FF962-B84D-48F9-80F4-100FAC48C278}"/>
              </a:ext>
            </a:extLst>
          </p:cNvPr>
          <p:cNvSpPr txBox="1"/>
          <p:nvPr/>
        </p:nvSpPr>
        <p:spPr>
          <a:xfrm>
            <a:off x="894290" y="1719040"/>
            <a:ext cx="6271491" cy="224676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EmailSender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NetworkClient</a:t>
            </a:r>
            <a:r>
              <a:rPr lang="nl-BE" sz="10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_</a:t>
            </a:r>
            <a:r>
              <a:rPr lang="nl-BE" sz="10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client</a:t>
            </a:r>
            <a:r>
              <a:rPr lang="nl-BE" sz="10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MessageFactory</a:t>
            </a:r>
            <a:r>
              <a:rPr lang="nl-BE" sz="10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_</a:t>
            </a:r>
            <a:r>
              <a:rPr lang="nl-BE" sz="10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factory</a:t>
            </a:r>
            <a:r>
              <a:rPr lang="nl-BE" sz="10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endParaRPr lang="nl-BE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EmailSender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009999"/>
                </a:solidFill>
                <a:latin typeface="Consolas" panose="020B0609020204030204" pitchFamily="49" charset="0"/>
              </a:rPr>
              <a:t>NetworkClient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client, </a:t>
            </a:r>
            <a:r>
              <a:rPr lang="en-US" sz="1000" dirty="0" err="1">
                <a:solidFill>
                  <a:srgbClr val="009999"/>
                </a:solidFill>
                <a:latin typeface="Consolas" panose="020B0609020204030204" pitchFamily="49" charset="0"/>
              </a:rPr>
              <a:t>MessageFactory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factory) 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client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client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factory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factory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SendEmail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username) 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email = _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factory.</a:t>
            </a:r>
            <a:r>
              <a:rPr lang="en-US" sz="1000" dirty="0" err="1">
                <a:solidFill>
                  <a:srgbClr val="663300"/>
                </a:solidFill>
                <a:latin typeface="Consolas" panose="020B0609020204030204" pitchFamily="49" charset="0"/>
              </a:rPr>
              <a:t>Create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(username);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client.</a:t>
            </a:r>
            <a:r>
              <a:rPr lang="nl-BE" sz="1000" dirty="0" err="1">
                <a:solidFill>
                  <a:srgbClr val="663300"/>
                </a:solidFill>
                <a:latin typeface="Consolas" panose="020B0609020204030204" pitchFamily="49" charset="0"/>
              </a:rPr>
              <a:t>SendEmail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(email);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5861A-A84A-4383-9F60-E87141D2CE5A}"/>
              </a:ext>
            </a:extLst>
          </p:cNvPr>
          <p:cNvSpPr txBox="1"/>
          <p:nvPr/>
        </p:nvSpPr>
        <p:spPr>
          <a:xfrm>
            <a:off x="894290" y="4145514"/>
            <a:ext cx="8956917" cy="19389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NetworkClient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 err="1">
                <a:solidFill>
                  <a:srgbClr val="009999"/>
                </a:solidFill>
                <a:latin typeface="Consolas" panose="020B0609020204030204" pitchFamily="49" charset="0"/>
              </a:rPr>
              <a:t>EmailServerSettings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settings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nl-BE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NetworkClient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000" dirty="0" err="1">
                <a:solidFill>
                  <a:srgbClr val="009999"/>
                </a:solidFill>
                <a:latin typeface="Consolas" panose="020B0609020204030204" pitchFamily="49" charset="0"/>
              </a:rPr>
              <a:t>EmailServerSettings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settings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settings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settings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fr-FR" sz="1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fr-FR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0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SendEmail</a:t>
            </a:r>
            <a:r>
              <a:rPr lang="fr-FR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000" dirty="0">
                <a:solidFill>
                  <a:srgbClr val="009999"/>
                </a:solidFill>
                <a:latin typeface="Consolas" panose="020B0609020204030204" pitchFamily="49" charset="0"/>
              </a:rPr>
              <a:t>Email</a:t>
            </a:r>
            <a:r>
              <a:rPr lang="fr-FR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fr-FR" sz="10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000" dirty="0" err="1">
                <a:solidFill>
                  <a:srgbClr val="009999"/>
                </a:solidFill>
                <a:latin typeface="Consolas" panose="020B0609020204030204" pitchFamily="49" charset="0"/>
              </a:rPr>
              <a:t>Console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l-BE" sz="1000" dirty="0" err="1">
                <a:solidFill>
                  <a:srgbClr val="663300"/>
                </a:solidFill>
                <a:latin typeface="Consolas" panose="020B0609020204030204" pitchFamily="49" charset="0"/>
              </a:rPr>
              <a:t>WriteLine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0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nl-BE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Settings</a:t>
            </a:r>
            <a:r>
              <a:rPr lang="nl-BE" sz="1000" dirty="0">
                <a:solidFill>
                  <a:srgbClr val="A31515"/>
                </a:solidFill>
                <a:latin typeface="Consolas" panose="020B0609020204030204" pitchFamily="49" charset="0"/>
              </a:rPr>
              <a:t>: 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{_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settings.Server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nl-BE" sz="10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{_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settings.Port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nl-BE" sz="1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000" dirty="0" err="1">
                <a:solidFill>
                  <a:srgbClr val="009999"/>
                </a:solidFill>
                <a:latin typeface="Consolas" panose="020B0609020204030204" pitchFamily="49" charset="0"/>
              </a:rPr>
              <a:t>Console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l-BE" sz="1000" dirty="0" err="1">
                <a:solidFill>
                  <a:srgbClr val="663300"/>
                </a:solidFill>
                <a:latin typeface="Consolas" panose="020B0609020204030204" pitchFamily="49" charset="0"/>
              </a:rPr>
              <a:t>WriteLine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000" dirty="0">
                <a:solidFill>
                  <a:srgbClr val="A31515"/>
                </a:solidFill>
                <a:latin typeface="Consolas" panose="020B0609020204030204" pitchFamily="49" charset="0"/>
              </a:rPr>
              <a:t>$"FROM: 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email.From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nl-BE" sz="1000" dirty="0">
                <a:solidFill>
                  <a:srgbClr val="A31515"/>
                </a:solidFill>
                <a:latin typeface="Consolas" panose="020B0609020204030204" pitchFamily="49" charset="0"/>
              </a:rPr>
              <a:t>, TO: 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email.To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nl-BE" sz="1000" dirty="0">
                <a:solidFill>
                  <a:srgbClr val="A31515"/>
                </a:solidFill>
                <a:latin typeface="Consolas" panose="020B0609020204030204" pitchFamily="49" charset="0"/>
              </a:rPr>
              <a:t>, SUBJECT: 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email.Subject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nl-BE" sz="1000" dirty="0">
                <a:solidFill>
                  <a:srgbClr val="A31515"/>
                </a:solidFill>
                <a:latin typeface="Consolas" panose="020B0609020204030204" pitchFamily="49" charset="0"/>
              </a:rPr>
              <a:t>, CONTENT: 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nl-BE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email.Content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nl-BE" sz="1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000" dirty="0"/>
          </a:p>
        </p:txBody>
      </p:sp>
    </p:spTree>
    <p:extLst>
      <p:ext uri="{BB962C8B-B14F-4D97-AF65-F5344CB8AC3E}">
        <p14:creationId xmlns:p14="http://schemas.microsoft.com/office/powerpoint/2010/main" val="93425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A1203-7FA1-4165-8662-64209DEE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r>
              <a:rPr lang="nl-BE" dirty="0"/>
              <a:t>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3E381-39FC-4F86-9714-31CC2969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8DD98-E631-4852-A229-85F67F82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2D2121-AB73-4D24-A789-411A99335C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F1961-C218-44A9-81F6-B2426AC29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91" y="2492283"/>
            <a:ext cx="3546509" cy="3408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15E4C8-62C5-453B-AA8D-45D13B996784}"/>
              </a:ext>
            </a:extLst>
          </p:cNvPr>
          <p:cNvSpPr txBox="1"/>
          <p:nvPr/>
        </p:nvSpPr>
        <p:spPr>
          <a:xfrm>
            <a:off x="396000" y="1248657"/>
            <a:ext cx="73440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Er ontstaat een “</a:t>
            </a:r>
            <a:r>
              <a:rPr lang="nl-BE" sz="2000" dirty="0" err="1"/>
              <a:t>graph</a:t>
            </a:r>
            <a:r>
              <a:rPr lang="nl-BE" sz="2000" dirty="0"/>
              <a:t>” van </a:t>
            </a:r>
            <a:r>
              <a:rPr lang="nl-BE" sz="2000" dirty="0" err="1"/>
              <a:t>dependencies</a:t>
            </a:r>
            <a:endParaRPr lang="nl-B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Verschillende </a:t>
            </a:r>
            <a:r>
              <a:rPr lang="nl-BE" sz="2000" dirty="0" err="1"/>
              <a:t>klasses</a:t>
            </a:r>
            <a:r>
              <a:rPr lang="nl-BE" sz="2000" dirty="0"/>
              <a:t> zijn afhankelijk van andere </a:t>
            </a:r>
            <a:r>
              <a:rPr lang="nl-BE" sz="2000" dirty="0" err="1"/>
              <a:t>klasses</a:t>
            </a:r>
            <a:endParaRPr lang="nl-BE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79F778-2887-4521-B976-D960042995D9}"/>
              </a:ext>
            </a:extLst>
          </p:cNvPr>
          <p:cNvSpPr txBox="1"/>
          <p:nvPr/>
        </p:nvSpPr>
        <p:spPr>
          <a:xfrm>
            <a:off x="5329384" y="3048548"/>
            <a:ext cx="6326908" cy="21236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100" dirty="0">
                <a:solidFill>
                  <a:srgbClr val="009999"/>
                </a:solidFill>
                <a:latin typeface="Consolas" panose="020B0609020204030204" pitchFamily="49" charset="0"/>
              </a:rPr>
              <a:t>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RegisterUser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username) {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emailSender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nl-BE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EmailSender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NetworkClient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EmailServerSettings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"smtp.server.com"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 25)),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MessageFactory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emailSender.</a:t>
            </a:r>
            <a:r>
              <a:rPr lang="nl-BE" sz="1100" dirty="0" err="1">
                <a:solidFill>
                  <a:srgbClr val="663300"/>
                </a:solidFill>
                <a:latin typeface="Consolas" panose="020B0609020204030204" pitchFamily="49" charset="0"/>
              </a:rPr>
              <a:t>SendEmail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(username);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663300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</p:spTree>
    <p:extLst>
      <p:ext uri="{BB962C8B-B14F-4D97-AF65-F5344CB8AC3E}">
        <p14:creationId xmlns:p14="http://schemas.microsoft.com/office/powerpoint/2010/main" val="2431307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8D8ED-86B0-4750-9C1E-DE2FFBF0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1EA8A-F41C-4BAD-87EB-5E44B2AA6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2216118"/>
            <a:ext cx="10636254" cy="264271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Wat zijn de nadelen van deze aanpak?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Code is verantwoordelijk voor aanmaken en gebruiken van </a:t>
            </a:r>
            <a:r>
              <a:rPr lang="nl-BE" sz="2400" dirty="0" err="1"/>
              <a:t>EmailSender</a:t>
            </a:r>
            <a:r>
              <a:rPr lang="nl-BE" sz="2400" dirty="0"/>
              <a:t>-klasse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Sterke koppeling: indien </a:t>
            </a:r>
            <a:r>
              <a:rPr lang="nl-BE" sz="2400" dirty="0" err="1"/>
              <a:t>constructor</a:t>
            </a:r>
            <a:r>
              <a:rPr lang="nl-BE" sz="2400" dirty="0"/>
              <a:t> van </a:t>
            </a:r>
            <a:r>
              <a:rPr lang="nl-BE" sz="2400" dirty="0" err="1"/>
              <a:t>EmailSender</a:t>
            </a:r>
            <a:r>
              <a:rPr lang="nl-BE" sz="2400" dirty="0"/>
              <a:t> wijzigt </a:t>
            </a:r>
            <a:br>
              <a:rPr lang="nl-BE" sz="2400" dirty="0"/>
            </a:br>
            <a:r>
              <a:rPr lang="nl-BE" sz="2400" dirty="0">
                <a:sym typeface="Wingdings" panose="05000000000000000000" pitchFamily="2" charset="2"/>
              </a:rPr>
              <a:t> wijziging nodig op alle plaatsen waar instantie gecreëerd wordt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>
                <a:sym typeface="Wingdings" panose="05000000000000000000" pitchFamily="2" charset="2"/>
              </a:rPr>
              <a:t>UserController</a:t>
            </a:r>
            <a:r>
              <a:rPr lang="nl-BE" sz="2400" dirty="0">
                <a:sym typeface="Wingdings" panose="05000000000000000000" pitchFamily="2" charset="2"/>
              </a:rPr>
              <a:t> is gebonden aan concrete implementatie van </a:t>
            </a:r>
            <a:r>
              <a:rPr lang="nl-BE" sz="2400" dirty="0" err="1">
                <a:sym typeface="Wingdings" panose="05000000000000000000" pitchFamily="2" charset="2"/>
              </a:rPr>
              <a:t>EmailSender</a:t>
            </a:r>
            <a:br>
              <a:rPr lang="nl-BE" sz="2400" dirty="0">
                <a:sym typeface="Wingdings" panose="05000000000000000000" pitchFamily="2" charset="2"/>
              </a:rPr>
            </a:br>
            <a:r>
              <a:rPr lang="nl-BE" sz="2400" dirty="0">
                <a:sym typeface="Wingdings" panose="05000000000000000000" pitchFamily="2" charset="2"/>
              </a:rPr>
              <a:t> hoe verschillende implementaties voor </a:t>
            </a:r>
            <a:r>
              <a:rPr lang="nl-BE" sz="2400" dirty="0" err="1">
                <a:sym typeface="Wingdings" panose="05000000000000000000" pitchFamily="2" charset="2"/>
              </a:rPr>
              <a:t>debugging</a:t>
            </a:r>
            <a:r>
              <a:rPr lang="nl-BE" sz="2400" dirty="0">
                <a:sym typeface="Wingdings" panose="05000000000000000000" pitchFamily="2" charset="2"/>
              </a:rPr>
              <a:t> en productie?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E4E7D-98B9-4DE4-AE3F-826840A18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0D2A4-FD60-47BE-A472-9A542131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6136A0-D16B-49C9-90ED-A602660C6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6142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8D8ED-86B0-4750-9C1E-DE2FFBF0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r>
              <a:rPr lang="nl-B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1EA8A-F41C-4BAD-87EB-5E44B2AA6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296000"/>
            <a:ext cx="10636254" cy="2642718"/>
          </a:xfrm>
        </p:spPr>
        <p:txBody>
          <a:bodyPr/>
          <a:lstStyle/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Oplossing: </a:t>
            </a:r>
            <a:r>
              <a:rPr lang="nl-BE" sz="2400" dirty="0"/>
              <a:t>gebruik maken van </a:t>
            </a:r>
            <a:r>
              <a:rPr lang="nl-BE" sz="2400" b="1" dirty="0" err="1">
                <a:solidFill>
                  <a:schemeClr val="accent6"/>
                </a:solidFill>
              </a:rPr>
              <a:t>Dependency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b="1" dirty="0" err="1">
                <a:solidFill>
                  <a:schemeClr val="accent6"/>
                </a:solidFill>
              </a:rPr>
              <a:t>Injection</a:t>
            </a:r>
            <a:r>
              <a:rPr lang="nl-BE" sz="2400" dirty="0"/>
              <a:t>: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Keten van </a:t>
            </a:r>
            <a:r>
              <a:rPr lang="nl-BE" sz="2000" dirty="0" err="1"/>
              <a:t>dependencies</a:t>
            </a:r>
            <a:r>
              <a:rPr lang="nl-BE" sz="2000" dirty="0"/>
              <a:t> omkeren: in plaats van </a:t>
            </a:r>
            <a:r>
              <a:rPr lang="nl-BE" sz="2000" i="1" dirty="0" err="1"/>
              <a:t>UserController</a:t>
            </a:r>
            <a:r>
              <a:rPr lang="nl-BE" sz="2000" dirty="0"/>
              <a:t> instantie te laten aanmaken van de klasse </a:t>
            </a:r>
            <a:r>
              <a:rPr lang="nl-BE" sz="2000" i="1" dirty="0" err="1"/>
              <a:t>EmailSender</a:t>
            </a:r>
            <a:r>
              <a:rPr lang="nl-BE" sz="2000" dirty="0"/>
              <a:t>, wordt een reeds bestaande instantie “geïnjecteerd” in de </a:t>
            </a:r>
            <a:r>
              <a:rPr lang="nl-BE" sz="2000" i="1" dirty="0" err="1"/>
              <a:t>UserController</a:t>
            </a:r>
            <a:r>
              <a:rPr lang="nl-BE" sz="2000" dirty="0"/>
              <a:t> via de </a:t>
            </a:r>
            <a:r>
              <a:rPr lang="nl-BE" sz="2000" dirty="0" err="1"/>
              <a:t>constructor</a:t>
            </a:r>
            <a:endParaRPr lang="nl-BE" sz="2000" dirty="0"/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Service die instanties aanmaakt = </a:t>
            </a:r>
            <a:r>
              <a:rPr lang="nl-BE" sz="2000" b="1" dirty="0">
                <a:solidFill>
                  <a:schemeClr val="accent6"/>
                </a:solidFill>
              </a:rPr>
              <a:t>DI Container </a:t>
            </a:r>
            <a:r>
              <a:rPr lang="nl-BE" sz="2000" dirty="0"/>
              <a:t>of </a:t>
            </a:r>
            <a:r>
              <a:rPr lang="nl-BE" sz="2000" b="1" dirty="0" err="1">
                <a:solidFill>
                  <a:schemeClr val="accent6"/>
                </a:solidFill>
              </a:rPr>
              <a:t>IoC</a:t>
            </a:r>
            <a:r>
              <a:rPr lang="nl-BE" sz="2000" b="1" dirty="0">
                <a:solidFill>
                  <a:schemeClr val="accent6"/>
                </a:solidFill>
              </a:rPr>
              <a:t> Container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E4E7D-98B9-4DE4-AE3F-826840A18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0D2A4-FD60-47BE-A472-9A542131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6136A0-D16B-49C9-90ED-A602660C6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DBC0B-7A98-4077-BBB3-9EF422979437}"/>
              </a:ext>
            </a:extLst>
          </p:cNvPr>
          <p:cNvSpPr txBox="1"/>
          <p:nvPr/>
        </p:nvSpPr>
        <p:spPr>
          <a:xfrm>
            <a:off x="1159746" y="3438247"/>
            <a:ext cx="6225309" cy="24929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009999"/>
                </a:solidFill>
                <a:latin typeface="Consolas" panose="020B0609020204030204" pitchFamily="49" charset="0"/>
              </a:rPr>
              <a:t>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EmailSender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_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emailSender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EmailSender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emailSender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emailSender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emailSender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9999"/>
                </a:solidFill>
                <a:latin typeface="Consolas" panose="020B06090202040302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RegisterUser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username)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emailSender.</a:t>
            </a:r>
            <a:r>
              <a:rPr lang="nl-BE" sz="1200" dirty="0" err="1">
                <a:solidFill>
                  <a:schemeClr val="accent6"/>
                </a:solidFill>
                <a:latin typeface="Consolas" panose="020B0609020204030204" pitchFamily="49" charset="0"/>
              </a:rPr>
              <a:t>SendEmail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(username);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663300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AAC9EF-6620-4A81-B9BB-76ABCD6DA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00" y="310812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76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2981-B30A-468C-B655-F360337B2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Looseley</a:t>
            </a:r>
            <a:r>
              <a:rPr lang="nl-BE" dirty="0"/>
              <a:t> </a:t>
            </a:r>
            <a:r>
              <a:rPr lang="nl-BE" dirty="0" err="1"/>
              <a:t>coupled</a:t>
            </a:r>
            <a:r>
              <a:rPr lang="nl-BE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C3248-8D2F-47A6-8753-C3E47CA27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18429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Voordeel: 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</a:t>
            </a:r>
            <a:r>
              <a:rPr lang="nl-BE" sz="2400" dirty="0" err="1"/>
              <a:t>constructor</a:t>
            </a:r>
            <a:r>
              <a:rPr lang="nl-BE" sz="2400" dirty="0"/>
              <a:t> van </a:t>
            </a:r>
            <a:r>
              <a:rPr lang="nl-BE" sz="2400" i="1" dirty="0" err="1"/>
              <a:t>EmailSender</a:t>
            </a:r>
            <a:r>
              <a:rPr lang="nl-BE" sz="2400" dirty="0"/>
              <a:t>-klasse wijzigt</a:t>
            </a:r>
            <a:br>
              <a:rPr lang="nl-BE" sz="2400" dirty="0"/>
            </a:br>
            <a:r>
              <a:rPr lang="nl-BE" sz="2400" dirty="0">
                <a:sym typeface="Wingdings" panose="05000000000000000000" pitchFamily="2" charset="2"/>
              </a:rPr>
              <a:t> geen gevolgen voor </a:t>
            </a:r>
            <a:r>
              <a:rPr lang="nl-BE" sz="2400" i="1" dirty="0" err="1">
                <a:sym typeface="Wingdings" panose="05000000000000000000" pitchFamily="2" charset="2"/>
              </a:rPr>
              <a:t>UserController</a:t>
            </a:r>
            <a:r>
              <a:rPr lang="nl-BE" sz="2400" dirty="0">
                <a:sym typeface="Wingdings" panose="05000000000000000000" pitchFamily="2" charset="2"/>
              </a:rPr>
              <a:t>! 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ym typeface="Wingdings" panose="05000000000000000000" pitchFamily="2" charset="2"/>
              </a:rPr>
              <a:t>MAAR: </a:t>
            </a:r>
            <a:r>
              <a:rPr lang="nl-BE" sz="2400" dirty="0">
                <a:sym typeface="Wingdings" panose="05000000000000000000" pitchFamily="2" charset="2"/>
              </a:rPr>
              <a:t>bij testen wordt telkens mail verstuurd  niet de bedoeling!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ym typeface="Wingdings" panose="05000000000000000000" pitchFamily="2" charset="2"/>
              </a:rPr>
              <a:t>Oplossing: </a:t>
            </a:r>
            <a:r>
              <a:rPr lang="nl-BE" sz="2400" dirty="0">
                <a:sym typeface="Wingdings" panose="05000000000000000000" pitchFamily="2" charset="2"/>
              </a:rPr>
              <a:t>interface met twee implementaties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218F9-0F2F-44FB-B943-2488C21D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2CD0E-45A9-418A-BAFB-BA16E7FD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BF4311-FC02-41CD-A8B1-E6001D851D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AA347-373E-45B5-830F-5B1B01AE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760" y="4058976"/>
            <a:ext cx="4458211" cy="186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0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421B-AFA8-4CCB-AF40-16BDF32F1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Looseley</a:t>
            </a:r>
            <a:r>
              <a:rPr lang="nl-BE" dirty="0"/>
              <a:t> </a:t>
            </a:r>
            <a:r>
              <a:rPr lang="nl-BE" dirty="0" err="1"/>
              <a:t>coupled</a:t>
            </a:r>
            <a:r>
              <a:rPr lang="nl-BE" dirty="0"/>
              <a:t> 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779BB-66C1-4702-882B-90290B3D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073D3-4D78-431D-AD0E-EBCA742C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41FBB6-62EB-46A0-8341-8F6AF02D7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1C0CC-C283-4FEC-9E80-80AEAC82800D}"/>
              </a:ext>
            </a:extLst>
          </p:cNvPr>
          <p:cNvSpPr txBox="1"/>
          <p:nvPr/>
        </p:nvSpPr>
        <p:spPr>
          <a:xfrm>
            <a:off x="410178" y="1616364"/>
            <a:ext cx="4632877" cy="6001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IEmailSender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SendEmail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DC19C3-0F30-4DAF-BED3-1D3F8C68059C}"/>
              </a:ext>
            </a:extLst>
          </p:cNvPr>
          <p:cNvSpPr txBox="1"/>
          <p:nvPr/>
        </p:nvSpPr>
        <p:spPr>
          <a:xfrm>
            <a:off x="396000" y="3093902"/>
            <a:ext cx="4647055" cy="229293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100" dirty="0">
                <a:solidFill>
                  <a:srgbClr val="009999"/>
                </a:solidFill>
                <a:latin typeface="Consolas" panose="020B0609020204030204" pitchFamily="49" charset="0"/>
              </a:rPr>
              <a:t>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RegisterUser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username)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emailSender.</a:t>
            </a:r>
            <a:r>
              <a:rPr lang="nl-BE" sz="1100" dirty="0" err="1">
                <a:solidFill>
                  <a:srgbClr val="663300"/>
                </a:solidFill>
                <a:latin typeface="Consolas" panose="020B0609020204030204" pitchFamily="49" charset="0"/>
              </a:rPr>
              <a:t>SendEmail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(username);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663300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F6E699-E1FF-4844-9693-5F7BA6393C0E}"/>
              </a:ext>
            </a:extLst>
          </p:cNvPr>
          <p:cNvSpPr txBox="1"/>
          <p:nvPr/>
        </p:nvSpPr>
        <p:spPr>
          <a:xfrm>
            <a:off x="6096000" y="1485559"/>
            <a:ext cx="470130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Twee implementaties: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BE" sz="1600" dirty="0"/>
              <a:t>échte mail versturen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BE" sz="1600" dirty="0"/>
              <a:t>Mock-implementatie </a:t>
            </a:r>
            <a:r>
              <a:rPr lang="nl-BE" sz="1600" dirty="0">
                <a:sym typeface="Wingdings" panose="05000000000000000000" pitchFamily="2" charset="2"/>
              </a:rPr>
              <a:t> geen mail versturen</a:t>
            </a:r>
            <a:r>
              <a:rPr lang="nl-BE" sz="16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422AE-9729-424A-9EE7-648E268553CF}"/>
              </a:ext>
            </a:extLst>
          </p:cNvPr>
          <p:cNvSpPr txBox="1"/>
          <p:nvPr/>
        </p:nvSpPr>
        <p:spPr>
          <a:xfrm>
            <a:off x="6096000" y="3093902"/>
            <a:ext cx="52093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/>
              <a:t>UserController</a:t>
            </a:r>
            <a:r>
              <a:rPr lang="nl-BE" dirty="0"/>
              <a:t> is onafhankelijk van concrete implementatie (kan zowel met echte </a:t>
            </a:r>
            <a:r>
              <a:rPr lang="nl-BE" dirty="0" err="1"/>
              <a:t>EmailSender</a:t>
            </a:r>
            <a:r>
              <a:rPr lang="nl-BE" dirty="0"/>
              <a:t> als met Mock-implementatie werken)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/>
              <a:t>UserController</a:t>
            </a:r>
            <a:r>
              <a:rPr lang="nl-BE" dirty="0"/>
              <a:t> maakt instantie niet zelf aan </a:t>
            </a:r>
            <a:br>
              <a:rPr lang="nl-BE" dirty="0"/>
            </a:br>
            <a:r>
              <a:rPr lang="nl-BE" dirty="0">
                <a:sym typeface="Wingdings" panose="05000000000000000000" pitchFamily="2" charset="2"/>
              </a:rPr>
              <a:t> heeft geen weet van welke implementatie gebruikt wordt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2299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CBC4-9BD0-4318-8FE3-BB6FE8F5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DI in ASP.NET </a:t>
            </a:r>
            <a:r>
              <a:rPr lang="nl-BE" dirty="0" err="1"/>
              <a:t>Core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A851A-C53F-435F-B4C3-7FDDEE0C4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DC21C-F01F-4017-A6CC-97DA96ED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12F3E-C5B8-4A9B-9B23-C794014F2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68E298-0B76-4EF7-9C3B-1710471D8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5034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8F88-CE8D-41E3-AB57-C9CFADBA2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registreren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EBA33-7436-4F54-99EB-6EABD95D4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744553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Hoe weet DI-container welke implementatie moet gebruikt wordt worden voor interface?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Services registreren bij DI-container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Configureren in </a:t>
            </a:r>
            <a:r>
              <a:rPr lang="nl-BE" sz="2000" i="1" dirty="0" err="1"/>
              <a:t>Program.cs</a:t>
            </a:r>
            <a:endParaRPr lang="nl-BE" sz="20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ED3C9-3D13-4D30-B87C-08513BA9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87C2-F850-4736-94F5-B11D22C9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653EB3-4141-42BE-9998-D4CA68D1F4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B5709-9DEB-4B73-A8D7-E4782BAD8B64}"/>
              </a:ext>
            </a:extLst>
          </p:cNvPr>
          <p:cNvSpPr txBox="1"/>
          <p:nvPr/>
        </p:nvSpPr>
        <p:spPr>
          <a:xfrm>
            <a:off x="1348508" y="3722253"/>
            <a:ext cx="5975927" cy="10156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200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200">
                <a:solidFill>
                  <a:srgbClr val="663300"/>
                </a:solidFill>
                <a:latin typeface="Consolas" panose="020B0609020204030204" pitchFamily="49" charset="0"/>
              </a:rPr>
              <a:t>AddControllersWithViews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b="1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200" b="1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200" b="1">
                <a:solidFill>
                  <a:srgbClr val="663300"/>
                </a:solidFill>
                <a:latin typeface="Consolas" panose="020B0609020204030204" pitchFamily="49" charset="0"/>
              </a:rPr>
              <a:t>AddScoped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IEmailSender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EmailSender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200" b="1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200" b="1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200" b="1">
                <a:solidFill>
                  <a:srgbClr val="663300"/>
                </a:solidFill>
                <a:latin typeface="Consolas" panose="020B0609020204030204" pitchFamily="49" charset="0"/>
              </a:rPr>
              <a:t>AddScoped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NetworkClient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200" b="1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200" b="1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200" b="1">
                <a:solidFill>
                  <a:srgbClr val="663300"/>
                </a:solidFill>
                <a:latin typeface="Consolas" panose="020B0609020204030204" pitchFamily="49" charset="0"/>
              </a:rPr>
              <a:t>AddSingleton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MessageFactory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C1835-7324-45D1-8DB2-B97C82845ACC}"/>
              </a:ext>
            </a:extLst>
          </p:cNvPr>
          <p:cNvSpPr txBox="1"/>
          <p:nvPr/>
        </p:nvSpPr>
        <p:spPr>
          <a:xfrm>
            <a:off x="822291" y="5325882"/>
            <a:ext cx="7195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i="1" dirty="0"/>
              <a:t>Opmerking: </a:t>
            </a:r>
            <a:r>
              <a:rPr lang="nl-BE" sz="1600" i="1" dirty="0"/>
              <a:t>ook </a:t>
            </a:r>
            <a:r>
              <a:rPr lang="nl-BE" sz="1600" i="1" dirty="0" err="1"/>
              <a:t>EmailServerSettings</a:t>
            </a:r>
            <a:r>
              <a:rPr lang="nl-BE" sz="1600" i="1" dirty="0"/>
              <a:t>-klasse moet geconfigureerd worden (zie later)</a:t>
            </a:r>
          </a:p>
        </p:txBody>
      </p:sp>
    </p:spTree>
    <p:extLst>
      <p:ext uri="{BB962C8B-B14F-4D97-AF65-F5344CB8AC3E}">
        <p14:creationId xmlns:p14="http://schemas.microsoft.com/office/powerpoint/2010/main" val="139665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2A89-B1DF-4C92-A6DC-7B3B6F86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registreren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6632-5CAA-4243-927E-2091CDB39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314721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Worden geregistreerd via </a:t>
            </a:r>
            <a:r>
              <a:rPr lang="nl-BE" sz="2000" i="1" dirty="0" err="1">
                <a:latin typeface="Consolas" panose="020B0609020204030204" pitchFamily="49" charset="0"/>
              </a:rPr>
              <a:t>Add</a:t>
            </a:r>
            <a:r>
              <a:rPr lang="nl-BE" sz="2000" i="1" dirty="0">
                <a:latin typeface="Consolas" panose="020B0609020204030204" pitchFamily="49" charset="0"/>
              </a:rPr>
              <a:t>*</a:t>
            </a:r>
            <a:r>
              <a:rPr lang="nl-BE" sz="2400" dirty="0"/>
              <a:t>-methodes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Legt volgende zaken vast: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Service type: </a:t>
            </a:r>
            <a:r>
              <a:rPr lang="nl-BE" sz="2000" dirty="0"/>
              <a:t>klasse/interface die opgevraagd wordt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Implementatie: </a:t>
            </a:r>
            <a:r>
              <a:rPr lang="nl-BE" sz="2000" dirty="0"/>
              <a:t>concrete klasse waarvan instantie moet aangemaakt worden indien </a:t>
            </a:r>
            <a:r>
              <a:rPr lang="nl-BE" sz="2000" dirty="0" err="1"/>
              <a:t>dependency</a:t>
            </a:r>
            <a:r>
              <a:rPr lang="nl-BE" sz="2000" dirty="0"/>
              <a:t> van dit type nodig is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 err="1"/>
              <a:t>Lifetime</a:t>
            </a:r>
            <a:r>
              <a:rPr lang="nl-BE" sz="2000" b="1" dirty="0"/>
              <a:t>: </a:t>
            </a:r>
            <a:r>
              <a:rPr lang="nl-BE" sz="2000" dirty="0"/>
              <a:t>hoe lang de aangemaakte instantie blijft “bestaan”. </a:t>
            </a:r>
            <a:br>
              <a:rPr lang="nl-BE" sz="2000" dirty="0"/>
            </a:br>
            <a:r>
              <a:rPr lang="nl-BE" sz="2000" dirty="0"/>
              <a:t>Mogelijkheden: </a:t>
            </a:r>
            <a:r>
              <a:rPr lang="nl-BE" sz="2000" i="1" dirty="0" err="1"/>
              <a:t>Transient</a:t>
            </a:r>
            <a:r>
              <a:rPr lang="nl-BE" sz="2000" dirty="0"/>
              <a:t>, </a:t>
            </a:r>
            <a:r>
              <a:rPr lang="nl-BE" sz="2000" i="1" dirty="0" err="1"/>
              <a:t>Scoped</a:t>
            </a:r>
            <a:r>
              <a:rPr lang="nl-BE" sz="2000" dirty="0"/>
              <a:t> en </a:t>
            </a:r>
            <a:r>
              <a:rPr lang="nl-BE" sz="2000" i="1" dirty="0"/>
              <a:t>Singleton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528AE-7255-4972-B954-CE6A0F6D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C3A6E-D780-43D9-8A9C-6F213ABAA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4C43E9-63FC-451A-B6F8-C44798450A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0AF7C7-420C-4D23-87B1-2AA5EBC8EE65}"/>
              </a:ext>
            </a:extLst>
          </p:cNvPr>
          <p:cNvGrpSpPr/>
          <p:nvPr/>
        </p:nvGrpSpPr>
        <p:grpSpPr>
          <a:xfrm>
            <a:off x="2208636" y="4636469"/>
            <a:ext cx="7526487" cy="1396525"/>
            <a:chOff x="2267553" y="4682836"/>
            <a:chExt cx="7526487" cy="13965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FD664C-3F15-465B-92C1-97110DED491C}"/>
                </a:ext>
              </a:extLst>
            </p:cNvPr>
            <p:cNvSpPr txBox="1"/>
            <p:nvPr/>
          </p:nvSpPr>
          <p:spPr>
            <a:xfrm>
              <a:off x="2267553" y="4682836"/>
              <a:ext cx="7526487" cy="36933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nl-BE" err="1">
                  <a:solidFill>
                    <a:srgbClr val="000000"/>
                  </a:solidFill>
                  <a:latin typeface="Consolas" panose="020B0609020204030204" pitchFamily="49" charset="0"/>
                </a:rPr>
                <a:t>builder</a:t>
              </a:r>
              <a:r>
                <a:rPr lang="nl-BE">
                  <a:solidFill>
                    <a:srgbClr val="000000"/>
                  </a:solidFill>
                  <a:latin typeface="Consolas" panose="020B0609020204030204" pitchFamily="49" charset="0"/>
                </a:rPr>
                <a:t>.Services.</a:t>
              </a:r>
              <a:r>
                <a:rPr lang="nl-BE">
                  <a:solidFill>
                    <a:srgbClr val="663300"/>
                  </a:solidFill>
                  <a:latin typeface="Consolas" panose="020B0609020204030204" pitchFamily="49" charset="0"/>
                </a:rPr>
                <a:t>AddScoped</a:t>
              </a:r>
              <a:r>
                <a:rPr lang="nl-BE" dirty="0">
                  <a:solidFill>
                    <a:srgbClr val="000000"/>
                  </a:solidFill>
                  <a:latin typeface="Consolas" panose="020B0609020204030204" pitchFamily="49" charset="0"/>
                </a:rPr>
                <a:t>&lt;</a:t>
              </a:r>
              <a:r>
                <a:rPr lang="nl-BE" dirty="0" err="1">
                  <a:solidFill>
                    <a:srgbClr val="009999"/>
                  </a:solidFill>
                  <a:latin typeface="Consolas" panose="020B0609020204030204" pitchFamily="49" charset="0"/>
                </a:rPr>
                <a:t>IEmailSender</a:t>
              </a:r>
              <a:r>
                <a:rPr lang="nl-BE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nl-BE" dirty="0" err="1">
                  <a:solidFill>
                    <a:srgbClr val="009999"/>
                  </a:solidFill>
                  <a:latin typeface="Consolas" panose="020B0609020204030204" pitchFamily="49" charset="0"/>
                </a:rPr>
                <a:t>EmailSender</a:t>
              </a:r>
              <a:r>
                <a:rPr lang="nl-BE" dirty="0">
                  <a:solidFill>
                    <a:srgbClr val="000000"/>
                  </a:solidFill>
                  <a:latin typeface="Consolas" panose="020B0609020204030204" pitchFamily="49" charset="0"/>
                </a:rPr>
                <a:t>&gt;();</a:t>
              </a:r>
              <a:endParaRPr lang="nl-BE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62B0C1-08CE-46AE-A2DF-8B3D1D063B8C}"/>
                </a:ext>
              </a:extLst>
            </p:cNvPr>
            <p:cNvSpPr txBox="1"/>
            <p:nvPr/>
          </p:nvSpPr>
          <p:spPr>
            <a:xfrm>
              <a:off x="4974668" y="5708073"/>
              <a:ext cx="13923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b="1" dirty="0" err="1"/>
                <a:t>lifetime</a:t>
              </a:r>
              <a:endParaRPr lang="nl-BE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A4707D-38AF-4D0E-8A20-50DC5C7C8C09}"/>
                </a:ext>
              </a:extLst>
            </p:cNvPr>
            <p:cNvSpPr txBox="1"/>
            <p:nvPr/>
          </p:nvSpPr>
          <p:spPr>
            <a:xfrm>
              <a:off x="6105140" y="5708073"/>
              <a:ext cx="13923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b="1" dirty="0"/>
                <a:t>Service-type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218DE2-602E-48AD-A2B4-799D1C13ABE4}"/>
                </a:ext>
              </a:extLst>
            </p:cNvPr>
            <p:cNvSpPr txBox="1"/>
            <p:nvPr/>
          </p:nvSpPr>
          <p:spPr>
            <a:xfrm>
              <a:off x="7786341" y="5710029"/>
              <a:ext cx="15793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b="1" dirty="0"/>
                <a:t>Implementatie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39C2A11-8085-439F-9DEF-5E4280EA94E9}"/>
                </a:ext>
              </a:extLst>
            </p:cNvPr>
            <p:cNvCxnSpPr/>
            <p:nvPr/>
          </p:nvCxnSpPr>
          <p:spPr>
            <a:xfrm>
              <a:off x="5412504" y="5015224"/>
              <a:ext cx="0" cy="6559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AD3D67C-4224-466E-9390-3F69DA1655E9}"/>
                </a:ext>
              </a:extLst>
            </p:cNvPr>
            <p:cNvCxnSpPr/>
            <p:nvPr/>
          </p:nvCxnSpPr>
          <p:spPr>
            <a:xfrm>
              <a:off x="6801308" y="5024460"/>
              <a:ext cx="0" cy="6559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81A3641-3C1D-43D2-A707-59852707010F}"/>
                </a:ext>
              </a:extLst>
            </p:cNvPr>
            <p:cNvCxnSpPr/>
            <p:nvPr/>
          </p:nvCxnSpPr>
          <p:spPr>
            <a:xfrm>
              <a:off x="8496181" y="5015163"/>
              <a:ext cx="0" cy="6559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4686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E5A8-6360-45AD-8DB0-936DBAAF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registreren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69D4-D692-4836-816A-29255B6BA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2015559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Opmerking: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type en implementatie zelfde is als service-type volstaat één parameter tussen </a:t>
            </a:r>
            <a:r>
              <a:rPr lang="nl-BE" sz="2400" dirty="0" err="1"/>
              <a:t>generics</a:t>
            </a:r>
            <a:r>
              <a:rPr lang="nl-BE" sz="2400" dirty="0"/>
              <a:t>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B661C-612C-497B-AF76-DD5A0934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18A64-1935-4966-AF35-92D1B203B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15BB95-73F6-4C2D-A463-1C48FFF6D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725B9-3A45-4F71-93DE-57B16C690CA5}"/>
              </a:ext>
            </a:extLst>
          </p:cNvPr>
          <p:cNvSpPr txBox="1"/>
          <p:nvPr/>
        </p:nvSpPr>
        <p:spPr>
          <a:xfrm>
            <a:off x="1394646" y="3493987"/>
            <a:ext cx="6493209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>
                <a:solidFill>
                  <a:srgbClr val="663300"/>
                </a:solidFill>
                <a:latin typeface="Consolas" panose="020B0609020204030204" pitchFamily="49" charset="0"/>
              </a:rPr>
              <a:t>AddScoped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dirty="0" err="1">
                <a:solidFill>
                  <a:srgbClr val="009999"/>
                </a:solidFill>
                <a:latin typeface="Consolas" panose="020B0609020204030204" pitchFamily="49" charset="0"/>
              </a:rPr>
              <a:t>NetworkClient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&gt;(); </a:t>
            </a:r>
            <a:r>
              <a:rPr lang="nl-BE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>
                <a:solidFill>
                  <a:srgbClr val="663300"/>
                </a:solidFill>
                <a:latin typeface="Consolas" panose="020B0609020204030204" pitchFamily="49" charset="0"/>
              </a:rPr>
              <a:t>AddSingleton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dirty="0" err="1">
                <a:solidFill>
                  <a:srgbClr val="009999"/>
                </a:solidFill>
                <a:latin typeface="Consolas" panose="020B0609020204030204" pitchFamily="49" charset="0"/>
              </a:rPr>
              <a:t>MessageFactory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9F86E-E311-4048-BECE-960A624301E1}"/>
              </a:ext>
            </a:extLst>
          </p:cNvPr>
          <p:cNvSpPr txBox="1"/>
          <p:nvPr/>
        </p:nvSpPr>
        <p:spPr>
          <a:xfrm>
            <a:off x="1394646" y="4645886"/>
            <a:ext cx="667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i="1" dirty="0" err="1">
                <a:latin typeface="Consolas" panose="020B0609020204030204" pitchFamily="49" charset="0"/>
              </a:rPr>
              <a:t>NetworkClient</a:t>
            </a:r>
            <a:r>
              <a:rPr lang="nl-BE" i="1" dirty="0"/>
              <a:t> en </a:t>
            </a:r>
            <a:r>
              <a:rPr lang="nl-BE" sz="1600" i="1" dirty="0" err="1">
                <a:latin typeface="Consolas" panose="020B0609020204030204" pitchFamily="49" charset="0"/>
              </a:rPr>
              <a:t>MessageFactory</a:t>
            </a:r>
            <a:r>
              <a:rPr lang="nl-BE" i="1" dirty="0"/>
              <a:t> zijn concrete </a:t>
            </a:r>
            <a:r>
              <a:rPr lang="nl-BE" i="1" dirty="0" err="1"/>
              <a:t>klasses</a:t>
            </a:r>
            <a:endParaRPr lang="nl-BE" i="1" dirty="0"/>
          </a:p>
        </p:txBody>
      </p:sp>
    </p:spTree>
    <p:extLst>
      <p:ext uri="{BB962C8B-B14F-4D97-AF65-F5344CB8AC3E}">
        <p14:creationId xmlns:p14="http://schemas.microsoft.com/office/powerpoint/2010/main" val="959350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58280-D31A-4ABD-9424-13CF208B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registreren: voorwaarden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B2EF-6B7B-462B-ACEB-DE10418E7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46" y="2038943"/>
            <a:ext cx="9281274" cy="328611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Voorwaarden voor implementatie:</a:t>
            </a:r>
          </a:p>
          <a:p>
            <a:pPr marL="815363" lvl="1" indent="-457200">
              <a:buFont typeface="Wingdings" panose="05000000000000000000" pitchFamily="2" charset="2"/>
              <a:buChar char="ü"/>
            </a:pPr>
            <a:r>
              <a:rPr lang="nl-BE" sz="2000" dirty="0"/>
              <a:t>Het type moet een concrete klasse zijn</a:t>
            </a:r>
          </a:p>
          <a:p>
            <a:pPr marL="815363" lvl="1" indent="-457200">
              <a:buFont typeface="Wingdings" panose="05000000000000000000" pitchFamily="2" charset="2"/>
              <a:buChar char="ü"/>
            </a:pPr>
            <a:r>
              <a:rPr lang="nl-BE" sz="2000" dirty="0"/>
              <a:t>Klasse moet één geldige </a:t>
            </a:r>
            <a:r>
              <a:rPr lang="nl-BE" sz="2000" dirty="0" err="1"/>
              <a:t>constructor</a:t>
            </a:r>
            <a:r>
              <a:rPr lang="nl-BE" sz="2000" dirty="0"/>
              <a:t> hebben waaruit DI-container kan kiezen</a:t>
            </a:r>
          </a:p>
          <a:p>
            <a:pPr marL="815363" lvl="1" indent="-457200">
              <a:buFont typeface="Wingdings" panose="05000000000000000000" pitchFamily="2" charset="2"/>
              <a:buChar char="ü"/>
            </a:pPr>
            <a:r>
              <a:rPr lang="nl-BE" sz="2000" dirty="0"/>
              <a:t>Alle parameters voor klasse moeten via DI-container kunnen geïnstantieerd worden of default-waarde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 err="1"/>
              <a:t>EmailServerSettings</a:t>
            </a:r>
            <a:r>
              <a:rPr lang="nl-BE" sz="2400" dirty="0"/>
              <a:t> voldoet niet aan deze vereisten </a:t>
            </a:r>
            <a:br>
              <a:rPr lang="nl-BE" sz="2400" dirty="0"/>
            </a:br>
            <a:r>
              <a:rPr lang="nl-BE" sz="2400" dirty="0"/>
              <a:t>(parameter voor server-naam en poortnummer)</a:t>
            </a:r>
          </a:p>
          <a:p>
            <a:pPr lvl="1"/>
            <a:r>
              <a:rPr lang="nl-BE" sz="2000" dirty="0">
                <a:sym typeface="Wingdings" panose="05000000000000000000" pitchFamily="2" charset="2"/>
              </a:rPr>
              <a:t> Instantie van klasse registreren bij DI-container</a:t>
            </a: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7B5D7-CAED-4ED4-AA29-7E665CBD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47229-E027-4FB3-93C3-6B4464E3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1B4AE2-5725-479F-9D45-447EC7A6FC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9030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58280-D31A-4ABD-9424-13CF208B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registreren: objecten registreren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B2EF-6B7B-462B-ACEB-DE10418E7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226143"/>
            <a:ext cx="9281274" cy="328611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Voorwaarden voor implementatie:</a:t>
            </a:r>
          </a:p>
          <a:p>
            <a:pPr marL="815363" lvl="1" indent="-457200">
              <a:buFont typeface="Wingdings" panose="05000000000000000000" pitchFamily="2" charset="2"/>
              <a:buChar char="ü"/>
            </a:pPr>
            <a:r>
              <a:rPr lang="nl-BE" sz="2000" dirty="0"/>
              <a:t>Het type moet een concrete klasse zijn</a:t>
            </a:r>
          </a:p>
          <a:p>
            <a:pPr marL="815363" lvl="1" indent="-457200">
              <a:buFont typeface="Wingdings" panose="05000000000000000000" pitchFamily="2" charset="2"/>
              <a:buChar char="ü"/>
            </a:pPr>
            <a:r>
              <a:rPr lang="nl-BE" sz="2000" dirty="0"/>
              <a:t>Klasse moet één geldige </a:t>
            </a:r>
            <a:r>
              <a:rPr lang="nl-BE" sz="2000" dirty="0" err="1"/>
              <a:t>constructor</a:t>
            </a:r>
            <a:r>
              <a:rPr lang="nl-BE" sz="2000" dirty="0"/>
              <a:t> hebben waaruit DI-container kan kiezen</a:t>
            </a:r>
          </a:p>
          <a:p>
            <a:pPr marL="815363" lvl="1" indent="-457200">
              <a:buFont typeface="Wingdings" panose="05000000000000000000" pitchFamily="2" charset="2"/>
              <a:buChar char="ü"/>
            </a:pPr>
            <a:r>
              <a:rPr lang="nl-BE" sz="2000" dirty="0"/>
              <a:t>Alle parameters voor klasse moeten via DI-container kunnen geïnstantieerd worden of default-waarde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 err="1"/>
              <a:t>EmailServerSettings</a:t>
            </a:r>
            <a:r>
              <a:rPr lang="nl-BE" sz="2400" dirty="0"/>
              <a:t> voldoet niet aan deze vereisten </a:t>
            </a:r>
            <a:br>
              <a:rPr lang="nl-BE" sz="2400" dirty="0"/>
            </a:br>
            <a:r>
              <a:rPr lang="nl-BE" sz="2400" dirty="0"/>
              <a:t>(parameter voor server-naam en poortnummer)</a:t>
            </a:r>
          </a:p>
          <a:p>
            <a:pPr lvl="1"/>
            <a:r>
              <a:rPr lang="nl-BE" sz="2000" dirty="0">
                <a:sym typeface="Wingdings" panose="05000000000000000000" pitchFamily="2" charset="2"/>
              </a:rPr>
              <a:t> Instantie van klasse registreren bij DI-container (enkel via </a:t>
            </a:r>
            <a:r>
              <a:rPr lang="nl-BE" sz="1800" i="1" dirty="0" err="1">
                <a:latin typeface="Consolas" panose="020B0609020204030204" pitchFamily="49" charset="0"/>
                <a:sym typeface="Wingdings" panose="05000000000000000000" pitchFamily="2" charset="2"/>
              </a:rPr>
              <a:t>AddSingleton</a:t>
            </a:r>
            <a:r>
              <a:rPr lang="nl-BE" sz="2000" dirty="0">
                <a:sym typeface="Wingdings" panose="05000000000000000000" pitchFamily="2" charset="2"/>
              </a:rPr>
              <a:t>)</a:t>
            </a: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7B5D7-CAED-4ED4-AA29-7E665CBD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47229-E027-4FB3-93C3-6B4464E3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1B4AE2-5725-479F-9D45-447EC7A6FC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71C06-66B5-4AB8-83C5-DA38CCCECB14}"/>
              </a:ext>
            </a:extLst>
          </p:cNvPr>
          <p:cNvSpPr txBox="1"/>
          <p:nvPr/>
        </p:nvSpPr>
        <p:spPr>
          <a:xfrm>
            <a:off x="2267553" y="4477045"/>
            <a:ext cx="7100500" cy="110799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100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100">
                <a:solidFill>
                  <a:srgbClr val="663300"/>
                </a:solidFill>
                <a:latin typeface="Consolas" panose="020B0609020204030204" pitchFamily="49" charset="0"/>
              </a:rPr>
              <a:t>AddControllersWithViews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100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100">
                <a:solidFill>
                  <a:srgbClr val="663300"/>
                </a:solidFill>
                <a:latin typeface="Consolas" panose="020B0609020204030204" pitchFamily="49" charset="0"/>
              </a:rPr>
              <a:t>AddScoped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IEmailSender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100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100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100">
                <a:solidFill>
                  <a:srgbClr val="663300"/>
                </a:solidFill>
                <a:latin typeface="Consolas" panose="020B0609020204030204" pitchFamily="49" charset="0"/>
              </a:rPr>
              <a:t>AddScoped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NetworkClient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100" b="1" err="1">
                <a:solidFill>
                  <a:srgbClr val="6633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builder</a:t>
            </a:r>
            <a:r>
              <a:rPr lang="nl-BE" sz="1100" b="1">
                <a:solidFill>
                  <a:srgbClr val="6633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.Services</a:t>
            </a:r>
            <a:r>
              <a:rPr lang="en-US" sz="1100" b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100" b="1">
                <a:solidFill>
                  <a:srgbClr val="6633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AddSingleton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EmailServerSettings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"smtp.server.com"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 25));</a:t>
            </a:r>
          </a:p>
          <a:p>
            <a:r>
              <a:rPr lang="nl-BE" sz="1100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100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100">
                <a:solidFill>
                  <a:srgbClr val="663300"/>
                </a:solidFill>
                <a:latin typeface="Consolas" panose="020B0609020204030204" pitchFamily="49" charset="0"/>
              </a:rPr>
              <a:t>AddSingleton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MessageFactory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A12CDF-B389-42A1-970F-950733E522F2}"/>
              </a:ext>
            </a:extLst>
          </p:cNvPr>
          <p:cNvCxnSpPr/>
          <p:nvPr/>
        </p:nvCxnSpPr>
        <p:spPr>
          <a:xfrm flipH="1">
            <a:off x="8454136" y="5273966"/>
            <a:ext cx="43410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EE6707-C805-453A-8B92-B64BDDC93191}"/>
              </a:ext>
            </a:extLst>
          </p:cNvPr>
          <p:cNvSpPr txBox="1"/>
          <p:nvPr/>
        </p:nvSpPr>
        <p:spPr>
          <a:xfrm>
            <a:off x="8888245" y="5120077"/>
            <a:ext cx="2700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sz="1400" b="1" dirty="0"/>
              <a:t>Enkel via </a:t>
            </a:r>
            <a:r>
              <a:rPr lang="nl-BE" sz="1400" b="1" dirty="0" err="1"/>
              <a:t>AddSingleton</a:t>
            </a:r>
            <a:endParaRPr lang="nl-BE" sz="1400" b="1" dirty="0"/>
          </a:p>
        </p:txBody>
      </p:sp>
    </p:spTree>
    <p:extLst>
      <p:ext uri="{BB962C8B-B14F-4D97-AF65-F5344CB8AC3E}">
        <p14:creationId xmlns:p14="http://schemas.microsoft.com/office/powerpoint/2010/main" val="2527845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E9901-4A0A-46A9-9F4B-9C4FF56E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registreren: objecten registreren via </a:t>
            </a:r>
            <a:r>
              <a:rPr lang="nl-BE" dirty="0" err="1"/>
              <a:t>lambda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9A4FC-1CA0-40C4-A4D5-E84EE6EC2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462503"/>
            <a:ext cx="10170654" cy="249989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Eén instantie aangemaakt die opnieuw gebruikt wordt telkens wanneer instantie van deze klasse wordt opgevraagd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>
                <a:solidFill>
                  <a:srgbClr val="C00000"/>
                </a:solidFill>
              </a:rPr>
              <a:t>Enkel bruikbaar met </a:t>
            </a:r>
            <a:r>
              <a:rPr lang="nl-BE" sz="18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AddSingleton</a:t>
            </a:r>
            <a:r>
              <a:rPr lang="nl-BE" sz="2000" dirty="0">
                <a:solidFill>
                  <a:srgbClr val="C00000"/>
                </a:solidFill>
              </a:rPr>
              <a:t> </a:t>
            </a:r>
            <a:r>
              <a:rPr lang="nl-BE" sz="2000" i="1" dirty="0">
                <a:solidFill>
                  <a:srgbClr val="C00000"/>
                </a:solidFill>
              </a:rPr>
              <a:t>(zie later)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 plaats van één instantie: ook mogelijk om </a:t>
            </a:r>
            <a:r>
              <a:rPr lang="nl-BE" sz="2400" dirty="0" err="1"/>
              <a:t>Lambda-functie</a:t>
            </a:r>
            <a:r>
              <a:rPr lang="nl-BE" sz="2400" dirty="0"/>
              <a:t> mee te geven die telkens opnieuw aangeroepen wordt wanneer instantie nodig is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/>
              <a:t>NIET</a:t>
            </a:r>
            <a:r>
              <a:rPr lang="nl-BE" sz="2400" dirty="0"/>
              <a:t> beperkt tot </a:t>
            </a:r>
            <a:r>
              <a:rPr lang="nl-BE" sz="2000" i="1" dirty="0" err="1">
                <a:latin typeface="Consolas" panose="020B0609020204030204" pitchFamily="49" charset="0"/>
              </a:rPr>
              <a:t>AddSingleton</a:t>
            </a:r>
            <a:endParaRPr lang="nl-BE" sz="2400" i="1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0EC53-6A01-4188-B53F-F677570E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BBBF8-8F1A-497D-A7BF-31C6312B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90266B-938A-480C-A2ED-7391CCDB83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CC2C1-4CCF-4642-AFA7-DB8C57317B5A}"/>
              </a:ext>
            </a:extLst>
          </p:cNvPr>
          <p:cNvSpPr txBox="1"/>
          <p:nvPr/>
        </p:nvSpPr>
        <p:spPr>
          <a:xfrm>
            <a:off x="861246" y="4253747"/>
            <a:ext cx="7109736" cy="110799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100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100">
                <a:solidFill>
                  <a:srgbClr val="663300"/>
                </a:solidFill>
                <a:latin typeface="Consolas" panose="020B0609020204030204" pitchFamily="49" charset="0"/>
              </a:rPr>
              <a:t>AddControllersWithViews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100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100">
                <a:solidFill>
                  <a:srgbClr val="663300"/>
                </a:solidFill>
                <a:latin typeface="Consolas" panose="020B0609020204030204" pitchFamily="49" charset="0"/>
              </a:rPr>
              <a:t>AddScoped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IEmailSender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100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100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100">
                <a:solidFill>
                  <a:srgbClr val="663300"/>
                </a:solidFill>
                <a:latin typeface="Consolas" panose="020B0609020204030204" pitchFamily="49" charset="0"/>
              </a:rPr>
              <a:t>AddScoped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NetworkClient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en-US" sz="1100" b="1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builder</a:t>
            </a:r>
            <a:r>
              <a:rPr lang="en-US" sz="1100" b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.Services.</a:t>
            </a:r>
            <a:r>
              <a:rPr lang="en-US" sz="1100" b="1">
                <a:solidFill>
                  <a:srgbClr val="6633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AddScoped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(provider =&gt; 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EmailServerSettings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"smtp.server.com"</a:t>
            </a:r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 25));</a:t>
            </a:r>
          </a:p>
          <a:p>
            <a:r>
              <a:rPr lang="nl-BE" sz="1100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100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100">
                <a:solidFill>
                  <a:srgbClr val="663300"/>
                </a:solidFill>
                <a:latin typeface="Consolas" panose="020B0609020204030204" pitchFamily="49" charset="0"/>
              </a:rPr>
              <a:t>AddSingleton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MessageFactory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9E4D8D-F3B9-404E-813F-8FE5C81E6C45}"/>
              </a:ext>
            </a:extLst>
          </p:cNvPr>
          <p:cNvCxnSpPr/>
          <p:nvPr/>
        </p:nvCxnSpPr>
        <p:spPr>
          <a:xfrm flipH="1">
            <a:off x="7656943" y="5061526"/>
            <a:ext cx="43410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ECE621-E801-4310-A6DF-4D5546C5CBF4}"/>
              </a:ext>
            </a:extLst>
          </p:cNvPr>
          <p:cNvSpPr txBox="1"/>
          <p:nvPr/>
        </p:nvSpPr>
        <p:spPr>
          <a:xfrm>
            <a:off x="8091052" y="4810766"/>
            <a:ext cx="2700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 err="1"/>
              <a:t>Lambda</a:t>
            </a:r>
            <a:r>
              <a:rPr lang="nl-BE" sz="1400" b="1" dirty="0"/>
              <a:t> </a:t>
            </a:r>
            <a:br>
              <a:rPr lang="nl-BE" sz="1400" b="1" dirty="0"/>
            </a:br>
            <a:r>
              <a:rPr lang="nl-BE" sz="1400" b="1" dirty="0">
                <a:sym typeface="Wingdings" panose="05000000000000000000" pitchFamily="2" charset="2"/>
              </a:rPr>
              <a:t> NIET beperkt tot </a:t>
            </a:r>
            <a:r>
              <a:rPr lang="nl-BE" sz="1400" b="1" dirty="0" err="1">
                <a:sym typeface="Wingdings" panose="05000000000000000000" pitchFamily="2" charset="2"/>
              </a:rPr>
              <a:t>AddSingleton</a:t>
            </a:r>
            <a:endParaRPr lang="nl-BE" sz="1400" b="1" dirty="0"/>
          </a:p>
        </p:txBody>
      </p:sp>
    </p:spTree>
    <p:extLst>
      <p:ext uri="{BB962C8B-B14F-4D97-AF65-F5344CB8AC3E}">
        <p14:creationId xmlns:p14="http://schemas.microsoft.com/office/powerpoint/2010/main" val="2624965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4FCF-8247-4DB1-90A0-BABF4A76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registreren: Tip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40AD51-A023-4280-A0FB-9719AEB76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707" y="410716"/>
            <a:ext cx="1531786" cy="148465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5ED21-B375-4EEE-B77E-623A7B1F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8B3ED-A24D-4801-AB96-294716DC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1CC59E-4410-4EBB-8010-9822012158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B458A0-31DE-41D5-A01D-28A5A6CE01E2}"/>
              </a:ext>
            </a:extLst>
          </p:cNvPr>
          <p:cNvSpPr txBox="1"/>
          <p:nvPr/>
        </p:nvSpPr>
        <p:spPr>
          <a:xfrm>
            <a:off x="534291" y="1508435"/>
            <a:ext cx="8184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Code voor toevoegen van services wordt snel onoverzichtelijk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b="1" dirty="0"/>
              <a:t>Oplossing: </a:t>
            </a:r>
            <a:r>
              <a:rPr lang="nl-BE" sz="2000" dirty="0"/>
              <a:t>methodes groeperen in </a:t>
            </a:r>
            <a:r>
              <a:rPr lang="nl-BE" sz="2000" b="1" dirty="0">
                <a:solidFill>
                  <a:schemeClr val="accent6"/>
                </a:solidFill>
              </a:rPr>
              <a:t>Extension-</a:t>
            </a:r>
            <a:r>
              <a:rPr lang="nl-BE" sz="2000" b="1" dirty="0" err="1">
                <a:solidFill>
                  <a:schemeClr val="accent6"/>
                </a:solidFill>
              </a:rPr>
              <a:t>method</a:t>
            </a:r>
            <a:r>
              <a:rPr lang="nl-BE" sz="2000" dirty="0"/>
              <a:t> van </a:t>
            </a:r>
            <a:r>
              <a:rPr lang="nl-BE" dirty="0" err="1">
                <a:latin typeface="Consolas" panose="020B0609020204030204" pitchFamily="49" charset="0"/>
              </a:rPr>
              <a:t>IServiceCollection</a:t>
            </a:r>
            <a:r>
              <a:rPr lang="nl-BE" sz="2000" dirty="0"/>
              <a:t>-interface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CA29B-B903-4B43-A609-46F0A3D4EF82}"/>
              </a:ext>
            </a:extLst>
          </p:cNvPr>
          <p:cNvSpPr txBox="1"/>
          <p:nvPr/>
        </p:nvSpPr>
        <p:spPr>
          <a:xfrm>
            <a:off x="822291" y="2973158"/>
            <a:ext cx="7204109" cy="178510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EmailSenderServiceCollectionExtensions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IServiceCollection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AddEmailSender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IServiceCollection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services)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services.</a:t>
            </a:r>
            <a:r>
              <a:rPr lang="nl-BE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AddScoped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IEmailSender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EmailSender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services.</a:t>
            </a:r>
            <a:r>
              <a:rPr lang="nl-BE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AddScoped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NetworkClient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services.</a:t>
            </a:r>
            <a:r>
              <a:rPr lang="en-US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AddScoped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(provider =&gt;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EmailServerSettings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"smtp.server.com"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, 25));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services.</a:t>
            </a:r>
            <a:r>
              <a:rPr lang="nl-BE" sz="1100" dirty="0" err="1">
                <a:solidFill>
                  <a:schemeClr val="accent6"/>
                </a:solidFill>
                <a:latin typeface="Consolas" panose="020B0609020204030204" pitchFamily="49" charset="0"/>
              </a:rPr>
              <a:t>AddSingleton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MessageFactory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services;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397E3-8F69-4254-8D5E-7FAE22B32DFC}"/>
              </a:ext>
            </a:extLst>
          </p:cNvPr>
          <p:cNvSpPr txBox="1"/>
          <p:nvPr/>
        </p:nvSpPr>
        <p:spPr>
          <a:xfrm>
            <a:off x="822290" y="4881883"/>
            <a:ext cx="7204109" cy="6001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100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100">
                <a:solidFill>
                  <a:srgbClr val="663300"/>
                </a:solidFill>
                <a:latin typeface="Consolas" panose="020B0609020204030204" pitchFamily="49" charset="0"/>
              </a:rPr>
              <a:t>AddControllersWithViews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b="1" err="1">
                <a:solidFill>
                  <a:srgbClr val="000000"/>
                </a:solidFill>
                <a:latin typeface="Consolas" panose="020B0609020204030204" pitchFamily="49" charset="0"/>
              </a:rPr>
              <a:t>builder</a:t>
            </a:r>
            <a:r>
              <a:rPr lang="nl-BE" sz="1100" b="1">
                <a:solidFill>
                  <a:srgbClr val="000000"/>
                </a:solidFill>
                <a:latin typeface="Consolas" panose="020B0609020204030204" pitchFamily="49" charset="0"/>
              </a:rPr>
              <a:t>.Services.</a:t>
            </a:r>
            <a:r>
              <a:rPr lang="nl-BE" sz="1100" b="1">
                <a:solidFill>
                  <a:srgbClr val="663300"/>
                </a:solidFill>
                <a:latin typeface="Consolas" panose="020B0609020204030204" pitchFamily="49" charset="0"/>
              </a:rPr>
              <a:t>AddEmailSender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97275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785C-4C54-48E8-9D81-3D77E834E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Meerdere implementaties injecteren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515B1-B4F9-4CF9-B720-B7CB02814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0" y="1296000"/>
            <a:ext cx="11001927" cy="154415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Het is mogelijk om </a:t>
            </a:r>
            <a:r>
              <a:rPr lang="nl-BE" sz="2400" b="1" dirty="0">
                <a:solidFill>
                  <a:schemeClr val="accent6"/>
                </a:solidFill>
              </a:rPr>
              <a:t>meerdere instanties </a:t>
            </a:r>
            <a:r>
              <a:rPr lang="nl-BE" sz="2400" dirty="0"/>
              <a:t>van een interface te registreren in DI-container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IEnumerable</a:t>
            </a:r>
            <a:r>
              <a:rPr lang="nl-BE" sz="2400" dirty="0"/>
              <a:t> van deze interface injecteren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één instantie opgevraagd </a:t>
            </a:r>
            <a:r>
              <a:rPr lang="nl-BE" sz="2400" dirty="0">
                <a:sym typeface="Wingdings" panose="05000000000000000000" pitchFamily="2" charset="2"/>
              </a:rPr>
              <a:t> 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laatst geregistreerde </a:t>
            </a:r>
            <a:r>
              <a:rPr lang="nl-BE" sz="2400" dirty="0">
                <a:sym typeface="Wingdings" panose="05000000000000000000" pitchFamily="2" charset="2"/>
              </a:rPr>
              <a:t>type wordt aangemaakt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9BBE3-39C9-4BBB-B69B-ACDFBA74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5E4A0-9C9B-427F-B88D-7842DE711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A4199C-A928-425D-8410-7446BC8DB1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37BAC-0AA6-490A-A7A5-A48F7C8D7587}"/>
              </a:ext>
            </a:extLst>
          </p:cNvPr>
          <p:cNvSpPr txBox="1"/>
          <p:nvPr/>
        </p:nvSpPr>
        <p:spPr>
          <a:xfrm>
            <a:off x="396000" y="3278736"/>
            <a:ext cx="4064000" cy="6001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IMessageSender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SendMessage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username);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B5436-87D2-4FCC-9751-A5C3A3794C10}"/>
              </a:ext>
            </a:extLst>
          </p:cNvPr>
          <p:cNvSpPr txBox="1"/>
          <p:nvPr/>
        </p:nvSpPr>
        <p:spPr>
          <a:xfrm>
            <a:off x="396000" y="4317478"/>
            <a:ext cx="4980754" cy="93871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builder.Services.Add</a:t>
            </a:r>
            <a:r>
              <a:rPr lang="nl-BE" sz="1100" dirty="0" err="1">
                <a:solidFill>
                  <a:srgbClr val="663300"/>
                </a:solidFill>
                <a:latin typeface="Consolas" panose="020B0609020204030204" pitchFamily="49" charset="0"/>
              </a:rPr>
              <a:t>ControllersWithViews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builder.Services.Add</a:t>
            </a:r>
            <a:r>
              <a:rPr lang="nl-BE" sz="1100" b="1" dirty="0" err="1">
                <a:solidFill>
                  <a:srgbClr val="663300"/>
                </a:solidFill>
                <a:latin typeface="Consolas" panose="020B0609020204030204" pitchFamily="49" charset="0"/>
              </a:rPr>
              <a:t>Scoped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IMessageSender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EmailSender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builder.Services.Add</a:t>
            </a:r>
            <a:r>
              <a:rPr lang="nl-BE" sz="1100" b="1" dirty="0" err="1">
                <a:solidFill>
                  <a:srgbClr val="663300"/>
                </a:solidFill>
                <a:latin typeface="Consolas" panose="020B0609020204030204" pitchFamily="49" charset="0"/>
              </a:rPr>
              <a:t>Scoped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IMessageSender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SmsSender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builder.Services.Add</a:t>
            </a:r>
            <a:r>
              <a:rPr lang="nl-BE" sz="1100" b="1" dirty="0" err="1">
                <a:solidFill>
                  <a:srgbClr val="663300"/>
                </a:solidFill>
                <a:latin typeface="Consolas" panose="020B0609020204030204" pitchFamily="49" charset="0"/>
              </a:rPr>
              <a:t>Scoped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IMessageSender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1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FacebookSender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71750-0180-4938-B4FF-5B2891D4EE92}"/>
              </a:ext>
            </a:extLst>
          </p:cNvPr>
          <p:cNvSpPr txBox="1"/>
          <p:nvPr/>
        </p:nvSpPr>
        <p:spPr>
          <a:xfrm>
            <a:off x="5955189" y="3260715"/>
            <a:ext cx="5915891" cy="26314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: Controller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IEnumerable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nl-BE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IMessageSender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messageSenders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IEnumerable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nl-BE" sz="11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IMessageSender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nl-BE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messageSenders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messageSenders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messageSenders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9999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RegisterUser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username)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messageSenders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sender.</a:t>
            </a:r>
            <a:r>
              <a:rPr lang="nl-BE" sz="1100" dirty="0" err="1">
                <a:solidFill>
                  <a:srgbClr val="663300"/>
                </a:solidFill>
                <a:latin typeface="Consolas" panose="020B0609020204030204" pitchFamily="49" charset="0"/>
              </a:rPr>
              <a:t>SendMessage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(username);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663300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</p:spTree>
    <p:extLst>
      <p:ext uri="{BB962C8B-B14F-4D97-AF65-F5344CB8AC3E}">
        <p14:creationId xmlns:p14="http://schemas.microsoft.com/office/powerpoint/2010/main" val="1348125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2682-C2ED-4385-8282-BD880237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conditioneel registreren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4DE50-C631-478E-8DAA-331CD6900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861982"/>
            <a:ext cx="9281274" cy="182676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>
                <a:solidFill>
                  <a:schemeClr val="accent6"/>
                </a:solidFill>
              </a:rPr>
              <a:t>Conditioneel</a:t>
            </a:r>
            <a:r>
              <a:rPr lang="nl-BE" dirty="0"/>
              <a:t> services toevoegen via </a:t>
            </a:r>
            <a:r>
              <a:rPr lang="nl-BE" sz="2400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Try</a:t>
            </a:r>
            <a:r>
              <a:rPr lang="nl-BE" sz="2400" i="1" dirty="0" err="1">
                <a:latin typeface="Consolas" panose="020B0609020204030204" pitchFamily="49" charset="0"/>
              </a:rPr>
              <a:t>Add</a:t>
            </a:r>
            <a:r>
              <a:rPr lang="nl-BE" sz="2400" i="1" dirty="0">
                <a:latin typeface="Consolas" panose="020B0609020204030204" pitchFamily="49" charset="0"/>
              </a:rPr>
              <a:t>*</a:t>
            </a:r>
            <a:endParaRPr lang="nl-BE" i="1" dirty="0">
              <a:latin typeface="Consolas" panose="020B0609020204030204" pitchFamily="49" charset="0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reeds service van dit type geregistreerd werd, wordt nieuwe service niet opnieuw geregistreerd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Gebruik: default services in </a:t>
            </a:r>
            <a:r>
              <a:rPr lang="nl-BE" sz="2400" dirty="0" err="1"/>
              <a:t>library’s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CE4FF-0731-4DFE-AEF0-2A751FD6E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47771-C517-4506-8C82-2071D9B3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F4DBED-9440-4535-AAEE-62ED6925F7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4B942-9DD6-4E97-818C-077647A36F33}"/>
              </a:ext>
            </a:extLst>
          </p:cNvPr>
          <p:cNvSpPr txBox="1"/>
          <p:nvPr/>
        </p:nvSpPr>
        <p:spPr>
          <a:xfrm>
            <a:off x="678291" y="4043239"/>
            <a:ext cx="10774800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200" dirty="0" err="1">
                <a:solidFill>
                  <a:srgbClr val="663300"/>
                </a:solidFill>
                <a:latin typeface="Consolas" panose="020B0609020204030204" pitchFamily="49" charset="0"/>
              </a:rPr>
              <a:t>AddControllersWithViews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200" dirty="0" err="1">
                <a:solidFill>
                  <a:srgbClr val="663300"/>
                </a:solidFill>
                <a:latin typeface="Consolas" panose="020B0609020204030204" pitchFamily="49" charset="0"/>
              </a:rPr>
              <a:t>AddScoped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009999"/>
                </a:solidFill>
                <a:latin typeface="Consolas" panose="020B0609020204030204" pitchFamily="49" charset="0"/>
              </a:rPr>
              <a:t>IMessageSender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dirty="0" err="1">
                <a:solidFill>
                  <a:srgbClr val="009999"/>
                </a:solidFill>
                <a:latin typeface="Consolas" panose="020B0609020204030204" pitchFamily="49" charset="0"/>
              </a:rPr>
              <a:t>EmailSender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en-US" sz="1200" dirty="0" err="1">
                <a:solidFill>
                  <a:srgbClr val="663300"/>
                </a:solidFill>
                <a:latin typeface="Consolas" panose="020B0609020204030204" pitchFamily="49" charset="0"/>
              </a:rPr>
              <a:t>TryAddScoped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009999"/>
                </a:solidFill>
                <a:latin typeface="Consolas" panose="020B0609020204030204" pitchFamily="49" charset="0"/>
              </a:rPr>
              <a:t>IMessageSender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9999"/>
                </a:solidFill>
                <a:latin typeface="Consolas" panose="020B0609020204030204" pitchFamily="49" charset="0"/>
              </a:rPr>
              <a:t>FacebookSender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&gt;();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//ignored --&gt; instance for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IMessageSender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already registered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55067-B92D-4225-9B00-C663E5213A97}"/>
              </a:ext>
            </a:extLst>
          </p:cNvPr>
          <p:cNvSpPr txBox="1"/>
          <p:nvPr/>
        </p:nvSpPr>
        <p:spPr>
          <a:xfrm>
            <a:off x="678291" y="5440218"/>
            <a:ext cx="10377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u="sng" dirty="0"/>
              <a:t>Opmerking:</a:t>
            </a:r>
            <a:r>
              <a:rPr lang="nl-BE" dirty="0"/>
              <a:t> </a:t>
            </a:r>
            <a:r>
              <a:rPr lang="nl-BE" dirty="0" err="1"/>
              <a:t>namespace</a:t>
            </a:r>
            <a:r>
              <a:rPr lang="nl-BE" dirty="0"/>
              <a:t> </a:t>
            </a:r>
            <a:r>
              <a:rPr lang="en-US" sz="1600" i="1" dirty="0" err="1">
                <a:latin typeface="Consolas" panose="020B0609020204030204" pitchFamily="49" charset="0"/>
              </a:rPr>
              <a:t>Microsoft.Extensions.DependencyInjection.Extensions</a:t>
            </a:r>
            <a:r>
              <a:rPr lang="en-US" dirty="0"/>
              <a:t> </a:t>
            </a:r>
            <a:r>
              <a:rPr lang="en-US" dirty="0" err="1"/>
              <a:t>importeren</a:t>
            </a:r>
            <a:endParaRPr lang="en-US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69035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D4DD-4BA3-4389-8DC3-D04BA3E1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injecteren in Action-</a:t>
            </a:r>
            <a:r>
              <a:rPr lang="nl-BE" dirty="0" err="1"/>
              <a:t>methods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C55EB-605C-46D7-98C2-D8DAB981A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163" y="1883734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Indien service in </a:t>
            </a:r>
            <a:r>
              <a:rPr lang="nl-BE" b="1" dirty="0" err="1">
                <a:solidFill>
                  <a:srgbClr val="663300"/>
                </a:solidFill>
              </a:rPr>
              <a:t>constructor</a:t>
            </a:r>
            <a:r>
              <a:rPr lang="nl-BE" dirty="0"/>
              <a:t> geïnjecteerd wordt: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Service wordt </a:t>
            </a:r>
            <a:r>
              <a:rPr lang="nl-BE" sz="2400" b="1" dirty="0">
                <a:solidFill>
                  <a:srgbClr val="663300"/>
                </a:solidFill>
              </a:rPr>
              <a:t>telkens</a:t>
            </a:r>
            <a:r>
              <a:rPr lang="nl-BE" sz="2400" dirty="0"/>
              <a:t> aangemaakt, ook indien geen van de Action-</a:t>
            </a:r>
            <a:r>
              <a:rPr lang="nl-BE" sz="2400" dirty="0" err="1"/>
              <a:t>methods</a:t>
            </a:r>
            <a:r>
              <a:rPr lang="nl-BE" sz="2400" dirty="0"/>
              <a:t> in de controller deze nodig heeft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Onnodig aanmaken van services </a:t>
            </a:r>
            <a:r>
              <a:rPr lang="nl-BE" sz="2400" dirty="0">
                <a:sym typeface="Wingdings" panose="05000000000000000000" pitchFamily="2" charset="2"/>
              </a:rPr>
              <a:t> </a:t>
            </a:r>
            <a:r>
              <a:rPr lang="nl-BE" sz="2400" b="1" dirty="0" err="1">
                <a:solidFill>
                  <a:srgbClr val="663300"/>
                </a:solidFill>
                <a:sym typeface="Wingdings" panose="05000000000000000000" pitchFamily="2" charset="2"/>
              </a:rPr>
              <a:t>performantie</a:t>
            </a:r>
            <a:r>
              <a:rPr lang="nl-BE" sz="2400" dirty="0">
                <a:sym typeface="Wingdings" panose="05000000000000000000" pitchFamily="2" charset="2"/>
              </a:rPr>
              <a:t>-kost!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Oplossing: </a:t>
            </a:r>
            <a:r>
              <a:rPr lang="nl-BE" sz="2400" dirty="0"/>
              <a:t>services injecteren in </a:t>
            </a:r>
            <a:r>
              <a:rPr lang="nl-BE" sz="2400" b="1" dirty="0">
                <a:solidFill>
                  <a:srgbClr val="663300"/>
                </a:solidFill>
              </a:rPr>
              <a:t>Action-</a:t>
            </a:r>
            <a:r>
              <a:rPr lang="nl-BE" sz="2400" b="1" dirty="0" err="1">
                <a:solidFill>
                  <a:srgbClr val="663300"/>
                </a:solidFill>
              </a:rPr>
              <a:t>methods</a:t>
            </a:r>
            <a:r>
              <a:rPr lang="nl-BE" sz="2400" dirty="0"/>
              <a:t> die deze service gebruiken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Via </a:t>
            </a:r>
            <a:r>
              <a:rPr lang="nl-BE" sz="2400" b="1" dirty="0">
                <a:solidFill>
                  <a:srgbClr val="663300"/>
                </a:solidFill>
              </a:rPr>
              <a:t>parameter</a:t>
            </a:r>
            <a:r>
              <a:rPr lang="nl-BE" sz="2400" dirty="0"/>
              <a:t> en </a:t>
            </a:r>
            <a:r>
              <a:rPr lang="nl-BE" sz="2000" b="1" dirty="0">
                <a:solidFill>
                  <a:srgbClr val="663300"/>
                </a:solidFill>
                <a:latin typeface="Consolas" panose="020B0609020204030204" pitchFamily="49" charset="0"/>
              </a:rPr>
              <a:t>[</a:t>
            </a:r>
            <a:r>
              <a:rPr lang="nl-BE" sz="2000" b="1" dirty="0" err="1">
                <a:solidFill>
                  <a:srgbClr val="663300"/>
                </a:solidFill>
                <a:latin typeface="Consolas" panose="020B0609020204030204" pitchFamily="49" charset="0"/>
              </a:rPr>
              <a:t>FromServices</a:t>
            </a:r>
            <a:r>
              <a:rPr lang="nl-BE" sz="2000" b="1" dirty="0">
                <a:solidFill>
                  <a:srgbClr val="663300"/>
                </a:solidFill>
                <a:latin typeface="Consolas" panose="020B0609020204030204" pitchFamily="49" charset="0"/>
              </a:rPr>
              <a:t>]</a:t>
            </a:r>
            <a:r>
              <a:rPr lang="nl-BE" sz="2400" dirty="0"/>
              <a:t>-attribuut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5600B-EF29-4BD9-9964-36396EA4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AA947-F18F-4961-BE9D-06CF968C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106A0B-CC17-4025-8386-FCD7D01B23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7477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D4DD-4BA3-4389-8DC3-D04BA3E1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injecteren in Action-</a:t>
            </a:r>
            <a:r>
              <a:rPr lang="nl-BE" dirty="0" err="1"/>
              <a:t>methods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C55EB-605C-46D7-98C2-D8DAB981A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551225"/>
            <a:ext cx="9281274" cy="47153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Voorbeeld Action-</a:t>
            </a:r>
            <a:r>
              <a:rPr lang="nl-BE" dirty="0" err="1"/>
              <a:t>method</a:t>
            </a:r>
            <a:r>
              <a:rPr lang="nl-BE" dirty="0"/>
              <a:t> </a:t>
            </a:r>
            <a:r>
              <a:rPr lang="nl-BE" dirty="0" err="1"/>
              <a:t>injection</a:t>
            </a:r>
            <a:r>
              <a:rPr lang="nl-BE" dirty="0"/>
              <a:t>: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5600B-EF29-4BD9-9964-36396EA4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AA947-F18F-4961-BE9D-06CF968C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106A0B-CC17-4025-8386-FCD7D01B23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D9A46-132F-44F2-B914-C32763FF3EFF}"/>
              </a:ext>
            </a:extLst>
          </p:cNvPr>
          <p:cNvSpPr txBox="1"/>
          <p:nvPr/>
        </p:nvSpPr>
        <p:spPr>
          <a:xfrm>
            <a:off x="1089891" y="2161308"/>
            <a:ext cx="8866909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009999"/>
                </a:solidFill>
                <a:latin typeface="Consolas" panose="020B0609020204030204" pitchFamily="49" charset="0"/>
              </a:rPr>
              <a:t>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//no </a:t>
            </a:r>
            <a:r>
              <a:rPr lang="nl-B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constructor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injection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9999"/>
                </a:solidFill>
                <a:latin typeface="Consolas" panose="020B06090202040302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RegisterUser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nl-BE" sz="12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FromServices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r>
              <a:rPr lang="nl-BE" sz="1200" b="1" dirty="0" err="1">
                <a:solidFill>
                  <a:srgbClr val="0099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IMessageService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messageService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username)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messageService.</a:t>
            </a:r>
            <a:r>
              <a:rPr lang="nl-BE" sz="1200" dirty="0" err="1">
                <a:solidFill>
                  <a:srgbClr val="663300"/>
                </a:solidFill>
                <a:latin typeface="Consolas" panose="020B0609020204030204" pitchFamily="49" charset="0"/>
              </a:rPr>
              <a:t>SendMessage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(username);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663300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03D1AF-5FD5-4C16-8CBE-75A5F30CC39D}"/>
              </a:ext>
            </a:extLst>
          </p:cNvPr>
          <p:cNvSpPr txBox="1"/>
          <p:nvPr/>
        </p:nvSpPr>
        <p:spPr>
          <a:xfrm>
            <a:off x="988291" y="4834726"/>
            <a:ext cx="9107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i="1" dirty="0"/>
              <a:t>Opmerking: </a:t>
            </a:r>
            <a:r>
              <a:rPr lang="nl-BE" i="1" dirty="0"/>
              <a:t>gebruik enkel indien </a:t>
            </a:r>
            <a:r>
              <a:rPr lang="nl-BE" i="1" dirty="0" err="1"/>
              <a:t>dependency</a:t>
            </a:r>
            <a:r>
              <a:rPr lang="nl-BE" i="1" dirty="0"/>
              <a:t> in één Action-</a:t>
            </a:r>
            <a:r>
              <a:rPr lang="nl-BE" i="1" dirty="0" err="1"/>
              <a:t>method</a:t>
            </a:r>
            <a:r>
              <a:rPr lang="nl-BE" i="1" dirty="0"/>
              <a:t> gebruikt wordt en creatie </a:t>
            </a:r>
            <a:r>
              <a:rPr lang="nl-BE" i="1"/>
              <a:t>lang duurt. Gebruik </a:t>
            </a:r>
            <a:r>
              <a:rPr lang="nl-BE" i="1" dirty="0"/>
              <a:t>default altijd </a:t>
            </a:r>
            <a:r>
              <a:rPr lang="nl-BE" i="1" dirty="0" err="1"/>
              <a:t>constructor-injection</a:t>
            </a:r>
            <a:r>
              <a:rPr lang="nl-BE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2370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19E7-4E30-4125-B9B8-34F7C7AD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 injecteren in View-templates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70ED-560A-44DF-952D-E5FE66ED8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511222"/>
            <a:ext cx="9749822" cy="130844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Mogelijkheid om </a:t>
            </a:r>
            <a:r>
              <a:rPr lang="nl-BE" sz="2400" dirty="0" err="1"/>
              <a:t>dependencies</a:t>
            </a:r>
            <a:r>
              <a:rPr lang="nl-BE" sz="2400" dirty="0"/>
              <a:t> rechtstreeks in View-template te injecteren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Enkel voor View-gerelateerde zaken! Gebruik services met business-logica enkel in model/controller, NOOIT in View!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9F6DC-96B3-47AB-8EDC-1D83711D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D4F40-30D4-48ED-B3EB-F85E1EE1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10F694-1EA0-443C-99A5-439A83AF9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0E7EC8-29CE-4B1A-A5B6-F3591C2627C0}"/>
              </a:ext>
            </a:extLst>
          </p:cNvPr>
          <p:cNvSpPr txBox="1"/>
          <p:nvPr/>
        </p:nvSpPr>
        <p:spPr>
          <a:xfrm>
            <a:off x="861246" y="3271981"/>
            <a:ext cx="5495382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200" dirty="0" err="1">
                <a:solidFill>
                  <a:srgbClr val="663300"/>
                </a:solidFill>
                <a:latin typeface="Consolas" panose="020B0609020204030204" pitchFamily="49" charset="0"/>
              </a:rPr>
              <a:t>AddControllersWithViews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</a:t>
            </a:r>
            <a:r>
              <a:rPr lang="nl-BE" sz="1200" dirty="0" err="1">
                <a:solidFill>
                  <a:srgbClr val="663300"/>
                </a:solidFill>
                <a:latin typeface="Consolas" panose="020B0609020204030204" pitchFamily="49" charset="0"/>
              </a:rPr>
              <a:t>AddSingleton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009999"/>
                </a:solidFill>
                <a:latin typeface="Consolas" panose="020B0609020204030204" pitchFamily="49" charset="0"/>
              </a:rPr>
              <a:t>IHtmlHelper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dirty="0" err="1">
                <a:solidFill>
                  <a:srgbClr val="009999"/>
                </a:solidFill>
                <a:latin typeface="Consolas" panose="020B0609020204030204" pitchFamily="49" charset="0"/>
              </a:rPr>
              <a:t>HtmlHelper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5D049-B326-4CA5-BC7B-8D9C5C55CA72}"/>
              </a:ext>
            </a:extLst>
          </p:cNvPr>
          <p:cNvSpPr txBox="1"/>
          <p:nvPr/>
        </p:nvSpPr>
        <p:spPr>
          <a:xfrm>
            <a:off x="864746" y="4739963"/>
            <a:ext cx="5495382" cy="10156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inject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b="1" dirty="0" err="1">
                <a:solidFill>
                  <a:srgbClr val="009999"/>
                </a:solidFill>
                <a:latin typeface="Consolas" panose="020B0609020204030204" pitchFamily="49" charset="0"/>
              </a:rPr>
              <a:t>IHtmlHelper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helper</a:t>
            </a:r>
          </a:p>
          <a:p>
            <a:endParaRPr lang="nl-BE" sz="12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footer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helper.</a:t>
            </a:r>
            <a:r>
              <a:rPr lang="nl-BE" sz="1200" dirty="0" err="1">
                <a:solidFill>
                  <a:srgbClr val="663300"/>
                </a:solidFill>
                <a:latin typeface="Consolas" panose="020B0609020204030204" pitchFamily="49" charset="0"/>
              </a:rPr>
              <a:t>Copyright</a:t>
            </a:r>
            <a:r>
              <a:rPr lang="nl-BE" sz="1200" dirty="0">
                <a:solidFill>
                  <a:srgbClr val="6633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footer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71925-C50D-4AD4-AA81-E949D9B7CE05}"/>
              </a:ext>
            </a:extLst>
          </p:cNvPr>
          <p:cNvSpPr txBox="1"/>
          <p:nvPr/>
        </p:nvSpPr>
        <p:spPr>
          <a:xfrm>
            <a:off x="822291" y="2942955"/>
            <a:ext cx="2687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Program.cs</a:t>
            </a:r>
            <a:r>
              <a:rPr lang="nl-BE" sz="1600" b="1" u="sng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89760-2600-4267-9D74-996FFC3D95D3}"/>
              </a:ext>
            </a:extLst>
          </p:cNvPr>
          <p:cNvSpPr txBox="1"/>
          <p:nvPr/>
        </p:nvSpPr>
        <p:spPr>
          <a:xfrm>
            <a:off x="861246" y="4379521"/>
            <a:ext cx="26877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_</a:t>
            </a:r>
            <a:r>
              <a:rPr lang="nl-BE" sz="1600" b="1" u="sng" dirty="0" err="1"/>
              <a:t>Layout.cshtml</a:t>
            </a:r>
            <a:r>
              <a:rPr lang="nl-BE" sz="1600" b="1" u="sng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73670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DD66-D64C-4530-A6C2-EEEF0D6EA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Lifetimes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B643C-3ED8-4134-B59E-7DA838B44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2D6D3-8BFA-4929-B973-7D6DC9CC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1A09D-B9DB-4753-81FC-BF3FFADA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F87699-95EE-4E08-A458-92329AD341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80001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BE31-9753-42A5-B6D7-7DF9253D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Lifetimes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6D1A-DB03-45B7-A1E7-9AF5D9E6E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314721"/>
            <a:ext cx="10752545" cy="454429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Wanneer klasse </a:t>
            </a:r>
            <a:r>
              <a:rPr lang="nl-BE" sz="2400" dirty="0" err="1"/>
              <a:t>dependency</a:t>
            </a:r>
            <a:r>
              <a:rPr lang="nl-BE" sz="2400" dirty="0"/>
              <a:t> nodig heeft, zorgt DI-container voor </a:t>
            </a:r>
            <a:br>
              <a:rPr lang="nl-BE" sz="2400" dirty="0"/>
            </a:br>
            <a:r>
              <a:rPr lang="nl-BE" sz="2400" dirty="0"/>
              <a:t>juiste instantie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Keuze: nieuwe instantie aanmaken? Bestaande instantie hergebruiken?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Wordt bepaald door </a:t>
            </a:r>
            <a:r>
              <a:rPr lang="nl-BE" sz="2400" b="1" dirty="0" err="1">
                <a:solidFill>
                  <a:schemeClr val="accent6"/>
                </a:solidFill>
              </a:rPr>
              <a:t>Lifetime</a:t>
            </a:r>
            <a:r>
              <a:rPr lang="nl-BE" sz="2400" dirty="0"/>
              <a:t> van service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accent6"/>
                </a:solidFill>
              </a:rPr>
              <a:t>Lifetime</a:t>
            </a:r>
            <a:r>
              <a:rPr lang="nl-BE" sz="2400" dirty="0"/>
              <a:t> = hoe lang service in container “leeft” alvorens DI-container nieuwe instantie aanmaakt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Mogelijkheden: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 err="1">
                <a:solidFill>
                  <a:schemeClr val="accent6"/>
                </a:solidFill>
              </a:rPr>
              <a:t>Transient</a:t>
            </a:r>
            <a:r>
              <a:rPr lang="nl-BE" sz="2000" b="1" dirty="0"/>
              <a:t>:</a:t>
            </a:r>
            <a:r>
              <a:rPr lang="nl-BE" sz="2000" dirty="0"/>
              <a:t> wanneer service aangevraagd wordt, maakt DI-container </a:t>
            </a:r>
            <a:r>
              <a:rPr lang="nl-BE" sz="2000" b="1" dirty="0"/>
              <a:t>telkens nieuwe instantie</a:t>
            </a:r>
            <a:r>
              <a:rPr lang="nl-BE" sz="2000" dirty="0"/>
              <a:t> aan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 err="1">
                <a:solidFill>
                  <a:schemeClr val="accent6"/>
                </a:solidFill>
              </a:rPr>
              <a:t>Scoped</a:t>
            </a:r>
            <a:r>
              <a:rPr lang="nl-BE" sz="2000" b="1" dirty="0"/>
              <a:t>: </a:t>
            </a:r>
            <a:r>
              <a:rPr lang="nl-BE" sz="2000" dirty="0"/>
              <a:t>zelfde instantie wordt hergebruikt voor alle gebruiken binnen </a:t>
            </a:r>
            <a:r>
              <a:rPr lang="nl-BE" sz="2000" b="1" dirty="0"/>
              <a:t>dezelfde</a:t>
            </a:r>
            <a:r>
              <a:rPr lang="nl-BE" sz="2000" dirty="0"/>
              <a:t> </a:t>
            </a:r>
            <a:r>
              <a:rPr lang="nl-BE" sz="2000" b="1" dirty="0" err="1"/>
              <a:t>request</a:t>
            </a:r>
            <a:endParaRPr lang="nl-BE" sz="2000" b="1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>
                <a:solidFill>
                  <a:schemeClr val="accent6"/>
                </a:solidFill>
              </a:rPr>
              <a:t>Singleton</a:t>
            </a:r>
            <a:r>
              <a:rPr lang="nl-BE" sz="2000" dirty="0"/>
              <a:t>: één instantie voor de </a:t>
            </a:r>
            <a:r>
              <a:rPr lang="nl-BE" sz="2000" b="1" dirty="0"/>
              <a:t>volledige applicatie </a:t>
            </a:r>
            <a:r>
              <a:rPr lang="nl-BE" sz="2000" dirty="0"/>
              <a:t>(alle </a:t>
            </a:r>
            <a:r>
              <a:rPr lang="nl-BE" sz="2000" dirty="0" err="1"/>
              <a:t>requests</a:t>
            </a:r>
            <a:r>
              <a:rPr lang="nl-BE" sz="2000" dirty="0"/>
              <a:t> gebruiken zelfde instantie)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BE076-A611-4861-A4A3-38C569DA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DD017-C2B8-4C62-9FF6-F4FD1B28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E44E3A-39E5-450D-840A-B893FE64C0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15050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D3B1-8FC3-4A1E-B4A8-4D0A36A7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Lifetimes</a:t>
            </a:r>
            <a:r>
              <a:rPr lang="nl-BE" dirty="0"/>
              <a:t>: </a:t>
            </a:r>
            <a:r>
              <a:rPr lang="nl-BE" dirty="0" err="1"/>
              <a:t>Transient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C12D0-7D81-4877-BC30-2E8B92C89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46" y="2470958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Transient</a:t>
            </a:r>
            <a:r>
              <a:rPr lang="nl-BE" dirty="0"/>
              <a:t>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Nood aan </a:t>
            </a:r>
            <a:r>
              <a:rPr lang="nl-BE" sz="2400" dirty="0" err="1"/>
              <a:t>dependency</a:t>
            </a:r>
            <a:r>
              <a:rPr lang="nl-BE" sz="2400" dirty="0"/>
              <a:t> </a:t>
            </a:r>
            <a:r>
              <a:rPr lang="nl-BE" sz="2400" dirty="0">
                <a:sym typeface="Wingdings" panose="05000000000000000000" pitchFamily="2" charset="2"/>
              </a:rPr>
              <a:t> 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nieuwe instantie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Verschillende instanties van eenzelfde klasse mogelijk binnen eenzelfde “</a:t>
            </a:r>
            <a:r>
              <a:rPr lang="nl-BE" sz="2400" dirty="0" err="1">
                <a:sym typeface="Wingdings" panose="05000000000000000000" pitchFamily="2" charset="2"/>
              </a:rPr>
              <a:t>dependency</a:t>
            </a:r>
            <a:r>
              <a:rPr lang="nl-BE" sz="2400" dirty="0">
                <a:sym typeface="Wingdings" panose="05000000000000000000" pitchFamily="2" charset="2"/>
              </a:rPr>
              <a:t> </a:t>
            </a:r>
            <a:r>
              <a:rPr lang="nl-BE" sz="2400" dirty="0" err="1">
                <a:sym typeface="Wingdings" panose="05000000000000000000" pitchFamily="2" charset="2"/>
              </a:rPr>
              <a:t>graph</a:t>
            </a:r>
            <a:r>
              <a:rPr lang="nl-BE" sz="2400" dirty="0">
                <a:sym typeface="Wingdings" panose="05000000000000000000" pitchFamily="2" charset="2"/>
              </a:rPr>
              <a:t>”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Veel objecten </a:t>
            </a:r>
            <a:r>
              <a:rPr lang="nl-BE" sz="2400" dirty="0">
                <a:sym typeface="Wingdings" panose="05000000000000000000" pitchFamily="2" charset="2"/>
              </a:rPr>
              <a:t>aangemaakt  </a:t>
            </a:r>
            <a:r>
              <a:rPr lang="nl-BE" sz="24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performantie</a:t>
            </a:r>
            <a:r>
              <a:rPr lang="nl-BE" sz="2400" dirty="0">
                <a:sym typeface="Wingdings" panose="05000000000000000000" pitchFamily="2" charset="2"/>
              </a:rPr>
              <a:t>! 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Service registreren via </a:t>
            </a:r>
            <a:r>
              <a:rPr lang="nl-BE" sz="2000" b="1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AddTransient</a:t>
            </a:r>
            <a:endParaRPr lang="nl-BE" sz="2400" b="1" i="1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75816-CA2E-42D1-8D81-D6C385F7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9E91F-AE26-46D5-85F8-5A481684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20A217-6E32-4764-A3B1-5F38ABE215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42462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D3B1-8FC3-4A1E-B4A8-4D0A36A7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Lifetimes</a:t>
            </a:r>
            <a:r>
              <a:rPr lang="nl-BE" dirty="0"/>
              <a:t>: </a:t>
            </a:r>
            <a:r>
              <a:rPr lang="nl-BE" dirty="0" err="1"/>
              <a:t>Scoped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C12D0-7D81-4877-BC30-2E8B92C89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2193867"/>
            <a:ext cx="9936063" cy="348649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 err="1"/>
              <a:t>Scoped</a:t>
            </a:r>
            <a:r>
              <a:rPr lang="nl-BE" dirty="0"/>
              <a:t>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Nood aan </a:t>
            </a:r>
            <a:r>
              <a:rPr lang="nl-BE" sz="2400" dirty="0" err="1"/>
              <a:t>dependency</a:t>
            </a:r>
            <a:r>
              <a:rPr lang="nl-BE" sz="2400" dirty="0"/>
              <a:t> </a:t>
            </a:r>
            <a:r>
              <a:rPr lang="nl-BE" sz="2400" dirty="0">
                <a:sym typeface="Wingdings" panose="05000000000000000000" pitchFamily="2" charset="2"/>
              </a:rPr>
              <a:t> 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één instantie/</a:t>
            </a:r>
            <a:r>
              <a:rPr lang="nl-BE" sz="24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request</a:t>
            </a:r>
            <a:endParaRPr lang="nl-BE" sz="2400" b="1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Indien 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binnen zelfde </a:t>
            </a:r>
            <a:r>
              <a:rPr lang="nl-BE" sz="24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request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 </a:t>
            </a:r>
            <a:r>
              <a:rPr lang="nl-BE" sz="2400" dirty="0">
                <a:sym typeface="Wingdings" panose="05000000000000000000" pitchFamily="2" charset="2"/>
              </a:rPr>
              <a:t>opnieuw </a:t>
            </a:r>
            <a:r>
              <a:rPr lang="nl-BE" sz="2400" dirty="0" err="1">
                <a:sym typeface="Wingdings" panose="05000000000000000000" pitchFamily="2" charset="2"/>
              </a:rPr>
              <a:t>dependency</a:t>
            </a:r>
            <a:r>
              <a:rPr lang="nl-BE" sz="2400" dirty="0">
                <a:sym typeface="Wingdings" panose="05000000000000000000" pitchFamily="2" charset="2"/>
              </a:rPr>
              <a:t> nodig</a:t>
            </a:r>
            <a:br>
              <a:rPr lang="nl-BE" sz="2400" dirty="0">
                <a:sym typeface="Wingdings" panose="05000000000000000000" pitchFamily="2" charset="2"/>
              </a:rPr>
            </a:br>
            <a:r>
              <a:rPr lang="nl-BE" sz="2400" dirty="0">
                <a:sym typeface="Wingdings" panose="05000000000000000000" pitchFamily="2" charset="2"/>
              </a:rPr>
              <a:t>  zelfde instantie terug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Services delen binnen eenzelfde </a:t>
            </a:r>
            <a:r>
              <a:rPr lang="nl-BE" sz="2400" dirty="0" err="1"/>
              <a:t>request</a:t>
            </a:r>
            <a:r>
              <a:rPr lang="nl-BE" sz="2400" dirty="0"/>
              <a:t>, niet tussen verschillende </a:t>
            </a:r>
            <a:r>
              <a:rPr lang="nl-BE" sz="2400" dirty="0" err="1"/>
              <a:t>request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Voorbeelden: </a:t>
            </a:r>
            <a:r>
              <a:rPr lang="nl-BE" sz="2400" dirty="0" err="1">
                <a:sym typeface="Wingdings" panose="05000000000000000000" pitchFamily="2" charset="2"/>
              </a:rPr>
              <a:t>DataContext</a:t>
            </a:r>
            <a:r>
              <a:rPr lang="nl-BE" sz="2400" dirty="0">
                <a:sym typeface="Wingdings" panose="05000000000000000000" pitchFamily="2" charset="2"/>
              </a:rPr>
              <a:t>, Authenticatie-services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Service registreren via </a:t>
            </a:r>
            <a:r>
              <a:rPr lang="nl-BE" sz="2000" b="1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AddScoped</a:t>
            </a:r>
            <a:endParaRPr lang="nl-BE" sz="2400" b="1" i="1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75816-CA2E-42D1-8D81-D6C385F7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9E91F-AE26-46D5-85F8-5A481684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20A217-6E32-4764-A3B1-5F38ABE215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9523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D3B1-8FC3-4A1E-B4A8-4D0A36A7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Lifetimes</a:t>
            </a:r>
            <a:r>
              <a:rPr lang="nl-BE" dirty="0"/>
              <a:t>: </a:t>
            </a:r>
            <a:r>
              <a:rPr lang="nl-BE" dirty="0" err="1"/>
              <a:t>Scoped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C12D0-7D81-4877-BC30-2E8B92C89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2193867"/>
            <a:ext cx="9936063" cy="348649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Singleton: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Eén instantie </a:t>
            </a:r>
            <a:r>
              <a:rPr lang="nl-BE" sz="2400" dirty="0"/>
              <a:t>van service binnen volledige applicatie</a:t>
            </a:r>
            <a:endParaRPr lang="nl-BE" sz="2400" b="1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Wordt opnieuw gebruikt voor alle aanvragen binnen zelfde </a:t>
            </a:r>
            <a:r>
              <a:rPr lang="nl-BE" sz="2400" dirty="0" err="1">
                <a:sym typeface="Wingdings" panose="05000000000000000000" pitchFamily="2" charset="2"/>
              </a:rPr>
              <a:t>request</a:t>
            </a:r>
            <a:r>
              <a:rPr lang="nl-BE" sz="2400" dirty="0">
                <a:sym typeface="Wingdings" panose="05000000000000000000" pitchFamily="2" charset="2"/>
              </a:rPr>
              <a:t> en verschillende </a:t>
            </a:r>
            <a:r>
              <a:rPr lang="nl-BE" sz="2400" dirty="0" err="1">
                <a:sym typeface="Wingdings" panose="05000000000000000000" pitchFamily="2" charset="2"/>
              </a:rPr>
              <a:t>requests</a:t>
            </a:r>
            <a:r>
              <a:rPr lang="nl-BE" sz="2400" dirty="0">
                <a:sym typeface="Wingdings" panose="05000000000000000000" pitchFamily="2" charset="2"/>
              </a:rPr>
              <a:t> (van verschillende gebruikers)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Enkel indien service 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geen “state” </a:t>
            </a:r>
            <a:r>
              <a:rPr lang="nl-BE" sz="2400" dirty="0">
                <a:sym typeface="Wingdings" panose="05000000000000000000" pitchFamily="2" charset="2"/>
              </a:rPr>
              <a:t>bijhoudt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Service registreren via </a:t>
            </a:r>
            <a:r>
              <a:rPr lang="nl-BE" sz="2000" b="1" i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AddSingleton</a:t>
            </a:r>
            <a:endParaRPr lang="nl-BE" sz="2400" b="1" i="1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75816-CA2E-42D1-8D81-D6C385F7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9E91F-AE26-46D5-85F8-5A481684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20A217-6E32-4764-A3B1-5F38ABE215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44195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DA22B-E27D-4788-AB05-6D2DC6E1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Lifetimes</a:t>
            </a:r>
            <a:r>
              <a:rPr lang="nl-BE" dirty="0"/>
              <a:t>: waarschuwing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AF3BE-65B7-415F-B645-C1A33B40B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296000"/>
            <a:ext cx="9281274" cy="117010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Opgelet: </a:t>
            </a:r>
            <a:r>
              <a:rPr lang="nl-BE" dirty="0"/>
              <a:t>een service mag enkel </a:t>
            </a:r>
            <a:r>
              <a:rPr lang="nl-BE" dirty="0" err="1"/>
              <a:t>dependencies</a:t>
            </a:r>
            <a:r>
              <a:rPr lang="nl-BE" dirty="0"/>
              <a:t> gebruiken met eenzelfde of een langere </a:t>
            </a:r>
            <a:r>
              <a:rPr lang="nl-BE" dirty="0" err="1"/>
              <a:t>lifetime</a:t>
            </a:r>
            <a:r>
              <a:rPr lang="nl-BE" dirty="0"/>
              <a:t>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3E720-F43D-4183-9046-74E5A96B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BAD-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40CA5-25DA-490C-BAA2-904697255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F45BCE-860F-42B5-BA55-E31BE707A3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C392D5-10A5-4B65-974A-D021FA2E0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419204"/>
              </p:ext>
            </p:extLst>
          </p:nvPr>
        </p:nvGraphicFramePr>
        <p:xfrm>
          <a:off x="2124363" y="3028757"/>
          <a:ext cx="8128000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687310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75915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109327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620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sz="2000" baseline="-25000" dirty="0"/>
                        <a:t>Service            </a:t>
                      </a:r>
                      <a:r>
                        <a:rPr lang="nl-BE" sz="2000" baseline="30000" dirty="0" err="1"/>
                        <a:t>Dependency</a:t>
                      </a:r>
                      <a:endParaRPr lang="nl-BE" sz="2000" baseline="30000" dirty="0"/>
                    </a:p>
                  </a:txBody>
                  <a:tcPr>
                    <a:lnTlToB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 err="1"/>
                        <a:t>Transient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 err="1"/>
                        <a:t>Scoped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Singleton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920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 err="1"/>
                        <a:t>Transient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459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 err="1"/>
                        <a:t>Scoped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282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Singleton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71325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14EBAD2-C701-4C20-BD9D-724942D67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764" y="3415874"/>
            <a:ext cx="354563" cy="354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8FC91E-866B-408C-8BF4-21C4B273D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675" y="3415873"/>
            <a:ext cx="354563" cy="354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0AE128-A736-461A-9290-07FC86530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304" y="3415872"/>
            <a:ext cx="354563" cy="354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873AEA-2716-4321-AE39-554DB8D96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674" y="3833315"/>
            <a:ext cx="354563" cy="3545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00C629-0DDA-49EB-9F7C-102CC7691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303" y="3833315"/>
            <a:ext cx="354563" cy="3545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640726-128E-4AAC-85DF-3C2307A70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303" y="4172716"/>
            <a:ext cx="354563" cy="3545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1BAECD-EC59-459B-926E-5461F6026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927" y="3770435"/>
            <a:ext cx="356400" cy="356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3F61A0-F1F8-40A7-822B-17EC130E4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927" y="4158162"/>
            <a:ext cx="356400" cy="356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F861BE9-8F26-4FB0-A2C4-8905F3890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837" y="4157552"/>
            <a:ext cx="356400" cy="3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3666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disee_2">
      <a:dk1>
        <a:srgbClr val="1F416B"/>
      </a:dk1>
      <a:lt1>
        <a:srgbClr val="FFFFFF"/>
      </a:lt1>
      <a:dk2>
        <a:srgbClr val="181716"/>
      </a:dk2>
      <a:lt2>
        <a:srgbClr val="E7E6E6"/>
      </a:lt2>
      <a:accent1>
        <a:srgbClr val="00639C"/>
      </a:accent1>
      <a:accent2>
        <a:srgbClr val="E73F16"/>
      </a:accent2>
      <a:accent3>
        <a:srgbClr val="3CB497"/>
      </a:accent3>
      <a:accent4>
        <a:srgbClr val="D3DDF2"/>
      </a:accent4>
      <a:accent5>
        <a:srgbClr val="A3E1D2"/>
      </a:accent5>
      <a:accent6>
        <a:srgbClr val="96280E"/>
      </a:accent6>
      <a:hlink>
        <a:srgbClr val="0563C1"/>
      </a:hlink>
      <a:folHlink>
        <a:srgbClr val="954F72"/>
      </a:folHlink>
    </a:clrScheme>
    <a:fontScheme name="Odise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 anchor="ctr">
        <a:spAutoFit/>
      </a:bodyPr>
      <a:lstStyle>
        <a:defPPr algn="l">
          <a:defRPr sz="1600" b="1" dirty="0" err="1">
            <a:latin typeface="+mj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8049F6D630AF47BB18DF5F87B80949" ma:contentTypeVersion="40" ma:contentTypeDescription="Een nieuw document maken." ma:contentTypeScope="" ma:versionID="a9e6d75ef9adede1cf206f88e0d4b107">
  <xsd:schema xmlns:xsd="http://www.w3.org/2001/XMLSchema" xmlns:xs="http://www.w3.org/2001/XMLSchema" xmlns:p="http://schemas.microsoft.com/office/2006/metadata/properties" xmlns:ns2="2e590e29-c89d-4e1a-bf06-0c489d371682" xmlns:ns3="5870f8f2-d835-4d1e-84f7-7c5a365f9c0a" targetNamespace="http://schemas.microsoft.com/office/2006/metadata/properties" ma:root="true" ma:fieldsID="65fb40e55a7a3fd51a5d8b3af476fe6e" ns2:_="" ns3:_="">
    <xsd:import namespace="2e590e29-c89d-4e1a-bf06-0c489d371682"/>
    <xsd:import namespace="5870f8f2-d835-4d1e-84f7-7c5a365f9c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90e29-c89d-4e1a-bf06-0c489d371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Afbeeldingtags" ma:readOnly="false" ma:fieldId="{5cf76f15-5ced-4ddc-b409-7134ff3c332f}" ma:taxonomyMulti="true" ma:sspId="6010e5f2-6256-435c-892d-4495c8ac23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70f8f2-d835-4d1e-84f7-7c5a365f9c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18f5e209-b2fc-4ef1-b802-39e3b60cddd6}" ma:internalName="TaxCatchAll" ma:showField="CatchAllData" ma:web="5870f8f2-d835-4d1e-84f7-7c5a365f9c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2e590e29-c89d-4e1a-bf06-0c489d371682" xsi:nil="true"/>
    <Invited_Students xmlns="2e590e29-c89d-4e1a-bf06-0c489d371682" xsi:nil="true"/>
    <Owner xmlns="2e590e29-c89d-4e1a-bf06-0c489d371682">
      <UserInfo>
        <DisplayName/>
        <AccountId xsi:nil="true"/>
        <AccountType/>
      </UserInfo>
    </Owner>
    <Teams_Channel_Section_Location xmlns="2e590e29-c89d-4e1a-bf06-0c489d371682" xsi:nil="true"/>
    <TeamsChannelId xmlns="2e590e29-c89d-4e1a-bf06-0c489d371682" xsi:nil="true"/>
    <Invited_Teachers xmlns="2e590e29-c89d-4e1a-bf06-0c489d371682" xsi:nil="true"/>
    <DefaultSectionNames xmlns="2e590e29-c89d-4e1a-bf06-0c489d371682" xsi:nil="true"/>
    <Self_Registration_Enabled xmlns="2e590e29-c89d-4e1a-bf06-0c489d371682" xsi:nil="true"/>
    <FolderType xmlns="2e590e29-c89d-4e1a-bf06-0c489d371682" xsi:nil="true"/>
    <CultureName xmlns="2e590e29-c89d-4e1a-bf06-0c489d371682" xsi:nil="true"/>
    <Student_Groups xmlns="2e590e29-c89d-4e1a-bf06-0c489d371682">
      <UserInfo>
        <DisplayName/>
        <AccountId xsi:nil="true"/>
        <AccountType/>
      </UserInfo>
    </Student_Groups>
    <Is_Collaboration_Space_Locked xmlns="2e590e29-c89d-4e1a-bf06-0c489d371682" xsi:nil="true"/>
    <Templates xmlns="2e590e29-c89d-4e1a-bf06-0c489d371682" xsi:nil="true"/>
    <Teachers xmlns="2e590e29-c89d-4e1a-bf06-0c489d371682">
      <UserInfo>
        <DisplayName/>
        <AccountId xsi:nil="true"/>
        <AccountType/>
      </UserInfo>
    </Teachers>
    <Students xmlns="2e590e29-c89d-4e1a-bf06-0c489d371682">
      <UserInfo>
        <DisplayName/>
        <AccountId xsi:nil="true"/>
        <AccountType/>
      </UserInfo>
    </Students>
    <lcf76f155ced4ddcb4097134ff3c332f xmlns="2e590e29-c89d-4e1a-bf06-0c489d371682">
      <Terms xmlns="http://schemas.microsoft.com/office/infopath/2007/PartnerControls"/>
    </lcf76f155ced4ddcb4097134ff3c332f>
    <LMS_Mappings xmlns="2e590e29-c89d-4e1a-bf06-0c489d371682" xsi:nil="true"/>
    <IsNotebookLocked xmlns="2e590e29-c89d-4e1a-bf06-0c489d371682" xsi:nil="true"/>
    <TaxCatchAll xmlns="5870f8f2-d835-4d1e-84f7-7c5a365f9c0a" xsi:nil="true"/>
    <Math_Settings xmlns="2e590e29-c89d-4e1a-bf06-0c489d371682" xsi:nil="true"/>
    <Has_Teacher_Only_SectionGroup xmlns="2e590e29-c89d-4e1a-bf06-0c489d371682" xsi:nil="true"/>
    <NotebookType xmlns="2e590e29-c89d-4e1a-bf06-0c489d371682" xsi:nil="true"/>
    <Distribution_Groups xmlns="2e590e29-c89d-4e1a-bf06-0c489d371682" xsi:nil="true"/>
  </documentManagement>
</p:properties>
</file>

<file path=customXml/itemProps1.xml><?xml version="1.0" encoding="utf-8"?>
<ds:datastoreItem xmlns:ds="http://schemas.openxmlformats.org/officeDocument/2006/customXml" ds:itemID="{DF285CC7-1E14-4100-9C1B-58E72048B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590e29-c89d-4e1a-bf06-0c489d371682"/>
    <ds:schemaRef ds:uri="5870f8f2-d835-4d1e-84f7-7c5a365f9c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482228-61BC-4534-956A-231E6D6773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DB506F-4708-43E8-93EE-7C526282892C}">
  <ds:schemaRefs>
    <ds:schemaRef ds:uri="http://schemas.microsoft.com/office/2006/metadata/properties"/>
    <ds:schemaRef ds:uri="http://schemas.microsoft.com/office/infopath/2007/PartnerControls"/>
    <ds:schemaRef ds:uri="2e590e29-c89d-4e1a-bf06-0c489d371682"/>
    <ds:schemaRef ds:uri="5870f8f2-d835-4d1e-84f7-7c5a365f9c0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3001</TotalTime>
  <Words>2011</Words>
  <Application>Microsoft Office PowerPoint</Application>
  <PresentationFormat>Widescreen</PresentationFormat>
  <Paragraphs>354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Wingdings</vt:lpstr>
      <vt:lpstr>Kantoorthema</vt:lpstr>
      <vt:lpstr>PowerPoint Presentation</vt:lpstr>
      <vt:lpstr>Business Application Development</vt:lpstr>
      <vt:lpstr>PowerPoint Presentation</vt:lpstr>
      <vt:lpstr>Inleiding</vt:lpstr>
      <vt:lpstr>Wat is Dependency Injection?</vt:lpstr>
      <vt:lpstr>Wat is Dependency Injection?</vt:lpstr>
      <vt:lpstr>Wat is Dependency Injection?</vt:lpstr>
      <vt:lpstr>Wat is Dependency Injection?</vt:lpstr>
      <vt:lpstr>Wat is Dependency Injection?</vt:lpstr>
      <vt:lpstr>Looseley coupled code</vt:lpstr>
      <vt:lpstr>Looseley coupled code</vt:lpstr>
      <vt:lpstr>DI in ASP.NET Core</vt:lpstr>
      <vt:lpstr>Services registreren</vt:lpstr>
      <vt:lpstr>Services registreren </vt:lpstr>
      <vt:lpstr>Services registreren</vt:lpstr>
      <vt:lpstr>Services registreren: voorwaarden</vt:lpstr>
      <vt:lpstr>Services registreren: objecten registreren</vt:lpstr>
      <vt:lpstr>Services registreren: objecten registreren via lambda</vt:lpstr>
      <vt:lpstr>Services registreren: Tip</vt:lpstr>
      <vt:lpstr>Meerdere implementaties injecteren</vt:lpstr>
      <vt:lpstr>Services conditioneel registreren</vt:lpstr>
      <vt:lpstr>Services injecteren in Action-methods</vt:lpstr>
      <vt:lpstr>Services injecteren in Action-methods</vt:lpstr>
      <vt:lpstr>Services injecteren in View-templates</vt:lpstr>
      <vt:lpstr>Lifetimes</vt:lpstr>
      <vt:lpstr>Lifetimes</vt:lpstr>
      <vt:lpstr>Lifetimes: Transient</vt:lpstr>
      <vt:lpstr>Lifetimes: Scoped</vt:lpstr>
      <vt:lpstr>Lifetimes: Scoped</vt:lpstr>
      <vt:lpstr>Lifetimes: waarschuwing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arn bollen</dc:creator>
  <cp:lastModifiedBy>Sam Van Buggenhout (u0132146)</cp:lastModifiedBy>
  <cp:revision>192</cp:revision>
  <dcterms:created xsi:type="dcterms:W3CDTF">2019-09-02T13:39:39Z</dcterms:created>
  <dcterms:modified xsi:type="dcterms:W3CDTF">2026-03-17T08:42:14Z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0x010100958049F6D630AF47BB18DF5F87B80949</vt:lpwstr>
  </property>
  <property fmtid="{D5CDD505-2E9C-101B-9397-08002B2CF9AE}" pid="3" name="MediaServiceImageTags">
    <vt:lpwstr/>
  </property>
</Properties>
</file>